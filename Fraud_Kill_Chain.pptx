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27AE60"/>
                </a:solidFill>
                <a:latin typeface="Meiryo"/>
              </a:rPr>
              <a:t>ホワイトリスト型アプリ制御 — Windowsに標準搭載、追加コストゼロ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DMARCと同じ構図：使えるのに使っていない。設定するだけで手順⑥を確実に止められる。</a:t>
            </a:r>
          </a:p>
        </p:txBody>
      </p:sp>
      <p:sp>
        <p:nvSpPr>
          <p:cNvPr id="4" name="Rectangle 3"/>
          <p:cNvSpPr/>
          <p:nvPr/>
        </p:nvSpPr>
        <p:spPr>
          <a:xfrm>
            <a:off x="731520" y="1051560"/>
            <a:ext cx="658368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ブラックリスト型（従来のアンチウイルス）</a:t>
            </a:r>
          </a:p>
        </p:txBody>
      </p:sp>
      <p:sp>
        <p:nvSpPr>
          <p:cNvPr id="5" name="Rectangle 4"/>
          <p:cNvSpPr/>
          <p:nvPr/>
        </p:nvSpPr>
        <p:spPr>
          <a:xfrm>
            <a:off x="731520" y="1463039"/>
            <a:ext cx="6583680" cy="7315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「既知の悪いもの」をブロック
→ 未知の攻撃は素通り
→ ScreenConnectは正規ツール → ブロックされない</a:t>
            </a:r>
          </a:p>
        </p:txBody>
      </p:sp>
      <p:sp>
        <p:nvSpPr>
          <p:cNvPr id="6" name="Rectangle 5"/>
          <p:cNvSpPr/>
          <p:nvPr/>
        </p:nvSpPr>
        <p:spPr>
          <a:xfrm>
            <a:off x="7772400" y="105156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ホワイトリスト型（AppLocker / WDAC）</a:t>
            </a:r>
          </a:p>
        </p:txBody>
      </p:sp>
      <p:sp>
        <p:nvSpPr>
          <p:cNvPr id="7" name="Rectangle 6"/>
          <p:cNvSpPr/>
          <p:nvPr/>
        </p:nvSpPr>
        <p:spPr>
          <a:xfrm>
            <a:off x="7772400" y="1463039"/>
            <a:ext cx="6400800" cy="7315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「許可されたものだけ」実行可能
→ 許可リストにないものは全部止まる
→ ScreenConnectが許可リストにない → 実行できない</a:t>
            </a:r>
          </a:p>
        </p:txBody>
      </p:sp>
      <p:sp>
        <p:nvSpPr>
          <p:cNvPr id="8" name="Rectangle 7"/>
          <p:cNvSpPr/>
          <p:nvPr/>
        </p:nvSpPr>
        <p:spPr>
          <a:xfrm>
            <a:off x="731520" y="24231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Windowsに標準搭載されているツール</a:t>
            </a:r>
          </a:p>
        </p:txBody>
      </p:sp>
      <p:sp>
        <p:nvSpPr>
          <p:cNvPr id="9" name="Rectangle 8"/>
          <p:cNvSpPr/>
          <p:nvPr/>
        </p:nvSpPr>
        <p:spPr>
          <a:xfrm>
            <a:off x="731520" y="2788920"/>
            <a:ext cx="1828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ツール</a:t>
            </a:r>
          </a:p>
        </p:txBody>
      </p:sp>
      <p:sp>
        <p:nvSpPr>
          <p:cNvPr id="10" name="Rectangle 9"/>
          <p:cNvSpPr/>
          <p:nvPr/>
        </p:nvSpPr>
        <p:spPr>
          <a:xfrm>
            <a:off x="2560320" y="2788920"/>
            <a:ext cx="16459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提供元</a:t>
            </a:r>
          </a:p>
        </p:txBody>
      </p:sp>
      <p:sp>
        <p:nvSpPr>
          <p:cNvPr id="11" name="Rectangle 10"/>
          <p:cNvSpPr/>
          <p:nvPr/>
        </p:nvSpPr>
        <p:spPr>
          <a:xfrm>
            <a:off x="4206240" y="278892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対象OS</a:t>
            </a:r>
          </a:p>
        </p:txBody>
      </p:sp>
      <p:sp>
        <p:nvSpPr>
          <p:cNvPr id="12" name="Rectangle 11"/>
          <p:cNvSpPr/>
          <p:nvPr/>
        </p:nvSpPr>
        <p:spPr>
          <a:xfrm>
            <a:off x="7680959" y="278892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制御範囲</a:t>
            </a:r>
          </a:p>
        </p:txBody>
      </p:sp>
      <p:sp>
        <p:nvSpPr>
          <p:cNvPr id="13" name="Rectangle 12"/>
          <p:cNvSpPr/>
          <p:nvPr/>
        </p:nvSpPr>
        <p:spPr>
          <a:xfrm>
            <a:off x="11338559" y="278892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設定方法</a:t>
            </a:r>
          </a:p>
        </p:txBody>
      </p:sp>
      <p:sp>
        <p:nvSpPr>
          <p:cNvPr id="14" name="Rectangle 13"/>
          <p:cNvSpPr/>
          <p:nvPr/>
        </p:nvSpPr>
        <p:spPr>
          <a:xfrm>
            <a:off x="731520" y="315468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a:t>
            </a:r>
          </a:p>
        </p:txBody>
      </p:sp>
      <p:sp>
        <p:nvSpPr>
          <p:cNvPr id="15" name="Rectangle 14"/>
          <p:cNvSpPr/>
          <p:nvPr/>
        </p:nvSpPr>
        <p:spPr>
          <a:xfrm>
            <a:off x="2560320" y="315468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16" name="Rectangle 15"/>
          <p:cNvSpPr/>
          <p:nvPr/>
        </p:nvSpPr>
        <p:spPr>
          <a:xfrm>
            <a:off x="4206240" y="315468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Enterprise / Education</a:t>
            </a:r>
          </a:p>
        </p:txBody>
      </p:sp>
      <p:sp>
        <p:nvSpPr>
          <p:cNvPr id="17" name="Rectangle 16"/>
          <p:cNvSpPr/>
          <p:nvPr/>
        </p:nvSpPr>
        <p:spPr>
          <a:xfrm>
            <a:off x="7680959" y="315468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exe, msi, スクリプト, DLL</a:t>
            </a:r>
          </a:p>
        </p:txBody>
      </p:sp>
      <p:sp>
        <p:nvSpPr>
          <p:cNvPr id="18" name="Rectangle 17"/>
          <p:cNvSpPr/>
          <p:nvPr/>
        </p:nvSpPr>
        <p:spPr>
          <a:xfrm>
            <a:off x="11338559" y="315468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グループポリシーで設定</a:t>
            </a:r>
          </a:p>
        </p:txBody>
      </p:sp>
      <p:sp>
        <p:nvSpPr>
          <p:cNvPr id="19" name="Rectangle 18"/>
          <p:cNvSpPr/>
          <p:nvPr/>
        </p:nvSpPr>
        <p:spPr>
          <a:xfrm>
            <a:off x="731520" y="3566160"/>
            <a:ext cx="18288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WDAC</a:t>
            </a:r>
          </a:p>
        </p:txBody>
      </p:sp>
      <p:sp>
        <p:nvSpPr>
          <p:cNvPr id="20" name="Rectangle 19"/>
          <p:cNvSpPr/>
          <p:nvPr/>
        </p:nvSpPr>
        <p:spPr>
          <a:xfrm>
            <a:off x="2560320" y="3566160"/>
            <a:ext cx="16459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21" name="Rectangle 20"/>
          <p:cNvSpPr/>
          <p:nvPr/>
        </p:nvSpPr>
        <p:spPr>
          <a:xfrm>
            <a:off x="4206240" y="3566160"/>
            <a:ext cx="34747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全エディション</a:t>
            </a:r>
          </a:p>
        </p:txBody>
      </p:sp>
      <p:sp>
        <p:nvSpPr>
          <p:cNvPr id="22" name="Rectangle 21"/>
          <p:cNvSpPr/>
          <p:nvPr/>
        </p:nvSpPr>
        <p:spPr>
          <a:xfrm>
            <a:off x="7680959" y="3566160"/>
            <a:ext cx="36576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カーネルレベルで制御（より強力）</a:t>
            </a:r>
          </a:p>
        </p:txBody>
      </p:sp>
      <p:sp>
        <p:nvSpPr>
          <p:cNvPr id="23" name="Rectangle 22"/>
          <p:cNvSpPr/>
          <p:nvPr/>
        </p:nvSpPr>
        <p:spPr>
          <a:xfrm>
            <a:off x="11338559" y="3566160"/>
            <a:ext cx="30175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PowerShell / Intune等</a:t>
            </a:r>
          </a:p>
        </p:txBody>
      </p:sp>
      <p:sp>
        <p:nvSpPr>
          <p:cNvPr id="24" name="Rectangle 23"/>
          <p:cNvSpPr/>
          <p:nvPr/>
        </p:nvSpPr>
        <p:spPr>
          <a:xfrm>
            <a:off x="731520" y="397764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MDM連携</a:t>
            </a:r>
          </a:p>
        </p:txBody>
      </p:sp>
      <p:sp>
        <p:nvSpPr>
          <p:cNvPr id="25" name="Rectangle 24"/>
          <p:cNvSpPr/>
          <p:nvPr/>
        </p:nvSpPr>
        <p:spPr>
          <a:xfrm>
            <a:off x="2560320" y="397764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Intune等</a:t>
            </a:r>
          </a:p>
        </p:txBody>
      </p:sp>
      <p:sp>
        <p:nvSpPr>
          <p:cNvPr id="26" name="Rectangle 25"/>
          <p:cNvSpPr/>
          <p:nvPr/>
        </p:nvSpPr>
        <p:spPr>
          <a:xfrm>
            <a:off x="4206240" y="397764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全エディション（Intune契約時）</a:t>
            </a:r>
          </a:p>
        </p:txBody>
      </p:sp>
      <p:sp>
        <p:nvSpPr>
          <p:cNvPr id="27" name="Rectangle 26"/>
          <p:cNvSpPr/>
          <p:nvPr/>
        </p:nvSpPr>
        <p:spPr>
          <a:xfrm>
            <a:off x="7680959" y="397764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アプリ配布・制御を一元管理</a:t>
            </a:r>
          </a:p>
        </p:txBody>
      </p:sp>
      <p:sp>
        <p:nvSpPr>
          <p:cNvPr id="28" name="Rectangle 27"/>
          <p:cNvSpPr/>
          <p:nvPr/>
        </p:nvSpPr>
        <p:spPr>
          <a:xfrm>
            <a:off x="11338559" y="397764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クラウドから配信</a:t>
            </a:r>
          </a:p>
        </p:txBody>
      </p:sp>
      <p:sp>
        <p:nvSpPr>
          <p:cNvPr id="29" name="Rectangle 28"/>
          <p:cNvSpPr/>
          <p:nvPr/>
        </p:nvSpPr>
        <p:spPr>
          <a:xfrm>
            <a:off x="731520" y="44805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この攻撃に対する効果</a:t>
            </a:r>
          </a:p>
        </p:txBody>
      </p:sp>
      <p:sp>
        <p:nvSpPr>
          <p:cNvPr id="30" name="Rectangle 29"/>
          <p:cNvSpPr/>
          <p:nvPr/>
        </p:nvSpPr>
        <p:spPr>
          <a:xfrm>
            <a:off x="731520" y="4937760"/>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AppLocker許可リスト（設定例）</a:t>
            </a:r>
          </a:p>
        </p:txBody>
      </p:sp>
      <p:sp>
        <p:nvSpPr>
          <p:cNvPr id="31" name="Rectangle 30"/>
          <p:cNvSpPr/>
          <p:nvPr/>
        </p:nvSpPr>
        <p:spPr>
          <a:xfrm>
            <a:off x="731520" y="5257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Microsoft Office</a:t>
            </a:r>
          </a:p>
        </p:txBody>
      </p:sp>
      <p:sp>
        <p:nvSpPr>
          <p:cNvPr id="32" name="Rectangle 31"/>
          <p:cNvSpPr/>
          <p:nvPr/>
        </p:nvSpPr>
        <p:spPr>
          <a:xfrm>
            <a:off x="731520" y="5532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業務アプリA, B, C</a:t>
            </a:r>
          </a:p>
        </p:txBody>
      </p:sp>
      <p:sp>
        <p:nvSpPr>
          <p:cNvPr id="33" name="Rectangle 32"/>
          <p:cNvSpPr/>
          <p:nvPr/>
        </p:nvSpPr>
        <p:spPr>
          <a:xfrm>
            <a:off x="731520" y="5806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Rapport（IBM署名）</a:t>
            </a:r>
          </a:p>
        </p:txBody>
      </p:sp>
      <p:sp>
        <p:nvSpPr>
          <p:cNvPr id="34" name="Rectangle 33"/>
          <p:cNvSpPr/>
          <p:nvPr/>
        </p:nvSpPr>
        <p:spPr>
          <a:xfrm>
            <a:off x="731520" y="6080760"/>
            <a:ext cx="658368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 それ以外すべて → 実行拒否</a:t>
            </a:r>
          </a:p>
        </p:txBody>
      </p:sp>
      <p:sp>
        <p:nvSpPr>
          <p:cNvPr id="35" name="Rectangle 34"/>
          <p:cNvSpPr/>
          <p:nvPr/>
        </p:nvSpPr>
        <p:spPr>
          <a:xfrm>
            <a:off x="7772400" y="493776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攻撃時の流れ</a:t>
            </a:r>
          </a:p>
        </p:txBody>
      </p:sp>
      <p:sp>
        <p:nvSpPr>
          <p:cNvPr id="36" name="Rectangle 35"/>
          <p:cNvSpPr/>
          <p:nvPr/>
        </p:nvSpPr>
        <p:spPr>
          <a:xfrm>
            <a:off x="7772400" y="5257800"/>
            <a:ext cx="640080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犯人「実行するをクリックしてください」</a:t>
            </a:r>
          </a:p>
        </p:txBody>
      </p:sp>
      <p:sp>
        <p:nvSpPr>
          <p:cNvPr id="37" name="Rectangle 36"/>
          <p:cNvSpPr/>
          <p:nvPr/>
        </p:nvSpPr>
        <p:spPr>
          <a:xfrm>
            <a:off x="7772400" y="5605272"/>
            <a:ext cx="64008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被害者がクリック</a:t>
            </a:r>
          </a:p>
        </p:txBody>
      </p:sp>
      <p:sp>
        <p:nvSpPr>
          <p:cNvPr id="38" name="Rectangle 37"/>
          <p:cNvSpPr/>
          <p:nvPr/>
        </p:nvSpPr>
        <p:spPr>
          <a:xfrm>
            <a:off x="7772400" y="5952744"/>
            <a:ext cx="6400800" cy="320040"/>
          </a:xfrm>
          <a:prstGeom prst="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OS「このアプリは組織のポリシーにより実行できません」</a:t>
            </a:r>
          </a:p>
        </p:txBody>
      </p:sp>
      <p:sp>
        <p:nvSpPr>
          <p:cNvPr id="39" name="Rectangle 38"/>
          <p:cNvSpPr/>
          <p:nvPr/>
        </p:nvSpPr>
        <p:spPr>
          <a:xfrm>
            <a:off x="7772400" y="6300216"/>
            <a:ext cx="6400800" cy="320040"/>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犯人が何を言っても突破不可能 ★</a:t>
            </a:r>
          </a:p>
        </p:txBody>
      </p:sp>
      <p:sp>
        <p:nvSpPr>
          <p:cNvPr id="40" name="Rectangle 39"/>
          <p:cNvSpPr/>
          <p:nvPr/>
        </p:nvSpPr>
        <p:spPr>
          <a:xfrm>
            <a:off x="731520" y="6766560"/>
            <a:ext cx="448056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TextBox 40"/>
          <p:cNvSpPr txBox="1"/>
          <p:nvPr/>
        </p:nvSpPr>
        <p:spPr>
          <a:xfrm>
            <a:off x="914400" y="6812280"/>
            <a:ext cx="4114800" cy="685800"/>
          </a:xfrm>
          <a:prstGeom prst="rect">
            <a:avLst/>
          </a:prstGeom>
          <a:noFill/>
        </p:spPr>
        <p:txBody>
          <a:bodyPr wrap="square" lIns="50800" rIns="50800" tIns="38100" bIns="38100"/>
          <a:lstStyle/>
          <a:p>
            <a:pPr algn="l"/>
            <a:r>
              <a:rPr sz="1200" b="1">
                <a:solidFill>
                  <a:srgbClr val="FFFFFF"/>
                </a:solidFill>
                <a:latin typeface="Meiryo"/>
              </a:rPr>
              <a:t>追加コスト：ゼロ
追加ソフト：不要
必要な作業：ポリシー設定のみ</a:t>
            </a:r>
          </a:p>
        </p:txBody>
      </p:sp>
      <p:sp>
        <p:nvSpPr>
          <p:cNvPr id="42" name="Rectangle 41"/>
          <p:cNvSpPr/>
          <p:nvPr/>
        </p:nvSpPr>
        <p:spPr>
          <a:xfrm>
            <a:off x="5486400" y="6766560"/>
            <a:ext cx="4572000" cy="777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TextBox 42"/>
          <p:cNvSpPr txBox="1"/>
          <p:nvPr/>
        </p:nvSpPr>
        <p:spPr>
          <a:xfrm>
            <a:off x="5669280" y="6812280"/>
            <a:ext cx="4206240" cy="685800"/>
          </a:xfrm>
          <a:prstGeom prst="rect">
            <a:avLst/>
          </a:prstGeom>
          <a:noFill/>
        </p:spPr>
        <p:txBody>
          <a:bodyPr wrap="square" lIns="50800" rIns="50800" tIns="38100" bIns="38100"/>
          <a:lstStyle/>
          <a:p>
            <a:pPr algn="l"/>
            <a:r>
              <a:rPr sz="1200" b="1">
                <a:solidFill>
                  <a:srgbClr val="FFFFFF"/>
                </a:solidFill>
                <a:latin typeface="Meiryo"/>
              </a:rPr>
              <a:t>電話で回避できない
管理者権限がないと
ポリシー変更できない</a:t>
            </a:r>
          </a:p>
        </p:txBody>
      </p:sp>
      <p:sp>
        <p:nvSpPr>
          <p:cNvPr id="44" name="Rectangle 43"/>
          <p:cNvSpPr/>
          <p:nvPr/>
        </p:nvSpPr>
        <p:spPr>
          <a:xfrm>
            <a:off x="10332720" y="6766560"/>
            <a:ext cx="4023360" cy="7772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TextBox 44"/>
          <p:cNvSpPr txBox="1"/>
          <p:nvPr/>
        </p:nvSpPr>
        <p:spPr>
          <a:xfrm>
            <a:off x="10515600" y="6812280"/>
            <a:ext cx="3657600" cy="685800"/>
          </a:xfrm>
          <a:prstGeom prst="rect">
            <a:avLst/>
          </a:prstGeom>
          <a:noFill/>
        </p:spPr>
        <p:txBody>
          <a:bodyPr wrap="square" lIns="50800" rIns="50800" tIns="38100" bIns="38100"/>
          <a:lstStyle/>
          <a:p>
            <a:pPr algn="l"/>
            <a:r>
              <a:rPr sz="1200" b="1">
                <a:solidFill>
                  <a:srgbClr val="FFFFFF"/>
                </a:solidFill>
                <a:latin typeface="Meiryo"/>
              </a:rPr>
              <a:t>DMARCと並ぶ
2つ目の確実な
技術的対策</a:t>
            </a:r>
          </a:p>
        </p:txBody>
      </p:sp>
      <p:sp>
        <p:nvSpPr>
          <p:cNvPr id="46" name="Rectangle 45"/>
          <p:cNvSpPr/>
          <p:nvPr/>
        </p:nvSpPr>
        <p:spPr>
          <a:xfrm>
            <a:off x="731520" y="77724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Kill Chainを技術的に切れるポイント：④ DMARC p=reject（メール遮断）＋ ⑥ AppLocker/WDAC（実行阻止）— どちらも標準搭載・追加コストゼロ</a:t>
            </a:r>
          </a:p>
        </p:txBody>
      </p:sp>
      <p:sp>
        <p:nvSpPr>
          <p:cNvPr id="47" name="TextBox 4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ホワイトリスト型アプリ制御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「顧客の問題」にしている限り、この攻撃は止まらない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全ての対策が「顧客にやってね」で丸投げされている。DMARCも AppLockerも同じ構図。</a:t>
            </a:r>
          </a:p>
        </p:txBody>
      </p:sp>
      <p:sp>
        <p:nvSpPr>
          <p:cNvPr id="4" name="Rectangle 3"/>
          <p:cNvSpPr/>
          <p:nvPr/>
        </p:nvSpPr>
        <p:spPr>
          <a:xfrm>
            <a:off x="731520" y="10515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対策の責任はどこにあるか？</a:t>
            </a:r>
          </a:p>
        </p:txBody>
      </p:sp>
      <p:sp>
        <p:nvSpPr>
          <p:cNvPr id="5" name="Rectangle 4"/>
          <p:cNvSpPr/>
          <p:nvPr/>
        </p:nvSpPr>
        <p:spPr>
          <a:xfrm>
            <a:off x="7315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6" name="Rectangle 5"/>
          <p:cNvSpPr/>
          <p:nvPr/>
        </p:nvSpPr>
        <p:spPr>
          <a:xfrm>
            <a:off x="34747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設定する場所</a:t>
            </a:r>
          </a:p>
        </p:txBody>
      </p:sp>
      <p:sp>
        <p:nvSpPr>
          <p:cNvPr id="7" name="Rectangle 6"/>
          <p:cNvSpPr/>
          <p:nvPr/>
        </p:nvSpPr>
        <p:spPr>
          <a:xfrm>
            <a:off x="62179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設定する人</a:t>
            </a:r>
          </a:p>
        </p:txBody>
      </p:sp>
      <p:sp>
        <p:nvSpPr>
          <p:cNvPr id="8" name="Rectangle 7"/>
          <p:cNvSpPr/>
          <p:nvPr/>
        </p:nvSpPr>
        <p:spPr>
          <a:xfrm>
            <a:off x="8961120" y="1463039"/>
            <a:ext cx="53949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責任</a:t>
            </a:r>
          </a:p>
        </p:txBody>
      </p:sp>
      <p:sp>
        <p:nvSpPr>
          <p:cNvPr id="9" name="Rectangle 8"/>
          <p:cNvSpPr/>
          <p:nvPr/>
        </p:nvSpPr>
        <p:spPr>
          <a:xfrm>
            <a:off x="731520" y="1828800"/>
            <a:ext cx="274320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DMARC p=reject</a:t>
            </a:r>
          </a:p>
        </p:txBody>
      </p:sp>
      <p:sp>
        <p:nvSpPr>
          <p:cNvPr id="10" name="Rectangle 9"/>
          <p:cNvSpPr/>
          <p:nvPr/>
        </p:nvSpPr>
        <p:spPr>
          <a:xfrm>
            <a:off x="34747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銀行のメールサーバ</a:t>
            </a:r>
          </a:p>
        </p:txBody>
      </p:sp>
      <p:sp>
        <p:nvSpPr>
          <p:cNvPr id="11" name="Rectangle 10"/>
          <p:cNvSpPr/>
          <p:nvPr/>
        </p:nvSpPr>
        <p:spPr>
          <a:xfrm>
            <a:off x="62179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銀行のIT部門</a:t>
            </a:r>
          </a:p>
        </p:txBody>
      </p:sp>
      <p:sp>
        <p:nvSpPr>
          <p:cNvPr id="12" name="Rectangle 11"/>
          <p:cNvSpPr/>
          <p:nvPr/>
        </p:nvSpPr>
        <p:spPr>
          <a:xfrm>
            <a:off x="8961120" y="1828800"/>
            <a:ext cx="539496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100%銀行側の問題。顧客は何もできない。</a:t>
            </a:r>
          </a:p>
        </p:txBody>
      </p:sp>
      <p:sp>
        <p:nvSpPr>
          <p:cNvPr id="13" name="Rectangle 12"/>
          <p:cNvSpPr/>
          <p:nvPr/>
        </p:nvSpPr>
        <p:spPr>
          <a:xfrm>
            <a:off x="731520" y="2240280"/>
            <a:ext cx="274320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AppLocker/WDAC</a:t>
            </a:r>
          </a:p>
        </p:txBody>
      </p:sp>
      <p:sp>
        <p:nvSpPr>
          <p:cNvPr id="14" name="Rectangle 13"/>
          <p:cNvSpPr/>
          <p:nvPr/>
        </p:nvSpPr>
        <p:spPr>
          <a:xfrm>
            <a:off x="34747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顧客企業のPC</a:t>
            </a:r>
          </a:p>
        </p:txBody>
      </p:sp>
      <p:sp>
        <p:nvSpPr>
          <p:cNvPr id="15" name="Rectangle 14"/>
          <p:cNvSpPr/>
          <p:nvPr/>
        </p:nvSpPr>
        <p:spPr>
          <a:xfrm>
            <a:off x="62179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顧客企業のIT部門</a:t>
            </a:r>
          </a:p>
        </p:txBody>
      </p:sp>
      <p:sp>
        <p:nvSpPr>
          <p:cNvPr id="16" name="Rectangle 15"/>
          <p:cNvSpPr/>
          <p:nvPr/>
        </p:nvSpPr>
        <p:spPr>
          <a:xfrm>
            <a:off x="8961120" y="2240280"/>
            <a:ext cx="539496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顧客企業の問題…に見えるが →</a:t>
            </a:r>
          </a:p>
        </p:txBody>
      </p:sp>
      <p:sp>
        <p:nvSpPr>
          <p:cNvPr id="17" name="Rectangle 16"/>
          <p:cNvSpPr/>
          <p:nvPr/>
        </p:nvSpPr>
        <p:spPr>
          <a:xfrm>
            <a:off x="731520" y="2880360"/>
            <a:ext cx="1362456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BizSTATION利用企業のIT体制 — AppLockerを設定できるか？</a:t>
            </a:r>
          </a:p>
        </p:txBody>
      </p:sp>
      <p:sp>
        <p:nvSpPr>
          <p:cNvPr id="18" name="Rectangle 17"/>
          <p:cNvSpPr/>
          <p:nvPr/>
        </p:nvSpPr>
        <p:spPr>
          <a:xfrm>
            <a:off x="731520" y="329184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19" name="Rectangle 18"/>
          <p:cNvSpPr/>
          <p:nvPr/>
        </p:nvSpPr>
        <p:spPr>
          <a:xfrm>
            <a:off x="3474720" y="3291840"/>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情シス部門あり</a:t>
            </a:r>
          </a:p>
        </p:txBody>
      </p:sp>
      <p:sp>
        <p:nvSpPr>
          <p:cNvPr id="20" name="Rectangle 19"/>
          <p:cNvSpPr/>
          <p:nvPr/>
        </p:nvSpPr>
        <p:spPr>
          <a:xfrm>
            <a:off x="7132320" y="3291840"/>
            <a:ext cx="4114800" cy="3840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可能</a:t>
            </a:r>
          </a:p>
        </p:txBody>
      </p:sp>
      <p:sp>
        <p:nvSpPr>
          <p:cNvPr id="21" name="Rectangle 20"/>
          <p:cNvSpPr/>
          <p:nvPr/>
        </p:nvSpPr>
        <p:spPr>
          <a:xfrm>
            <a:off x="731520" y="367588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中堅企業</a:t>
            </a:r>
          </a:p>
        </p:txBody>
      </p:sp>
      <p:sp>
        <p:nvSpPr>
          <p:cNvPr id="22" name="Rectangle 21"/>
          <p:cNvSpPr/>
          <p:nvPr/>
        </p:nvSpPr>
        <p:spPr>
          <a:xfrm>
            <a:off x="3474720" y="3675888"/>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IT担当が1〜2人</a:t>
            </a:r>
          </a:p>
        </p:txBody>
      </p:sp>
      <p:sp>
        <p:nvSpPr>
          <p:cNvPr id="23" name="Rectangle 22"/>
          <p:cNvSpPr/>
          <p:nvPr/>
        </p:nvSpPr>
        <p:spPr>
          <a:xfrm>
            <a:off x="7132320" y="3675888"/>
            <a:ext cx="4114800" cy="38404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厳しい</a:t>
            </a:r>
          </a:p>
        </p:txBody>
      </p:sp>
      <p:sp>
        <p:nvSpPr>
          <p:cNvPr id="24" name="Rectangle 23"/>
          <p:cNvSpPr/>
          <p:nvPr/>
        </p:nvSpPr>
        <p:spPr>
          <a:xfrm>
            <a:off x="731520" y="405993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25" name="Rectangle 24"/>
          <p:cNvSpPr/>
          <p:nvPr/>
        </p:nvSpPr>
        <p:spPr>
          <a:xfrm>
            <a:off x="3474720" y="4059936"/>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IT専任者なし</a:t>
            </a:r>
          </a:p>
        </p:txBody>
      </p:sp>
      <p:sp>
        <p:nvSpPr>
          <p:cNvPr id="26" name="Rectangle 25"/>
          <p:cNvSpPr/>
          <p:nvPr/>
        </p:nvSpPr>
        <p:spPr>
          <a:xfrm>
            <a:off x="7132320" y="4059936"/>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無理</a:t>
            </a:r>
          </a:p>
        </p:txBody>
      </p:sp>
      <p:sp>
        <p:nvSpPr>
          <p:cNvPr id="27" name="Rectangle 26"/>
          <p:cNvSpPr/>
          <p:nvPr/>
        </p:nvSpPr>
        <p:spPr>
          <a:xfrm>
            <a:off x="731520" y="444398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小規模事業者</a:t>
            </a:r>
          </a:p>
        </p:txBody>
      </p:sp>
      <p:sp>
        <p:nvSpPr>
          <p:cNvPr id="28" name="Rectangle 27"/>
          <p:cNvSpPr/>
          <p:nvPr/>
        </p:nvSpPr>
        <p:spPr>
          <a:xfrm>
            <a:off x="3474720" y="4443984"/>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社長がPC管理</a:t>
            </a:r>
          </a:p>
        </p:txBody>
      </p:sp>
      <p:sp>
        <p:nvSpPr>
          <p:cNvPr id="29" name="Rectangle 28"/>
          <p:cNvSpPr/>
          <p:nvPr/>
        </p:nvSpPr>
        <p:spPr>
          <a:xfrm>
            <a:off x="7132320" y="4443984"/>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論外</a:t>
            </a:r>
          </a:p>
        </p:txBody>
      </p:sp>
      <p:sp>
        <p:nvSpPr>
          <p:cNvPr id="30" name="Rectangle 29"/>
          <p:cNvSpPr/>
          <p:nvPr/>
        </p:nvSpPr>
        <p:spPr>
          <a:xfrm>
            <a:off x="731520" y="49377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すべて同じ構図：「顧客にやってね」で丸投げ → 機能しない</a:t>
            </a:r>
          </a:p>
        </p:txBody>
      </p:sp>
      <p:sp>
        <p:nvSpPr>
          <p:cNvPr id="31" name="Rectangle 30"/>
          <p:cNvSpPr/>
          <p:nvPr/>
        </p:nvSpPr>
        <p:spPr>
          <a:xfrm>
            <a:off x="731520" y="5349240"/>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「メールのリンクをクリックしないで」</a:t>
            </a:r>
          </a:p>
        </p:txBody>
      </p:sp>
      <p:sp>
        <p:nvSpPr>
          <p:cNvPr id="32" name="Rectangle 31"/>
          <p:cNvSpPr/>
          <p:nvPr/>
        </p:nvSpPr>
        <p:spPr>
          <a:xfrm>
            <a:off x="7589520" y="5349240"/>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3" name="Rectangle 32"/>
          <p:cNvSpPr/>
          <p:nvPr/>
        </p:nvSpPr>
        <p:spPr>
          <a:xfrm>
            <a:off x="731520" y="5696712"/>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「ブックマークからアクセスして」</a:t>
            </a:r>
          </a:p>
        </p:txBody>
      </p:sp>
      <p:sp>
        <p:nvSpPr>
          <p:cNvPr id="34" name="Rectangle 33"/>
          <p:cNvSpPr/>
          <p:nvPr/>
        </p:nvSpPr>
        <p:spPr>
          <a:xfrm>
            <a:off x="7589520" y="5696712"/>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5" name="Rectangle 34"/>
          <p:cNvSpPr/>
          <p:nvPr/>
        </p:nvSpPr>
        <p:spPr>
          <a:xfrm>
            <a:off x="731520" y="6044184"/>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「不明な発行元に注意して」</a:t>
            </a:r>
          </a:p>
        </p:txBody>
      </p:sp>
      <p:sp>
        <p:nvSpPr>
          <p:cNvPr id="36" name="Rectangle 35"/>
          <p:cNvSpPr/>
          <p:nvPr/>
        </p:nvSpPr>
        <p:spPr>
          <a:xfrm>
            <a:off x="7589520" y="6044184"/>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7" name="Rectangle 36"/>
          <p:cNvSpPr/>
          <p:nvPr/>
        </p:nvSpPr>
        <p:spPr>
          <a:xfrm>
            <a:off x="731520" y="6391656"/>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「AppLockerを設定してください」</a:t>
            </a:r>
          </a:p>
        </p:txBody>
      </p:sp>
      <p:sp>
        <p:nvSpPr>
          <p:cNvPr id="38" name="Rectangle 37"/>
          <p:cNvSpPr/>
          <p:nvPr/>
        </p:nvSpPr>
        <p:spPr>
          <a:xfrm>
            <a:off x="7589520" y="6391656"/>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9" name="Rectangle 38"/>
          <p:cNvSpPr/>
          <p:nvPr/>
        </p:nvSpPr>
        <p:spPr>
          <a:xfrm>
            <a:off x="731520" y="685800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銀行がやるべきこと</a:t>
            </a:r>
          </a:p>
        </p:txBody>
      </p:sp>
      <p:sp>
        <p:nvSpPr>
          <p:cNvPr id="40" name="Rectangle 39"/>
          <p:cNvSpPr/>
          <p:nvPr/>
        </p:nvSpPr>
        <p:spPr>
          <a:xfrm>
            <a:off x="731520" y="722376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DMARC p=reject</a:t>
            </a:r>
          </a:p>
        </p:txBody>
      </p:sp>
      <p:sp>
        <p:nvSpPr>
          <p:cNvPr id="41" name="Rectangle 40"/>
          <p:cNvSpPr/>
          <p:nvPr/>
        </p:nvSpPr>
        <p:spPr>
          <a:xfrm>
            <a:off x="3931920" y="72237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銀行が自分で設定する</a:t>
            </a:r>
          </a:p>
        </p:txBody>
      </p:sp>
      <p:sp>
        <p:nvSpPr>
          <p:cNvPr id="42" name="Rectangle 41"/>
          <p:cNvSpPr/>
          <p:nvPr/>
        </p:nvSpPr>
        <p:spPr>
          <a:xfrm>
            <a:off x="8961120" y="722376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3" name="Rectangle 42"/>
          <p:cNvSpPr/>
          <p:nvPr/>
        </p:nvSpPr>
        <p:spPr>
          <a:xfrm>
            <a:off x="731520" y="758952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AppLocker/WDAC設定支援</a:t>
            </a:r>
          </a:p>
        </p:txBody>
      </p:sp>
      <p:sp>
        <p:nvSpPr>
          <p:cNvPr id="44" name="Rectangle 43"/>
          <p:cNvSpPr/>
          <p:nvPr/>
        </p:nvSpPr>
        <p:spPr>
          <a:xfrm>
            <a:off x="3931920" y="75895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BizSTATION契約時に設定を支援する</a:t>
            </a:r>
          </a:p>
        </p:txBody>
      </p:sp>
      <p:sp>
        <p:nvSpPr>
          <p:cNvPr id="45" name="Rectangle 44"/>
          <p:cNvSpPr/>
          <p:nvPr/>
        </p:nvSpPr>
        <p:spPr>
          <a:xfrm>
            <a:off x="8961120" y="758952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6" name="Rectangle 45"/>
          <p:cNvSpPr/>
          <p:nvPr/>
        </p:nvSpPr>
        <p:spPr>
          <a:xfrm>
            <a:off x="731520" y="795528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初期設定ツール提供</a:t>
            </a:r>
          </a:p>
        </p:txBody>
      </p:sp>
      <p:sp>
        <p:nvSpPr>
          <p:cNvPr id="47" name="Rectangle 46"/>
          <p:cNvSpPr/>
          <p:nvPr/>
        </p:nvSpPr>
        <p:spPr>
          <a:xfrm>
            <a:off x="3931920" y="79552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ワンクリックで設定完了するツール</a:t>
            </a:r>
          </a:p>
        </p:txBody>
      </p:sp>
      <p:sp>
        <p:nvSpPr>
          <p:cNvPr id="48" name="Rectangle 47"/>
          <p:cNvSpPr/>
          <p:nvPr/>
        </p:nvSpPr>
        <p:spPr>
          <a:xfrm>
            <a:off x="8961120" y="795528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実行するだけ</a:t>
            </a:r>
          </a:p>
        </p:txBody>
      </p:sp>
      <p:sp>
        <p:nvSpPr>
          <p:cNvPr id="49" name="Rectangle 48"/>
          <p:cNvSpPr/>
          <p:nvPr/>
        </p:nvSpPr>
        <p:spPr>
          <a:xfrm>
            <a:off x="731520" y="832104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BizSTATION利用条件に含める</a:t>
            </a:r>
          </a:p>
        </p:txBody>
      </p:sp>
      <p:sp>
        <p:nvSpPr>
          <p:cNvPr id="50" name="Rectangle 49"/>
          <p:cNvSpPr/>
          <p:nvPr/>
        </p:nvSpPr>
        <p:spPr>
          <a:xfrm>
            <a:off x="3931920" y="832104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アプリ制御を契約要件にする</a:t>
            </a:r>
          </a:p>
        </p:txBody>
      </p:sp>
      <p:sp>
        <p:nvSpPr>
          <p:cNvPr id="51" name="Rectangle 50"/>
          <p:cNvSpPr/>
          <p:nvPr/>
        </p:nvSpPr>
        <p:spPr>
          <a:xfrm>
            <a:off x="8961120" y="832104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IT業者に設定を依頼</a:t>
            </a:r>
          </a:p>
        </p:txBody>
      </p:sp>
      <p:sp>
        <p:nvSpPr>
          <p:cNvPr id="52" name="TextBox 5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責任の所在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