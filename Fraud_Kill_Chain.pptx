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5124176"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91440"/>
            <a:ext cx="15124176" cy="457200"/>
          </a:xfrm>
          <a:prstGeom prst="rect">
            <a:avLst/>
          </a:prstGeom>
          <a:noFill/>
        </p:spPr>
        <p:txBody>
          <a:bodyPr wrap="square" lIns="50800" rIns="50800" tIns="38100" bIns="38100"/>
          <a:lstStyle/>
          <a:p>
            <a:pPr algn="ctr"/>
            <a:r>
              <a:rPr sz="2000" b="1">
                <a:solidFill>
                  <a:srgbClr val="222222"/>
                </a:solidFill>
                <a:latin typeface="Meiryo"/>
              </a:rPr>
              <a:t>Fraud Kill Chain（不正送金キルチェーン）</a:t>
            </a:r>
          </a:p>
        </p:txBody>
      </p:sp>
      <p:sp>
        <p:nvSpPr>
          <p:cNvPr id="3" name="TextBox 2"/>
          <p:cNvSpPr txBox="1"/>
          <p:nvPr/>
        </p:nvSpPr>
        <p:spPr>
          <a:xfrm>
            <a:off x="0" y="502920"/>
            <a:ext cx="15124176" cy="274320"/>
          </a:xfrm>
          <a:prstGeom prst="rect">
            <a:avLst/>
          </a:prstGeom>
          <a:noFill/>
        </p:spPr>
        <p:txBody>
          <a:bodyPr wrap="square" lIns="50800" rIns="50800" tIns="38100" bIns="38100"/>
          <a:lstStyle/>
          <a:p>
            <a:pPr algn="ctr"/>
            <a:r>
              <a:rPr sz="1000" b="0">
                <a:solidFill>
                  <a:srgbClr val="888888"/>
                </a:solidFill>
                <a:latin typeface="Meiryo"/>
              </a:rPr>
              <a:t>シート名「不審な電話手口」 ― 犯人サイド × 被害企業サイド スイムレーン図</a:t>
            </a:r>
          </a:p>
        </p:txBody>
      </p:sp>
      <p:sp>
        <p:nvSpPr>
          <p:cNvPr id="4" name="Rectangle 3"/>
          <p:cNvSpPr/>
          <p:nvPr/>
        </p:nvSpPr>
        <p:spPr>
          <a:xfrm>
            <a:off x="457200" y="804672"/>
            <a:ext cx="2926080" cy="2743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対象：法人向けIB（BizSTATION）</a:t>
            </a:r>
          </a:p>
        </p:txBody>
      </p:sp>
      <p:sp>
        <p:nvSpPr>
          <p:cNvPr id="5" name="Rectangle 4"/>
          <p:cNvSpPr/>
          <p:nvPr/>
        </p:nvSpPr>
        <p:spPr>
          <a:xfrm>
            <a:off x="3520440" y="804672"/>
            <a:ext cx="6217920" cy="2743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犯人はBizSTATIONの認証フロー（契約者番号→利用者ID→ログインPW→取引実行PW→OTP）を完全に把握</a:t>
            </a:r>
          </a:p>
        </p:txBody>
      </p:sp>
      <p:sp>
        <p:nvSpPr>
          <p:cNvPr id="6" name="Rectangle 5"/>
          <p:cNvSpPr/>
          <p:nvPr/>
        </p:nvSpPr>
        <p:spPr>
          <a:xfrm>
            <a:off x="9875520" y="804672"/>
            <a:ext cx="4754880" cy="2743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法人IBは送金限度額が高く、1件で数千万〜数億円の被害リスク</a:t>
            </a:r>
          </a:p>
        </p:txBody>
      </p:sp>
      <p:sp>
        <p:nvSpPr>
          <p:cNvPr id="7" name="Rectangle 6"/>
          <p:cNvSpPr/>
          <p:nvPr/>
        </p:nvSpPr>
        <p:spPr>
          <a:xfrm>
            <a:off x="1225296" y="1143000"/>
            <a:ext cx="5248656" cy="32004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犯人サイド</a:t>
            </a:r>
          </a:p>
        </p:txBody>
      </p:sp>
      <p:sp>
        <p:nvSpPr>
          <p:cNvPr id="8" name="Rectangle 7"/>
          <p:cNvSpPr/>
          <p:nvPr/>
        </p:nvSpPr>
        <p:spPr>
          <a:xfrm>
            <a:off x="6510528" y="1143000"/>
            <a:ext cx="7891272" cy="3200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被害企業サイド</a:t>
            </a:r>
          </a:p>
        </p:txBody>
      </p:sp>
      <p:sp>
        <p:nvSpPr>
          <p:cNvPr id="9" name="Rectangle 8"/>
          <p:cNvSpPr/>
          <p:nvPr/>
        </p:nvSpPr>
        <p:spPr>
          <a:xfrm>
            <a:off x="182880" y="1499616"/>
            <a:ext cx="10058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フェーズ</a:t>
            </a:r>
          </a:p>
        </p:txBody>
      </p:sp>
      <p:sp>
        <p:nvSpPr>
          <p:cNvPr id="10" name="Rectangle 9"/>
          <p:cNvSpPr/>
          <p:nvPr/>
        </p:nvSpPr>
        <p:spPr>
          <a:xfrm>
            <a:off x="1225296"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情報・インフラ</a:t>
            </a:r>
          </a:p>
        </p:txBody>
      </p:sp>
      <p:sp>
        <p:nvSpPr>
          <p:cNvPr id="11" name="Rectangle 10"/>
          <p:cNvSpPr/>
          <p:nvPr/>
        </p:nvSpPr>
        <p:spPr>
          <a:xfrm>
            <a:off x="3867912"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架電</a:t>
            </a:r>
          </a:p>
        </p:txBody>
      </p:sp>
      <p:sp>
        <p:nvSpPr>
          <p:cNvPr id="12" name="Rectangle 11"/>
          <p:cNvSpPr/>
          <p:nvPr/>
        </p:nvSpPr>
        <p:spPr>
          <a:xfrm>
            <a:off x="6510528"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受電</a:t>
            </a:r>
          </a:p>
        </p:txBody>
      </p:sp>
      <p:sp>
        <p:nvSpPr>
          <p:cNvPr id="13" name="Rectangle 12"/>
          <p:cNvSpPr/>
          <p:nvPr/>
        </p:nvSpPr>
        <p:spPr>
          <a:xfrm>
            <a:off x="9153144"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会社のPC</a:t>
            </a:r>
          </a:p>
        </p:txBody>
      </p:sp>
      <p:sp>
        <p:nvSpPr>
          <p:cNvPr id="14" name="Rectangle 13"/>
          <p:cNvSpPr/>
          <p:nvPr/>
        </p:nvSpPr>
        <p:spPr>
          <a:xfrm>
            <a:off x="11795760"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個人スマホ</a:t>
            </a:r>
          </a:p>
        </p:txBody>
      </p:sp>
      <p:sp>
        <p:nvSpPr>
          <p:cNvPr id="15" name="Rectangle 14"/>
          <p:cNvSpPr/>
          <p:nvPr/>
        </p:nvSpPr>
        <p:spPr>
          <a:xfrm>
            <a:off x="182880" y="1371600"/>
            <a:ext cx="1005840" cy="8686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① 犯行準備
（偵察など）</a:t>
            </a:r>
          </a:p>
        </p:txBody>
      </p:sp>
      <p:sp>
        <p:nvSpPr>
          <p:cNvPr id="16" name="Rectangle 15"/>
          <p:cNvSpPr/>
          <p:nvPr/>
        </p:nvSpPr>
        <p:spPr>
          <a:xfrm>
            <a:off x="182880" y="2276856"/>
            <a:ext cx="1005840" cy="9601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② 被害者への
接触</a:t>
            </a:r>
          </a:p>
        </p:txBody>
      </p:sp>
      <p:sp>
        <p:nvSpPr>
          <p:cNvPr id="17" name="Rectangle 16"/>
          <p:cNvSpPr/>
          <p:nvPr/>
        </p:nvSpPr>
        <p:spPr>
          <a:xfrm>
            <a:off x="182880" y="3273552"/>
            <a:ext cx="1005840" cy="2148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③ 心理的操作</a:t>
            </a:r>
          </a:p>
        </p:txBody>
      </p:sp>
      <p:sp>
        <p:nvSpPr>
          <p:cNvPr id="18" name="Rectangle 17"/>
          <p:cNvSpPr/>
          <p:nvPr/>
        </p:nvSpPr>
        <p:spPr>
          <a:xfrm>
            <a:off x="182880" y="5458968"/>
            <a:ext cx="1005840" cy="22402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④ システムや
機能の侵害</a:t>
            </a:r>
          </a:p>
        </p:txBody>
      </p:sp>
      <p:sp>
        <p:nvSpPr>
          <p:cNvPr id="19" name="Rectangle 18"/>
          <p:cNvSpPr/>
          <p:nvPr/>
        </p:nvSpPr>
        <p:spPr>
          <a:xfrm>
            <a:off x="182880" y="7735824"/>
            <a:ext cx="1005840" cy="2286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⑤ 侵害に使用
する認証情報</a:t>
            </a:r>
          </a:p>
        </p:txBody>
      </p:sp>
      <p:sp>
        <p:nvSpPr>
          <p:cNvPr id="20" name="Rectangle 19"/>
          <p:cNvSpPr/>
          <p:nvPr/>
        </p:nvSpPr>
        <p:spPr>
          <a:xfrm>
            <a:off x="182880" y="10058400"/>
            <a:ext cx="100584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⑥ 収益化
／マネロン</a:t>
            </a:r>
          </a:p>
        </p:txBody>
      </p:sp>
      <p:sp>
        <p:nvSpPr>
          <p:cNvPr id="21" name="Rectangle 20"/>
          <p:cNvSpPr/>
          <p:nvPr/>
        </p:nvSpPr>
        <p:spPr>
          <a:xfrm>
            <a:off x="1225296"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2" name="Rectangle 21"/>
          <p:cNvSpPr/>
          <p:nvPr/>
        </p:nvSpPr>
        <p:spPr>
          <a:xfrm>
            <a:off x="3867912"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3" name="Rectangle 22"/>
          <p:cNvSpPr/>
          <p:nvPr/>
        </p:nvSpPr>
        <p:spPr>
          <a:xfrm>
            <a:off x="6510528"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4" name="Rectangle 23"/>
          <p:cNvSpPr/>
          <p:nvPr/>
        </p:nvSpPr>
        <p:spPr>
          <a:xfrm>
            <a:off x="9153144"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5" name="Rectangle 24"/>
          <p:cNvSpPr/>
          <p:nvPr/>
        </p:nvSpPr>
        <p:spPr>
          <a:xfrm>
            <a:off x="11795760"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6" name="Rectangle 25"/>
          <p:cNvSpPr/>
          <p:nvPr/>
        </p:nvSpPr>
        <p:spPr>
          <a:xfrm>
            <a:off x="1225296"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7" name="Rectangle 26"/>
          <p:cNvSpPr/>
          <p:nvPr/>
        </p:nvSpPr>
        <p:spPr>
          <a:xfrm>
            <a:off x="3867912"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8" name="Rectangle 27"/>
          <p:cNvSpPr/>
          <p:nvPr/>
        </p:nvSpPr>
        <p:spPr>
          <a:xfrm>
            <a:off x="6510528"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9" name="Rectangle 28"/>
          <p:cNvSpPr/>
          <p:nvPr/>
        </p:nvSpPr>
        <p:spPr>
          <a:xfrm>
            <a:off x="9153144"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0" name="Rectangle 29"/>
          <p:cNvSpPr/>
          <p:nvPr/>
        </p:nvSpPr>
        <p:spPr>
          <a:xfrm>
            <a:off x="11795760"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1" name="Rectangle 30"/>
          <p:cNvSpPr/>
          <p:nvPr/>
        </p:nvSpPr>
        <p:spPr>
          <a:xfrm>
            <a:off x="1225296" y="3273552"/>
            <a:ext cx="260604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2" name="Rectangle 31"/>
          <p:cNvSpPr/>
          <p:nvPr/>
        </p:nvSpPr>
        <p:spPr>
          <a:xfrm>
            <a:off x="3867912" y="3273552"/>
            <a:ext cx="260604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3" name="Rectangle 32"/>
          <p:cNvSpPr/>
          <p:nvPr/>
        </p:nvSpPr>
        <p:spPr>
          <a:xfrm>
            <a:off x="6510528" y="3273552"/>
            <a:ext cx="260604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4" name="Rectangle 33"/>
          <p:cNvSpPr/>
          <p:nvPr/>
        </p:nvSpPr>
        <p:spPr>
          <a:xfrm>
            <a:off x="9153144" y="3273552"/>
            <a:ext cx="260604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5" name="Rectangle 34"/>
          <p:cNvSpPr/>
          <p:nvPr/>
        </p:nvSpPr>
        <p:spPr>
          <a:xfrm>
            <a:off x="11795760" y="3273552"/>
            <a:ext cx="260604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6" name="Rectangle 35"/>
          <p:cNvSpPr/>
          <p:nvPr/>
        </p:nvSpPr>
        <p:spPr>
          <a:xfrm>
            <a:off x="1225296" y="54589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7" name="Rectangle 36"/>
          <p:cNvSpPr/>
          <p:nvPr/>
        </p:nvSpPr>
        <p:spPr>
          <a:xfrm>
            <a:off x="3867912" y="54589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8" name="Rectangle 37"/>
          <p:cNvSpPr/>
          <p:nvPr/>
        </p:nvSpPr>
        <p:spPr>
          <a:xfrm>
            <a:off x="6510528" y="54589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9" name="Rectangle 38"/>
          <p:cNvSpPr/>
          <p:nvPr/>
        </p:nvSpPr>
        <p:spPr>
          <a:xfrm>
            <a:off x="9153144" y="54589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0" name="Rectangle 39"/>
          <p:cNvSpPr/>
          <p:nvPr/>
        </p:nvSpPr>
        <p:spPr>
          <a:xfrm>
            <a:off x="11795760" y="54589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1" name="Rectangle 40"/>
          <p:cNvSpPr/>
          <p:nvPr/>
        </p:nvSpPr>
        <p:spPr>
          <a:xfrm>
            <a:off x="1225296" y="77358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2" name="Rectangle 41"/>
          <p:cNvSpPr/>
          <p:nvPr/>
        </p:nvSpPr>
        <p:spPr>
          <a:xfrm>
            <a:off x="3867912" y="77358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3" name="Rectangle 42"/>
          <p:cNvSpPr/>
          <p:nvPr/>
        </p:nvSpPr>
        <p:spPr>
          <a:xfrm>
            <a:off x="6510528" y="77358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4" name="Rectangle 43"/>
          <p:cNvSpPr/>
          <p:nvPr/>
        </p:nvSpPr>
        <p:spPr>
          <a:xfrm>
            <a:off x="9153144" y="77358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5" name="Rectangle 44"/>
          <p:cNvSpPr/>
          <p:nvPr/>
        </p:nvSpPr>
        <p:spPr>
          <a:xfrm>
            <a:off x="11795760" y="77358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6" name="Rectangle 45"/>
          <p:cNvSpPr/>
          <p:nvPr/>
        </p:nvSpPr>
        <p:spPr>
          <a:xfrm>
            <a:off x="1225296" y="100584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7" name="Rectangle 46"/>
          <p:cNvSpPr/>
          <p:nvPr/>
        </p:nvSpPr>
        <p:spPr>
          <a:xfrm>
            <a:off x="3867912" y="100584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8" name="Rectangle 47"/>
          <p:cNvSpPr/>
          <p:nvPr/>
        </p:nvSpPr>
        <p:spPr>
          <a:xfrm>
            <a:off x="6510528" y="100584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9" name="Rectangle 48"/>
          <p:cNvSpPr/>
          <p:nvPr/>
        </p:nvSpPr>
        <p:spPr>
          <a:xfrm>
            <a:off x="9153144" y="100584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0" name="Rectangle 49"/>
          <p:cNvSpPr/>
          <p:nvPr/>
        </p:nvSpPr>
        <p:spPr>
          <a:xfrm>
            <a:off x="11795760" y="100584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1" name="Rectangle 50"/>
          <p:cNvSpPr/>
          <p:nvPr/>
        </p:nvSpPr>
        <p:spPr>
          <a:xfrm>
            <a:off x="1316736" y="1508760"/>
            <a:ext cx="2423160" cy="5029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電話番号・メールアドレスを取得</a:t>
            </a:r>
          </a:p>
        </p:txBody>
      </p:sp>
      <p:sp>
        <p:nvSpPr>
          <p:cNvPr id="52" name="Rectangle 51"/>
          <p:cNvSpPr/>
          <p:nvPr/>
        </p:nvSpPr>
        <p:spPr>
          <a:xfrm>
            <a:off x="3959352" y="1508760"/>
            <a:ext cx="2423160" cy="32004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事前調査</a:t>
            </a:r>
          </a:p>
        </p:txBody>
      </p:sp>
      <p:sp>
        <p:nvSpPr>
          <p:cNvPr id="53" name="TextBox 52"/>
          <p:cNvSpPr txBox="1"/>
          <p:nvPr/>
        </p:nvSpPr>
        <p:spPr>
          <a:xfrm>
            <a:off x="3959352" y="1874519"/>
            <a:ext cx="2423160" cy="274320"/>
          </a:xfrm>
          <a:prstGeom prst="rect">
            <a:avLst/>
          </a:prstGeom>
          <a:noFill/>
        </p:spPr>
        <p:txBody>
          <a:bodyPr wrap="square" lIns="50800" rIns="50800" tIns="38100" bIns="38100"/>
          <a:lstStyle/>
          <a:p>
            <a:pPr algn="l"/>
            <a:r>
              <a:rPr sz="700" b="0">
                <a:solidFill>
                  <a:srgbClr val="888888"/>
                </a:solidFill>
                <a:latin typeface="Meiryo"/>
              </a:rPr>
              <a:t>※幅広に架電している印象</a:t>
            </a:r>
          </a:p>
        </p:txBody>
      </p:sp>
      <p:sp>
        <p:nvSpPr>
          <p:cNvPr id="54" name="Rectangle 53"/>
          <p:cNvSpPr/>
          <p:nvPr/>
        </p:nvSpPr>
        <p:spPr>
          <a:xfrm>
            <a:off x="3959352" y="2350008"/>
            <a:ext cx="2423160" cy="777240"/>
          </a:xfrm>
          <a:prstGeom prst="rect">
            <a:avLst/>
          </a:prstGeom>
          <a:solidFill>
            <a:srgbClr val="EAF2FF"/>
          </a:solidFill>
          <a:ln w="25400">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【自動音声】
「こちらはMバンく BizSTATION法人窓口です。BizSTATIONを利用している方は1を押してください。承認実行権限を持っている方は1を押してください」</a:t>
            </a:r>
          </a:p>
        </p:txBody>
      </p:sp>
      <p:sp>
        <p:nvSpPr>
          <p:cNvPr id="55" name="Rectangle 54"/>
          <p:cNvSpPr/>
          <p:nvPr/>
        </p:nvSpPr>
        <p:spPr>
          <a:xfrm>
            <a:off x="6601968" y="235000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「1」押下</a:t>
            </a:r>
          </a:p>
        </p:txBody>
      </p:sp>
      <p:sp>
        <p:nvSpPr>
          <p:cNvPr id="56" name="TextBox 55"/>
          <p:cNvSpPr txBox="1"/>
          <p:nvPr/>
        </p:nvSpPr>
        <p:spPr>
          <a:xfrm>
            <a:off x="6601968" y="2734056"/>
            <a:ext cx="2423160" cy="502920"/>
          </a:xfrm>
          <a:prstGeom prst="rect">
            <a:avLst/>
          </a:prstGeom>
          <a:noFill/>
        </p:spPr>
        <p:txBody>
          <a:bodyPr wrap="square" lIns="50800" rIns="50800" tIns="38100" bIns="38100"/>
          <a:lstStyle/>
          <a:p>
            <a:pPr algn="l"/>
            <a:r>
              <a:rPr sz="600" b="0">
                <a:solidFill>
                  <a:srgbClr val="888888"/>
                </a:solidFill>
                <a:latin typeface="Meiryo"/>
              </a:rPr>
              <a:t>※「1」以外を押下した人は、法人ダイレクトオフィス（コールセンター）の電話番号を案内される</a:t>
            </a:r>
          </a:p>
        </p:txBody>
      </p:sp>
      <p:sp>
        <p:nvSpPr>
          <p:cNvPr id="57" name="Rectangle 56"/>
          <p:cNvSpPr/>
          <p:nvPr/>
        </p:nvSpPr>
        <p:spPr>
          <a:xfrm>
            <a:off x="3959352" y="3319272"/>
            <a:ext cx="2423160" cy="6400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「パソコン環境の更新が必要。現在口座の利用制限をしています。手続きを郵送していますが、届いてますか。更新されていないので電話しました」</a:t>
            </a:r>
          </a:p>
        </p:txBody>
      </p:sp>
      <p:sp>
        <p:nvSpPr>
          <p:cNvPr id="58" name="TextBox 57"/>
          <p:cNvSpPr txBox="1"/>
          <p:nvPr/>
        </p:nvSpPr>
        <p:spPr>
          <a:xfrm>
            <a:off x="3959352" y="3986784"/>
            <a:ext cx="2423160" cy="182880"/>
          </a:xfrm>
          <a:prstGeom prst="rect">
            <a:avLst/>
          </a:prstGeom>
          <a:noFill/>
        </p:spPr>
        <p:txBody>
          <a:bodyPr wrap="square" lIns="50800" rIns="50800" tIns="38100" bIns="38100"/>
          <a:lstStyle/>
          <a:p>
            <a:pPr algn="l"/>
            <a:r>
              <a:rPr sz="600" b="0">
                <a:solidFill>
                  <a:srgbClr val="888888"/>
                </a:solidFill>
                <a:latin typeface="Meiryo"/>
              </a:rPr>
              <a:t>※複数の誘導方法あり</a:t>
            </a:r>
          </a:p>
        </p:txBody>
      </p:sp>
      <p:sp>
        <p:nvSpPr>
          <p:cNvPr id="59" name="TextBox 58"/>
          <p:cNvSpPr txBox="1"/>
          <p:nvPr/>
        </p:nvSpPr>
        <p:spPr>
          <a:xfrm>
            <a:off x="3959352" y="4096512"/>
            <a:ext cx="2423160" cy="182880"/>
          </a:xfrm>
          <a:prstGeom prst="rect">
            <a:avLst/>
          </a:prstGeom>
          <a:noFill/>
        </p:spPr>
        <p:txBody>
          <a:bodyPr wrap="square" lIns="50800" rIns="50800" tIns="38100" bIns="38100"/>
          <a:lstStyle/>
          <a:p>
            <a:pPr algn="l"/>
            <a:r>
              <a:rPr sz="600" b="1">
                <a:solidFill>
                  <a:srgbClr val="C0392B"/>
                </a:solidFill>
                <a:latin typeface="Meiryo"/>
              </a:rPr>
              <a:t>※AI音声の可能性あり</a:t>
            </a:r>
          </a:p>
        </p:txBody>
      </p:sp>
      <p:sp>
        <p:nvSpPr>
          <p:cNvPr id="60" name="Diamond 59"/>
          <p:cNvSpPr/>
          <p:nvPr/>
        </p:nvSpPr>
        <p:spPr>
          <a:xfrm>
            <a:off x="4507992" y="4169664"/>
            <a:ext cx="1280160" cy="457200"/>
          </a:xfrm>
          <a:prstGeom prst="diamond">
            <a:avLst/>
          </a:prstGeom>
          <a:solidFill>
            <a:srgbClr val="FFF3CD"/>
          </a:solidFill>
          <a:ln w="1905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r>
              <a:rPr sz="700" b="1">
                <a:latin typeface="Meiryo"/>
              </a:rPr>
              <a:t>メアド
入手済／未済？</a:t>
            </a:r>
          </a:p>
        </p:txBody>
      </p:sp>
      <p:sp>
        <p:nvSpPr>
          <p:cNvPr id="61" name="Rectangle 60"/>
          <p:cNvSpPr/>
          <p:nvPr/>
        </p:nvSpPr>
        <p:spPr>
          <a:xfrm>
            <a:off x="3959352" y="4663440"/>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【未済の場合】
「手続きをメールで案内するので、メールアドレスを教えてください」</a:t>
            </a:r>
          </a:p>
        </p:txBody>
      </p:sp>
      <p:sp>
        <p:nvSpPr>
          <p:cNvPr id="62" name="Rectangle 61"/>
          <p:cNvSpPr/>
          <p:nvPr/>
        </p:nvSpPr>
        <p:spPr>
          <a:xfrm>
            <a:off x="3959352" y="5065776"/>
            <a:ext cx="2423160" cy="201168"/>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メール送付</a:t>
            </a:r>
          </a:p>
        </p:txBody>
      </p:sp>
      <p:sp>
        <p:nvSpPr>
          <p:cNvPr id="63" name="Rectangle 62"/>
          <p:cNvSpPr/>
          <p:nvPr/>
        </p:nvSpPr>
        <p:spPr>
          <a:xfrm>
            <a:off x="3959352" y="5285232"/>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件名①「【重要】BizSTATIONお客さま情報更新のお知らせ」</a:t>
            </a:r>
          </a:p>
        </p:txBody>
      </p:sp>
      <p:sp>
        <p:nvSpPr>
          <p:cNvPr id="64" name="Rectangle 63"/>
          <p:cNvSpPr/>
          <p:nvPr/>
        </p:nvSpPr>
        <p:spPr>
          <a:xfrm>
            <a:off x="3959352" y="5440680"/>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件名②「【Mバンく】IB安全利用案内（Rapport推奨）」</a:t>
            </a:r>
          </a:p>
        </p:txBody>
      </p:sp>
      <p:sp>
        <p:nvSpPr>
          <p:cNvPr id="65" name="Rectangle 64"/>
          <p:cNvSpPr/>
          <p:nvPr/>
        </p:nvSpPr>
        <p:spPr>
          <a:xfrm>
            <a:off x="6601968" y="4663440"/>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メールアドレスを伝える</a:t>
            </a:r>
          </a:p>
        </p:txBody>
      </p:sp>
      <p:sp>
        <p:nvSpPr>
          <p:cNvPr id="66" name="Rectangle 65"/>
          <p:cNvSpPr/>
          <p:nvPr/>
        </p:nvSpPr>
        <p:spPr>
          <a:xfrm>
            <a:off x="9244584" y="5148072"/>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メール受信
（Bizデザインのメール）</a:t>
            </a:r>
          </a:p>
        </p:txBody>
      </p:sp>
      <p:sp>
        <p:nvSpPr>
          <p:cNvPr id="67" name="Rectangle 66"/>
          <p:cNvSpPr/>
          <p:nvPr/>
        </p:nvSpPr>
        <p:spPr>
          <a:xfrm>
            <a:off x="3959352" y="5504688"/>
            <a:ext cx="2423160" cy="45720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「セキュリティ強化のためソフトインストールが必要です。メールのボタンをクリックしてください」</a:t>
            </a:r>
          </a:p>
        </p:txBody>
      </p:sp>
      <p:sp>
        <p:nvSpPr>
          <p:cNvPr id="68" name="Rectangle 67"/>
          <p:cNvSpPr/>
          <p:nvPr/>
        </p:nvSpPr>
        <p:spPr>
          <a:xfrm>
            <a:off x="3959352" y="600760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「セットアップをクリックしてください」</a:t>
            </a:r>
          </a:p>
        </p:txBody>
      </p:sp>
      <p:sp>
        <p:nvSpPr>
          <p:cNvPr id="69" name="Rectangle 68"/>
          <p:cNvSpPr/>
          <p:nvPr/>
        </p:nvSpPr>
        <p:spPr>
          <a:xfrm>
            <a:off x="3959352" y="632764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「実行するをクリックしてください」</a:t>
            </a:r>
          </a:p>
        </p:txBody>
      </p:sp>
      <p:sp>
        <p:nvSpPr>
          <p:cNvPr id="70" name="Rectangle 69"/>
          <p:cNvSpPr/>
          <p:nvPr/>
        </p:nvSpPr>
        <p:spPr>
          <a:xfrm>
            <a:off x="9244584" y="550468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クリック → ブラウザ表示
（Bizデザイン重要なお知らせ画面）</a:t>
            </a:r>
          </a:p>
        </p:txBody>
      </p:sp>
      <p:sp>
        <p:nvSpPr>
          <p:cNvPr id="71" name="Rectangle 70"/>
          <p:cNvSpPr/>
          <p:nvPr/>
        </p:nvSpPr>
        <p:spPr>
          <a:xfrm>
            <a:off x="9244584" y="5870448"/>
            <a:ext cx="2423160" cy="32004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【DL】リモートツールのセットアップファイル setup.msi がダウンロードされる</a:t>
            </a:r>
          </a:p>
        </p:txBody>
      </p:sp>
      <p:sp>
        <p:nvSpPr>
          <p:cNvPr id="72" name="Rectangle 71"/>
          <p:cNvSpPr/>
          <p:nvPr/>
        </p:nvSpPr>
        <p:spPr>
          <a:xfrm>
            <a:off x="9244584" y="6236208"/>
            <a:ext cx="2423160" cy="36576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【実行】msiファイル実行 → ポップアップ「実行する/実行しない」
※「不明な発行元」と表示</a:t>
            </a:r>
          </a:p>
        </p:txBody>
      </p:sp>
      <p:sp>
        <p:nvSpPr>
          <p:cNvPr id="73" name="Rectangle 72"/>
          <p:cNvSpPr/>
          <p:nvPr/>
        </p:nvSpPr>
        <p:spPr>
          <a:xfrm>
            <a:off x="9244584" y="6647688"/>
            <a:ext cx="242316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【インストール】ScreenConnect（リモートツール）がインストールされる</a:t>
            </a:r>
          </a:p>
        </p:txBody>
      </p:sp>
      <p:sp>
        <p:nvSpPr>
          <p:cNvPr id="74" name="Rectangle 73"/>
          <p:cNvSpPr/>
          <p:nvPr/>
        </p:nvSpPr>
        <p:spPr>
          <a:xfrm>
            <a:off x="9244584" y="6967728"/>
            <a:ext cx="2423160" cy="77724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FFFFFF"/>
                </a:solidFill>
                <a:latin typeface="Meiryo"/>
              </a:rPr>
              <a:t>『Mバンく　現在セキュリティ保護強化に伴うシステム更新ならびに、お客さま情報の確認、更新処理を実施しております。処理完了までの間一時的に画面が遅延または停止する場合がありますが、正常な処理となりますのでそのままお待ちくださいますようお願い申し上げます。』</a:t>
            </a:r>
          </a:p>
        </p:txBody>
      </p:sp>
      <p:sp>
        <p:nvSpPr>
          <p:cNvPr id="75" name="Rectangle 74"/>
          <p:cNvSpPr/>
          <p:nvPr/>
        </p:nvSpPr>
        <p:spPr>
          <a:xfrm>
            <a:off x="3959352" y="7781544"/>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「手続きを進めるにはSMS認証が必要なため、お客さまの携帯電話の番号を教えてください」</a:t>
            </a:r>
          </a:p>
        </p:txBody>
      </p:sp>
      <p:sp>
        <p:nvSpPr>
          <p:cNvPr id="76" name="Rectangle 75"/>
          <p:cNvSpPr/>
          <p:nvPr/>
        </p:nvSpPr>
        <p:spPr>
          <a:xfrm>
            <a:off x="3959352" y="8193024"/>
            <a:ext cx="2423160" cy="201168"/>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【SMS送付】</a:t>
            </a:r>
          </a:p>
        </p:txBody>
      </p:sp>
      <p:sp>
        <p:nvSpPr>
          <p:cNvPr id="77" name="Rectangle 76"/>
          <p:cNvSpPr/>
          <p:nvPr/>
        </p:nvSpPr>
        <p:spPr>
          <a:xfrm>
            <a:off x="3959352" y="8449056"/>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「認証画面を表示するためリンクをクリックしてください」</a:t>
            </a:r>
          </a:p>
        </p:txBody>
      </p:sp>
      <p:sp>
        <p:nvSpPr>
          <p:cNvPr id="78" name="Rectangle 77"/>
          <p:cNvSpPr/>
          <p:nvPr/>
        </p:nvSpPr>
        <p:spPr>
          <a:xfrm>
            <a:off x="3959352" y="8769096"/>
            <a:ext cx="2423160" cy="4114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「認証のため契約者番号、利用者ID、ログインPW、取引実行PW、OTPを入力してください」</a:t>
            </a:r>
          </a:p>
        </p:txBody>
      </p:sp>
      <p:sp>
        <p:nvSpPr>
          <p:cNvPr id="79" name="Rectangle 78"/>
          <p:cNvSpPr/>
          <p:nvPr/>
        </p:nvSpPr>
        <p:spPr>
          <a:xfrm>
            <a:off x="3959352" y="9244584"/>
            <a:ext cx="2423160" cy="4114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【犯人ブラウザ】赤い画面の裏でBizにアクセス、窃取したOTPを入力</a:t>
            </a:r>
          </a:p>
        </p:txBody>
      </p:sp>
      <p:sp>
        <p:nvSpPr>
          <p:cNvPr id="80" name="Rectangle 79"/>
          <p:cNvSpPr/>
          <p:nvPr/>
        </p:nvSpPr>
        <p:spPr>
          <a:xfrm>
            <a:off x="6601968" y="7781544"/>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電話番号を伝える</a:t>
            </a:r>
          </a:p>
        </p:txBody>
      </p:sp>
      <p:sp>
        <p:nvSpPr>
          <p:cNvPr id="81" name="Rectangle 80"/>
          <p:cNvSpPr/>
          <p:nvPr/>
        </p:nvSpPr>
        <p:spPr>
          <a:xfrm>
            <a:off x="11887200" y="8193024"/>
            <a:ext cx="2423160" cy="274320"/>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SMS受信 → リンクをクリック</a:t>
            </a:r>
          </a:p>
        </p:txBody>
      </p:sp>
      <p:sp>
        <p:nvSpPr>
          <p:cNvPr id="82" name="Rectangle 81"/>
          <p:cNvSpPr/>
          <p:nvPr/>
        </p:nvSpPr>
        <p:spPr>
          <a:xfrm>
            <a:off x="11887200" y="8540496"/>
            <a:ext cx="2423160" cy="6400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開いた画面に認証情報を入力
・契約者番号
・利用者ID
・ログインPW
・取引実行PW
・OTP</a:t>
            </a:r>
          </a:p>
        </p:txBody>
      </p:sp>
      <p:sp>
        <p:nvSpPr>
          <p:cNvPr id="83" name="Rectangle 82"/>
          <p:cNvSpPr/>
          <p:nvPr/>
        </p:nvSpPr>
        <p:spPr>
          <a:xfrm>
            <a:off x="3959352" y="10131552"/>
            <a:ext cx="2423160" cy="41148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400" b="1">
                <a:solidFill>
                  <a:srgbClr val="FFFFFF"/>
                </a:solidFill>
                <a:latin typeface="Meiryo"/>
              </a:rPr>
              <a:t>不正送金</a:t>
            </a:r>
          </a:p>
        </p:txBody>
      </p:sp>
      <p:sp>
        <p:nvSpPr>
          <p:cNvPr id="84" name="TextBox 83"/>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不審な電話手口 ｜ A3横印刷対応</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