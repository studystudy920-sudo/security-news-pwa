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E67E22"/>
                </a:solidFill>
                <a:latin typeface="Meiryo"/>
              </a:rPr>
              <a:t>「ブックマークからアクセスして」は機能しない</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ブックマーク登録を顧客に任せている時点で、対策として成立していない。</a:t>
            </a:r>
          </a:p>
        </p:txBody>
      </p:sp>
      <p:sp>
        <p:nvSpPr>
          <p:cNvPr id="4" name="Rectangle 3"/>
          <p:cNvSpPr/>
          <p:nvPr/>
        </p:nvSpPr>
        <p:spPr>
          <a:xfrm>
            <a:off x="731520" y="1188720"/>
            <a:ext cx="658368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銀行のURL伝達方法（法人IB）</a:t>
            </a:r>
          </a:p>
        </p:txBody>
      </p:sp>
      <p:sp>
        <p:nvSpPr>
          <p:cNvPr id="5" name="Rectangle 4"/>
          <p:cNvSpPr/>
          <p:nvPr/>
        </p:nvSpPr>
        <p:spPr>
          <a:xfrm>
            <a:off x="731520" y="160020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① 契約時の書面</a:t>
            </a:r>
          </a:p>
        </p:txBody>
      </p:sp>
      <p:sp>
        <p:nvSpPr>
          <p:cNvPr id="6" name="Rectangle 5"/>
          <p:cNvSpPr/>
          <p:nvPr/>
        </p:nvSpPr>
        <p:spPr>
          <a:xfrm>
            <a:off x="3017520" y="160020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紙にURLが記載されている</a:t>
            </a:r>
          </a:p>
        </p:txBody>
      </p:sp>
      <p:sp>
        <p:nvSpPr>
          <p:cNvPr id="7" name="Rectangle 6"/>
          <p:cNvSpPr/>
          <p:nvPr/>
        </p:nvSpPr>
        <p:spPr>
          <a:xfrm>
            <a:off x="731520" y="2011680"/>
            <a:ext cx="2286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② 銀行の窓口</a:t>
            </a:r>
          </a:p>
        </p:txBody>
      </p:sp>
      <p:sp>
        <p:nvSpPr>
          <p:cNvPr id="8" name="Rectangle 7"/>
          <p:cNvSpPr/>
          <p:nvPr/>
        </p:nvSpPr>
        <p:spPr>
          <a:xfrm>
            <a:off x="3017520" y="2011680"/>
            <a:ext cx="42976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担当者から口頭で案内</a:t>
            </a:r>
          </a:p>
        </p:txBody>
      </p:sp>
      <p:sp>
        <p:nvSpPr>
          <p:cNvPr id="9" name="Rectangle 8"/>
          <p:cNvSpPr/>
          <p:nvPr/>
        </p:nvSpPr>
        <p:spPr>
          <a:xfrm>
            <a:off x="731520" y="242316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③ 銀行の公式HP</a:t>
            </a:r>
          </a:p>
        </p:txBody>
      </p:sp>
      <p:sp>
        <p:nvSpPr>
          <p:cNvPr id="10" name="Rectangle 9"/>
          <p:cNvSpPr/>
          <p:nvPr/>
        </p:nvSpPr>
        <p:spPr>
          <a:xfrm>
            <a:off x="3017520" y="242316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検索 → HP → IBログインページ</a:t>
            </a:r>
          </a:p>
        </p:txBody>
      </p:sp>
      <p:sp>
        <p:nvSpPr>
          <p:cNvPr id="11" name="TextBox 10"/>
          <p:cNvSpPr txBox="1"/>
          <p:nvPr/>
        </p:nvSpPr>
        <p:spPr>
          <a:xfrm>
            <a:off x="731520" y="2880360"/>
            <a:ext cx="6583680" cy="274320"/>
          </a:xfrm>
          <a:prstGeom prst="rect">
            <a:avLst/>
          </a:prstGeom>
          <a:noFill/>
        </p:spPr>
        <p:txBody>
          <a:bodyPr wrap="square" lIns="50800" rIns="50800" tIns="38100" bIns="38100"/>
          <a:lstStyle/>
          <a:p>
            <a:pPr algn="l"/>
            <a:r>
              <a:rPr sz="1000" b="1">
                <a:solidFill>
                  <a:srgbClr val="C0392B"/>
                </a:solidFill>
                <a:latin typeface="Meiryo"/>
              </a:rPr>
              <a:t>→ 顧客が自分でブックマーク登録する必要がある</a:t>
            </a:r>
          </a:p>
        </p:txBody>
      </p:sp>
      <p:sp>
        <p:nvSpPr>
          <p:cNvPr id="12" name="Rectangle 11"/>
          <p:cNvSpPr/>
          <p:nvPr/>
        </p:nvSpPr>
        <p:spPr>
          <a:xfrm>
            <a:off x="7772400" y="1188720"/>
            <a:ext cx="64008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銀行の想定 vs 現実</a:t>
            </a:r>
          </a:p>
        </p:txBody>
      </p:sp>
      <p:sp>
        <p:nvSpPr>
          <p:cNvPr id="13" name="Rectangle 12"/>
          <p:cNvSpPr/>
          <p:nvPr/>
        </p:nvSpPr>
        <p:spPr>
          <a:xfrm>
            <a:off x="7772400" y="160020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契約時の書面を保管</a:t>
            </a:r>
          </a:p>
        </p:txBody>
      </p:sp>
      <p:sp>
        <p:nvSpPr>
          <p:cNvPr id="14" name="Rectangle 13"/>
          <p:cNvSpPr/>
          <p:nvPr/>
        </p:nvSpPr>
        <p:spPr>
          <a:xfrm>
            <a:off x="10698480" y="160020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どこにしまったかわからない</a:t>
            </a:r>
          </a:p>
        </p:txBody>
      </p:sp>
      <p:sp>
        <p:nvSpPr>
          <p:cNvPr id="15" name="Rectangle 14"/>
          <p:cNvSpPr/>
          <p:nvPr/>
        </p:nvSpPr>
        <p:spPr>
          <a:xfrm>
            <a:off x="7772400" y="201168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ブックマークに登録済み</a:t>
            </a:r>
          </a:p>
        </p:txBody>
      </p:sp>
      <p:sp>
        <p:nvSpPr>
          <p:cNvPr id="16" name="Rectangle 15"/>
          <p:cNvSpPr/>
          <p:nvPr/>
        </p:nvSpPr>
        <p:spPr>
          <a:xfrm>
            <a:off x="10698480" y="201168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登録していない人が多い</a:t>
            </a:r>
          </a:p>
        </p:txBody>
      </p:sp>
      <p:sp>
        <p:nvSpPr>
          <p:cNvPr id="17" name="Rectangle 16"/>
          <p:cNvSpPr/>
          <p:nvPr/>
        </p:nvSpPr>
        <p:spPr>
          <a:xfrm>
            <a:off x="7772400" y="242316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毎回ブックマークからアクセス</a:t>
            </a:r>
          </a:p>
        </p:txBody>
      </p:sp>
      <p:sp>
        <p:nvSpPr>
          <p:cNvPr id="18" name="Rectangle 17"/>
          <p:cNvSpPr/>
          <p:nvPr/>
        </p:nvSpPr>
        <p:spPr>
          <a:xfrm>
            <a:off x="10698480" y="242316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毎回「BizSTATION」で検索している</a:t>
            </a:r>
          </a:p>
        </p:txBody>
      </p:sp>
      <p:sp>
        <p:nvSpPr>
          <p:cNvPr id="19" name="Rectangle 18"/>
          <p:cNvSpPr/>
          <p:nvPr/>
        </p:nvSpPr>
        <p:spPr>
          <a:xfrm>
            <a:off x="731520" y="338328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ブックマーク登録の有無が攻撃成功率を左右する</a:t>
            </a:r>
          </a:p>
        </p:txBody>
      </p:sp>
      <p:sp>
        <p:nvSpPr>
          <p:cNvPr id="20" name="Rectangle 19"/>
          <p:cNvSpPr/>
          <p:nvPr/>
        </p:nvSpPr>
        <p:spPr>
          <a:xfrm>
            <a:off x="731520" y="38404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ブックマーク登録済みの人（少数）</a:t>
            </a:r>
          </a:p>
        </p:txBody>
      </p:sp>
      <p:sp>
        <p:nvSpPr>
          <p:cNvPr id="21" name="Rectangle 20"/>
          <p:cNvSpPr/>
          <p:nvPr/>
        </p:nvSpPr>
        <p:spPr>
          <a:xfrm>
            <a:off x="731520" y="4206240"/>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「自分のブックマークと違うURLだ」と気づける可能性がある
→ でも電話中なので確認しない</a:t>
            </a:r>
          </a:p>
        </p:txBody>
      </p:sp>
      <p:sp>
        <p:nvSpPr>
          <p:cNvPr id="22" name="Rectangle 21"/>
          <p:cNvSpPr/>
          <p:nvPr/>
        </p:nvSpPr>
        <p:spPr>
          <a:xfrm>
            <a:off x="7772400" y="38404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ブックマーク未登録の人（多数）</a:t>
            </a:r>
          </a:p>
        </p:txBody>
      </p:sp>
      <p:sp>
        <p:nvSpPr>
          <p:cNvPr id="23" name="Rectangle 22"/>
          <p:cNvSpPr/>
          <p:nvPr/>
        </p:nvSpPr>
        <p:spPr>
          <a:xfrm>
            <a:off x="7772400" y="4206240"/>
            <a:ext cx="6400800" cy="6400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普段から検索やメールリンクでアクセスしている
→ メールのボタンをクリックすることに抵抗がない
→ 攻撃にそのまま乗ってしまう</a:t>
            </a:r>
          </a:p>
        </p:txBody>
      </p:sp>
      <p:sp>
        <p:nvSpPr>
          <p:cNvPr id="24" name="Rectangle 23"/>
          <p:cNvSpPr/>
          <p:nvPr/>
        </p:nvSpPr>
        <p:spPr>
          <a:xfrm>
            <a:off x="731520" y="5074920"/>
            <a:ext cx="1362456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銀行がやるべきだったこと</a:t>
            </a:r>
          </a:p>
        </p:txBody>
      </p:sp>
      <p:sp>
        <p:nvSpPr>
          <p:cNvPr id="25" name="Rectangle 24"/>
          <p:cNvSpPr/>
          <p:nvPr/>
        </p:nvSpPr>
        <p:spPr>
          <a:xfrm>
            <a:off x="731520" y="548640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契約時にブックマークを設定してあげる</a:t>
            </a:r>
          </a:p>
        </p:txBody>
      </p:sp>
      <p:sp>
        <p:nvSpPr>
          <p:cNvPr id="26" name="Rectangle 25"/>
          <p:cNvSpPr/>
          <p:nvPr/>
        </p:nvSpPr>
        <p:spPr>
          <a:xfrm>
            <a:off x="5760720" y="548640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窓口対応 or 初期設定ツールで銀行側が登録</a:t>
            </a:r>
          </a:p>
        </p:txBody>
      </p:sp>
      <p:sp>
        <p:nvSpPr>
          <p:cNvPr id="27" name="Rectangle 26"/>
          <p:cNvSpPr/>
          <p:nvPr/>
        </p:nvSpPr>
        <p:spPr>
          <a:xfrm>
            <a:off x="731520" y="5897880"/>
            <a:ext cx="50292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公式アプリでしかアクセスできない仕組み</a:t>
            </a:r>
          </a:p>
        </p:txBody>
      </p:sp>
      <p:sp>
        <p:nvSpPr>
          <p:cNvPr id="28" name="Rectangle 27"/>
          <p:cNvSpPr/>
          <p:nvPr/>
        </p:nvSpPr>
        <p:spPr>
          <a:xfrm>
            <a:off x="5760720" y="5897880"/>
            <a:ext cx="859536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ブラウザ経由のアクセスを廃止</a:t>
            </a:r>
          </a:p>
        </p:txBody>
      </p:sp>
      <p:sp>
        <p:nvSpPr>
          <p:cNvPr id="29" name="Rectangle 28"/>
          <p:cNvSpPr/>
          <p:nvPr/>
        </p:nvSpPr>
        <p:spPr>
          <a:xfrm>
            <a:off x="731520" y="630936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専用クライアントに統一</a:t>
            </a:r>
          </a:p>
        </p:txBody>
      </p:sp>
      <p:sp>
        <p:nvSpPr>
          <p:cNvPr id="30" name="Rectangle 29"/>
          <p:cNvSpPr/>
          <p:nvPr/>
        </p:nvSpPr>
        <p:spPr>
          <a:xfrm>
            <a:off x="5760720" y="630936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ブラウザを使わせないことでフィッシング自体を不可能にする</a:t>
            </a:r>
          </a:p>
        </p:txBody>
      </p:sp>
      <p:sp>
        <p:nvSpPr>
          <p:cNvPr id="31" name="Rectangle 30"/>
          <p:cNvSpPr/>
          <p:nvPr/>
        </p:nvSpPr>
        <p:spPr>
          <a:xfrm>
            <a:off x="731520" y="676656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「自分でブックマーク登録してね」では対策にならない — 銀行側がアクセス経路を制御すべき</a:t>
            </a:r>
          </a:p>
        </p:txBody>
      </p:sp>
      <p:sp>
        <p:nvSpPr>
          <p:cNvPr id="32" name="TextBox 3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ブックマーク対策の限界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手順⑥「不明な発行元」— 極めつけの証拠だが、本質的な防壁ではない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OSが画面に大きく警告。知識不要、誰でも読める。それでも突破され、犯人のレベルアップで消滅する。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正規ソフト vs この攻撃の署名状態</a:t>
            </a:r>
          </a:p>
        </p:txBody>
      </p:sp>
      <p:sp>
        <p:nvSpPr>
          <p:cNvPr id="5" name="Rectangle 4"/>
          <p:cNvSpPr/>
          <p:nvPr/>
        </p:nvSpPr>
        <p:spPr>
          <a:xfrm>
            <a:off x="731520" y="141731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Rapport（IBM推奨）</a:t>
            </a:r>
          </a:p>
        </p:txBody>
      </p:sp>
      <p:sp>
        <p:nvSpPr>
          <p:cNvPr id="6" name="Rectangle 5"/>
          <p:cNvSpPr/>
          <p:nvPr/>
        </p:nvSpPr>
        <p:spPr>
          <a:xfrm>
            <a:off x="3931920" y="1417319"/>
            <a:ext cx="36576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IBM Corporation ✅</a:t>
            </a:r>
          </a:p>
        </p:txBody>
      </p:sp>
      <p:sp>
        <p:nvSpPr>
          <p:cNvPr id="7" name="Rectangle 6"/>
          <p:cNvSpPr/>
          <p:nvPr/>
        </p:nvSpPr>
        <p:spPr>
          <a:xfrm>
            <a:off x="7589520" y="141731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8" name="Rectangle 7"/>
          <p:cNvSpPr/>
          <p:nvPr/>
        </p:nvSpPr>
        <p:spPr>
          <a:xfrm>
            <a:off x="731520" y="1828799"/>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PhishWall（SecureBrain）</a:t>
            </a:r>
          </a:p>
        </p:txBody>
      </p:sp>
      <p:sp>
        <p:nvSpPr>
          <p:cNvPr id="9" name="Rectangle 8"/>
          <p:cNvSpPr/>
          <p:nvPr/>
        </p:nvSpPr>
        <p:spPr>
          <a:xfrm>
            <a:off x="3931920" y="1828799"/>
            <a:ext cx="36576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SecureBrain Corporation ✅</a:t>
            </a:r>
          </a:p>
        </p:txBody>
      </p:sp>
      <p:sp>
        <p:nvSpPr>
          <p:cNvPr id="10" name="Rectangle 9"/>
          <p:cNvSpPr/>
          <p:nvPr/>
        </p:nvSpPr>
        <p:spPr>
          <a:xfrm>
            <a:off x="7589520" y="1828799"/>
            <a:ext cx="4572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11" name="Rectangle 10"/>
          <p:cNvSpPr/>
          <p:nvPr/>
        </p:nvSpPr>
        <p:spPr>
          <a:xfrm>
            <a:off x="731520" y="224027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この攻撃のsetup.msi</a:t>
            </a:r>
          </a:p>
        </p:txBody>
      </p:sp>
      <p:sp>
        <p:nvSpPr>
          <p:cNvPr id="12" name="Rectangle 11"/>
          <p:cNvSpPr/>
          <p:nvPr/>
        </p:nvSpPr>
        <p:spPr>
          <a:xfrm>
            <a:off x="3931920" y="2240279"/>
            <a:ext cx="36576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不明 ❌</a:t>
            </a:r>
          </a:p>
        </p:txBody>
      </p:sp>
      <p:sp>
        <p:nvSpPr>
          <p:cNvPr id="13" name="Rectangle 12"/>
          <p:cNvSpPr/>
          <p:nvPr/>
        </p:nvSpPr>
        <p:spPr>
          <a:xfrm>
            <a:off x="7589520" y="224027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署名なし＝誰が作ったか不明</a:t>
            </a:r>
          </a:p>
        </p:txBody>
      </p:sp>
      <p:sp>
        <p:nvSpPr>
          <p:cNvPr id="14" name="Rectangle 13"/>
          <p:cNvSpPr/>
          <p:nvPr/>
        </p:nvSpPr>
        <p:spPr>
          <a:xfrm>
            <a:off x="731520" y="27432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なぜ「極めつけ」か — 他の破綻ポイントとの比較</a:t>
            </a:r>
          </a:p>
        </p:txBody>
      </p:sp>
      <p:sp>
        <p:nvSpPr>
          <p:cNvPr id="15" name="Rectangle 14"/>
          <p:cNvSpPr/>
          <p:nvPr/>
        </p:nvSpPr>
        <p:spPr>
          <a:xfrm>
            <a:off x="731520" y="310896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メアドを聞く</a:t>
            </a:r>
          </a:p>
        </p:txBody>
      </p:sp>
      <p:sp>
        <p:nvSpPr>
          <p:cNvPr id="16" name="Rectangle 15"/>
          <p:cNvSpPr/>
          <p:nvPr/>
        </p:nvSpPr>
        <p:spPr>
          <a:xfrm>
            <a:off x="3474720" y="3108960"/>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BizSTATIONの契約プロセスを知っている必要</a:t>
            </a:r>
          </a:p>
        </p:txBody>
      </p:sp>
      <p:sp>
        <p:nvSpPr>
          <p:cNvPr id="17" name="Rectangle 16"/>
          <p:cNvSpPr/>
          <p:nvPr/>
        </p:nvSpPr>
        <p:spPr>
          <a:xfrm>
            <a:off x="11247120" y="3108960"/>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18" name="Rectangle 17"/>
          <p:cNvSpPr/>
          <p:nvPr/>
        </p:nvSpPr>
        <p:spPr>
          <a:xfrm>
            <a:off x="731520" y="349300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迷惑フォルダを見て</a:t>
            </a:r>
          </a:p>
        </p:txBody>
      </p:sp>
      <p:sp>
        <p:nvSpPr>
          <p:cNvPr id="19" name="Rectangle 18"/>
          <p:cNvSpPr/>
          <p:nvPr/>
        </p:nvSpPr>
        <p:spPr>
          <a:xfrm>
            <a:off x="3474720" y="3493008"/>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メール認証の仕組みを知っている必要</a:t>
            </a:r>
          </a:p>
        </p:txBody>
      </p:sp>
      <p:sp>
        <p:nvSpPr>
          <p:cNvPr id="20" name="Rectangle 19"/>
          <p:cNvSpPr/>
          <p:nvPr/>
        </p:nvSpPr>
        <p:spPr>
          <a:xfrm>
            <a:off x="11247120" y="3493008"/>
            <a:ext cx="3108960" cy="384048"/>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1" name="Rectangle 20"/>
          <p:cNvSpPr/>
          <p:nvPr/>
        </p:nvSpPr>
        <p:spPr>
          <a:xfrm>
            <a:off x="731520" y="387705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⑤ メールにURLリンク</a:t>
            </a:r>
          </a:p>
        </p:txBody>
      </p:sp>
      <p:sp>
        <p:nvSpPr>
          <p:cNvPr id="22" name="Rectangle 21"/>
          <p:cNvSpPr/>
          <p:nvPr/>
        </p:nvSpPr>
        <p:spPr>
          <a:xfrm>
            <a:off x="3474720" y="3877056"/>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金融庁の方針を知っている必要</a:t>
            </a:r>
          </a:p>
        </p:txBody>
      </p:sp>
      <p:sp>
        <p:nvSpPr>
          <p:cNvPr id="23" name="Rectangle 22"/>
          <p:cNvSpPr/>
          <p:nvPr/>
        </p:nvSpPr>
        <p:spPr>
          <a:xfrm>
            <a:off x="11247120" y="3877056"/>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4" name="Rectangle 23"/>
          <p:cNvSpPr/>
          <p:nvPr/>
        </p:nvSpPr>
        <p:spPr>
          <a:xfrm>
            <a:off x="731520" y="426110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「不明な発行元」</a:t>
            </a:r>
          </a:p>
        </p:txBody>
      </p:sp>
      <p:sp>
        <p:nvSpPr>
          <p:cNvPr id="25" name="Rectangle 24"/>
          <p:cNvSpPr/>
          <p:nvPr/>
        </p:nvSpPr>
        <p:spPr>
          <a:xfrm>
            <a:off x="3474720" y="4261104"/>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画面に書いてある。知識不要。誰でも読める。</a:t>
            </a:r>
          </a:p>
        </p:txBody>
      </p:sp>
      <p:sp>
        <p:nvSpPr>
          <p:cNvPr id="26" name="Rectangle 25"/>
          <p:cNvSpPr/>
          <p:nvPr/>
        </p:nvSpPr>
        <p:spPr>
          <a:xfrm>
            <a:off x="11247120" y="4261104"/>
            <a:ext cx="310896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知識不要 ★</a:t>
            </a:r>
          </a:p>
        </p:txBody>
      </p:sp>
      <p:sp>
        <p:nvSpPr>
          <p:cNvPr id="27" name="Rectangle 26"/>
          <p:cNvSpPr/>
          <p:nvPr/>
        </p:nvSpPr>
        <p:spPr>
          <a:xfrm>
            <a:off x="731520" y="47548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しかし犯人がレベルアップすれば「不明な発行元」は消せる</a:t>
            </a:r>
          </a:p>
        </p:txBody>
      </p:sp>
      <p:sp>
        <p:nvSpPr>
          <p:cNvPr id="28" name="Rectangle 27"/>
          <p:cNvSpPr/>
          <p:nvPr/>
        </p:nvSpPr>
        <p:spPr>
          <a:xfrm>
            <a:off x="731520" y="512064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証明書なし（現状）</a:t>
            </a:r>
          </a:p>
        </p:txBody>
      </p:sp>
      <p:sp>
        <p:nvSpPr>
          <p:cNvPr id="29" name="Rectangle 28"/>
          <p:cNvSpPr/>
          <p:nvPr/>
        </p:nvSpPr>
        <p:spPr>
          <a:xfrm>
            <a:off x="3931920" y="512064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a:t>
            </a:r>
          </a:p>
        </p:txBody>
      </p:sp>
      <p:sp>
        <p:nvSpPr>
          <p:cNvPr id="30" name="Rectangle 29"/>
          <p:cNvSpPr/>
          <p:nvPr/>
        </p:nvSpPr>
        <p:spPr>
          <a:xfrm>
            <a:off x="8961120" y="512064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1" name="Rectangle 30"/>
          <p:cNvSpPr/>
          <p:nvPr/>
        </p:nvSpPr>
        <p:spPr>
          <a:xfrm>
            <a:off x="731520" y="548640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自己署名証明書</a:t>
            </a:r>
          </a:p>
        </p:txBody>
      </p:sp>
      <p:sp>
        <p:nvSpPr>
          <p:cNvPr id="32" name="Rectangle 31"/>
          <p:cNvSpPr/>
          <p:nvPr/>
        </p:nvSpPr>
        <p:spPr>
          <a:xfrm>
            <a:off x="3931920" y="548640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「不明な発行元」のまま</a:t>
            </a:r>
          </a:p>
        </p:txBody>
      </p:sp>
      <p:sp>
        <p:nvSpPr>
          <p:cNvPr id="33" name="Rectangle 32"/>
          <p:cNvSpPr/>
          <p:nvPr/>
        </p:nvSpPr>
        <p:spPr>
          <a:xfrm>
            <a:off x="8961120" y="548640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4" name="Rectangle 33"/>
          <p:cNvSpPr/>
          <p:nvPr/>
        </p:nvSpPr>
        <p:spPr>
          <a:xfrm>
            <a:off x="731520" y="585216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偽会社名でCA購入</a:t>
            </a:r>
          </a:p>
        </p:txBody>
      </p:sp>
      <p:sp>
        <p:nvSpPr>
          <p:cNvPr id="35" name="Rectangle 34"/>
          <p:cNvSpPr/>
          <p:nvPr/>
        </p:nvSpPr>
        <p:spPr>
          <a:xfrm>
            <a:off x="3931920" y="58521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「MUFGセキュリティ(株)」等が表示</a:t>
            </a:r>
          </a:p>
        </p:txBody>
      </p:sp>
      <p:sp>
        <p:nvSpPr>
          <p:cNvPr id="36" name="Rectangle 35"/>
          <p:cNvSpPr/>
          <p:nvPr/>
        </p:nvSpPr>
        <p:spPr>
          <a:xfrm>
            <a:off x="8961120" y="585216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中程度</a:t>
            </a:r>
          </a:p>
        </p:txBody>
      </p:sp>
      <p:sp>
        <p:nvSpPr>
          <p:cNvPr id="37" name="Rectangle 36"/>
          <p:cNvSpPr/>
          <p:nvPr/>
        </p:nvSpPr>
        <p:spPr>
          <a:xfrm>
            <a:off x="731520" y="621792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正規企業の証明書窃取</a:t>
            </a:r>
          </a:p>
        </p:txBody>
      </p:sp>
      <p:sp>
        <p:nvSpPr>
          <p:cNvPr id="38" name="Rectangle 37"/>
          <p:cNvSpPr/>
          <p:nvPr/>
        </p:nvSpPr>
        <p:spPr>
          <a:xfrm>
            <a:off x="3931920" y="62179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実在企業名が表示</a:t>
            </a:r>
          </a:p>
        </p:txBody>
      </p:sp>
      <p:sp>
        <p:nvSpPr>
          <p:cNvPr id="39" name="Rectangle 38"/>
          <p:cNvSpPr/>
          <p:nvPr/>
        </p:nvSpPr>
        <p:spPr>
          <a:xfrm>
            <a:off x="8961120" y="621792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0" name="Rectangle 39"/>
          <p:cNvSpPr/>
          <p:nvPr/>
        </p:nvSpPr>
        <p:spPr>
          <a:xfrm>
            <a:off x="731520" y="658368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EV証明書を偽造取得</a:t>
            </a:r>
          </a:p>
        </p:txBody>
      </p:sp>
      <p:sp>
        <p:nvSpPr>
          <p:cNvPr id="41" name="Rectangle 40"/>
          <p:cNvSpPr/>
          <p:nvPr/>
        </p:nvSpPr>
        <p:spPr>
          <a:xfrm>
            <a:off x="3931920" y="65836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SmartScreen警告も消える</a:t>
            </a:r>
          </a:p>
        </p:txBody>
      </p:sp>
      <p:sp>
        <p:nvSpPr>
          <p:cNvPr id="42" name="Rectangle 41"/>
          <p:cNvSpPr/>
          <p:nvPr/>
        </p:nvSpPr>
        <p:spPr>
          <a:xfrm>
            <a:off x="8961120" y="6583680"/>
            <a:ext cx="18288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3" name="Rectangle 42"/>
          <p:cNvSpPr/>
          <p:nvPr/>
        </p:nvSpPr>
        <p:spPr>
          <a:xfrm>
            <a:off x="731520" y="70408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確実な対策：ホワイトリスト型アプリ制御</a:t>
            </a:r>
          </a:p>
        </p:txBody>
      </p:sp>
      <p:sp>
        <p:nvSpPr>
          <p:cNvPr id="44" name="Rectangle 43"/>
          <p:cNvSpPr/>
          <p:nvPr/>
        </p:nvSpPr>
        <p:spPr>
          <a:xfrm>
            <a:off x="731520" y="7406640"/>
            <a:ext cx="4114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45" name="Rectangle 44"/>
          <p:cNvSpPr/>
          <p:nvPr/>
        </p:nvSpPr>
        <p:spPr>
          <a:xfrm>
            <a:off x="484632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未署名</a:t>
            </a:r>
          </a:p>
        </p:txBody>
      </p:sp>
      <p:sp>
        <p:nvSpPr>
          <p:cNvPr id="46" name="Rectangle 45"/>
          <p:cNvSpPr/>
          <p:nvPr/>
        </p:nvSpPr>
        <p:spPr>
          <a:xfrm>
            <a:off x="786384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偽証明書</a:t>
            </a:r>
          </a:p>
        </p:txBody>
      </p:sp>
      <p:sp>
        <p:nvSpPr>
          <p:cNvPr id="47" name="Rectangle 46"/>
          <p:cNvSpPr/>
          <p:nvPr/>
        </p:nvSpPr>
        <p:spPr>
          <a:xfrm>
            <a:off x="10881359" y="740664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窃取証明書</a:t>
            </a:r>
          </a:p>
        </p:txBody>
      </p:sp>
      <p:sp>
        <p:nvSpPr>
          <p:cNvPr id="48" name="Rectangle 47"/>
          <p:cNvSpPr/>
          <p:nvPr/>
        </p:nvSpPr>
        <p:spPr>
          <a:xfrm>
            <a:off x="731520" y="7772400"/>
            <a:ext cx="41148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「不明な発行元」に注意</a:t>
            </a:r>
          </a:p>
        </p:txBody>
      </p:sp>
      <p:sp>
        <p:nvSpPr>
          <p:cNvPr id="49" name="Rectangle 48"/>
          <p:cNvSpPr/>
          <p:nvPr/>
        </p:nvSpPr>
        <p:spPr>
          <a:xfrm>
            <a:off x="484632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気づける</a:t>
            </a:r>
          </a:p>
        </p:txBody>
      </p:sp>
      <p:sp>
        <p:nvSpPr>
          <p:cNvPr id="50" name="Rectangle 49"/>
          <p:cNvSpPr/>
          <p:nvPr/>
        </p:nvSpPr>
        <p:spPr>
          <a:xfrm>
            <a:off x="786384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1" name="Rectangle 50"/>
          <p:cNvSpPr/>
          <p:nvPr/>
        </p:nvSpPr>
        <p:spPr>
          <a:xfrm>
            <a:off x="10881359" y="7772400"/>
            <a:ext cx="34747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2" name="Rectangle 51"/>
          <p:cNvSpPr/>
          <p:nvPr/>
        </p:nvSpPr>
        <p:spPr>
          <a:xfrm>
            <a:off x="731520" y="8138160"/>
            <a:ext cx="41148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 / WDAC ★</a:t>
            </a:r>
          </a:p>
        </p:txBody>
      </p:sp>
      <p:sp>
        <p:nvSpPr>
          <p:cNvPr id="53" name="Rectangle 52"/>
          <p:cNvSpPr/>
          <p:nvPr/>
        </p:nvSpPr>
        <p:spPr>
          <a:xfrm>
            <a:off x="484632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4" name="Rectangle 53"/>
          <p:cNvSpPr/>
          <p:nvPr/>
        </p:nvSpPr>
        <p:spPr>
          <a:xfrm>
            <a:off x="786384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5" name="Rectangle 54"/>
          <p:cNvSpPr/>
          <p:nvPr/>
        </p:nvSpPr>
        <p:spPr>
          <a:xfrm>
            <a:off x="10881359" y="8138160"/>
            <a:ext cx="34747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6" name="Rectangle 55"/>
          <p:cNvSpPr/>
          <p:nvPr/>
        </p:nvSpPr>
        <p:spPr>
          <a:xfrm>
            <a:off x="731520" y="864108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証明書ベースの防御は犯人のレベル次第で突破される。ホワイトリスト型アプリ制御（AppLocker/WDAC）が唯一の確実な対策。</a:t>
            </a:r>
          </a:p>
        </p:txBody>
      </p:sp>
      <p:sp>
        <p:nvSpPr>
          <p:cNvPr id="57" name="TextBox 5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手順⑥「不明な発行元」とアプリ制御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