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457200" y="804672"/>
            <a:ext cx="292608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対象：法人向けIB（BizSTATION）</a:t>
            </a:r>
          </a:p>
        </p:txBody>
      </p:sp>
      <p:sp>
        <p:nvSpPr>
          <p:cNvPr id="5" name="Rectangle 4"/>
          <p:cNvSpPr/>
          <p:nvPr/>
        </p:nvSpPr>
        <p:spPr>
          <a:xfrm>
            <a:off x="3520440" y="804672"/>
            <a:ext cx="6217920" cy="2743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犯人はBizSTATIONの認証フロー（契約者番号→利用者ID→ログインPW→取引実行PW→OTP）を完全に把握</a:t>
            </a:r>
          </a:p>
        </p:txBody>
      </p:sp>
      <p:sp>
        <p:nvSpPr>
          <p:cNvPr id="6" name="Rectangle 5"/>
          <p:cNvSpPr/>
          <p:nvPr/>
        </p:nvSpPr>
        <p:spPr>
          <a:xfrm>
            <a:off x="9875520" y="804672"/>
            <a:ext cx="4754880" cy="2743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800" b="0">
                <a:solidFill>
                  <a:srgbClr val="FFFFFF"/>
                </a:solidFill>
                <a:latin typeface="Meiryo"/>
              </a:rPr>
              <a:t>法人IBは送金限度額が高く、1件で数千万〜数億円の被害リスク</a:t>
            </a:r>
          </a:p>
        </p:txBody>
      </p:sp>
      <p:sp>
        <p:nvSpPr>
          <p:cNvPr id="7" name="Rectangle 6"/>
          <p:cNvSpPr/>
          <p:nvPr/>
        </p:nvSpPr>
        <p:spPr>
          <a:xfrm>
            <a:off x="1225296" y="114300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8" name="Rectangle 7"/>
          <p:cNvSpPr/>
          <p:nvPr/>
        </p:nvSpPr>
        <p:spPr>
          <a:xfrm>
            <a:off x="6510528" y="114300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9" name="Rectangle 8"/>
          <p:cNvSpPr/>
          <p:nvPr/>
        </p:nvSpPr>
        <p:spPr>
          <a:xfrm>
            <a:off x="182880" y="149961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10" name="Rectangle 9"/>
          <p:cNvSpPr/>
          <p:nvPr/>
        </p:nvSpPr>
        <p:spPr>
          <a:xfrm>
            <a:off x="1225296"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11" name="Rectangle 10"/>
          <p:cNvSpPr/>
          <p:nvPr/>
        </p:nvSpPr>
        <p:spPr>
          <a:xfrm>
            <a:off x="3867912"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12" name="Rectangle 11"/>
          <p:cNvSpPr/>
          <p:nvPr/>
        </p:nvSpPr>
        <p:spPr>
          <a:xfrm>
            <a:off x="6510528"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3" name="Rectangle 12"/>
          <p:cNvSpPr/>
          <p:nvPr/>
        </p:nvSpPr>
        <p:spPr>
          <a:xfrm>
            <a:off x="9153144"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4" name="Rectangle 13"/>
          <p:cNvSpPr/>
          <p:nvPr/>
        </p:nvSpPr>
        <p:spPr>
          <a:xfrm>
            <a:off x="11795760" y="149961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5" name="Rectangle 14"/>
          <p:cNvSpPr/>
          <p:nvPr/>
        </p:nvSpPr>
        <p:spPr>
          <a:xfrm>
            <a:off x="182880" y="1371600"/>
            <a:ext cx="1005840" cy="8686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6" name="Rectangle 15"/>
          <p:cNvSpPr/>
          <p:nvPr/>
        </p:nvSpPr>
        <p:spPr>
          <a:xfrm>
            <a:off x="182880" y="2276856"/>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7" name="Rectangle 16"/>
          <p:cNvSpPr/>
          <p:nvPr/>
        </p:nvSpPr>
        <p:spPr>
          <a:xfrm>
            <a:off x="182880" y="3273552"/>
            <a:ext cx="1005840" cy="2606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8" name="Rectangle 17"/>
          <p:cNvSpPr/>
          <p:nvPr/>
        </p:nvSpPr>
        <p:spPr>
          <a:xfrm>
            <a:off x="182880" y="5916168"/>
            <a:ext cx="1005840" cy="22402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9" name="Rectangle 18"/>
          <p:cNvSpPr/>
          <p:nvPr/>
        </p:nvSpPr>
        <p:spPr>
          <a:xfrm>
            <a:off x="182880" y="8193024"/>
            <a:ext cx="1005840" cy="2286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20" name="Rectangle 19"/>
          <p:cNvSpPr/>
          <p:nvPr/>
        </p:nvSpPr>
        <p:spPr>
          <a:xfrm>
            <a:off x="182880" y="10515600"/>
            <a:ext cx="10058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21" name="Rectangle 20"/>
          <p:cNvSpPr/>
          <p:nvPr/>
        </p:nvSpPr>
        <p:spPr>
          <a:xfrm>
            <a:off x="1225296"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3867912"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6510528"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9153144"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11795760" y="1371600"/>
            <a:ext cx="2606040" cy="8686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1225296"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3867912"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6510528"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9153144"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11795760" y="2276856"/>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1225296"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3867912"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6510528"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9153144"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11795760" y="3273552"/>
            <a:ext cx="2606040" cy="26060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1225296"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3867912"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6510528"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9153144"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11795760" y="5916168"/>
            <a:ext cx="2606040" cy="22402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1225296"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3867912"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6510528"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9153144"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11795760" y="8193024"/>
            <a:ext cx="2606040" cy="2286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1225296"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3867912"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6510528"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9" name="Rectangle 48"/>
          <p:cNvSpPr/>
          <p:nvPr/>
        </p:nvSpPr>
        <p:spPr>
          <a:xfrm>
            <a:off x="9153144"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0" name="Rectangle 49"/>
          <p:cNvSpPr/>
          <p:nvPr/>
        </p:nvSpPr>
        <p:spPr>
          <a:xfrm>
            <a:off x="11795760" y="10515600"/>
            <a:ext cx="260604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51" name="Rectangle 50"/>
          <p:cNvSpPr/>
          <p:nvPr/>
        </p:nvSpPr>
        <p:spPr>
          <a:xfrm>
            <a:off x="1316736" y="1508760"/>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52" name="Rectangle 51"/>
          <p:cNvSpPr/>
          <p:nvPr/>
        </p:nvSpPr>
        <p:spPr>
          <a:xfrm>
            <a:off x="3959352" y="1508760"/>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3" name="TextBox 52"/>
          <p:cNvSpPr txBox="1"/>
          <p:nvPr/>
        </p:nvSpPr>
        <p:spPr>
          <a:xfrm>
            <a:off x="3959352" y="1874519"/>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4" name="Rectangle 53"/>
          <p:cNvSpPr/>
          <p:nvPr/>
        </p:nvSpPr>
        <p:spPr>
          <a:xfrm>
            <a:off x="3959352" y="23500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5" name="Rectangle 54"/>
          <p:cNvSpPr/>
          <p:nvPr/>
        </p:nvSpPr>
        <p:spPr>
          <a:xfrm>
            <a:off x="6601968" y="23500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6" name="TextBox 55"/>
          <p:cNvSpPr txBox="1"/>
          <p:nvPr/>
        </p:nvSpPr>
        <p:spPr>
          <a:xfrm>
            <a:off x="6601968" y="27340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7" name="Rectangle 56"/>
          <p:cNvSpPr/>
          <p:nvPr/>
        </p:nvSpPr>
        <p:spPr>
          <a:xfrm>
            <a:off x="3959352" y="331927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8" name="TextBox 57"/>
          <p:cNvSpPr txBox="1"/>
          <p:nvPr/>
        </p:nvSpPr>
        <p:spPr>
          <a:xfrm>
            <a:off x="3959352" y="398678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9" name="TextBox 58"/>
          <p:cNvSpPr txBox="1"/>
          <p:nvPr/>
        </p:nvSpPr>
        <p:spPr>
          <a:xfrm>
            <a:off x="3959352" y="4096512"/>
            <a:ext cx="2423160" cy="182880"/>
          </a:xfrm>
          <a:prstGeom prst="rect">
            <a:avLst/>
          </a:prstGeom>
          <a:noFill/>
        </p:spPr>
        <p:txBody>
          <a:bodyPr wrap="square" lIns="50800" rIns="50800" tIns="38100" bIns="38100"/>
          <a:lstStyle/>
          <a:p>
            <a:pPr algn="l"/>
            <a:r>
              <a:rPr sz="600" b="1">
                <a:solidFill>
                  <a:srgbClr val="C0392B"/>
                </a:solidFill>
                <a:latin typeface="Meiryo"/>
              </a:rPr>
              <a:t>※AI音声または有人対応（法人高額案件のため両方の可能性あり）</a:t>
            </a:r>
          </a:p>
        </p:txBody>
      </p:sp>
      <p:sp>
        <p:nvSpPr>
          <p:cNvPr id="60" name="Rectangle 59"/>
          <p:cNvSpPr/>
          <p:nvPr/>
        </p:nvSpPr>
        <p:spPr>
          <a:xfrm>
            <a:off x="3959352" y="4206240"/>
            <a:ext cx="2423160" cy="201168"/>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1">
                <a:solidFill>
                  <a:srgbClr val="FFFFFF"/>
                </a:solidFill>
                <a:latin typeface="Meiryo"/>
              </a:rPr>
              <a:t>🔑 攻撃の鍵：「口座制限」で恐怖→以降の判断力を奪う</a:t>
            </a:r>
          </a:p>
        </p:txBody>
      </p:sp>
      <p:sp>
        <p:nvSpPr>
          <p:cNvPr id="61" name="Diamond 60"/>
          <p:cNvSpPr/>
          <p:nvPr/>
        </p:nvSpPr>
        <p:spPr>
          <a:xfrm>
            <a:off x="4507992" y="444398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62" name="Rectangle 61"/>
          <p:cNvSpPr/>
          <p:nvPr/>
        </p:nvSpPr>
        <p:spPr>
          <a:xfrm>
            <a:off x="3959352" y="493776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63" name="Rectangle 62"/>
          <p:cNvSpPr/>
          <p:nvPr/>
        </p:nvSpPr>
        <p:spPr>
          <a:xfrm>
            <a:off x="3959352" y="532180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 破綻ポイント：BizSTATION契約時にメアド登録済み。銀行が聞く必要はない→手順②の恐怖で気づけない</a:t>
            </a:r>
          </a:p>
        </p:txBody>
      </p:sp>
      <p:sp>
        <p:nvSpPr>
          <p:cNvPr id="64" name="Rectangle 63"/>
          <p:cNvSpPr/>
          <p:nvPr/>
        </p:nvSpPr>
        <p:spPr>
          <a:xfrm>
            <a:off x="3959352" y="561441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5" name="Rectangle 64"/>
          <p:cNvSpPr/>
          <p:nvPr/>
        </p:nvSpPr>
        <p:spPr>
          <a:xfrm>
            <a:off x="3959352" y="583387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6" name="Rectangle 65"/>
          <p:cNvSpPr/>
          <p:nvPr/>
        </p:nvSpPr>
        <p:spPr>
          <a:xfrm>
            <a:off x="3959352" y="598932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7" name="Rectangle 66"/>
          <p:cNvSpPr/>
          <p:nvPr/>
        </p:nvSpPr>
        <p:spPr>
          <a:xfrm>
            <a:off x="6601968" y="493776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8" name="Rectangle 67"/>
          <p:cNvSpPr/>
          <p:nvPr/>
        </p:nvSpPr>
        <p:spPr>
          <a:xfrm>
            <a:off x="9244584" y="5614416"/>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9" name="Rectangle 68"/>
          <p:cNvSpPr/>
          <p:nvPr/>
        </p:nvSpPr>
        <p:spPr>
          <a:xfrm>
            <a:off x="3959352" y="5961888"/>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70" name="Rectangle 69"/>
          <p:cNvSpPr/>
          <p:nvPr/>
        </p:nvSpPr>
        <p:spPr>
          <a:xfrm>
            <a:off x="3959352" y="646480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71" name="Rectangle 70"/>
          <p:cNvSpPr/>
          <p:nvPr/>
        </p:nvSpPr>
        <p:spPr>
          <a:xfrm>
            <a:off x="3959352" y="678484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72" name="Rectangle 71"/>
          <p:cNvSpPr/>
          <p:nvPr/>
        </p:nvSpPr>
        <p:spPr>
          <a:xfrm>
            <a:off x="9244584" y="596188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73" name="Rectangle 72"/>
          <p:cNvSpPr/>
          <p:nvPr/>
        </p:nvSpPr>
        <p:spPr>
          <a:xfrm>
            <a:off x="9244584" y="632764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74" name="Rectangle 73"/>
          <p:cNvSpPr/>
          <p:nvPr/>
        </p:nvSpPr>
        <p:spPr>
          <a:xfrm>
            <a:off x="9244584" y="6693408"/>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5" name="Rectangle 74"/>
          <p:cNvSpPr/>
          <p:nvPr/>
        </p:nvSpPr>
        <p:spPr>
          <a:xfrm>
            <a:off x="9244584" y="7104888"/>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6" name="Rectangle 75"/>
          <p:cNvSpPr/>
          <p:nvPr/>
        </p:nvSpPr>
        <p:spPr>
          <a:xfrm>
            <a:off x="9244584" y="742492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7" name="Rectangle 76"/>
          <p:cNvSpPr/>
          <p:nvPr/>
        </p:nvSpPr>
        <p:spPr>
          <a:xfrm>
            <a:off x="3959352" y="823874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8" name="Rectangle 77"/>
          <p:cNvSpPr/>
          <p:nvPr/>
        </p:nvSpPr>
        <p:spPr>
          <a:xfrm>
            <a:off x="3959352" y="865022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9" name="Rectangle 78"/>
          <p:cNvSpPr/>
          <p:nvPr/>
        </p:nvSpPr>
        <p:spPr>
          <a:xfrm>
            <a:off x="3959352" y="890625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80" name="Rectangle 79"/>
          <p:cNvSpPr/>
          <p:nvPr/>
        </p:nvSpPr>
        <p:spPr>
          <a:xfrm>
            <a:off x="3959352" y="922629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81" name="Rectangle 80"/>
          <p:cNvSpPr/>
          <p:nvPr/>
        </p:nvSpPr>
        <p:spPr>
          <a:xfrm>
            <a:off x="3959352" y="970178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82" name="Rectangle 81"/>
          <p:cNvSpPr/>
          <p:nvPr/>
        </p:nvSpPr>
        <p:spPr>
          <a:xfrm>
            <a:off x="6601968" y="823874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83" name="Rectangle 82"/>
          <p:cNvSpPr/>
          <p:nvPr/>
        </p:nvSpPr>
        <p:spPr>
          <a:xfrm>
            <a:off x="11887200" y="865022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84" name="Rectangle 83"/>
          <p:cNvSpPr/>
          <p:nvPr/>
        </p:nvSpPr>
        <p:spPr>
          <a:xfrm>
            <a:off x="11887200" y="899769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5" name="Rectangle 84"/>
          <p:cNvSpPr/>
          <p:nvPr/>
        </p:nvSpPr>
        <p:spPr>
          <a:xfrm>
            <a:off x="3959352" y="1058875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6" name="TextBox 8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C0392B"/>
                </a:solidFill>
                <a:latin typeface="Meiryo"/>
              </a:rPr>
              <a:t>なぜ見破れないのか — 銀行の正規フローとの類似性</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銀行自身が顧客を「自動音声の指示に従う」行動パターンに教育してきた結果、この攻撃が成立している。</a:t>
            </a:r>
          </a:p>
        </p:txBody>
      </p:sp>
      <p:sp>
        <p:nvSpPr>
          <p:cNvPr id="4" name="Rectangle 3"/>
          <p:cNvSpPr/>
          <p:nvPr/>
        </p:nvSpPr>
        <p:spPr>
          <a:xfrm>
            <a:off x="13716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銀行の正規フロー</a:t>
            </a:r>
          </a:p>
        </p:txBody>
      </p:sp>
      <p:sp>
        <p:nvSpPr>
          <p:cNvPr id="5" name="Rectangle 4"/>
          <p:cNvSpPr/>
          <p:nvPr/>
        </p:nvSpPr>
        <p:spPr>
          <a:xfrm>
            <a:off x="54864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この攻撃の手口</a:t>
            </a:r>
          </a:p>
        </p:txBody>
      </p:sp>
      <p:sp>
        <p:nvSpPr>
          <p:cNvPr id="6" name="Rectangle 5"/>
          <p:cNvSpPr/>
          <p:nvPr/>
        </p:nvSpPr>
        <p:spPr>
          <a:xfrm>
            <a:off x="9601200" y="1463040"/>
            <a:ext cx="41148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顧客の体験</a:t>
            </a:r>
          </a:p>
        </p:txBody>
      </p:sp>
      <p:sp>
        <p:nvSpPr>
          <p:cNvPr id="7" name="Rectangle 6"/>
          <p:cNvSpPr/>
          <p:nvPr/>
        </p:nvSpPr>
        <p:spPr>
          <a:xfrm>
            <a:off x="13716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自動音声で用件を振り分け</a:t>
            </a:r>
          </a:p>
        </p:txBody>
      </p:sp>
      <p:sp>
        <p:nvSpPr>
          <p:cNvPr id="8" name="Rectangle 7"/>
          <p:cNvSpPr/>
          <p:nvPr/>
        </p:nvSpPr>
        <p:spPr>
          <a:xfrm>
            <a:off x="5486400" y="196596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自動音声で権限者を選別</a:t>
            </a:r>
          </a:p>
        </p:txBody>
      </p:sp>
      <p:sp>
        <p:nvSpPr>
          <p:cNvPr id="9" name="Rectangle 8"/>
          <p:cNvSpPr/>
          <p:nvPr/>
        </p:nvSpPr>
        <p:spPr>
          <a:xfrm>
            <a:off x="9601200" y="196596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0" name="Rectangle 9"/>
          <p:cNvSpPr/>
          <p:nvPr/>
        </p:nvSpPr>
        <p:spPr>
          <a:xfrm>
            <a:off x="13716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番号を押して選択</a:t>
            </a:r>
          </a:p>
        </p:txBody>
      </p:sp>
      <p:sp>
        <p:nvSpPr>
          <p:cNvPr id="11" name="Rectangle 10"/>
          <p:cNvSpPr/>
          <p:nvPr/>
        </p:nvSpPr>
        <p:spPr>
          <a:xfrm>
            <a:off x="5486400" y="246888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「1」を押す</a:t>
            </a:r>
          </a:p>
        </p:txBody>
      </p:sp>
      <p:sp>
        <p:nvSpPr>
          <p:cNvPr id="12" name="Rectangle 11"/>
          <p:cNvSpPr/>
          <p:nvPr/>
        </p:nvSpPr>
        <p:spPr>
          <a:xfrm>
            <a:off x="9601200" y="246888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3" name="Rectangle 12"/>
          <p:cNvSpPr/>
          <p:nvPr/>
        </p:nvSpPr>
        <p:spPr>
          <a:xfrm>
            <a:off x="13716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担当者と話す</a:t>
            </a:r>
          </a:p>
        </p:txBody>
      </p:sp>
      <p:sp>
        <p:nvSpPr>
          <p:cNvPr id="14" name="Rectangle 13"/>
          <p:cNvSpPr/>
          <p:nvPr/>
        </p:nvSpPr>
        <p:spPr>
          <a:xfrm>
            <a:off x="5486400" y="2971800"/>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犯人（AI音声/有人）と話す</a:t>
            </a:r>
          </a:p>
        </p:txBody>
      </p:sp>
      <p:sp>
        <p:nvSpPr>
          <p:cNvPr id="15" name="Rectangle 14"/>
          <p:cNvSpPr/>
          <p:nvPr/>
        </p:nvSpPr>
        <p:spPr>
          <a:xfrm>
            <a:off x="9601200" y="2971800"/>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6" name="Rectangle 15"/>
          <p:cNvSpPr/>
          <p:nvPr/>
        </p:nvSpPr>
        <p:spPr>
          <a:xfrm>
            <a:off x="13716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指示に従って手続き</a:t>
            </a:r>
          </a:p>
        </p:txBody>
      </p:sp>
      <p:sp>
        <p:nvSpPr>
          <p:cNvPr id="17" name="Rectangle 16"/>
          <p:cNvSpPr/>
          <p:nvPr/>
        </p:nvSpPr>
        <p:spPr>
          <a:xfrm>
            <a:off x="5486400" y="3474720"/>
            <a:ext cx="4114800" cy="50292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指示に従ってインストール</a:t>
            </a:r>
          </a:p>
        </p:txBody>
      </p:sp>
      <p:sp>
        <p:nvSpPr>
          <p:cNvPr id="18" name="Rectangle 17"/>
          <p:cNvSpPr/>
          <p:nvPr/>
        </p:nvSpPr>
        <p:spPr>
          <a:xfrm>
            <a:off x="9601200" y="3474720"/>
            <a:ext cx="4114800" cy="50292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19" name="Rectangle 18"/>
          <p:cNvSpPr/>
          <p:nvPr/>
        </p:nvSpPr>
        <p:spPr>
          <a:xfrm>
            <a:off x="13716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本人確認で情報を伝える</a:t>
            </a:r>
          </a:p>
        </p:txBody>
      </p:sp>
      <p:sp>
        <p:nvSpPr>
          <p:cNvPr id="20" name="Rectangle 19"/>
          <p:cNvSpPr/>
          <p:nvPr/>
        </p:nvSpPr>
        <p:spPr>
          <a:xfrm>
            <a:off x="5486400" y="3977639"/>
            <a:ext cx="4114800" cy="50292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100" b="0">
                <a:solidFill>
                  <a:srgbClr val="222222"/>
                </a:solidFill>
                <a:latin typeface="Meiryo"/>
              </a:rPr>
              <a:t>認証情報をすべて入力</a:t>
            </a:r>
          </a:p>
        </p:txBody>
      </p:sp>
      <p:sp>
        <p:nvSpPr>
          <p:cNvPr id="21" name="Rectangle 20"/>
          <p:cNvSpPr/>
          <p:nvPr/>
        </p:nvSpPr>
        <p:spPr>
          <a:xfrm>
            <a:off x="9601200" y="3977639"/>
            <a:ext cx="4114800" cy="5029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同じ</a:t>
            </a:r>
          </a:p>
        </p:txBody>
      </p:sp>
      <p:sp>
        <p:nvSpPr>
          <p:cNvPr id="22" name="Rectangle 21"/>
          <p:cNvSpPr/>
          <p:nvPr/>
        </p:nvSpPr>
        <p:spPr>
          <a:xfrm>
            <a:off x="1371600" y="475488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600" b="1">
                <a:solidFill>
                  <a:srgbClr val="FFFFFF"/>
                </a:solidFill>
                <a:latin typeface="Meiryo"/>
              </a:rPr>
              <a:t>構造的問題：正規と詐欺の区別が顧客側ではほぼ不可能</a:t>
            </a:r>
          </a:p>
        </p:txBody>
      </p:sp>
      <p:sp>
        <p:nvSpPr>
          <p:cNvPr id="23" name="TextBox 22"/>
          <p:cNvSpPr txBox="1"/>
          <p:nvPr/>
        </p:nvSpPr>
        <p:spPr>
          <a:xfrm>
            <a:off x="1371600" y="5486400"/>
            <a:ext cx="12344400" cy="1645920"/>
          </a:xfrm>
          <a:prstGeom prst="rect">
            <a:avLst/>
          </a:prstGeom>
          <a:noFill/>
        </p:spPr>
        <p:txBody>
          <a:bodyPr wrap="square" lIns="50800" rIns="50800" tIns="38100" bIns="38100"/>
          <a:lstStyle/>
          <a:p>
            <a:pPr algn="l"/>
            <a:r>
              <a:rPr sz="1300" b="0">
                <a:solidFill>
                  <a:srgbClr val="222222"/>
                </a:solidFill>
                <a:latin typeface="Meiryo"/>
              </a:rPr>
              <a:t>銀行側が取るべき対策：
① 架電を原則廃止し「銀行からは電話しません」と宣言する
② やむを得ない架電は事前にIB画面やアプリで通知してから行う
③「電話でソフトインストールを指示することはない」を明示する（現状周知不足）</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銀行の正規フローとの類似性</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274320"/>
            <a:ext cx="15124176" cy="548640"/>
          </a:xfrm>
          <a:prstGeom prst="rect">
            <a:avLst/>
          </a:prstGeom>
          <a:noFill/>
        </p:spPr>
        <p:txBody>
          <a:bodyPr wrap="square" lIns="50800" rIns="50800" tIns="38100" bIns="38100"/>
          <a:lstStyle/>
          <a:p>
            <a:pPr algn="ctr"/>
            <a:r>
              <a:rPr sz="2200" b="1">
                <a:solidFill>
                  <a:srgbClr val="E67E22"/>
                </a:solidFill>
                <a:latin typeface="Meiryo"/>
              </a:rPr>
              <a:t>手順②の心理操作 — どう答えても犯人のシナリオに乗る設計</a:t>
            </a:r>
          </a:p>
        </p:txBody>
      </p:sp>
      <p:sp>
        <p:nvSpPr>
          <p:cNvPr id="3" name="TextBox 2"/>
          <p:cNvSpPr txBox="1"/>
          <p:nvPr/>
        </p:nvSpPr>
        <p:spPr>
          <a:xfrm>
            <a:off x="0" y="777240"/>
            <a:ext cx="15124176" cy="365760"/>
          </a:xfrm>
          <a:prstGeom prst="rect">
            <a:avLst/>
          </a:prstGeom>
          <a:noFill/>
        </p:spPr>
        <p:txBody>
          <a:bodyPr wrap="square" lIns="50800" rIns="50800" tIns="38100" bIns="38100"/>
          <a:lstStyle/>
          <a:p>
            <a:pPr algn="ctr"/>
            <a:r>
              <a:rPr sz="1200" b="0">
                <a:solidFill>
                  <a:srgbClr val="888888"/>
                </a:solidFill>
                <a:latin typeface="Meiryo"/>
              </a:rPr>
              <a:t>4つのセリフそれぞれに明確な狙いがあり、被害者の心理的退路を塞いでいる。</a:t>
            </a:r>
          </a:p>
        </p:txBody>
      </p:sp>
      <p:sp>
        <p:nvSpPr>
          <p:cNvPr id="4" name="Rectangle 3"/>
          <p:cNvSpPr/>
          <p:nvPr/>
        </p:nvSpPr>
        <p:spPr>
          <a:xfrm>
            <a:off x="1371600" y="1371600"/>
            <a:ext cx="4114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セリフ</a:t>
            </a:r>
          </a:p>
        </p:txBody>
      </p:sp>
      <p:sp>
        <p:nvSpPr>
          <p:cNvPr id="5" name="Rectangle 4"/>
          <p:cNvSpPr/>
          <p:nvPr/>
        </p:nvSpPr>
        <p:spPr>
          <a:xfrm>
            <a:off x="5486400" y="1371600"/>
            <a:ext cx="1828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狙い</a:t>
            </a:r>
          </a:p>
        </p:txBody>
      </p:sp>
      <p:sp>
        <p:nvSpPr>
          <p:cNvPr id="6" name="Rectangle 5"/>
          <p:cNvSpPr/>
          <p:nvPr/>
        </p:nvSpPr>
        <p:spPr>
          <a:xfrm>
            <a:off x="7315200" y="1371600"/>
            <a:ext cx="6400800" cy="5943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効果</a:t>
            </a:r>
          </a:p>
        </p:txBody>
      </p:sp>
      <p:sp>
        <p:nvSpPr>
          <p:cNvPr id="7" name="Rectangle 6"/>
          <p:cNvSpPr/>
          <p:nvPr/>
        </p:nvSpPr>
        <p:spPr>
          <a:xfrm>
            <a:off x="1371600" y="196596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「パソコン環境の更新が必要」</a:t>
            </a:r>
          </a:p>
        </p:txBody>
      </p:sp>
      <p:sp>
        <p:nvSpPr>
          <p:cNvPr id="8" name="Rectangle 7"/>
          <p:cNvSpPr/>
          <p:nvPr/>
        </p:nvSpPr>
        <p:spPr>
          <a:xfrm>
            <a:off x="5486400" y="1965960"/>
            <a:ext cx="1828800" cy="59436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伏線</a:t>
            </a:r>
          </a:p>
        </p:txBody>
      </p:sp>
      <p:sp>
        <p:nvSpPr>
          <p:cNvPr id="9" name="Rectangle 8"/>
          <p:cNvSpPr/>
          <p:nvPr/>
        </p:nvSpPr>
        <p:spPr>
          <a:xfrm>
            <a:off x="7315200" y="196596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後のソフトインストール（手順⑤⑥）を自然に受け入れさせる</a:t>
            </a:r>
          </a:p>
        </p:txBody>
      </p:sp>
      <p:sp>
        <p:nvSpPr>
          <p:cNvPr id="10" name="Rectangle 9"/>
          <p:cNvSpPr/>
          <p:nvPr/>
        </p:nvSpPr>
        <p:spPr>
          <a:xfrm>
            <a:off x="1371600" y="2560320"/>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「口座の利用制限をしています」</a:t>
            </a:r>
          </a:p>
        </p:txBody>
      </p:sp>
      <p:sp>
        <p:nvSpPr>
          <p:cNvPr id="11" name="Rectangle 10"/>
          <p:cNvSpPr/>
          <p:nvPr/>
        </p:nvSpPr>
        <p:spPr>
          <a:xfrm>
            <a:off x="5486400" y="2560320"/>
            <a:ext cx="182880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恐怖</a:t>
            </a:r>
          </a:p>
        </p:txBody>
      </p:sp>
      <p:sp>
        <p:nvSpPr>
          <p:cNvPr id="12" name="Rectangle 11"/>
          <p:cNvSpPr/>
          <p:nvPr/>
        </p:nvSpPr>
        <p:spPr>
          <a:xfrm>
            <a:off x="7315200" y="2560320"/>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「今すぐ対応しなきゃ」と焦らせ、冷静な判断を奪う</a:t>
            </a:r>
          </a:p>
        </p:txBody>
      </p:sp>
      <p:sp>
        <p:nvSpPr>
          <p:cNvPr id="13" name="Rectangle 12"/>
          <p:cNvSpPr/>
          <p:nvPr/>
        </p:nvSpPr>
        <p:spPr>
          <a:xfrm>
            <a:off x="1371600" y="3154680"/>
            <a:ext cx="4114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「手続きを郵送しましたが、届いてますか」</a:t>
            </a:r>
          </a:p>
        </p:txBody>
      </p:sp>
      <p:sp>
        <p:nvSpPr>
          <p:cNvPr id="14" name="Rectangle 13"/>
          <p:cNvSpPr/>
          <p:nvPr/>
        </p:nvSpPr>
        <p:spPr>
          <a:xfrm>
            <a:off x="5486400" y="3154680"/>
            <a:ext cx="1828800" cy="5943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負い目</a:t>
            </a:r>
          </a:p>
        </p:txBody>
      </p:sp>
      <p:sp>
        <p:nvSpPr>
          <p:cNvPr id="15" name="Rectangle 14"/>
          <p:cNvSpPr/>
          <p:nvPr/>
        </p:nvSpPr>
        <p:spPr>
          <a:xfrm>
            <a:off x="7315200" y="3154680"/>
            <a:ext cx="6400800" cy="5943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被害者に「自分が見落とした」と思わせ、指示に従いやすくする</a:t>
            </a:r>
          </a:p>
        </p:txBody>
      </p:sp>
      <p:sp>
        <p:nvSpPr>
          <p:cNvPr id="16" name="Rectangle 15"/>
          <p:cNvSpPr/>
          <p:nvPr/>
        </p:nvSpPr>
        <p:spPr>
          <a:xfrm>
            <a:off x="1371600" y="3749039"/>
            <a:ext cx="4114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「更新されていないので電話しました」</a:t>
            </a:r>
          </a:p>
        </p:txBody>
      </p:sp>
      <p:sp>
        <p:nvSpPr>
          <p:cNvPr id="17" name="Rectangle 16"/>
          <p:cNvSpPr/>
          <p:nvPr/>
        </p:nvSpPr>
        <p:spPr>
          <a:xfrm>
            <a:off x="5486400" y="3749039"/>
            <a:ext cx="1828800" cy="5943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正当化</a:t>
            </a:r>
          </a:p>
        </p:txBody>
      </p:sp>
      <p:sp>
        <p:nvSpPr>
          <p:cNvPr id="18" name="Rectangle 17"/>
          <p:cNvSpPr/>
          <p:nvPr/>
        </p:nvSpPr>
        <p:spPr>
          <a:xfrm>
            <a:off x="7315200" y="3749039"/>
            <a:ext cx="6400800" cy="5943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架電がフォローアップに見え、銀行の丁寧な対応と錯覚させる</a:t>
            </a:r>
          </a:p>
        </p:txBody>
      </p:sp>
      <p:sp>
        <p:nvSpPr>
          <p:cNvPr id="19" name="Rectangle 18"/>
          <p:cNvSpPr/>
          <p:nvPr/>
        </p:nvSpPr>
        <p:spPr>
          <a:xfrm>
            <a:off x="1371600" y="4617720"/>
            <a:ext cx="12344400" cy="4114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300" b="1">
                <a:solidFill>
                  <a:srgbClr val="222222"/>
                </a:solidFill>
                <a:latin typeface="Meiryo"/>
              </a:rPr>
              <a:t>「届いてますか？」への回答パターン</a:t>
            </a:r>
          </a:p>
        </p:txBody>
      </p:sp>
      <p:sp>
        <p:nvSpPr>
          <p:cNvPr id="20" name="Rectangle 19"/>
          <p:cNvSpPr/>
          <p:nvPr/>
        </p:nvSpPr>
        <p:spPr>
          <a:xfrm>
            <a:off x="1371600" y="5074920"/>
            <a:ext cx="594360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「届いてない」（大多数）
→「届いていないなら仕方ない、電話で手続きしましょう」</a:t>
            </a:r>
          </a:p>
        </p:txBody>
      </p:sp>
      <p:sp>
        <p:nvSpPr>
          <p:cNvPr id="21" name="Rectangle 20"/>
          <p:cNvSpPr/>
          <p:nvPr/>
        </p:nvSpPr>
        <p:spPr>
          <a:xfrm>
            <a:off x="7406640" y="5074920"/>
            <a:ext cx="13716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2" name="Rectangle 21"/>
          <p:cNvSpPr/>
          <p:nvPr/>
        </p:nvSpPr>
        <p:spPr>
          <a:xfrm>
            <a:off x="8961120" y="5074920"/>
            <a:ext cx="3474720" cy="45720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「届いてる」（稀）
→「では確認しながら進めましょう」</a:t>
            </a:r>
          </a:p>
        </p:txBody>
      </p:sp>
      <p:sp>
        <p:nvSpPr>
          <p:cNvPr id="23" name="Rectangle 22"/>
          <p:cNvSpPr/>
          <p:nvPr/>
        </p:nvSpPr>
        <p:spPr>
          <a:xfrm>
            <a:off x="12527280" y="5074920"/>
            <a:ext cx="11887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シナリオ続行</a:t>
            </a:r>
          </a:p>
        </p:txBody>
      </p:sp>
      <p:sp>
        <p:nvSpPr>
          <p:cNvPr id="24" name="Rectangle 23"/>
          <p:cNvSpPr/>
          <p:nvPr/>
        </p:nvSpPr>
        <p:spPr>
          <a:xfrm>
            <a:off x="1371600" y="5715000"/>
            <a:ext cx="12344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500" b="1">
                <a:solidFill>
                  <a:srgbClr val="FFFFFF"/>
                </a:solidFill>
                <a:latin typeface="Meiryo"/>
              </a:rPr>
              <a:t>どう答えても犯人のシナリオから逸脱できない — 顧客には見破れない</a:t>
            </a:r>
          </a:p>
        </p:txBody>
      </p:sp>
      <p:sp>
        <p:nvSpPr>
          <p:cNvPr id="25" name="TextBox 24"/>
          <p:cNvSpPr txBox="1"/>
          <p:nvPr/>
        </p:nvSpPr>
        <p:spPr>
          <a:xfrm>
            <a:off x="1371600" y="6355079"/>
            <a:ext cx="12344400" cy="548640"/>
          </a:xfrm>
          <a:prstGeom prst="rect">
            <a:avLst/>
          </a:prstGeom>
          <a:noFill/>
        </p:spPr>
        <p:txBody>
          <a:bodyPr wrap="square" lIns="50800" rIns="50800" tIns="38100" bIns="38100"/>
          <a:lstStyle/>
          <a:p>
            <a:pPr algn="l"/>
            <a:r>
              <a:rPr sz="1200" b="0">
                <a:solidFill>
                  <a:srgbClr val="222222"/>
                </a:solidFill>
                <a:latin typeface="Meiryo"/>
              </a:rPr>
              <a:t>これも銀行が日常的に行う「書類を郵送しました → 届きましたか → 未対応なのでお電話」と同一パターンであり、顧客には見破れない</a:t>
            </a:r>
          </a:p>
        </p:txBody>
      </p:sp>
      <p:sp>
        <p:nvSpPr>
          <p:cNvPr id="26" name="TextBox 25"/>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手順②の心理操作テクニック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顧客はこの攻撃を見破れるか？</a:t>
            </a:r>
          </a:p>
        </p:txBody>
      </p:sp>
      <p:sp>
        <p:nvSpPr>
          <p:cNvPr id="3" name="Rectangle 2"/>
          <p:cNvSpPr/>
          <p:nvPr/>
        </p:nvSpPr>
        <p:spPr>
          <a:xfrm>
            <a:off x="731520" y="914400"/>
            <a:ext cx="9144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a:t>
            </a:r>
          </a:p>
        </p:txBody>
      </p:sp>
      <p:sp>
        <p:nvSpPr>
          <p:cNvPr id="4" name="Rectangle 3"/>
          <p:cNvSpPr/>
          <p:nvPr/>
        </p:nvSpPr>
        <p:spPr>
          <a:xfrm>
            <a:off x="1645920" y="914400"/>
            <a:ext cx="34747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5" name="Rectangle 4"/>
          <p:cNvSpPr/>
          <p:nvPr/>
        </p:nvSpPr>
        <p:spPr>
          <a:xfrm>
            <a:off x="5120640" y="914400"/>
            <a:ext cx="164592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見破れるか</a:t>
            </a:r>
          </a:p>
        </p:txBody>
      </p:sp>
      <p:sp>
        <p:nvSpPr>
          <p:cNvPr id="6" name="Rectangle 5"/>
          <p:cNvSpPr/>
          <p:nvPr/>
        </p:nvSpPr>
        <p:spPr>
          <a:xfrm>
            <a:off x="6766559" y="914400"/>
            <a:ext cx="59436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理由</a:t>
            </a:r>
          </a:p>
        </p:txBody>
      </p:sp>
      <p:sp>
        <p:nvSpPr>
          <p:cNvPr id="7" name="Rectangle 6"/>
          <p:cNvSpPr/>
          <p:nvPr/>
        </p:nvSpPr>
        <p:spPr>
          <a:xfrm>
            <a:off x="731520" y="13716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①</a:t>
            </a:r>
          </a:p>
        </p:txBody>
      </p:sp>
      <p:sp>
        <p:nvSpPr>
          <p:cNvPr id="8" name="Rectangle 7"/>
          <p:cNvSpPr/>
          <p:nvPr/>
        </p:nvSpPr>
        <p:spPr>
          <a:xfrm>
            <a:off x="1645920" y="13716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自動音声「1を押してください」</a:t>
            </a:r>
          </a:p>
        </p:txBody>
      </p:sp>
      <p:sp>
        <p:nvSpPr>
          <p:cNvPr id="9" name="Rectangle 8"/>
          <p:cNvSpPr/>
          <p:nvPr/>
        </p:nvSpPr>
        <p:spPr>
          <a:xfrm>
            <a:off x="5120640" y="13716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0" name="Rectangle 9"/>
          <p:cNvSpPr/>
          <p:nvPr/>
        </p:nvSpPr>
        <p:spPr>
          <a:xfrm>
            <a:off x="6766559" y="13716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銀行も同じことをする</a:t>
            </a:r>
          </a:p>
        </p:txBody>
      </p:sp>
      <p:sp>
        <p:nvSpPr>
          <p:cNvPr id="11" name="Rectangle 10"/>
          <p:cNvSpPr/>
          <p:nvPr/>
        </p:nvSpPr>
        <p:spPr>
          <a:xfrm>
            <a:off x="731520" y="18288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②</a:t>
            </a:r>
          </a:p>
        </p:txBody>
      </p:sp>
      <p:sp>
        <p:nvSpPr>
          <p:cNvPr id="12" name="Rectangle 11"/>
          <p:cNvSpPr/>
          <p:nvPr/>
        </p:nvSpPr>
        <p:spPr>
          <a:xfrm>
            <a:off x="1645920" y="18288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「口座制限中、郵送したが届いてますか」</a:t>
            </a:r>
          </a:p>
        </p:txBody>
      </p:sp>
      <p:sp>
        <p:nvSpPr>
          <p:cNvPr id="13" name="Rectangle 12"/>
          <p:cNvSpPr/>
          <p:nvPr/>
        </p:nvSpPr>
        <p:spPr>
          <a:xfrm>
            <a:off x="5120640" y="18288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不可能</a:t>
            </a:r>
          </a:p>
        </p:txBody>
      </p:sp>
      <p:sp>
        <p:nvSpPr>
          <p:cNvPr id="14" name="Rectangle 13"/>
          <p:cNvSpPr/>
          <p:nvPr/>
        </p:nvSpPr>
        <p:spPr>
          <a:xfrm>
            <a:off x="6766559" y="18288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銀行も同じことを言う</a:t>
            </a:r>
          </a:p>
        </p:txBody>
      </p:sp>
      <p:sp>
        <p:nvSpPr>
          <p:cNvPr id="15" name="Rectangle 14"/>
          <p:cNvSpPr/>
          <p:nvPr/>
        </p:nvSpPr>
        <p:spPr>
          <a:xfrm>
            <a:off x="731520" y="22860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③</a:t>
            </a:r>
          </a:p>
        </p:txBody>
      </p:sp>
      <p:sp>
        <p:nvSpPr>
          <p:cNvPr id="16" name="Rectangle 15"/>
          <p:cNvSpPr/>
          <p:nvPr/>
        </p:nvSpPr>
        <p:spPr>
          <a:xfrm>
            <a:off x="1645920" y="22860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「メールで案内します」メアド聞き出し</a:t>
            </a:r>
          </a:p>
        </p:txBody>
      </p:sp>
      <p:sp>
        <p:nvSpPr>
          <p:cNvPr id="17" name="Rectangle 16"/>
          <p:cNvSpPr/>
          <p:nvPr/>
        </p:nvSpPr>
        <p:spPr>
          <a:xfrm>
            <a:off x="5120640" y="2286000"/>
            <a:ext cx="164592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ほぼ不可能</a:t>
            </a:r>
          </a:p>
        </p:txBody>
      </p:sp>
      <p:sp>
        <p:nvSpPr>
          <p:cNvPr id="18" name="Rectangle 17"/>
          <p:cNvSpPr/>
          <p:nvPr/>
        </p:nvSpPr>
        <p:spPr>
          <a:xfrm>
            <a:off x="6766559" y="22860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銀行も確認することがある</a:t>
            </a:r>
          </a:p>
        </p:txBody>
      </p:sp>
      <p:sp>
        <p:nvSpPr>
          <p:cNvPr id="19" name="Rectangle 18"/>
          <p:cNvSpPr/>
          <p:nvPr/>
        </p:nvSpPr>
        <p:spPr>
          <a:xfrm>
            <a:off x="731520" y="27432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④</a:t>
            </a:r>
          </a:p>
        </p:txBody>
      </p:sp>
      <p:sp>
        <p:nvSpPr>
          <p:cNvPr id="20" name="Rectangle 19"/>
          <p:cNvSpPr/>
          <p:nvPr/>
        </p:nvSpPr>
        <p:spPr>
          <a:xfrm>
            <a:off x="1645920" y="27432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Bizデザインの偽メール送付</a:t>
            </a:r>
          </a:p>
        </p:txBody>
      </p:sp>
      <p:sp>
        <p:nvSpPr>
          <p:cNvPr id="21" name="Rectangle 20"/>
          <p:cNvSpPr/>
          <p:nvPr/>
        </p:nvSpPr>
        <p:spPr>
          <a:xfrm>
            <a:off x="5120640" y="27432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22" name="Rectangle 21"/>
          <p:cNvSpPr/>
          <p:nvPr/>
        </p:nvSpPr>
        <p:spPr>
          <a:xfrm>
            <a:off x="6766559" y="27432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精巧に模倣されている</a:t>
            </a:r>
          </a:p>
        </p:txBody>
      </p:sp>
      <p:sp>
        <p:nvSpPr>
          <p:cNvPr id="23" name="Rectangle 22"/>
          <p:cNvSpPr/>
          <p:nvPr/>
        </p:nvSpPr>
        <p:spPr>
          <a:xfrm>
            <a:off x="731520" y="32004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⑤</a:t>
            </a:r>
          </a:p>
        </p:txBody>
      </p:sp>
      <p:sp>
        <p:nvSpPr>
          <p:cNvPr id="24" name="Rectangle 23"/>
          <p:cNvSpPr/>
          <p:nvPr/>
        </p:nvSpPr>
        <p:spPr>
          <a:xfrm>
            <a:off x="1645920" y="32004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「ソフトをインストールしてください」</a:t>
            </a:r>
          </a:p>
        </p:txBody>
      </p:sp>
      <p:sp>
        <p:nvSpPr>
          <p:cNvPr id="25" name="Rectangle 24"/>
          <p:cNvSpPr/>
          <p:nvPr/>
        </p:nvSpPr>
        <p:spPr>
          <a:xfrm>
            <a:off x="5120640" y="3200400"/>
            <a:ext cx="164592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唯一のチャンス</a:t>
            </a:r>
          </a:p>
        </p:txBody>
      </p:sp>
      <p:sp>
        <p:nvSpPr>
          <p:cNvPr id="26" name="Rectangle 25"/>
          <p:cNvSpPr/>
          <p:nvPr/>
        </p:nvSpPr>
        <p:spPr>
          <a:xfrm>
            <a:off x="6766559" y="32004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ただし既に心理的に従う状態</a:t>
            </a:r>
          </a:p>
        </p:txBody>
      </p:sp>
      <p:sp>
        <p:nvSpPr>
          <p:cNvPr id="27" name="Rectangle 26"/>
          <p:cNvSpPr/>
          <p:nvPr/>
        </p:nvSpPr>
        <p:spPr>
          <a:xfrm>
            <a:off x="731520" y="36576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⑥</a:t>
            </a:r>
          </a:p>
        </p:txBody>
      </p:sp>
      <p:sp>
        <p:nvSpPr>
          <p:cNvPr id="28" name="Rectangle 27"/>
          <p:cNvSpPr/>
          <p:nvPr/>
        </p:nvSpPr>
        <p:spPr>
          <a:xfrm>
            <a:off x="1645920" y="36576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msi実行「不明な発行元」の警告</a:t>
            </a:r>
          </a:p>
        </p:txBody>
      </p:sp>
      <p:sp>
        <p:nvSpPr>
          <p:cNvPr id="29" name="Rectangle 28"/>
          <p:cNvSpPr/>
          <p:nvPr/>
        </p:nvSpPr>
        <p:spPr>
          <a:xfrm>
            <a:off x="5120640" y="36576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技術的には可能</a:t>
            </a:r>
          </a:p>
        </p:txBody>
      </p:sp>
      <p:sp>
        <p:nvSpPr>
          <p:cNvPr id="30" name="Rectangle 29"/>
          <p:cNvSpPr/>
          <p:nvPr/>
        </p:nvSpPr>
        <p:spPr>
          <a:xfrm>
            <a:off x="6766559" y="36576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電話で「実行して」と言われ突破される</a:t>
            </a:r>
          </a:p>
        </p:txBody>
      </p:sp>
      <p:sp>
        <p:nvSpPr>
          <p:cNvPr id="31" name="Rectangle 30"/>
          <p:cNvSpPr/>
          <p:nvPr/>
        </p:nvSpPr>
        <p:spPr>
          <a:xfrm>
            <a:off x="731520" y="4114800"/>
            <a:ext cx="91440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⑦</a:t>
            </a:r>
          </a:p>
        </p:txBody>
      </p:sp>
      <p:sp>
        <p:nvSpPr>
          <p:cNvPr id="32" name="Rectangle 31"/>
          <p:cNvSpPr/>
          <p:nvPr/>
        </p:nvSpPr>
        <p:spPr>
          <a:xfrm>
            <a:off x="1645920" y="4114800"/>
            <a:ext cx="347472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赤い画面「お待ちください」</a:t>
            </a:r>
          </a:p>
        </p:txBody>
      </p:sp>
      <p:sp>
        <p:nvSpPr>
          <p:cNvPr id="33" name="Rectangle 32"/>
          <p:cNvSpPr/>
          <p:nvPr/>
        </p:nvSpPr>
        <p:spPr>
          <a:xfrm>
            <a:off x="5120640" y="41148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困難</a:t>
            </a:r>
          </a:p>
        </p:txBody>
      </p:sp>
      <p:sp>
        <p:nvSpPr>
          <p:cNvPr id="34" name="Rectangle 33"/>
          <p:cNvSpPr/>
          <p:nvPr/>
        </p:nvSpPr>
        <p:spPr>
          <a:xfrm>
            <a:off x="6766559" y="4114800"/>
            <a:ext cx="594360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もう完全に信用している</a:t>
            </a:r>
          </a:p>
        </p:txBody>
      </p:sp>
      <p:sp>
        <p:nvSpPr>
          <p:cNvPr id="35" name="Rectangle 34"/>
          <p:cNvSpPr/>
          <p:nvPr/>
        </p:nvSpPr>
        <p:spPr>
          <a:xfrm>
            <a:off x="731520" y="4572000"/>
            <a:ext cx="914400" cy="457200"/>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222222"/>
                </a:solidFill>
                <a:latin typeface="Meiryo"/>
              </a:rPr>
              <a:t>⑧</a:t>
            </a:r>
          </a:p>
        </p:txBody>
      </p:sp>
      <p:sp>
        <p:nvSpPr>
          <p:cNvPr id="36" name="Rectangle 35"/>
          <p:cNvSpPr/>
          <p:nvPr/>
        </p:nvSpPr>
        <p:spPr>
          <a:xfrm>
            <a:off x="1645920" y="4572000"/>
            <a:ext cx="347472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認証情報5要素を一画面で入力</a:t>
            </a:r>
          </a:p>
        </p:txBody>
      </p:sp>
      <p:sp>
        <p:nvSpPr>
          <p:cNvPr id="37" name="Rectangle 36"/>
          <p:cNvSpPr/>
          <p:nvPr/>
        </p:nvSpPr>
        <p:spPr>
          <a:xfrm>
            <a:off x="5120640" y="4572000"/>
            <a:ext cx="164592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本来は異常</a:t>
            </a:r>
          </a:p>
        </p:txBody>
      </p:sp>
      <p:sp>
        <p:nvSpPr>
          <p:cNvPr id="38" name="Rectangle 37"/>
          <p:cNvSpPr/>
          <p:nvPr/>
        </p:nvSpPr>
        <p:spPr>
          <a:xfrm>
            <a:off x="6766559" y="4572000"/>
            <a:ext cx="5943600" cy="45720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焦りと電話指示で気づく余裕がない</a:t>
            </a:r>
          </a:p>
        </p:txBody>
      </p:sp>
      <p:sp>
        <p:nvSpPr>
          <p:cNvPr id="39" name="Rectangle 38"/>
          <p:cNvSpPr/>
          <p:nvPr/>
        </p:nvSpPr>
        <p:spPr>
          <a:xfrm>
            <a:off x="731520" y="5257800"/>
            <a:ext cx="1197864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唯一の見破りポイント（手順⑤⑥）に到達した時点で、冷静に判断できる心理状態ではない</a:t>
            </a:r>
          </a:p>
        </p:txBody>
      </p:sp>
      <p:sp>
        <p:nvSpPr>
          <p:cNvPr id="40" name="Rectangle 39"/>
          <p:cNvSpPr/>
          <p:nvPr/>
        </p:nvSpPr>
        <p:spPr>
          <a:xfrm>
            <a:off x="731520" y="5943600"/>
            <a:ext cx="585216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222222"/>
                </a:solidFill>
                <a:latin typeface="Meiryo"/>
              </a:rPr>
              <a:t>顧客側（ほぼ無力）</a:t>
            </a:r>
          </a:p>
        </p:txBody>
      </p:sp>
      <p:sp>
        <p:nvSpPr>
          <p:cNvPr id="41" name="Rectangle 40"/>
          <p:cNvSpPr/>
          <p:nvPr/>
        </p:nvSpPr>
        <p:spPr>
          <a:xfrm>
            <a:off x="731520" y="6309360"/>
            <a:ext cx="5852160" cy="45720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888888"/>
                </a:solidFill>
                <a:latin typeface="Meiryo"/>
              </a:rPr>
              <a:t>「気をつける」「注意喚起」では構造的に防げない</a:t>
            </a:r>
          </a:p>
        </p:txBody>
      </p:sp>
      <p:sp>
        <p:nvSpPr>
          <p:cNvPr id="42" name="Rectangle 41"/>
          <p:cNvSpPr/>
          <p:nvPr/>
        </p:nvSpPr>
        <p:spPr>
          <a:xfrm>
            <a:off x="6858000" y="5943600"/>
            <a:ext cx="58521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銀行/企業側（ここでしか止められない）</a:t>
            </a:r>
          </a:p>
        </p:txBody>
      </p:sp>
      <p:sp>
        <p:nvSpPr>
          <p:cNvPr id="43" name="Rectangle 42"/>
          <p:cNvSpPr/>
          <p:nvPr/>
        </p:nvSpPr>
        <p:spPr>
          <a:xfrm>
            <a:off x="6858000" y="6309360"/>
            <a:ext cx="5852160" cy="146304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ScreenConnectの通信をNWで検知
② 送金時の振る舞い検知（時間帯、金額、送金先）
③ 架電を廃止し「電話では手続きしない」と宣言
④ リモートツール実行をEDRでブロック
⑤ SMS認証のリンク先ドメインをホワイトリスト化</a:t>
            </a:r>
          </a:p>
        </p:txBody>
      </p:sp>
      <p:sp>
        <p:nvSpPr>
          <p:cNvPr id="44" name="Rectangle 43"/>
          <p:cNvSpPr/>
          <p:nvPr/>
        </p:nvSpPr>
        <p:spPr>
          <a:xfrm>
            <a:off x="731520" y="7955279"/>
            <a:ext cx="1197864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結論：「顧客が気をつければ防げる」は幻想 — 銀行側のシステム対策でしか止められない</a:t>
            </a:r>
          </a:p>
        </p:txBody>
      </p:sp>
      <p:sp>
        <p:nvSpPr>
          <p:cNvPr id="45" name="TextBox 4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顧客は見破れるか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C0392B"/>
                </a:solidFill>
                <a:latin typeface="Meiryo"/>
              </a:rPr>
              <a:t>1本の電話 — つないだまま全手順を完了させる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この攻撃は「9つの手順」ではなく、1本の電話の中で起きる1つの連続した攻撃である。</a:t>
            </a:r>
          </a:p>
        </p:txBody>
      </p:sp>
      <p:sp>
        <p:nvSpPr>
          <p:cNvPr id="4" name="Rectangle 3"/>
          <p:cNvSpPr/>
          <p:nvPr/>
        </p:nvSpPr>
        <p:spPr>
          <a:xfrm>
            <a:off x="914400" y="11887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①  自動音声で架電</a:t>
            </a:r>
          </a:p>
        </p:txBody>
      </p:sp>
      <p:sp>
        <p:nvSpPr>
          <p:cNvPr id="5" name="Rectangle 4"/>
          <p:cNvSpPr/>
          <p:nvPr/>
        </p:nvSpPr>
        <p:spPr>
          <a:xfrm>
            <a:off x="914400" y="16002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②  心理操作（口座制限中）</a:t>
            </a:r>
          </a:p>
        </p:txBody>
      </p:sp>
      <p:sp>
        <p:nvSpPr>
          <p:cNvPr id="6" name="Rectangle 5"/>
          <p:cNvSpPr/>
          <p:nvPr/>
        </p:nvSpPr>
        <p:spPr>
          <a:xfrm>
            <a:off x="914400" y="201168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③  メアド聞き出し＋メール送付</a:t>
            </a:r>
          </a:p>
        </p:txBody>
      </p:sp>
      <p:sp>
        <p:nvSpPr>
          <p:cNvPr id="7" name="Rectangle 6"/>
          <p:cNvSpPr/>
          <p:nvPr/>
        </p:nvSpPr>
        <p:spPr>
          <a:xfrm>
            <a:off x="914400" y="242316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④  「メールを開いてください」</a:t>
            </a:r>
          </a:p>
        </p:txBody>
      </p:sp>
      <p:sp>
        <p:nvSpPr>
          <p:cNvPr id="8" name="Rectangle 7"/>
          <p:cNvSpPr/>
          <p:nvPr/>
        </p:nvSpPr>
        <p:spPr>
          <a:xfrm>
            <a:off x="914400" y="283463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⑤  「インストールしてください」</a:t>
            </a:r>
          </a:p>
        </p:txBody>
      </p:sp>
      <p:sp>
        <p:nvSpPr>
          <p:cNvPr id="9" name="Rectangle 8"/>
          <p:cNvSpPr/>
          <p:nvPr/>
        </p:nvSpPr>
        <p:spPr>
          <a:xfrm>
            <a:off x="914400" y="324612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⑥  「実行してください」</a:t>
            </a:r>
          </a:p>
        </p:txBody>
      </p:sp>
      <p:sp>
        <p:nvSpPr>
          <p:cNvPr id="10" name="Rectangle 9"/>
          <p:cNvSpPr/>
          <p:nvPr/>
        </p:nvSpPr>
        <p:spPr>
          <a:xfrm>
            <a:off x="914400" y="3657600"/>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⑦  赤い画面表示</a:t>
            </a:r>
          </a:p>
        </p:txBody>
      </p:sp>
      <p:sp>
        <p:nvSpPr>
          <p:cNvPr id="11" name="Rectangle 10"/>
          <p:cNvSpPr/>
          <p:nvPr/>
        </p:nvSpPr>
        <p:spPr>
          <a:xfrm>
            <a:off x="914400" y="406907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⑧  「携帯番号を教えて」</a:t>
            </a:r>
          </a:p>
        </p:txBody>
      </p:sp>
      <p:sp>
        <p:nvSpPr>
          <p:cNvPr id="12" name="Rectangle 11"/>
          <p:cNvSpPr/>
          <p:nvPr/>
        </p:nvSpPr>
        <p:spPr>
          <a:xfrm>
            <a:off x="914400" y="4480559"/>
            <a:ext cx="5029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⑨  「認証情報を入力して」</a:t>
            </a:r>
          </a:p>
        </p:txBody>
      </p:sp>
      <p:sp>
        <p:nvSpPr>
          <p:cNvPr id="13" name="Rectangle 12"/>
          <p:cNvSpPr/>
          <p:nvPr/>
        </p:nvSpPr>
        <p:spPr>
          <a:xfrm>
            <a:off x="914400" y="4892040"/>
            <a:ext cx="50292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1100" b="1">
                <a:solidFill>
                  <a:srgbClr val="FFFFFF"/>
                </a:solidFill>
                <a:latin typeface="Meiryo"/>
              </a:rPr>
              <a:t>  不正送金</a:t>
            </a:r>
          </a:p>
        </p:txBody>
      </p:sp>
      <p:sp>
        <p:nvSpPr>
          <p:cNvPr id="14" name="Rectangle 13"/>
          <p:cNvSpPr/>
          <p:nvPr/>
        </p:nvSpPr>
        <p:spPr>
          <a:xfrm>
            <a:off x="6126480" y="1188720"/>
            <a:ext cx="457200" cy="408736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5" name="TextBox 14"/>
          <p:cNvSpPr txBox="1"/>
          <p:nvPr/>
        </p:nvSpPr>
        <p:spPr>
          <a:xfrm>
            <a:off x="6035040" y="1280160"/>
            <a:ext cx="640080" cy="274320"/>
          </a:xfrm>
          <a:prstGeom prst="rect">
            <a:avLst/>
          </a:prstGeom>
          <a:noFill/>
        </p:spPr>
        <p:txBody>
          <a:bodyPr wrap="square" lIns="50800" rIns="50800" tIns="38100" bIns="38100"/>
          <a:lstStyle/>
          <a:p>
            <a:pPr algn="ctr"/>
            <a:r>
              <a:rPr sz="800" b="1">
                <a:solidFill>
                  <a:srgbClr val="FFFFFF"/>
                </a:solidFill>
                <a:latin typeface="Meiryo"/>
              </a:rPr>
              <a:t>電話接続</a:t>
            </a:r>
          </a:p>
        </p:txBody>
      </p:sp>
      <p:sp>
        <p:nvSpPr>
          <p:cNvPr id="16" name="TextBox 15"/>
          <p:cNvSpPr txBox="1"/>
          <p:nvPr/>
        </p:nvSpPr>
        <p:spPr>
          <a:xfrm>
            <a:off x="5852160" y="2823667"/>
            <a:ext cx="1005840" cy="457200"/>
          </a:xfrm>
          <a:prstGeom prst="rect">
            <a:avLst/>
          </a:prstGeom>
          <a:noFill/>
        </p:spPr>
        <p:txBody>
          <a:bodyPr wrap="square" lIns="50800" rIns="50800" tIns="38100" bIns="38100"/>
          <a:lstStyle/>
          <a:p>
            <a:pPr algn="ctr"/>
            <a:r>
              <a:rPr sz="900" b="1">
                <a:solidFill>
                  <a:srgbClr val="FFFFFF"/>
                </a:solidFill>
                <a:latin typeface="Meiryo"/>
              </a:rPr>
              <a:t>ずっと
電話が
つながっている</a:t>
            </a:r>
          </a:p>
        </p:txBody>
      </p:sp>
      <p:sp>
        <p:nvSpPr>
          <p:cNvPr id="17" name="Rectangle 16"/>
          <p:cNvSpPr/>
          <p:nvPr/>
        </p:nvSpPr>
        <p:spPr>
          <a:xfrm>
            <a:off x="7315200" y="1188720"/>
            <a:ext cx="68580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電話をつないだままにする5つの効果</a:t>
            </a:r>
          </a:p>
        </p:txBody>
      </p:sp>
      <p:sp>
        <p:nvSpPr>
          <p:cNvPr id="18" name="Rectangle 17"/>
          <p:cNvSpPr/>
          <p:nvPr/>
        </p:nvSpPr>
        <p:spPr>
          <a:xfrm>
            <a:off x="7315200" y="1691640"/>
            <a:ext cx="22860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考える隙を与えない</a:t>
            </a:r>
          </a:p>
        </p:txBody>
      </p:sp>
      <p:sp>
        <p:nvSpPr>
          <p:cNvPr id="19" name="Rectangle 18"/>
          <p:cNvSpPr/>
          <p:nvPr/>
        </p:nvSpPr>
        <p:spPr>
          <a:xfrm>
            <a:off x="9601200" y="169164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電話を切ったら冷静になる。切らせない</a:t>
            </a:r>
          </a:p>
        </p:txBody>
      </p:sp>
      <p:sp>
        <p:nvSpPr>
          <p:cNvPr id="20" name="Rectangle 19"/>
          <p:cNvSpPr/>
          <p:nvPr/>
        </p:nvSpPr>
        <p:spPr>
          <a:xfrm>
            <a:off x="7315200" y="2194560"/>
            <a:ext cx="22860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リアルタイム制御</a:t>
            </a:r>
          </a:p>
        </p:txBody>
      </p:sp>
      <p:sp>
        <p:nvSpPr>
          <p:cNvPr id="21" name="Rectangle 20"/>
          <p:cNvSpPr/>
          <p:nvPr/>
        </p:nvSpPr>
        <p:spPr>
          <a:xfrm>
            <a:off x="9601200" y="219456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被害者の画面状況に合わせて次の指示を出せる</a:t>
            </a:r>
          </a:p>
        </p:txBody>
      </p:sp>
      <p:sp>
        <p:nvSpPr>
          <p:cNvPr id="22" name="Rectangle 21"/>
          <p:cNvSpPr/>
          <p:nvPr/>
        </p:nvSpPr>
        <p:spPr>
          <a:xfrm>
            <a:off x="7315200" y="2697480"/>
            <a:ext cx="2286000" cy="50292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離脱防止</a:t>
            </a:r>
          </a:p>
        </p:txBody>
      </p:sp>
      <p:sp>
        <p:nvSpPr>
          <p:cNvPr id="23" name="Rectangle 22"/>
          <p:cNvSpPr/>
          <p:nvPr/>
        </p:nvSpPr>
        <p:spPr>
          <a:xfrm>
            <a:off x="9601200" y="269748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「このままお待ちください」で引き留められる</a:t>
            </a:r>
          </a:p>
        </p:txBody>
      </p:sp>
      <p:sp>
        <p:nvSpPr>
          <p:cNvPr id="24" name="Rectangle 23"/>
          <p:cNvSpPr/>
          <p:nvPr/>
        </p:nvSpPr>
        <p:spPr>
          <a:xfrm>
            <a:off x="7315200" y="3200400"/>
            <a:ext cx="2286000" cy="50292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第三者への相談を防ぐ</a:t>
            </a:r>
          </a:p>
        </p:txBody>
      </p:sp>
      <p:sp>
        <p:nvSpPr>
          <p:cNvPr id="25" name="Rectangle 24"/>
          <p:cNvSpPr/>
          <p:nvPr/>
        </p:nvSpPr>
        <p:spPr>
          <a:xfrm>
            <a:off x="9601200" y="3200400"/>
            <a:ext cx="4572000" cy="502920"/>
          </a:xfrm>
          <a:prstGeom prst="rect">
            <a:avLst/>
          </a:prstGeom>
          <a:solidFill>
            <a:srgbClr val="F9F9F9"/>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電話中なので同僚や家族に相談できない</a:t>
            </a:r>
          </a:p>
        </p:txBody>
      </p:sp>
      <p:sp>
        <p:nvSpPr>
          <p:cNvPr id="26" name="Rectangle 25"/>
          <p:cNvSpPr/>
          <p:nvPr/>
        </p:nvSpPr>
        <p:spPr>
          <a:xfrm>
            <a:off x="7315200" y="3703320"/>
            <a:ext cx="228600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信頼の維持</a:t>
            </a:r>
          </a:p>
        </p:txBody>
      </p:sp>
      <p:sp>
        <p:nvSpPr>
          <p:cNvPr id="27" name="Rectangle 26"/>
          <p:cNvSpPr/>
          <p:nvPr/>
        </p:nvSpPr>
        <p:spPr>
          <a:xfrm>
            <a:off x="9601200" y="3703320"/>
            <a:ext cx="4572000" cy="502920"/>
          </a:xfrm>
          <a:prstGeom prst="rect">
            <a:avLst/>
          </a:prstGeom>
          <a:solidFill>
            <a:srgbClr val="FFFFFF"/>
          </a:solidFill>
          <a:ln w="25400">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銀行員が丁寧に付き添ってくれている感覚</a:t>
            </a:r>
          </a:p>
        </p:txBody>
      </p:sp>
      <p:sp>
        <p:nvSpPr>
          <p:cNvPr id="28" name="Rectangle 27"/>
          <p:cNvSpPr/>
          <p:nvPr/>
        </p:nvSpPr>
        <p:spPr>
          <a:xfrm>
            <a:off x="7315200" y="4434840"/>
            <a:ext cx="685800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もし電話が切れたら（攻撃失敗）</a:t>
            </a:r>
          </a:p>
        </p:txBody>
      </p:sp>
      <p:sp>
        <p:nvSpPr>
          <p:cNvPr id="29" name="Rectangle 28"/>
          <p:cNvSpPr/>
          <p:nvPr/>
        </p:nvSpPr>
        <p:spPr>
          <a:xfrm>
            <a:off x="7315200" y="4800600"/>
            <a:ext cx="6858000" cy="8229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「本当に銀行からの電話だったのか？」と疑問に思う
→ 銀行の公式番号にかけ直す
→ 同僚や上司に相談する
→ ネットで調べる</a:t>
            </a:r>
          </a:p>
        </p:txBody>
      </p:sp>
      <p:sp>
        <p:nvSpPr>
          <p:cNvPr id="30" name="Rectangle 29"/>
          <p:cNvSpPr/>
          <p:nvPr/>
        </p:nvSpPr>
        <p:spPr>
          <a:xfrm>
            <a:off x="914400" y="580644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被害者の体験：「銀行の担当者に電話で付き添ってもらいながら手続きをした」— それが攻撃だったとは気づかない</a:t>
            </a:r>
          </a:p>
        </p:txBody>
      </p:sp>
      <p:sp>
        <p:nvSpPr>
          <p:cNvPr id="31" name="TextBox 30"/>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1本の電話の構造</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手順④ フィッシングメール — セキュリティ対策も電話1本で無力化</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電話で予告してからメールを送る。通常のフィッシングとは根本的に異なる構造。</a:t>
            </a:r>
          </a:p>
        </p:txBody>
      </p:sp>
      <p:sp>
        <p:nvSpPr>
          <p:cNvPr id="4" name="Rectangle 3"/>
          <p:cNvSpPr/>
          <p:nvPr/>
        </p:nvSpPr>
        <p:spPr>
          <a:xfrm>
            <a:off x="914400" y="1188720"/>
            <a:ext cx="6400800" cy="41148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通常のフィッシング</a:t>
            </a:r>
          </a:p>
        </p:txBody>
      </p:sp>
      <p:sp>
        <p:nvSpPr>
          <p:cNvPr id="5" name="Rectangle 4"/>
          <p:cNvSpPr/>
          <p:nvPr/>
        </p:nvSpPr>
        <p:spPr>
          <a:xfrm>
            <a:off x="914400" y="164592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メールが突然届く</a:t>
            </a:r>
          </a:p>
        </p:txBody>
      </p:sp>
      <p:sp>
        <p:nvSpPr>
          <p:cNvPr id="6" name="Rectangle 5"/>
          <p:cNvSpPr/>
          <p:nvPr/>
        </p:nvSpPr>
        <p:spPr>
          <a:xfrm>
            <a:off x="2286000" y="210312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7" name="Rectangle 6"/>
          <p:cNvSpPr/>
          <p:nvPr/>
        </p:nvSpPr>
        <p:spPr>
          <a:xfrm>
            <a:off x="914400" y="2514600"/>
            <a:ext cx="6400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0">
                <a:solidFill>
                  <a:srgbClr val="222222"/>
                </a:solidFill>
                <a:latin typeface="Meiryo"/>
              </a:rPr>
              <a:t>「怪しいかも？」と思う余地あり</a:t>
            </a:r>
          </a:p>
        </p:txBody>
      </p:sp>
      <p:sp>
        <p:nvSpPr>
          <p:cNvPr id="8" name="Rectangle 7"/>
          <p:cNvSpPr/>
          <p:nvPr/>
        </p:nvSpPr>
        <p:spPr>
          <a:xfrm>
            <a:off x="2286000" y="2971800"/>
            <a:ext cx="3657600" cy="36576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222222"/>
                </a:solidFill>
                <a:latin typeface="Meiryo"/>
              </a:rPr>
              <a:t>↓</a:t>
            </a:r>
          </a:p>
        </p:txBody>
      </p:sp>
      <p:sp>
        <p:nvSpPr>
          <p:cNvPr id="9" name="Rectangle 8"/>
          <p:cNvSpPr/>
          <p:nvPr/>
        </p:nvSpPr>
        <p:spPr>
          <a:xfrm>
            <a:off x="914400" y="338328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迷惑メールフィルタが防いでくれる可能性あり</a:t>
            </a:r>
          </a:p>
        </p:txBody>
      </p:sp>
      <p:sp>
        <p:nvSpPr>
          <p:cNvPr id="10" name="Rectangle 9"/>
          <p:cNvSpPr/>
          <p:nvPr/>
        </p:nvSpPr>
        <p:spPr>
          <a:xfrm>
            <a:off x="7772400" y="118872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この攻撃</a:t>
            </a:r>
          </a:p>
        </p:txBody>
      </p:sp>
      <p:sp>
        <p:nvSpPr>
          <p:cNvPr id="11" name="Rectangle 10"/>
          <p:cNvSpPr/>
          <p:nvPr/>
        </p:nvSpPr>
        <p:spPr>
          <a:xfrm>
            <a:off x="7772400" y="164592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電話で「今からメール送ります」と予告</a:t>
            </a:r>
          </a:p>
        </p:txBody>
      </p:sp>
      <p:sp>
        <p:nvSpPr>
          <p:cNvPr id="12" name="Rectangle 11"/>
          <p:cNvSpPr/>
          <p:nvPr/>
        </p:nvSpPr>
        <p:spPr>
          <a:xfrm>
            <a:off x="9144000" y="210312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3" name="Rectangle 12"/>
          <p:cNvSpPr/>
          <p:nvPr/>
        </p:nvSpPr>
        <p:spPr>
          <a:xfrm>
            <a:off x="7772400" y="2514600"/>
            <a:ext cx="64008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200" b="1">
                <a:solidFill>
                  <a:srgbClr val="222222"/>
                </a:solidFill>
                <a:latin typeface="Meiryo"/>
              </a:rPr>
              <a:t>メール到着 →「本物だ」と確信（予告通り来たから）</a:t>
            </a:r>
          </a:p>
        </p:txBody>
      </p:sp>
      <p:sp>
        <p:nvSpPr>
          <p:cNvPr id="14" name="Rectangle 13"/>
          <p:cNvSpPr/>
          <p:nvPr/>
        </p:nvSpPr>
        <p:spPr>
          <a:xfrm>
            <a:off x="9144000" y="2971800"/>
            <a:ext cx="36576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C0392B"/>
                </a:solidFill>
                <a:latin typeface="Meiryo"/>
              </a:rPr>
              <a:t>↓</a:t>
            </a:r>
          </a:p>
        </p:txBody>
      </p:sp>
      <p:sp>
        <p:nvSpPr>
          <p:cNvPr id="15" name="Rectangle 14"/>
          <p:cNvSpPr/>
          <p:nvPr/>
        </p:nvSpPr>
        <p:spPr>
          <a:xfrm>
            <a:off x="7772400" y="3383280"/>
            <a:ext cx="64008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電話 × メールの二重チャネルが相互に信頼性を補強</a:t>
            </a:r>
          </a:p>
        </p:txBody>
      </p:sp>
      <p:sp>
        <p:nvSpPr>
          <p:cNvPr id="16" name="Rectangle 15"/>
          <p:cNvSpPr/>
          <p:nvPr/>
        </p:nvSpPr>
        <p:spPr>
          <a:xfrm>
            <a:off x="914400" y="411480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偽メールは正規フォルダに入らない（SPF/DKIM/DMARC不通過）→ ほぼ確実に迷惑フォルダ行き</a:t>
            </a:r>
          </a:p>
        </p:txBody>
      </p:sp>
      <p:sp>
        <p:nvSpPr>
          <p:cNvPr id="17" name="Rectangle 16"/>
          <p:cNvSpPr/>
          <p:nvPr/>
        </p:nvSpPr>
        <p:spPr>
          <a:xfrm>
            <a:off x="91440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メールが迷惑フォルダへ</a:t>
            </a:r>
          </a:p>
        </p:txBody>
      </p:sp>
      <p:sp>
        <p:nvSpPr>
          <p:cNvPr id="18" name="TextBox 17"/>
          <p:cNvSpPr txBox="1"/>
          <p:nvPr/>
        </p:nvSpPr>
        <p:spPr>
          <a:xfrm>
            <a:off x="3977639"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19" name="Rectangle 18"/>
          <p:cNvSpPr/>
          <p:nvPr/>
        </p:nvSpPr>
        <p:spPr>
          <a:xfrm>
            <a:off x="4389120" y="4663440"/>
            <a:ext cx="301752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被害者「メール来てません」</a:t>
            </a:r>
          </a:p>
        </p:txBody>
      </p:sp>
      <p:sp>
        <p:nvSpPr>
          <p:cNvPr id="20" name="TextBox 19"/>
          <p:cNvSpPr txBox="1"/>
          <p:nvPr/>
        </p:nvSpPr>
        <p:spPr>
          <a:xfrm>
            <a:off x="74523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1" name="Rectangle 20"/>
          <p:cNvSpPr/>
          <p:nvPr/>
        </p:nvSpPr>
        <p:spPr>
          <a:xfrm>
            <a:off x="7863840" y="4663440"/>
            <a:ext cx="3200400" cy="5029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0">
                <a:solidFill>
                  <a:srgbClr val="222222"/>
                </a:solidFill>
                <a:latin typeface="Meiryo"/>
              </a:rPr>
              <a:t>犯人「迷惑メールフォルダを
確認してください」</a:t>
            </a:r>
          </a:p>
        </p:txBody>
      </p:sp>
      <p:sp>
        <p:nvSpPr>
          <p:cNvPr id="22" name="TextBox 21"/>
          <p:cNvSpPr txBox="1"/>
          <p:nvPr/>
        </p:nvSpPr>
        <p:spPr>
          <a:xfrm>
            <a:off x="11109960" y="4736592"/>
            <a:ext cx="365760" cy="365760"/>
          </a:xfrm>
          <a:prstGeom prst="rect">
            <a:avLst/>
          </a:prstGeom>
          <a:noFill/>
        </p:spPr>
        <p:txBody>
          <a:bodyPr wrap="square" lIns="50800" rIns="50800" tIns="38100" bIns="38100"/>
          <a:lstStyle/>
          <a:p>
            <a:pPr algn="ctr"/>
            <a:r>
              <a:rPr sz="1600" b="1">
                <a:solidFill>
                  <a:srgbClr val="C0392B"/>
                </a:solidFill>
                <a:latin typeface="Meiryo"/>
              </a:rPr>
              <a:t>→</a:t>
            </a:r>
          </a:p>
        </p:txBody>
      </p:sp>
      <p:sp>
        <p:nvSpPr>
          <p:cNvPr id="23" name="Rectangle 22"/>
          <p:cNvSpPr/>
          <p:nvPr/>
        </p:nvSpPr>
        <p:spPr>
          <a:xfrm>
            <a:off x="11521440" y="4663440"/>
            <a:ext cx="2651760" cy="5029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000" b="1">
                <a:solidFill>
                  <a:srgbClr val="222222"/>
                </a:solidFill>
                <a:latin typeface="Meiryo"/>
              </a:rPr>
              <a:t>被害者が自ら発見
→ 攻撃続行</a:t>
            </a:r>
          </a:p>
        </p:txBody>
      </p:sp>
      <p:sp>
        <p:nvSpPr>
          <p:cNvPr id="24" name="Rectangle 23"/>
          <p:cNvSpPr/>
          <p:nvPr/>
        </p:nvSpPr>
        <p:spPr>
          <a:xfrm>
            <a:off x="914400" y="5303520"/>
            <a:ext cx="132588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 破綻ポイント：「迷惑フォルダを確認して」＝ 銀行が絶対に言わないセリフ ＝ 100%詐欺</a:t>
            </a:r>
          </a:p>
        </p:txBody>
      </p:sp>
      <p:sp>
        <p:nvSpPr>
          <p:cNvPr id="25" name="Rectangle 24"/>
          <p:cNvSpPr/>
          <p:nvPr/>
        </p:nvSpPr>
        <p:spPr>
          <a:xfrm>
            <a:off x="914400" y="5852160"/>
            <a:ext cx="13258800" cy="6400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222222"/>
                </a:solidFill>
                <a:latin typeface="Meiryo"/>
              </a:rPr>
              <a:t/>
            </a:r>
          </a:p>
        </p:txBody>
      </p:sp>
      <p:sp>
        <p:nvSpPr>
          <p:cNvPr id="26" name="TextBox 25"/>
          <p:cNvSpPr txBox="1"/>
          <p:nvPr/>
        </p:nvSpPr>
        <p:spPr>
          <a:xfrm>
            <a:off x="1097280" y="5879592"/>
            <a:ext cx="12801600" cy="594360"/>
          </a:xfrm>
          <a:prstGeom prst="rect">
            <a:avLst/>
          </a:prstGeom>
          <a:noFill/>
        </p:spPr>
        <p:txBody>
          <a:bodyPr wrap="square" lIns="50800" rIns="50800" tIns="38100" bIns="38100"/>
          <a:lstStyle/>
          <a:p>
            <a:pPr algn="l"/>
            <a:r>
              <a:rPr sz="1100" b="0">
                <a:solidFill>
                  <a:srgbClr val="222222"/>
                </a:solidFill>
                <a:latin typeface="Meiryo"/>
              </a:rPr>
              <a:t>しかし気づけない。さらに悪いことに、迷惑フォルダに入っていたことが手順②の話を補強してしまう
「重要なメールがフィルタに引っかかっていた → だから口座更新の案内に気づけなかったんだ」
→ 被害者はますます犯人の話を信じる</a:t>
            </a:r>
          </a:p>
        </p:txBody>
      </p:sp>
      <p:sp>
        <p:nvSpPr>
          <p:cNvPr id="27" name="Rectangle 26"/>
          <p:cNvSpPr/>
          <p:nvPr/>
        </p:nvSpPr>
        <p:spPr>
          <a:xfrm>
            <a:off x="914400" y="6675120"/>
            <a:ext cx="1325880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手順②の恐怖が全ての破綻ポイント（③メアド、④迷惑フォルダ）を無効化している</a:t>
            </a:r>
          </a:p>
        </p:txBody>
      </p:sp>
      <p:sp>
        <p:nvSpPr>
          <p:cNvPr id="28" name="TextBox 27"/>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手順④ フィッシングメールと迷惑メールフィルタ回避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27AE60"/>
                </a:solidFill>
                <a:latin typeface="Meiryo"/>
              </a:rPr>
              <a:t>技術的対策：DMARC＋DNSで手順④を確実に遮断できる</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顧客の注意力に一切依存せず、銀行側の設定だけでKill Chainを切れる。技術的にはもう解決できる話。</a:t>
            </a:r>
          </a:p>
        </p:txBody>
      </p:sp>
      <p:sp>
        <p:nvSpPr>
          <p:cNvPr id="4" name="Rectangle 3"/>
          <p:cNvSpPr/>
          <p:nvPr/>
        </p:nvSpPr>
        <p:spPr>
          <a:xfrm>
            <a:off x="731520" y="118872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DMARCポリシーの違い — p=reject で正規ドメイン詐称を完全遮断</a:t>
            </a:r>
          </a:p>
        </p:txBody>
      </p:sp>
      <p:sp>
        <p:nvSpPr>
          <p:cNvPr id="5" name="Rectangle 4"/>
          <p:cNvSpPr/>
          <p:nvPr/>
        </p:nvSpPr>
        <p:spPr>
          <a:xfrm>
            <a:off x="731520" y="16002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p=none（監視のみ）</a:t>
            </a:r>
          </a:p>
        </p:txBody>
      </p:sp>
      <p:sp>
        <p:nvSpPr>
          <p:cNvPr id="6" name="Rectangle 5"/>
          <p:cNvSpPr/>
          <p:nvPr/>
        </p:nvSpPr>
        <p:spPr>
          <a:xfrm>
            <a:off x="3931920" y="16002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偽メールが普通に届く</a:t>
            </a:r>
          </a:p>
        </p:txBody>
      </p:sp>
      <p:sp>
        <p:nvSpPr>
          <p:cNvPr id="7" name="Rectangle 6"/>
          <p:cNvSpPr/>
          <p:nvPr/>
        </p:nvSpPr>
        <p:spPr>
          <a:xfrm>
            <a:off x="8961120" y="1600200"/>
            <a:ext cx="3200400" cy="4572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攻撃成立</a:t>
            </a:r>
          </a:p>
        </p:txBody>
      </p:sp>
      <p:sp>
        <p:nvSpPr>
          <p:cNvPr id="8" name="Rectangle 7"/>
          <p:cNvSpPr/>
          <p:nvPr/>
        </p:nvSpPr>
        <p:spPr>
          <a:xfrm>
            <a:off x="731520" y="2057400"/>
            <a:ext cx="3200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p=quarantine（隔離）</a:t>
            </a:r>
          </a:p>
        </p:txBody>
      </p:sp>
      <p:sp>
        <p:nvSpPr>
          <p:cNvPr id="9" name="Rectangle 8"/>
          <p:cNvSpPr/>
          <p:nvPr/>
        </p:nvSpPr>
        <p:spPr>
          <a:xfrm>
            <a:off x="3931920" y="2057400"/>
            <a:ext cx="50292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迷惑フォルダに入る</a:t>
            </a:r>
          </a:p>
        </p:txBody>
      </p:sp>
      <p:sp>
        <p:nvSpPr>
          <p:cNvPr id="10" name="Rectangle 9"/>
          <p:cNvSpPr/>
          <p:nvPr/>
        </p:nvSpPr>
        <p:spPr>
          <a:xfrm>
            <a:off x="8961120" y="2057400"/>
            <a:ext cx="3200400" cy="45720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電話で突破される</a:t>
            </a:r>
          </a:p>
        </p:txBody>
      </p:sp>
      <p:sp>
        <p:nvSpPr>
          <p:cNvPr id="11" name="Rectangle 10"/>
          <p:cNvSpPr/>
          <p:nvPr/>
        </p:nvSpPr>
        <p:spPr>
          <a:xfrm>
            <a:off x="731520" y="2514600"/>
            <a:ext cx="3200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p=reject（拒否）★</a:t>
            </a:r>
          </a:p>
        </p:txBody>
      </p:sp>
      <p:sp>
        <p:nvSpPr>
          <p:cNvPr id="12" name="Rectangle 11"/>
          <p:cNvSpPr/>
          <p:nvPr/>
        </p:nvSpPr>
        <p:spPr>
          <a:xfrm>
            <a:off x="3931920" y="2514600"/>
            <a:ext cx="50292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メールサーバが受信拒否。配信されない。</a:t>
            </a:r>
          </a:p>
        </p:txBody>
      </p:sp>
      <p:sp>
        <p:nvSpPr>
          <p:cNvPr id="13" name="Rectangle 12"/>
          <p:cNvSpPr/>
          <p:nvPr/>
        </p:nvSpPr>
        <p:spPr>
          <a:xfrm>
            <a:off x="8961120" y="2514600"/>
            <a:ext cx="3200400" cy="45720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攻撃が止まる</a:t>
            </a:r>
          </a:p>
        </p:txBody>
      </p:sp>
      <p:sp>
        <p:nvSpPr>
          <p:cNvPr id="14" name="Rectangle 13"/>
          <p:cNvSpPr/>
          <p:nvPr/>
        </p:nvSpPr>
        <p:spPr>
          <a:xfrm>
            <a:off x="731520" y="310896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類似ドメインも含めた包括的DNS対策</a:t>
            </a:r>
          </a:p>
        </p:txBody>
      </p:sp>
      <p:sp>
        <p:nvSpPr>
          <p:cNvPr id="15" name="Rectangle 14"/>
          <p:cNvSpPr/>
          <p:nvPr/>
        </p:nvSpPr>
        <p:spPr>
          <a:xfrm>
            <a:off x="731520" y="3566160"/>
            <a:ext cx="3657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対策</a:t>
            </a:r>
          </a:p>
        </p:txBody>
      </p:sp>
      <p:sp>
        <p:nvSpPr>
          <p:cNvPr id="16" name="Rectangle 15"/>
          <p:cNvSpPr/>
          <p:nvPr/>
        </p:nvSpPr>
        <p:spPr>
          <a:xfrm>
            <a:off x="4389120" y="3566160"/>
            <a:ext cx="5943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内容</a:t>
            </a:r>
          </a:p>
        </p:txBody>
      </p:sp>
      <p:sp>
        <p:nvSpPr>
          <p:cNvPr id="17" name="Rectangle 16"/>
          <p:cNvSpPr/>
          <p:nvPr/>
        </p:nvSpPr>
        <p:spPr>
          <a:xfrm>
            <a:off x="10332720" y="3566160"/>
            <a:ext cx="402336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効果</a:t>
            </a:r>
          </a:p>
        </p:txBody>
      </p:sp>
      <p:sp>
        <p:nvSpPr>
          <p:cNvPr id="18" name="Rectangle 17"/>
          <p:cNvSpPr/>
          <p:nvPr/>
        </p:nvSpPr>
        <p:spPr>
          <a:xfrm>
            <a:off x="731520" y="39319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類似ドメインの防御的登録</a:t>
            </a:r>
          </a:p>
        </p:txBody>
      </p:sp>
      <p:sp>
        <p:nvSpPr>
          <p:cNvPr id="19" name="Rectangle 18"/>
          <p:cNvSpPr/>
          <p:nvPr/>
        </p:nvSpPr>
        <p:spPr>
          <a:xfrm>
            <a:off x="4389120" y="39319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mufg-security.com, bizstation-update.jp 等を銀行が先に取得</a:t>
            </a:r>
          </a:p>
        </p:txBody>
      </p:sp>
      <p:sp>
        <p:nvSpPr>
          <p:cNvPr id="20" name="Rectangle 19"/>
          <p:cNvSpPr/>
          <p:nvPr/>
        </p:nvSpPr>
        <p:spPr>
          <a:xfrm>
            <a:off x="10332720" y="39319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犯人が使えるドメインを潰す</a:t>
            </a:r>
          </a:p>
        </p:txBody>
      </p:sp>
      <p:sp>
        <p:nvSpPr>
          <p:cNvPr id="21" name="Rectangle 20"/>
          <p:cNvSpPr/>
          <p:nvPr/>
        </p:nvSpPr>
        <p:spPr>
          <a:xfrm>
            <a:off x="731520" y="43891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新規登録ドメイン（NRD）ブロック</a:t>
            </a:r>
          </a:p>
        </p:txBody>
      </p:sp>
      <p:sp>
        <p:nvSpPr>
          <p:cNvPr id="22" name="Rectangle 21"/>
          <p:cNvSpPr/>
          <p:nvPr/>
        </p:nvSpPr>
        <p:spPr>
          <a:xfrm>
            <a:off x="4389120" y="43891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登録から日が浅いドメインを受信側で高リスク判定・ブロック</a:t>
            </a:r>
          </a:p>
        </p:txBody>
      </p:sp>
      <p:sp>
        <p:nvSpPr>
          <p:cNvPr id="23" name="Rectangle 22"/>
          <p:cNvSpPr/>
          <p:nvPr/>
        </p:nvSpPr>
        <p:spPr>
          <a:xfrm>
            <a:off x="10332720" y="43891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犯人が新ドメインを取得しても即座に使えない</a:t>
            </a:r>
          </a:p>
        </p:txBody>
      </p:sp>
      <p:sp>
        <p:nvSpPr>
          <p:cNvPr id="24" name="Rectangle 23"/>
          <p:cNvSpPr/>
          <p:nvPr/>
        </p:nvSpPr>
        <p:spPr>
          <a:xfrm>
            <a:off x="731520" y="4846320"/>
            <a:ext cx="3657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正規送信ドメインの公開＋GW制御</a:t>
            </a:r>
          </a:p>
        </p:txBody>
      </p:sp>
      <p:sp>
        <p:nvSpPr>
          <p:cNvPr id="25" name="Rectangle 24"/>
          <p:cNvSpPr/>
          <p:nvPr/>
        </p:nvSpPr>
        <p:spPr>
          <a:xfrm>
            <a:off x="4389120" y="4846320"/>
            <a:ext cx="59436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銀行が「当行のメールは @mufg.jp, @bk.mufg.co.jp のみ」と宣言</a:t>
            </a:r>
          </a:p>
        </p:txBody>
      </p:sp>
      <p:sp>
        <p:nvSpPr>
          <p:cNvPr id="26" name="Rectangle 25"/>
          <p:cNvSpPr/>
          <p:nvPr/>
        </p:nvSpPr>
        <p:spPr>
          <a:xfrm>
            <a:off x="10332720" y="4846320"/>
            <a:ext cx="4023360" cy="45720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企業のメールGWで上記以外を自動ブロック</a:t>
            </a:r>
          </a:p>
        </p:txBody>
      </p:sp>
      <p:sp>
        <p:nvSpPr>
          <p:cNvPr id="27" name="Rectangle 26"/>
          <p:cNvSpPr/>
          <p:nvPr/>
        </p:nvSpPr>
        <p:spPr>
          <a:xfrm>
            <a:off x="731520" y="5303520"/>
            <a:ext cx="3657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SPF/DKIM未設定ドメインの拒否</a:t>
            </a:r>
          </a:p>
        </p:txBody>
      </p:sp>
      <p:sp>
        <p:nvSpPr>
          <p:cNvPr id="28" name="Rectangle 27"/>
          <p:cNvSpPr/>
          <p:nvPr/>
        </p:nvSpPr>
        <p:spPr>
          <a:xfrm>
            <a:off x="4389120" y="5303520"/>
            <a:ext cx="59436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受信側で認証未設定のドメインからのメールを拒否</a:t>
            </a:r>
          </a:p>
        </p:txBody>
      </p:sp>
      <p:sp>
        <p:nvSpPr>
          <p:cNvPr id="29" name="Rectangle 28"/>
          <p:cNvSpPr/>
          <p:nvPr/>
        </p:nvSpPr>
        <p:spPr>
          <a:xfrm>
            <a:off x="10332720" y="5303520"/>
            <a:ext cx="4023360" cy="45720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犯人の急造ドメインは認証が通らない</a:t>
            </a:r>
          </a:p>
        </p:txBody>
      </p:sp>
      <p:sp>
        <p:nvSpPr>
          <p:cNvPr id="30" name="Rectangle 29"/>
          <p:cNvSpPr/>
          <p:nvPr/>
        </p:nvSpPr>
        <p:spPr>
          <a:xfrm>
            <a:off x="731520" y="594360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対策カバレッジ</a:t>
            </a:r>
          </a:p>
        </p:txBody>
      </p:sp>
      <p:sp>
        <p:nvSpPr>
          <p:cNvPr id="31" name="Rectangle 30"/>
          <p:cNvSpPr/>
          <p:nvPr/>
        </p:nvSpPr>
        <p:spPr>
          <a:xfrm>
            <a:off x="731520" y="6309360"/>
            <a:ext cx="45720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32" name="Rectangle 31"/>
          <p:cNvSpPr/>
          <p:nvPr/>
        </p:nvSpPr>
        <p:spPr>
          <a:xfrm>
            <a:off x="530352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正規ドメイン詐称</a:t>
            </a:r>
          </a:p>
        </p:txBody>
      </p:sp>
      <p:sp>
        <p:nvSpPr>
          <p:cNvPr id="33" name="Rectangle 32"/>
          <p:cNvSpPr/>
          <p:nvPr/>
        </p:nvSpPr>
        <p:spPr>
          <a:xfrm>
            <a:off x="8321040"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類似ドメイン</a:t>
            </a:r>
          </a:p>
        </p:txBody>
      </p:sp>
      <p:sp>
        <p:nvSpPr>
          <p:cNvPr id="34" name="Rectangle 33"/>
          <p:cNvSpPr/>
          <p:nvPr/>
        </p:nvSpPr>
        <p:spPr>
          <a:xfrm>
            <a:off x="11338559" y="630936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新規ドメイン</a:t>
            </a:r>
          </a:p>
        </p:txBody>
      </p:sp>
      <p:sp>
        <p:nvSpPr>
          <p:cNvPr id="35" name="Rectangle 34"/>
          <p:cNvSpPr/>
          <p:nvPr/>
        </p:nvSpPr>
        <p:spPr>
          <a:xfrm>
            <a:off x="731520" y="667512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DMARC p=reject のみ</a:t>
            </a:r>
          </a:p>
        </p:txBody>
      </p:sp>
      <p:sp>
        <p:nvSpPr>
          <p:cNvPr id="36" name="Rectangle 35"/>
          <p:cNvSpPr/>
          <p:nvPr/>
        </p:nvSpPr>
        <p:spPr>
          <a:xfrm>
            <a:off x="5303520" y="667512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37" name="Rectangle 36"/>
          <p:cNvSpPr/>
          <p:nvPr/>
        </p:nvSpPr>
        <p:spPr>
          <a:xfrm>
            <a:off x="8321040"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8" name="Rectangle 37"/>
          <p:cNvSpPr/>
          <p:nvPr/>
        </p:nvSpPr>
        <p:spPr>
          <a:xfrm>
            <a:off x="11338559" y="667512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39" name="Rectangle 38"/>
          <p:cNvSpPr/>
          <p:nvPr/>
        </p:nvSpPr>
        <p:spPr>
          <a:xfrm>
            <a:off x="731520" y="704088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類似ドメイン防御的登録</a:t>
            </a:r>
          </a:p>
        </p:txBody>
      </p:sp>
      <p:sp>
        <p:nvSpPr>
          <p:cNvPr id="40" name="Rectangle 39"/>
          <p:cNvSpPr/>
          <p:nvPr/>
        </p:nvSpPr>
        <p:spPr>
          <a:xfrm>
            <a:off x="530352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1" name="Rectangle 40"/>
          <p:cNvSpPr/>
          <p:nvPr/>
        </p:nvSpPr>
        <p:spPr>
          <a:xfrm>
            <a:off x="8321040" y="704088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2" name="Rectangle 41"/>
          <p:cNvSpPr/>
          <p:nvPr/>
        </p:nvSpPr>
        <p:spPr>
          <a:xfrm>
            <a:off x="11338559" y="704088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 防げない</a:t>
            </a:r>
          </a:p>
        </p:txBody>
      </p:sp>
      <p:sp>
        <p:nvSpPr>
          <p:cNvPr id="43" name="Rectangle 42"/>
          <p:cNvSpPr/>
          <p:nvPr/>
        </p:nvSpPr>
        <p:spPr>
          <a:xfrm>
            <a:off x="731520" y="7406640"/>
            <a:ext cx="4572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NRDブロック＋SPF/DKIM必須化</a:t>
            </a:r>
          </a:p>
        </p:txBody>
      </p:sp>
      <p:sp>
        <p:nvSpPr>
          <p:cNvPr id="44" name="Rectangle 43"/>
          <p:cNvSpPr/>
          <p:nvPr/>
        </p:nvSpPr>
        <p:spPr>
          <a:xfrm>
            <a:off x="530352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5" name="Rectangle 44"/>
          <p:cNvSpPr/>
          <p:nvPr/>
        </p:nvSpPr>
        <p:spPr>
          <a:xfrm>
            <a:off x="8321040"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6" name="Rectangle 45"/>
          <p:cNvSpPr/>
          <p:nvPr/>
        </p:nvSpPr>
        <p:spPr>
          <a:xfrm>
            <a:off x="11338559" y="740664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7" name="Rectangle 46"/>
          <p:cNvSpPr/>
          <p:nvPr/>
        </p:nvSpPr>
        <p:spPr>
          <a:xfrm>
            <a:off x="731520" y="7772400"/>
            <a:ext cx="4572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正規ドメイン公開＋GW制御（全部）</a:t>
            </a:r>
          </a:p>
        </p:txBody>
      </p:sp>
      <p:sp>
        <p:nvSpPr>
          <p:cNvPr id="48" name="Rectangle 47"/>
          <p:cNvSpPr/>
          <p:nvPr/>
        </p:nvSpPr>
        <p:spPr>
          <a:xfrm>
            <a:off x="530352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49" name="Rectangle 48"/>
          <p:cNvSpPr/>
          <p:nvPr/>
        </p:nvSpPr>
        <p:spPr>
          <a:xfrm>
            <a:off x="8321040"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0" name="Rectangle 49"/>
          <p:cNvSpPr/>
          <p:nvPr/>
        </p:nvSpPr>
        <p:spPr>
          <a:xfrm>
            <a:off x="11338559" y="777240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 防げる</a:t>
            </a:r>
          </a:p>
        </p:txBody>
      </p:sp>
      <p:sp>
        <p:nvSpPr>
          <p:cNvPr id="51" name="Rectangle 50"/>
          <p:cNvSpPr/>
          <p:nvPr/>
        </p:nvSpPr>
        <p:spPr>
          <a:xfrm>
            <a:off x="731520" y="8229600"/>
            <a:ext cx="13624560" cy="50292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全部やれば手順④のメールは顧客に届かない。Kill Chainはここで切れる。顧客の注意力に一切依存しない。</a:t>
            </a:r>
          </a:p>
        </p:txBody>
      </p:sp>
      <p:sp>
        <p:nvSpPr>
          <p:cNvPr id="52" name="Rectangle 51"/>
          <p:cNvSpPr/>
          <p:nvPr/>
        </p:nvSpPr>
        <p:spPr>
          <a:xfrm>
            <a:off x="731520" y="877824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400" b="1">
                <a:solidFill>
                  <a:srgbClr val="FFFFFF"/>
                </a:solidFill>
                <a:latin typeface="Meiryo"/>
              </a:rPr>
              <a:t>技術的にはもう解決できる話。やるかやらないかだけ。</a:t>
            </a:r>
          </a:p>
        </p:txBody>
      </p:sp>
      <p:sp>
        <p:nvSpPr>
          <p:cNvPr id="53" name="TextBox 5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DMARC＋DNSによる技術的遮断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8E44AD"/>
                </a:solidFill>
                <a:latin typeface="Meiryo"/>
              </a:rPr>
              <a:t>手順⑤「メールのボタンをクリックして」— 最大の破綻ポイント</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銀行の方針・金融庁の要請・顧客への周知、すべてに反する行為。それでも突破される。</a:t>
            </a:r>
          </a:p>
        </p:txBody>
      </p:sp>
      <p:sp>
        <p:nvSpPr>
          <p:cNvPr id="4" name="Rectangle 3"/>
          <p:cNvSpPr/>
          <p:nvPr/>
        </p:nvSpPr>
        <p:spPr>
          <a:xfrm>
            <a:off x="731520" y="1097280"/>
            <a:ext cx="1362456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金融庁の要請：金融機関が顧客に送信するメールにURLリンクを記載しないこと</a:t>
            </a:r>
          </a:p>
        </p:txBody>
      </p:sp>
      <p:sp>
        <p:nvSpPr>
          <p:cNvPr id="5" name="TextBox 4"/>
          <p:cNvSpPr txBox="1"/>
          <p:nvPr/>
        </p:nvSpPr>
        <p:spPr>
          <a:xfrm>
            <a:off x="731520" y="1627631"/>
            <a:ext cx="13624560" cy="274320"/>
          </a:xfrm>
          <a:prstGeom prst="rect">
            <a:avLst/>
          </a:prstGeom>
          <a:noFill/>
        </p:spPr>
        <p:txBody>
          <a:bodyPr wrap="square" lIns="50800" rIns="50800" tIns="38100" bIns="38100"/>
          <a:lstStyle/>
          <a:p>
            <a:pPr algn="l"/>
            <a:r>
              <a:rPr sz="900" b="0">
                <a:solidFill>
                  <a:srgbClr val="888888"/>
                </a:solidFill>
                <a:latin typeface="Meiryo"/>
              </a:rPr>
              <a:t>→ 多くの銀行が「メール内のリンクはクリックしないでください」と顧客に周知済み</a:t>
            </a:r>
          </a:p>
        </p:txBody>
      </p:sp>
      <p:sp>
        <p:nvSpPr>
          <p:cNvPr id="6" name="Rectangle 5"/>
          <p:cNvSpPr/>
          <p:nvPr/>
        </p:nvSpPr>
        <p:spPr>
          <a:xfrm>
            <a:off x="731520" y="2011680"/>
            <a:ext cx="22860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
            </a:r>
          </a:p>
        </p:txBody>
      </p:sp>
      <p:sp>
        <p:nvSpPr>
          <p:cNvPr id="7" name="Rectangle 6"/>
          <p:cNvSpPr/>
          <p:nvPr/>
        </p:nvSpPr>
        <p:spPr>
          <a:xfrm>
            <a:off x="3017520" y="2011680"/>
            <a:ext cx="54864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銀行の正規誘導</a:t>
            </a:r>
          </a:p>
        </p:txBody>
      </p:sp>
      <p:sp>
        <p:nvSpPr>
          <p:cNvPr id="8" name="Rectangle 7"/>
          <p:cNvSpPr/>
          <p:nvPr/>
        </p:nvSpPr>
        <p:spPr>
          <a:xfrm>
            <a:off x="8503920" y="2011680"/>
            <a:ext cx="58521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この攻撃</a:t>
            </a:r>
          </a:p>
        </p:txBody>
      </p:sp>
      <p:sp>
        <p:nvSpPr>
          <p:cNvPr id="9" name="Rectangle 8"/>
          <p:cNvSpPr/>
          <p:nvPr/>
        </p:nvSpPr>
        <p:spPr>
          <a:xfrm>
            <a:off x="731520" y="24231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方法</a:t>
            </a:r>
          </a:p>
        </p:txBody>
      </p:sp>
      <p:sp>
        <p:nvSpPr>
          <p:cNvPr id="10" name="Rectangle 9"/>
          <p:cNvSpPr/>
          <p:nvPr/>
        </p:nvSpPr>
        <p:spPr>
          <a:xfrm>
            <a:off x="3017520" y="24231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ブックマーク・URL直接入力・公式アプリ</a:t>
            </a:r>
          </a:p>
        </p:txBody>
      </p:sp>
      <p:sp>
        <p:nvSpPr>
          <p:cNvPr id="11" name="Rectangle 10"/>
          <p:cNvSpPr/>
          <p:nvPr/>
        </p:nvSpPr>
        <p:spPr>
          <a:xfrm>
            <a:off x="8503920" y="24231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メールのボタンをクリック</a:t>
            </a:r>
          </a:p>
        </p:txBody>
      </p:sp>
      <p:sp>
        <p:nvSpPr>
          <p:cNvPr id="12" name="Rectangle 11"/>
          <p:cNvSpPr/>
          <p:nvPr/>
        </p:nvSpPr>
        <p:spPr>
          <a:xfrm>
            <a:off x="731520" y="28803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URLの出所</a:t>
            </a:r>
          </a:p>
        </p:txBody>
      </p:sp>
      <p:sp>
        <p:nvSpPr>
          <p:cNvPr id="13" name="Rectangle 12"/>
          <p:cNvSpPr/>
          <p:nvPr/>
        </p:nvSpPr>
        <p:spPr>
          <a:xfrm>
            <a:off x="3017520" y="28803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顧客が自分で持っている</a:t>
            </a:r>
          </a:p>
        </p:txBody>
      </p:sp>
      <p:sp>
        <p:nvSpPr>
          <p:cNvPr id="14" name="Rectangle 13"/>
          <p:cNvSpPr/>
          <p:nvPr/>
        </p:nvSpPr>
        <p:spPr>
          <a:xfrm>
            <a:off x="8503920" y="28803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犯人が送りつけた</a:t>
            </a:r>
          </a:p>
        </p:txBody>
      </p:sp>
      <p:sp>
        <p:nvSpPr>
          <p:cNvPr id="15" name="Rectangle 14"/>
          <p:cNvSpPr/>
          <p:nvPr/>
        </p:nvSpPr>
        <p:spPr>
          <a:xfrm>
            <a:off x="731520" y="3337560"/>
            <a:ext cx="22860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顧客の行動</a:t>
            </a:r>
          </a:p>
        </p:txBody>
      </p:sp>
      <p:sp>
        <p:nvSpPr>
          <p:cNvPr id="16" name="Rectangle 15"/>
          <p:cNvSpPr/>
          <p:nvPr/>
        </p:nvSpPr>
        <p:spPr>
          <a:xfrm>
            <a:off x="3017520" y="3337560"/>
            <a:ext cx="548640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能動的（自分でアクセス）</a:t>
            </a:r>
          </a:p>
        </p:txBody>
      </p:sp>
      <p:sp>
        <p:nvSpPr>
          <p:cNvPr id="17" name="Rectangle 16"/>
          <p:cNvSpPr/>
          <p:nvPr/>
        </p:nvSpPr>
        <p:spPr>
          <a:xfrm>
            <a:off x="8503920" y="3337560"/>
            <a:ext cx="5852160" cy="45720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受動的（指示されてクリック）</a:t>
            </a:r>
          </a:p>
        </p:txBody>
      </p:sp>
      <p:sp>
        <p:nvSpPr>
          <p:cNvPr id="18" name="Rectangle 17"/>
          <p:cNvSpPr/>
          <p:nvPr/>
        </p:nvSpPr>
        <p:spPr>
          <a:xfrm>
            <a:off x="731520" y="3794760"/>
            <a:ext cx="22860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利便性</a:t>
            </a:r>
          </a:p>
        </p:txBody>
      </p:sp>
      <p:sp>
        <p:nvSpPr>
          <p:cNvPr id="19" name="Rectangle 18"/>
          <p:cNvSpPr/>
          <p:nvPr/>
        </p:nvSpPr>
        <p:spPr>
          <a:xfrm>
            <a:off x="3017520" y="3794760"/>
            <a:ext cx="5486400" cy="45720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面倒（ブックマーク探す、URL入力）</a:t>
            </a:r>
          </a:p>
        </p:txBody>
      </p:sp>
      <p:sp>
        <p:nvSpPr>
          <p:cNvPr id="20" name="Rectangle 19"/>
          <p:cNvSpPr/>
          <p:nvPr/>
        </p:nvSpPr>
        <p:spPr>
          <a:xfrm>
            <a:off x="8503920" y="3794760"/>
            <a:ext cx="5852160" cy="457200"/>
          </a:xfrm>
          <a:prstGeom prst="rect">
            <a:avLst/>
          </a:prstGeom>
          <a:solidFill>
            <a:srgbClr val="F9F9F9"/>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楽（ボタン1つ押すだけ）</a:t>
            </a:r>
          </a:p>
        </p:txBody>
      </p:sp>
      <p:sp>
        <p:nvSpPr>
          <p:cNvPr id="21" name="Rectangle 20"/>
          <p:cNvSpPr/>
          <p:nvPr/>
        </p:nvSpPr>
        <p:spPr>
          <a:xfrm>
            <a:off x="731520" y="4343400"/>
            <a:ext cx="13624560" cy="8229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TextBox 21"/>
          <p:cNvSpPr txBox="1"/>
          <p:nvPr/>
        </p:nvSpPr>
        <p:spPr>
          <a:xfrm>
            <a:off x="1005840" y="4389120"/>
            <a:ext cx="13075920" cy="777240"/>
          </a:xfrm>
          <a:prstGeom prst="rect">
            <a:avLst/>
          </a:prstGeom>
          <a:noFill/>
        </p:spPr>
        <p:txBody>
          <a:bodyPr wrap="square" lIns="50800" rIns="50800" tIns="38100" bIns="38100"/>
          <a:lstStyle/>
          <a:p>
            <a:pPr algn="l"/>
            <a:r>
              <a:rPr sz="1100" b="1">
                <a:solidFill>
                  <a:srgbClr val="FFFFFF"/>
                </a:solidFill>
                <a:latin typeface="Meiryo"/>
              </a:rPr>
              <a:t>皮肉：犯人のほうが「ユーザー体験が良い」
正規の銀行：「ブックマークからアクセスしてください」（面倒）
犯人：「ボタンをクリックするだけです」（簡単）
→ 焦っている被害者がどちらに従いたくなるかは明白</a:t>
            </a:r>
          </a:p>
        </p:txBody>
      </p:sp>
      <p:sp>
        <p:nvSpPr>
          <p:cNvPr id="23" name="Rectangle 22"/>
          <p:cNvSpPr/>
          <p:nvPr/>
        </p:nvSpPr>
        <p:spPr>
          <a:xfrm>
            <a:off x="731520" y="53492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手順⑤の破綻ポイントまとめ</a:t>
            </a:r>
          </a:p>
        </p:txBody>
      </p:sp>
      <p:sp>
        <p:nvSpPr>
          <p:cNvPr id="24" name="Rectangle 23"/>
          <p:cNvSpPr/>
          <p:nvPr/>
        </p:nvSpPr>
        <p:spPr>
          <a:xfrm>
            <a:off x="731520" y="571500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銀行の方針</a:t>
            </a:r>
          </a:p>
        </p:txBody>
      </p:sp>
      <p:sp>
        <p:nvSpPr>
          <p:cNvPr id="25" name="Rectangle 24"/>
          <p:cNvSpPr/>
          <p:nvPr/>
        </p:nvSpPr>
        <p:spPr>
          <a:xfrm>
            <a:off x="4389120" y="571500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メールにURLリンクを載せない</a:t>
            </a:r>
          </a:p>
        </p:txBody>
      </p:sp>
      <p:sp>
        <p:nvSpPr>
          <p:cNvPr id="26" name="Rectangle 25"/>
          <p:cNvSpPr/>
          <p:nvPr/>
        </p:nvSpPr>
        <p:spPr>
          <a:xfrm>
            <a:off x="731520" y="6080760"/>
            <a:ext cx="36576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金融庁の要請</a:t>
            </a:r>
          </a:p>
        </p:txBody>
      </p:sp>
      <p:sp>
        <p:nvSpPr>
          <p:cNvPr id="27" name="Rectangle 26"/>
          <p:cNvSpPr/>
          <p:nvPr/>
        </p:nvSpPr>
        <p:spPr>
          <a:xfrm>
            <a:off x="4389120" y="6080760"/>
            <a:ext cx="996696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金融機関のメールにURL記載禁止</a:t>
            </a:r>
          </a:p>
        </p:txBody>
      </p:sp>
      <p:sp>
        <p:nvSpPr>
          <p:cNvPr id="28" name="Rectangle 27"/>
          <p:cNvSpPr/>
          <p:nvPr/>
        </p:nvSpPr>
        <p:spPr>
          <a:xfrm>
            <a:off x="731520" y="6446520"/>
            <a:ext cx="36576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顧客への周知</a:t>
            </a:r>
          </a:p>
        </p:txBody>
      </p:sp>
      <p:sp>
        <p:nvSpPr>
          <p:cNvPr id="29" name="Rectangle 28"/>
          <p:cNvSpPr/>
          <p:nvPr/>
        </p:nvSpPr>
        <p:spPr>
          <a:xfrm>
            <a:off x="4389120" y="6446520"/>
            <a:ext cx="996696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「メールのリンクをクリックしないで」と案内済み</a:t>
            </a:r>
          </a:p>
        </p:txBody>
      </p:sp>
      <p:sp>
        <p:nvSpPr>
          <p:cNvPr id="30" name="Rectangle 29"/>
          <p:cNvSpPr/>
          <p:nvPr/>
        </p:nvSpPr>
        <p:spPr>
          <a:xfrm>
            <a:off x="731520" y="6812280"/>
            <a:ext cx="36576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それでも突破される理由</a:t>
            </a:r>
          </a:p>
        </p:txBody>
      </p:sp>
      <p:sp>
        <p:nvSpPr>
          <p:cNvPr id="31" name="Rectangle 30"/>
          <p:cNvSpPr/>
          <p:nvPr/>
        </p:nvSpPr>
        <p:spPr>
          <a:xfrm>
            <a:off x="4389120" y="6812280"/>
            <a:ext cx="99669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手順②の恐怖 ＋ 電話でのリアルタイム指示 ＋ 犯人のほうがUXが良い</a:t>
            </a:r>
          </a:p>
        </p:txBody>
      </p:sp>
      <p:sp>
        <p:nvSpPr>
          <p:cNvPr id="32" name="Rectangle 31"/>
          <p:cNvSpPr/>
          <p:nvPr/>
        </p:nvSpPr>
        <p:spPr>
          <a:xfrm>
            <a:off x="731520" y="7223759"/>
            <a:ext cx="1362456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注意喚起・ガイドライン・金融庁の要請 — すべてが「冷静な時の判断力」を前提にしている。この攻撃は、その前提自体を手順②で破壊している。</a:t>
            </a:r>
          </a:p>
        </p:txBody>
      </p:sp>
      <p:sp>
        <p:nvSpPr>
          <p:cNvPr id="33" name="TextBox 32"/>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手順⑤ メールURLと金融庁要請</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400" b="1">
                <a:solidFill>
                  <a:srgbClr val="E67E22"/>
                </a:solidFill>
                <a:latin typeface="Meiryo"/>
              </a:rPr>
              <a:t>「ブックマークからアクセスして」は機能しない</a:t>
            </a:r>
          </a:p>
        </p:txBody>
      </p:sp>
      <p:sp>
        <p:nvSpPr>
          <p:cNvPr id="3" name="TextBox 2"/>
          <p:cNvSpPr txBox="1"/>
          <p:nvPr/>
        </p:nvSpPr>
        <p:spPr>
          <a:xfrm>
            <a:off x="0" y="685800"/>
            <a:ext cx="15124176" cy="365760"/>
          </a:xfrm>
          <a:prstGeom prst="rect">
            <a:avLst/>
          </a:prstGeom>
          <a:noFill/>
        </p:spPr>
        <p:txBody>
          <a:bodyPr wrap="square" lIns="50800" rIns="50800" tIns="38100" bIns="38100"/>
          <a:lstStyle/>
          <a:p>
            <a:pPr algn="ctr"/>
            <a:r>
              <a:rPr sz="1200" b="0">
                <a:solidFill>
                  <a:srgbClr val="888888"/>
                </a:solidFill>
                <a:latin typeface="Meiryo"/>
              </a:rPr>
              <a:t>ブックマーク登録を顧客に任せている時点で、対策として成立していない。</a:t>
            </a:r>
          </a:p>
        </p:txBody>
      </p:sp>
      <p:sp>
        <p:nvSpPr>
          <p:cNvPr id="4" name="Rectangle 3"/>
          <p:cNvSpPr/>
          <p:nvPr/>
        </p:nvSpPr>
        <p:spPr>
          <a:xfrm>
            <a:off x="731520" y="1188720"/>
            <a:ext cx="658368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銀行のURL伝達方法（法人IB）</a:t>
            </a:r>
          </a:p>
        </p:txBody>
      </p:sp>
      <p:sp>
        <p:nvSpPr>
          <p:cNvPr id="5" name="Rectangle 4"/>
          <p:cNvSpPr/>
          <p:nvPr/>
        </p:nvSpPr>
        <p:spPr>
          <a:xfrm>
            <a:off x="731520" y="1600200"/>
            <a:ext cx="2286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① 契約時の書面</a:t>
            </a:r>
          </a:p>
        </p:txBody>
      </p:sp>
      <p:sp>
        <p:nvSpPr>
          <p:cNvPr id="6" name="Rectangle 5"/>
          <p:cNvSpPr/>
          <p:nvPr/>
        </p:nvSpPr>
        <p:spPr>
          <a:xfrm>
            <a:off x="3017520" y="1600200"/>
            <a:ext cx="42976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紙にURLが記載されている</a:t>
            </a:r>
          </a:p>
        </p:txBody>
      </p:sp>
      <p:sp>
        <p:nvSpPr>
          <p:cNvPr id="7" name="Rectangle 6"/>
          <p:cNvSpPr/>
          <p:nvPr/>
        </p:nvSpPr>
        <p:spPr>
          <a:xfrm>
            <a:off x="731520" y="2011680"/>
            <a:ext cx="22860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② 銀行の窓口</a:t>
            </a:r>
          </a:p>
        </p:txBody>
      </p:sp>
      <p:sp>
        <p:nvSpPr>
          <p:cNvPr id="8" name="Rectangle 7"/>
          <p:cNvSpPr/>
          <p:nvPr/>
        </p:nvSpPr>
        <p:spPr>
          <a:xfrm>
            <a:off x="3017520" y="2011680"/>
            <a:ext cx="429768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担当者から口頭で案内</a:t>
            </a:r>
          </a:p>
        </p:txBody>
      </p:sp>
      <p:sp>
        <p:nvSpPr>
          <p:cNvPr id="9" name="Rectangle 8"/>
          <p:cNvSpPr/>
          <p:nvPr/>
        </p:nvSpPr>
        <p:spPr>
          <a:xfrm>
            <a:off x="731520" y="2423160"/>
            <a:ext cx="2286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③ 銀行の公式HP</a:t>
            </a:r>
          </a:p>
        </p:txBody>
      </p:sp>
      <p:sp>
        <p:nvSpPr>
          <p:cNvPr id="10" name="Rectangle 9"/>
          <p:cNvSpPr/>
          <p:nvPr/>
        </p:nvSpPr>
        <p:spPr>
          <a:xfrm>
            <a:off x="3017520" y="2423160"/>
            <a:ext cx="42976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検索 → HP → IBログインページ</a:t>
            </a:r>
          </a:p>
        </p:txBody>
      </p:sp>
      <p:sp>
        <p:nvSpPr>
          <p:cNvPr id="11" name="TextBox 10"/>
          <p:cNvSpPr txBox="1"/>
          <p:nvPr/>
        </p:nvSpPr>
        <p:spPr>
          <a:xfrm>
            <a:off x="731520" y="2880360"/>
            <a:ext cx="6583680" cy="274320"/>
          </a:xfrm>
          <a:prstGeom prst="rect">
            <a:avLst/>
          </a:prstGeom>
          <a:noFill/>
        </p:spPr>
        <p:txBody>
          <a:bodyPr wrap="square" lIns="50800" rIns="50800" tIns="38100" bIns="38100"/>
          <a:lstStyle/>
          <a:p>
            <a:pPr algn="l"/>
            <a:r>
              <a:rPr sz="1000" b="1">
                <a:solidFill>
                  <a:srgbClr val="C0392B"/>
                </a:solidFill>
                <a:latin typeface="Meiryo"/>
              </a:rPr>
              <a:t>→ 顧客が自分でブックマーク登録する必要がある</a:t>
            </a:r>
          </a:p>
        </p:txBody>
      </p:sp>
      <p:sp>
        <p:nvSpPr>
          <p:cNvPr id="12" name="Rectangle 11"/>
          <p:cNvSpPr/>
          <p:nvPr/>
        </p:nvSpPr>
        <p:spPr>
          <a:xfrm>
            <a:off x="7772400" y="1188720"/>
            <a:ext cx="640080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銀行の想定 vs 現実</a:t>
            </a:r>
          </a:p>
        </p:txBody>
      </p:sp>
      <p:sp>
        <p:nvSpPr>
          <p:cNvPr id="13" name="Rectangle 12"/>
          <p:cNvSpPr/>
          <p:nvPr/>
        </p:nvSpPr>
        <p:spPr>
          <a:xfrm>
            <a:off x="7772400" y="160020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契約時の書面を保管</a:t>
            </a:r>
          </a:p>
        </p:txBody>
      </p:sp>
      <p:sp>
        <p:nvSpPr>
          <p:cNvPr id="14" name="Rectangle 13"/>
          <p:cNvSpPr/>
          <p:nvPr/>
        </p:nvSpPr>
        <p:spPr>
          <a:xfrm>
            <a:off x="10698480" y="160020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どこにしまったかわからない</a:t>
            </a:r>
          </a:p>
        </p:txBody>
      </p:sp>
      <p:sp>
        <p:nvSpPr>
          <p:cNvPr id="15" name="Rectangle 14"/>
          <p:cNvSpPr/>
          <p:nvPr/>
        </p:nvSpPr>
        <p:spPr>
          <a:xfrm>
            <a:off x="7772400" y="201168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ブックマークに登録済み</a:t>
            </a:r>
          </a:p>
        </p:txBody>
      </p:sp>
      <p:sp>
        <p:nvSpPr>
          <p:cNvPr id="16" name="Rectangle 15"/>
          <p:cNvSpPr/>
          <p:nvPr/>
        </p:nvSpPr>
        <p:spPr>
          <a:xfrm>
            <a:off x="10698480" y="201168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登録していない人が多い</a:t>
            </a:r>
          </a:p>
        </p:txBody>
      </p:sp>
      <p:sp>
        <p:nvSpPr>
          <p:cNvPr id="17" name="Rectangle 16"/>
          <p:cNvSpPr/>
          <p:nvPr/>
        </p:nvSpPr>
        <p:spPr>
          <a:xfrm>
            <a:off x="7772400" y="2423160"/>
            <a:ext cx="292608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毎回ブックマークからアクセス</a:t>
            </a:r>
          </a:p>
        </p:txBody>
      </p:sp>
      <p:sp>
        <p:nvSpPr>
          <p:cNvPr id="18" name="Rectangle 17"/>
          <p:cNvSpPr/>
          <p:nvPr/>
        </p:nvSpPr>
        <p:spPr>
          <a:xfrm>
            <a:off x="10698480" y="2423160"/>
            <a:ext cx="3474720" cy="41148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l"/>
            <a:r>
              <a:rPr sz="900" b="1">
                <a:solidFill>
                  <a:srgbClr val="C0392B"/>
                </a:solidFill>
                <a:latin typeface="Meiryo"/>
              </a:rPr>
              <a:t>毎回「BizSTATION」で検索している</a:t>
            </a:r>
          </a:p>
        </p:txBody>
      </p:sp>
      <p:sp>
        <p:nvSpPr>
          <p:cNvPr id="19" name="Rectangle 18"/>
          <p:cNvSpPr/>
          <p:nvPr/>
        </p:nvSpPr>
        <p:spPr>
          <a:xfrm>
            <a:off x="731520" y="338328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ブックマーク登録の有無が攻撃成功率を左右する</a:t>
            </a:r>
          </a:p>
        </p:txBody>
      </p:sp>
      <p:sp>
        <p:nvSpPr>
          <p:cNvPr id="20" name="Rectangle 19"/>
          <p:cNvSpPr/>
          <p:nvPr/>
        </p:nvSpPr>
        <p:spPr>
          <a:xfrm>
            <a:off x="731520" y="3840480"/>
            <a:ext cx="658368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ブックマーク登録済みの人（少数）</a:t>
            </a:r>
          </a:p>
        </p:txBody>
      </p:sp>
      <p:sp>
        <p:nvSpPr>
          <p:cNvPr id="21" name="Rectangle 20"/>
          <p:cNvSpPr/>
          <p:nvPr/>
        </p:nvSpPr>
        <p:spPr>
          <a:xfrm>
            <a:off x="731520" y="4206240"/>
            <a:ext cx="6583680" cy="6400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「自分のブックマークと違うURLだ」と気づける可能性がある
→ でも電話中なので確認しない</a:t>
            </a:r>
          </a:p>
        </p:txBody>
      </p:sp>
      <p:sp>
        <p:nvSpPr>
          <p:cNvPr id="22" name="Rectangle 21"/>
          <p:cNvSpPr/>
          <p:nvPr/>
        </p:nvSpPr>
        <p:spPr>
          <a:xfrm>
            <a:off x="7772400" y="3840480"/>
            <a:ext cx="6400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ブックマーク未登録の人（多数）</a:t>
            </a:r>
          </a:p>
        </p:txBody>
      </p:sp>
      <p:sp>
        <p:nvSpPr>
          <p:cNvPr id="23" name="Rectangle 22"/>
          <p:cNvSpPr/>
          <p:nvPr/>
        </p:nvSpPr>
        <p:spPr>
          <a:xfrm>
            <a:off x="7772400" y="4206240"/>
            <a:ext cx="6400800" cy="6400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 普段から検索やメールリンクでアクセスしている
→ メールのボタンをクリックすることに抵抗がない
→ 攻撃にそのまま乗ってしまう</a:t>
            </a:r>
          </a:p>
        </p:txBody>
      </p:sp>
      <p:sp>
        <p:nvSpPr>
          <p:cNvPr id="24" name="Rectangle 23"/>
          <p:cNvSpPr/>
          <p:nvPr/>
        </p:nvSpPr>
        <p:spPr>
          <a:xfrm>
            <a:off x="731520" y="5074920"/>
            <a:ext cx="1362456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銀行がやるべきだったこと</a:t>
            </a:r>
          </a:p>
        </p:txBody>
      </p:sp>
      <p:sp>
        <p:nvSpPr>
          <p:cNvPr id="25" name="Rectangle 24"/>
          <p:cNvSpPr/>
          <p:nvPr/>
        </p:nvSpPr>
        <p:spPr>
          <a:xfrm>
            <a:off x="731520" y="5486400"/>
            <a:ext cx="50292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① 契約時にブックマークを設定してあげる</a:t>
            </a:r>
          </a:p>
        </p:txBody>
      </p:sp>
      <p:sp>
        <p:nvSpPr>
          <p:cNvPr id="26" name="Rectangle 25"/>
          <p:cNvSpPr/>
          <p:nvPr/>
        </p:nvSpPr>
        <p:spPr>
          <a:xfrm>
            <a:off x="5760720" y="5486400"/>
            <a:ext cx="85953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窓口対応 or 初期設定ツールで銀行側が登録</a:t>
            </a:r>
          </a:p>
        </p:txBody>
      </p:sp>
      <p:sp>
        <p:nvSpPr>
          <p:cNvPr id="27" name="Rectangle 26"/>
          <p:cNvSpPr/>
          <p:nvPr/>
        </p:nvSpPr>
        <p:spPr>
          <a:xfrm>
            <a:off x="731520" y="5897880"/>
            <a:ext cx="5029200" cy="41148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② 公式アプリでしかアクセスできない仕組み</a:t>
            </a:r>
          </a:p>
        </p:txBody>
      </p:sp>
      <p:sp>
        <p:nvSpPr>
          <p:cNvPr id="28" name="Rectangle 27"/>
          <p:cNvSpPr/>
          <p:nvPr/>
        </p:nvSpPr>
        <p:spPr>
          <a:xfrm>
            <a:off x="5760720" y="5897880"/>
            <a:ext cx="859536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ブラウザ経由のアクセスを廃止</a:t>
            </a:r>
          </a:p>
        </p:txBody>
      </p:sp>
      <p:sp>
        <p:nvSpPr>
          <p:cNvPr id="29" name="Rectangle 28"/>
          <p:cNvSpPr/>
          <p:nvPr/>
        </p:nvSpPr>
        <p:spPr>
          <a:xfrm>
            <a:off x="731520" y="6309360"/>
            <a:ext cx="50292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専用クライアントに統一</a:t>
            </a:r>
          </a:p>
        </p:txBody>
      </p:sp>
      <p:sp>
        <p:nvSpPr>
          <p:cNvPr id="30" name="Rectangle 29"/>
          <p:cNvSpPr/>
          <p:nvPr/>
        </p:nvSpPr>
        <p:spPr>
          <a:xfrm>
            <a:off x="5760720" y="6309360"/>
            <a:ext cx="85953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ブラウザを使わせないことでフィッシング自体を不可能にする</a:t>
            </a:r>
          </a:p>
        </p:txBody>
      </p:sp>
      <p:sp>
        <p:nvSpPr>
          <p:cNvPr id="31" name="Rectangle 30"/>
          <p:cNvSpPr/>
          <p:nvPr/>
        </p:nvSpPr>
        <p:spPr>
          <a:xfrm>
            <a:off x="731520" y="676656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「自分でブックマーク登録してね」では対策にならない — 銀行側がアクセス経路を制御すべき</a:t>
            </a:r>
          </a:p>
        </p:txBody>
      </p:sp>
      <p:sp>
        <p:nvSpPr>
          <p:cNvPr id="32" name="TextBox 31"/>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ブックマーク対策の限界</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C0392B"/>
                </a:solidFill>
                <a:latin typeface="Meiryo"/>
              </a:rPr>
              <a:t>手順⑥「不明な発行元」— 極めつけの証拠だが、本質的な防壁ではない</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OSが画面に大きく警告。知識不要、誰でも読める。それでも突破され、犯人のレベルアップで消滅する。</a:t>
            </a:r>
          </a:p>
        </p:txBody>
      </p:sp>
      <p:sp>
        <p:nvSpPr>
          <p:cNvPr id="4" name="Rectangle 3"/>
          <p:cNvSpPr/>
          <p:nvPr/>
        </p:nvSpPr>
        <p:spPr>
          <a:xfrm>
            <a:off x="731520" y="10515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正規ソフト vs この攻撃の署名状態</a:t>
            </a:r>
          </a:p>
        </p:txBody>
      </p:sp>
      <p:sp>
        <p:nvSpPr>
          <p:cNvPr id="5" name="Rectangle 4"/>
          <p:cNvSpPr/>
          <p:nvPr/>
        </p:nvSpPr>
        <p:spPr>
          <a:xfrm>
            <a:off x="731520" y="1417319"/>
            <a:ext cx="32004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Rapport（IBM推奨）</a:t>
            </a:r>
          </a:p>
        </p:txBody>
      </p:sp>
      <p:sp>
        <p:nvSpPr>
          <p:cNvPr id="6" name="Rectangle 5"/>
          <p:cNvSpPr/>
          <p:nvPr/>
        </p:nvSpPr>
        <p:spPr>
          <a:xfrm>
            <a:off x="3931920" y="1417319"/>
            <a:ext cx="3657600" cy="4114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7AE60"/>
                </a:solidFill>
                <a:latin typeface="Meiryo"/>
              </a:rPr>
              <a:t>IBM Corporation ✅</a:t>
            </a:r>
          </a:p>
        </p:txBody>
      </p:sp>
      <p:sp>
        <p:nvSpPr>
          <p:cNvPr id="7" name="Rectangle 6"/>
          <p:cNvSpPr/>
          <p:nvPr/>
        </p:nvSpPr>
        <p:spPr>
          <a:xfrm>
            <a:off x="7589520" y="1417319"/>
            <a:ext cx="4572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信頼されたCAで署名済み</a:t>
            </a:r>
          </a:p>
        </p:txBody>
      </p:sp>
      <p:sp>
        <p:nvSpPr>
          <p:cNvPr id="8" name="Rectangle 7"/>
          <p:cNvSpPr/>
          <p:nvPr/>
        </p:nvSpPr>
        <p:spPr>
          <a:xfrm>
            <a:off x="731520" y="1828799"/>
            <a:ext cx="32004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PhishWall（SecureBrain）</a:t>
            </a:r>
          </a:p>
        </p:txBody>
      </p:sp>
      <p:sp>
        <p:nvSpPr>
          <p:cNvPr id="9" name="Rectangle 8"/>
          <p:cNvSpPr/>
          <p:nvPr/>
        </p:nvSpPr>
        <p:spPr>
          <a:xfrm>
            <a:off x="3931920" y="1828799"/>
            <a:ext cx="3657600" cy="41148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7AE60"/>
                </a:solidFill>
                <a:latin typeface="Meiryo"/>
              </a:rPr>
              <a:t>SecureBrain Corporation ✅</a:t>
            </a:r>
          </a:p>
        </p:txBody>
      </p:sp>
      <p:sp>
        <p:nvSpPr>
          <p:cNvPr id="10" name="Rectangle 9"/>
          <p:cNvSpPr/>
          <p:nvPr/>
        </p:nvSpPr>
        <p:spPr>
          <a:xfrm>
            <a:off x="7589520" y="1828799"/>
            <a:ext cx="45720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信頼されたCAで署名済み</a:t>
            </a:r>
          </a:p>
        </p:txBody>
      </p:sp>
      <p:sp>
        <p:nvSpPr>
          <p:cNvPr id="11" name="Rectangle 10"/>
          <p:cNvSpPr/>
          <p:nvPr/>
        </p:nvSpPr>
        <p:spPr>
          <a:xfrm>
            <a:off x="731520" y="2240279"/>
            <a:ext cx="32004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この攻撃のsetup.msi</a:t>
            </a:r>
          </a:p>
        </p:txBody>
      </p:sp>
      <p:sp>
        <p:nvSpPr>
          <p:cNvPr id="12" name="Rectangle 11"/>
          <p:cNvSpPr/>
          <p:nvPr/>
        </p:nvSpPr>
        <p:spPr>
          <a:xfrm>
            <a:off x="3931920" y="2240279"/>
            <a:ext cx="3657600" cy="41148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C0392B"/>
                </a:solidFill>
                <a:latin typeface="Meiryo"/>
              </a:rPr>
              <a:t>不明 ❌</a:t>
            </a:r>
          </a:p>
        </p:txBody>
      </p:sp>
      <p:sp>
        <p:nvSpPr>
          <p:cNvPr id="13" name="Rectangle 12"/>
          <p:cNvSpPr/>
          <p:nvPr/>
        </p:nvSpPr>
        <p:spPr>
          <a:xfrm>
            <a:off x="7589520" y="2240279"/>
            <a:ext cx="45720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署名なし＝誰が作ったか不明</a:t>
            </a:r>
          </a:p>
        </p:txBody>
      </p:sp>
      <p:sp>
        <p:nvSpPr>
          <p:cNvPr id="14" name="Rectangle 13"/>
          <p:cNvSpPr/>
          <p:nvPr/>
        </p:nvSpPr>
        <p:spPr>
          <a:xfrm>
            <a:off x="731520" y="2743200"/>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なぜ「極めつけ」か — 他の破綻ポイントとの比較</a:t>
            </a:r>
          </a:p>
        </p:txBody>
      </p:sp>
      <p:sp>
        <p:nvSpPr>
          <p:cNvPr id="15" name="Rectangle 14"/>
          <p:cNvSpPr/>
          <p:nvPr/>
        </p:nvSpPr>
        <p:spPr>
          <a:xfrm>
            <a:off x="731520" y="3108960"/>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③ メアドを聞く</a:t>
            </a:r>
          </a:p>
        </p:txBody>
      </p:sp>
      <p:sp>
        <p:nvSpPr>
          <p:cNvPr id="16" name="Rectangle 15"/>
          <p:cNvSpPr/>
          <p:nvPr/>
        </p:nvSpPr>
        <p:spPr>
          <a:xfrm>
            <a:off x="3474720" y="3108960"/>
            <a:ext cx="77724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BizSTATIONの契約プロセスを知っている必要</a:t>
            </a:r>
          </a:p>
        </p:txBody>
      </p:sp>
      <p:sp>
        <p:nvSpPr>
          <p:cNvPr id="17" name="Rectangle 16"/>
          <p:cNvSpPr/>
          <p:nvPr/>
        </p:nvSpPr>
        <p:spPr>
          <a:xfrm>
            <a:off x="11247120" y="3108960"/>
            <a:ext cx="310896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18" name="Rectangle 17"/>
          <p:cNvSpPr/>
          <p:nvPr/>
        </p:nvSpPr>
        <p:spPr>
          <a:xfrm>
            <a:off x="731520" y="3493008"/>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迷惑フォルダを見て</a:t>
            </a:r>
          </a:p>
        </p:txBody>
      </p:sp>
      <p:sp>
        <p:nvSpPr>
          <p:cNvPr id="19" name="Rectangle 18"/>
          <p:cNvSpPr/>
          <p:nvPr/>
        </p:nvSpPr>
        <p:spPr>
          <a:xfrm>
            <a:off x="3474720" y="3493008"/>
            <a:ext cx="77724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メール認証の仕組みを知っている必要</a:t>
            </a:r>
          </a:p>
        </p:txBody>
      </p:sp>
      <p:sp>
        <p:nvSpPr>
          <p:cNvPr id="20" name="Rectangle 19"/>
          <p:cNvSpPr/>
          <p:nvPr/>
        </p:nvSpPr>
        <p:spPr>
          <a:xfrm>
            <a:off x="11247120" y="3493008"/>
            <a:ext cx="3108960" cy="384048"/>
          </a:xfrm>
          <a:prstGeom prst="rect">
            <a:avLst/>
          </a:prstGeom>
          <a:solidFill>
            <a:srgbClr val="F9F9F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21" name="Rectangle 20"/>
          <p:cNvSpPr/>
          <p:nvPr/>
        </p:nvSpPr>
        <p:spPr>
          <a:xfrm>
            <a:off x="731520" y="3877056"/>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⑤ メールにURLリンク</a:t>
            </a:r>
          </a:p>
        </p:txBody>
      </p:sp>
      <p:sp>
        <p:nvSpPr>
          <p:cNvPr id="22" name="Rectangle 21"/>
          <p:cNvSpPr/>
          <p:nvPr/>
        </p:nvSpPr>
        <p:spPr>
          <a:xfrm>
            <a:off x="3474720" y="3877056"/>
            <a:ext cx="77724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金融庁の方針を知っている必要</a:t>
            </a:r>
          </a:p>
        </p:txBody>
      </p:sp>
      <p:sp>
        <p:nvSpPr>
          <p:cNvPr id="23" name="Rectangle 22"/>
          <p:cNvSpPr/>
          <p:nvPr/>
        </p:nvSpPr>
        <p:spPr>
          <a:xfrm>
            <a:off x="11247120" y="3877056"/>
            <a:ext cx="3108960" cy="38404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0">
                <a:solidFill>
                  <a:srgbClr val="222222"/>
                </a:solidFill>
                <a:latin typeface="Meiryo"/>
              </a:rPr>
              <a:t>知識が必要</a:t>
            </a:r>
          </a:p>
        </p:txBody>
      </p:sp>
      <p:sp>
        <p:nvSpPr>
          <p:cNvPr id="24" name="Rectangle 23"/>
          <p:cNvSpPr/>
          <p:nvPr/>
        </p:nvSpPr>
        <p:spPr>
          <a:xfrm>
            <a:off x="731520" y="4261104"/>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⑥ 「不明な発行元」</a:t>
            </a:r>
          </a:p>
        </p:txBody>
      </p:sp>
      <p:sp>
        <p:nvSpPr>
          <p:cNvPr id="25" name="Rectangle 24"/>
          <p:cNvSpPr/>
          <p:nvPr/>
        </p:nvSpPr>
        <p:spPr>
          <a:xfrm>
            <a:off x="3474720" y="4261104"/>
            <a:ext cx="77724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画面に書いてある。知識不要。誰でも読める。</a:t>
            </a:r>
          </a:p>
        </p:txBody>
      </p:sp>
      <p:sp>
        <p:nvSpPr>
          <p:cNvPr id="26" name="Rectangle 25"/>
          <p:cNvSpPr/>
          <p:nvPr/>
        </p:nvSpPr>
        <p:spPr>
          <a:xfrm>
            <a:off x="11247120" y="4261104"/>
            <a:ext cx="310896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知識不要 ★</a:t>
            </a:r>
          </a:p>
        </p:txBody>
      </p:sp>
      <p:sp>
        <p:nvSpPr>
          <p:cNvPr id="27" name="Rectangle 26"/>
          <p:cNvSpPr/>
          <p:nvPr/>
        </p:nvSpPr>
        <p:spPr>
          <a:xfrm>
            <a:off x="731520" y="4754880"/>
            <a:ext cx="1362456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しかし犯人がレベルアップすれば「不明な発行元」は消せる</a:t>
            </a:r>
          </a:p>
        </p:txBody>
      </p:sp>
      <p:sp>
        <p:nvSpPr>
          <p:cNvPr id="28" name="Rectangle 27"/>
          <p:cNvSpPr/>
          <p:nvPr/>
        </p:nvSpPr>
        <p:spPr>
          <a:xfrm>
            <a:off x="731520" y="512064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証明書なし（現状）</a:t>
            </a:r>
          </a:p>
        </p:txBody>
      </p:sp>
      <p:sp>
        <p:nvSpPr>
          <p:cNvPr id="29" name="Rectangle 28"/>
          <p:cNvSpPr/>
          <p:nvPr/>
        </p:nvSpPr>
        <p:spPr>
          <a:xfrm>
            <a:off x="3931920" y="512064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a:t>
            </a:r>
          </a:p>
        </p:txBody>
      </p:sp>
      <p:sp>
        <p:nvSpPr>
          <p:cNvPr id="30" name="Rectangle 29"/>
          <p:cNvSpPr/>
          <p:nvPr/>
        </p:nvSpPr>
        <p:spPr>
          <a:xfrm>
            <a:off x="8961120" y="5120640"/>
            <a:ext cx="1828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簡単</a:t>
            </a:r>
          </a:p>
        </p:txBody>
      </p:sp>
      <p:sp>
        <p:nvSpPr>
          <p:cNvPr id="31" name="Rectangle 30"/>
          <p:cNvSpPr/>
          <p:nvPr/>
        </p:nvSpPr>
        <p:spPr>
          <a:xfrm>
            <a:off x="731520" y="5486400"/>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自己署名証明書</a:t>
            </a:r>
          </a:p>
        </p:txBody>
      </p:sp>
      <p:sp>
        <p:nvSpPr>
          <p:cNvPr id="32" name="Rectangle 31"/>
          <p:cNvSpPr/>
          <p:nvPr/>
        </p:nvSpPr>
        <p:spPr>
          <a:xfrm>
            <a:off x="3931920" y="548640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「不明な発行元」のまま</a:t>
            </a:r>
          </a:p>
        </p:txBody>
      </p:sp>
      <p:sp>
        <p:nvSpPr>
          <p:cNvPr id="33" name="Rectangle 32"/>
          <p:cNvSpPr/>
          <p:nvPr/>
        </p:nvSpPr>
        <p:spPr>
          <a:xfrm>
            <a:off x="8961120" y="5486400"/>
            <a:ext cx="1828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簡単</a:t>
            </a:r>
          </a:p>
        </p:txBody>
      </p:sp>
      <p:sp>
        <p:nvSpPr>
          <p:cNvPr id="34" name="Rectangle 33"/>
          <p:cNvSpPr/>
          <p:nvPr/>
        </p:nvSpPr>
        <p:spPr>
          <a:xfrm>
            <a:off x="731520" y="585216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偽会社名でCA購入</a:t>
            </a:r>
          </a:p>
        </p:txBody>
      </p:sp>
      <p:sp>
        <p:nvSpPr>
          <p:cNvPr id="35" name="Rectangle 34"/>
          <p:cNvSpPr/>
          <p:nvPr/>
        </p:nvSpPr>
        <p:spPr>
          <a:xfrm>
            <a:off x="3931920" y="585216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「MUFGセキュリティ(株)」等が表示</a:t>
            </a:r>
          </a:p>
        </p:txBody>
      </p:sp>
      <p:sp>
        <p:nvSpPr>
          <p:cNvPr id="36" name="Rectangle 35"/>
          <p:cNvSpPr/>
          <p:nvPr/>
        </p:nvSpPr>
        <p:spPr>
          <a:xfrm>
            <a:off x="8961120" y="5852160"/>
            <a:ext cx="182880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中程度</a:t>
            </a:r>
          </a:p>
        </p:txBody>
      </p:sp>
      <p:sp>
        <p:nvSpPr>
          <p:cNvPr id="37" name="Rectangle 36"/>
          <p:cNvSpPr/>
          <p:nvPr/>
        </p:nvSpPr>
        <p:spPr>
          <a:xfrm>
            <a:off x="731520" y="6217920"/>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正規企業の証明書窃取</a:t>
            </a:r>
          </a:p>
        </p:txBody>
      </p:sp>
      <p:sp>
        <p:nvSpPr>
          <p:cNvPr id="38" name="Rectangle 37"/>
          <p:cNvSpPr/>
          <p:nvPr/>
        </p:nvSpPr>
        <p:spPr>
          <a:xfrm>
            <a:off x="3931920" y="621792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実在企業名が表示</a:t>
            </a:r>
          </a:p>
        </p:txBody>
      </p:sp>
      <p:sp>
        <p:nvSpPr>
          <p:cNvPr id="39" name="Rectangle 38"/>
          <p:cNvSpPr/>
          <p:nvPr/>
        </p:nvSpPr>
        <p:spPr>
          <a:xfrm>
            <a:off x="8961120" y="6217920"/>
            <a:ext cx="182880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高難度</a:t>
            </a:r>
          </a:p>
        </p:txBody>
      </p:sp>
      <p:sp>
        <p:nvSpPr>
          <p:cNvPr id="40" name="Rectangle 39"/>
          <p:cNvSpPr/>
          <p:nvPr/>
        </p:nvSpPr>
        <p:spPr>
          <a:xfrm>
            <a:off x="731520" y="6583680"/>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EV証明書を偽造取得</a:t>
            </a:r>
          </a:p>
        </p:txBody>
      </p:sp>
      <p:sp>
        <p:nvSpPr>
          <p:cNvPr id="41" name="Rectangle 40"/>
          <p:cNvSpPr/>
          <p:nvPr/>
        </p:nvSpPr>
        <p:spPr>
          <a:xfrm>
            <a:off x="3931920" y="658368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SmartScreen警告も消える</a:t>
            </a:r>
          </a:p>
        </p:txBody>
      </p:sp>
      <p:sp>
        <p:nvSpPr>
          <p:cNvPr id="42" name="Rectangle 41"/>
          <p:cNvSpPr/>
          <p:nvPr/>
        </p:nvSpPr>
        <p:spPr>
          <a:xfrm>
            <a:off x="8961120" y="6583680"/>
            <a:ext cx="182880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高難度</a:t>
            </a:r>
          </a:p>
        </p:txBody>
      </p:sp>
      <p:sp>
        <p:nvSpPr>
          <p:cNvPr id="43" name="Rectangle 42"/>
          <p:cNvSpPr/>
          <p:nvPr/>
        </p:nvSpPr>
        <p:spPr>
          <a:xfrm>
            <a:off x="731520" y="704088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確実な対策：ホワイトリスト型アプリ制御</a:t>
            </a:r>
          </a:p>
        </p:txBody>
      </p:sp>
      <p:sp>
        <p:nvSpPr>
          <p:cNvPr id="44" name="Rectangle 43"/>
          <p:cNvSpPr/>
          <p:nvPr/>
        </p:nvSpPr>
        <p:spPr>
          <a:xfrm>
            <a:off x="731520" y="7406640"/>
            <a:ext cx="41148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45" name="Rectangle 44"/>
          <p:cNvSpPr/>
          <p:nvPr/>
        </p:nvSpPr>
        <p:spPr>
          <a:xfrm>
            <a:off x="4846320" y="740664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未署名</a:t>
            </a:r>
          </a:p>
        </p:txBody>
      </p:sp>
      <p:sp>
        <p:nvSpPr>
          <p:cNvPr id="46" name="Rectangle 45"/>
          <p:cNvSpPr/>
          <p:nvPr/>
        </p:nvSpPr>
        <p:spPr>
          <a:xfrm>
            <a:off x="7863840" y="740664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偽証明書</a:t>
            </a:r>
          </a:p>
        </p:txBody>
      </p:sp>
      <p:sp>
        <p:nvSpPr>
          <p:cNvPr id="47" name="Rectangle 46"/>
          <p:cNvSpPr/>
          <p:nvPr/>
        </p:nvSpPr>
        <p:spPr>
          <a:xfrm>
            <a:off x="10881359" y="7406640"/>
            <a:ext cx="34747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窃取証明書</a:t>
            </a:r>
          </a:p>
        </p:txBody>
      </p:sp>
      <p:sp>
        <p:nvSpPr>
          <p:cNvPr id="48" name="Rectangle 47"/>
          <p:cNvSpPr/>
          <p:nvPr/>
        </p:nvSpPr>
        <p:spPr>
          <a:xfrm>
            <a:off x="731520" y="7772400"/>
            <a:ext cx="41148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「不明な発行元」に注意</a:t>
            </a:r>
          </a:p>
        </p:txBody>
      </p:sp>
      <p:sp>
        <p:nvSpPr>
          <p:cNvPr id="49" name="Rectangle 48"/>
          <p:cNvSpPr/>
          <p:nvPr/>
        </p:nvSpPr>
        <p:spPr>
          <a:xfrm>
            <a:off x="4846320" y="777240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気づける</a:t>
            </a:r>
          </a:p>
        </p:txBody>
      </p:sp>
      <p:sp>
        <p:nvSpPr>
          <p:cNvPr id="50" name="Rectangle 49"/>
          <p:cNvSpPr/>
          <p:nvPr/>
        </p:nvSpPr>
        <p:spPr>
          <a:xfrm>
            <a:off x="7863840" y="7772400"/>
            <a:ext cx="30175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突破される</a:t>
            </a:r>
          </a:p>
        </p:txBody>
      </p:sp>
      <p:sp>
        <p:nvSpPr>
          <p:cNvPr id="51" name="Rectangle 50"/>
          <p:cNvSpPr/>
          <p:nvPr/>
        </p:nvSpPr>
        <p:spPr>
          <a:xfrm>
            <a:off x="10881359" y="7772400"/>
            <a:ext cx="347472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突破される</a:t>
            </a:r>
          </a:p>
        </p:txBody>
      </p:sp>
      <p:sp>
        <p:nvSpPr>
          <p:cNvPr id="52" name="Rectangle 51"/>
          <p:cNvSpPr/>
          <p:nvPr/>
        </p:nvSpPr>
        <p:spPr>
          <a:xfrm>
            <a:off x="731520" y="8138160"/>
            <a:ext cx="41148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AppLocker / WDAC ★</a:t>
            </a:r>
          </a:p>
        </p:txBody>
      </p:sp>
      <p:sp>
        <p:nvSpPr>
          <p:cNvPr id="53" name="Rectangle 52"/>
          <p:cNvSpPr/>
          <p:nvPr/>
        </p:nvSpPr>
        <p:spPr>
          <a:xfrm>
            <a:off x="4846320" y="813816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4" name="Rectangle 53"/>
          <p:cNvSpPr/>
          <p:nvPr/>
        </p:nvSpPr>
        <p:spPr>
          <a:xfrm>
            <a:off x="7863840" y="8138160"/>
            <a:ext cx="30175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5" name="Rectangle 54"/>
          <p:cNvSpPr/>
          <p:nvPr/>
        </p:nvSpPr>
        <p:spPr>
          <a:xfrm>
            <a:off x="10881359" y="8138160"/>
            <a:ext cx="347472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止まる</a:t>
            </a:r>
          </a:p>
        </p:txBody>
      </p:sp>
      <p:sp>
        <p:nvSpPr>
          <p:cNvPr id="56" name="Rectangle 55"/>
          <p:cNvSpPr/>
          <p:nvPr/>
        </p:nvSpPr>
        <p:spPr>
          <a:xfrm>
            <a:off x="731520" y="864108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証明書ベースの防御は犯人のレベル次第で突破される。ホワイトリスト型アプリ制御（AppLocker/WDAC）が唯一の確実な対策。</a:t>
            </a:r>
          </a:p>
        </p:txBody>
      </p:sp>
      <p:sp>
        <p:nvSpPr>
          <p:cNvPr id="57" name="TextBox 56"/>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手順⑥「不明な発行元」とアプリ制御</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27AE60"/>
                </a:solidFill>
                <a:latin typeface="Meiryo"/>
              </a:rPr>
              <a:t>ホワイトリスト型アプリ制御 — Windowsに標準搭載、追加コストゼロ</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DMARCと同じ構図：使えるのに使っていない。設定するだけで手順⑥を確実に止められる。</a:t>
            </a:r>
          </a:p>
        </p:txBody>
      </p:sp>
      <p:sp>
        <p:nvSpPr>
          <p:cNvPr id="4" name="Rectangle 3"/>
          <p:cNvSpPr/>
          <p:nvPr/>
        </p:nvSpPr>
        <p:spPr>
          <a:xfrm>
            <a:off x="731520" y="1051560"/>
            <a:ext cx="658368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ブラックリスト型（従来のアンチウイルス）</a:t>
            </a:r>
          </a:p>
        </p:txBody>
      </p:sp>
      <p:sp>
        <p:nvSpPr>
          <p:cNvPr id="5" name="Rectangle 4"/>
          <p:cNvSpPr/>
          <p:nvPr/>
        </p:nvSpPr>
        <p:spPr>
          <a:xfrm>
            <a:off x="731520" y="1463039"/>
            <a:ext cx="6583680" cy="73152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「既知の悪いもの」をブロック
→ 未知の攻撃は素通り
→ ScreenConnectは正規ツール → ブロックされない</a:t>
            </a:r>
          </a:p>
        </p:txBody>
      </p:sp>
      <p:sp>
        <p:nvSpPr>
          <p:cNvPr id="6" name="Rectangle 5"/>
          <p:cNvSpPr/>
          <p:nvPr/>
        </p:nvSpPr>
        <p:spPr>
          <a:xfrm>
            <a:off x="7772400" y="1051560"/>
            <a:ext cx="6400800" cy="41148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ホワイトリスト型（AppLocker / WDAC）</a:t>
            </a:r>
          </a:p>
        </p:txBody>
      </p:sp>
      <p:sp>
        <p:nvSpPr>
          <p:cNvPr id="7" name="Rectangle 6"/>
          <p:cNvSpPr/>
          <p:nvPr/>
        </p:nvSpPr>
        <p:spPr>
          <a:xfrm>
            <a:off x="7772400" y="1463039"/>
            <a:ext cx="6400800" cy="73152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「許可されたものだけ」実行可能
→ 許可リストにないものは全部止まる
→ ScreenConnectが許可リストにない → 実行できない</a:t>
            </a:r>
          </a:p>
        </p:txBody>
      </p:sp>
      <p:sp>
        <p:nvSpPr>
          <p:cNvPr id="8" name="Rectangle 7"/>
          <p:cNvSpPr/>
          <p:nvPr/>
        </p:nvSpPr>
        <p:spPr>
          <a:xfrm>
            <a:off x="731520" y="24231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Windowsに標準搭載されているツール</a:t>
            </a:r>
          </a:p>
        </p:txBody>
      </p:sp>
      <p:sp>
        <p:nvSpPr>
          <p:cNvPr id="9" name="Rectangle 8"/>
          <p:cNvSpPr/>
          <p:nvPr/>
        </p:nvSpPr>
        <p:spPr>
          <a:xfrm>
            <a:off x="731520" y="2788920"/>
            <a:ext cx="18288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ツール</a:t>
            </a:r>
          </a:p>
        </p:txBody>
      </p:sp>
      <p:sp>
        <p:nvSpPr>
          <p:cNvPr id="10" name="Rectangle 9"/>
          <p:cNvSpPr/>
          <p:nvPr/>
        </p:nvSpPr>
        <p:spPr>
          <a:xfrm>
            <a:off x="2560320" y="2788920"/>
            <a:ext cx="16459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提供元</a:t>
            </a:r>
          </a:p>
        </p:txBody>
      </p:sp>
      <p:sp>
        <p:nvSpPr>
          <p:cNvPr id="11" name="Rectangle 10"/>
          <p:cNvSpPr/>
          <p:nvPr/>
        </p:nvSpPr>
        <p:spPr>
          <a:xfrm>
            <a:off x="4206240" y="2788920"/>
            <a:ext cx="34747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対象OS</a:t>
            </a:r>
          </a:p>
        </p:txBody>
      </p:sp>
      <p:sp>
        <p:nvSpPr>
          <p:cNvPr id="12" name="Rectangle 11"/>
          <p:cNvSpPr/>
          <p:nvPr/>
        </p:nvSpPr>
        <p:spPr>
          <a:xfrm>
            <a:off x="7680959" y="2788920"/>
            <a:ext cx="36576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制御範囲</a:t>
            </a:r>
          </a:p>
        </p:txBody>
      </p:sp>
      <p:sp>
        <p:nvSpPr>
          <p:cNvPr id="13" name="Rectangle 12"/>
          <p:cNvSpPr/>
          <p:nvPr/>
        </p:nvSpPr>
        <p:spPr>
          <a:xfrm>
            <a:off x="11338559" y="2788920"/>
            <a:ext cx="301752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設定方法</a:t>
            </a:r>
          </a:p>
        </p:txBody>
      </p:sp>
      <p:sp>
        <p:nvSpPr>
          <p:cNvPr id="14" name="Rectangle 13"/>
          <p:cNvSpPr/>
          <p:nvPr/>
        </p:nvSpPr>
        <p:spPr>
          <a:xfrm>
            <a:off x="731520" y="3154680"/>
            <a:ext cx="1828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AppLocker</a:t>
            </a:r>
          </a:p>
        </p:txBody>
      </p:sp>
      <p:sp>
        <p:nvSpPr>
          <p:cNvPr id="15" name="Rectangle 14"/>
          <p:cNvSpPr/>
          <p:nvPr/>
        </p:nvSpPr>
        <p:spPr>
          <a:xfrm>
            <a:off x="2560320" y="3154680"/>
            <a:ext cx="16459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Microsoft</a:t>
            </a:r>
          </a:p>
        </p:txBody>
      </p:sp>
      <p:sp>
        <p:nvSpPr>
          <p:cNvPr id="16" name="Rectangle 15"/>
          <p:cNvSpPr/>
          <p:nvPr/>
        </p:nvSpPr>
        <p:spPr>
          <a:xfrm>
            <a:off x="4206240" y="3154680"/>
            <a:ext cx="34747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Windows 10/11 Enterprise / Education</a:t>
            </a:r>
          </a:p>
        </p:txBody>
      </p:sp>
      <p:sp>
        <p:nvSpPr>
          <p:cNvPr id="17" name="Rectangle 16"/>
          <p:cNvSpPr/>
          <p:nvPr/>
        </p:nvSpPr>
        <p:spPr>
          <a:xfrm>
            <a:off x="7680959" y="3154680"/>
            <a:ext cx="36576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exe, msi, スクリプト, DLL</a:t>
            </a:r>
          </a:p>
        </p:txBody>
      </p:sp>
      <p:sp>
        <p:nvSpPr>
          <p:cNvPr id="18" name="Rectangle 17"/>
          <p:cNvSpPr/>
          <p:nvPr/>
        </p:nvSpPr>
        <p:spPr>
          <a:xfrm>
            <a:off x="11338559" y="3154680"/>
            <a:ext cx="30175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グループポリシーで設定</a:t>
            </a:r>
          </a:p>
        </p:txBody>
      </p:sp>
      <p:sp>
        <p:nvSpPr>
          <p:cNvPr id="19" name="Rectangle 18"/>
          <p:cNvSpPr/>
          <p:nvPr/>
        </p:nvSpPr>
        <p:spPr>
          <a:xfrm>
            <a:off x="731520" y="3566160"/>
            <a:ext cx="18288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WDAC</a:t>
            </a:r>
          </a:p>
        </p:txBody>
      </p:sp>
      <p:sp>
        <p:nvSpPr>
          <p:cNvPr id="20" name="Rectangle 19"/>
          <p:cNvSpPr/>
          <p:nvPr/>
        </p:nvSpPr>
        <p:spPr>
          <a:xfrm>
            <a:off x="2560320" y="3566160"/>
            <a:ext cx="164592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Microsoft</a:t>
            </a:r>
          </a:p>
        </p:txBody>
      </p:sp>
      <p:sp>
        <p:nvSpPr>
          <p:cNvPr id="21" name="Rectangle 20"/>
          <p:cNvSpPr/>
          <p:nvPr/>
        </p:nvSpPr>
        <p:spPr>
          <a:xfrm>
            <a:off x="4206240" y="3566160"/>
            <a:ext cx="347472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Windows 10/11 全エディション</a:t>
            </a:r>
          </a:p>
        </p:txBody>
      </p:sp>
      <p:sp>
        <p:nvSpPr>
          <p:cNvPr id="22" name="Rectangle 21"/>
          <p:cNvSpPr/>
          <p:nvPr/>
        </p:nvSpPr>
        <p:spPr>
          <a:xfrm>
            <a:off x="7680959" y="3566160"/>
            <a:ext cx="365760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カーネルレベルで制御（より強力）</a:t>
            </a:r>
          </a:p>
        </p:txBody>
      </p:sp>
      <p:sp>
        <p:nvSpPr>
          <p:cNvPr id="23" name="Rectangle 22"/>
          <p:cNvSpPr/>
          <p:nvPr/>
        </p:nvSpPr>
        <p:spPr>
          <a:xfrm>
            <a:off x="11338559" y="3566160"/>
            <a:ext cx="3017520" cy="41148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PowerShell / Intune等</a:t>
            </a:r>
          </a:p>
        </p:txBody>
      </p:sp>
      <p:sp>
        <p:nvSpPr>
          <p:cNvPr id="24" name="Rectangle 23"/>
          <p:cNvSpPr/>
          <p:nvPr/>
        </p:nvSpPr>
        <p:spPr>
          <a:xfrm>
            <a:off x="731520" y="3977640"/>
            <a:ext cx="18288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MDM連携</a:t>
            </a:r>
          </a:p>
        </p:txBody>
      </p:sp>
      <p:sp>
        <p:nvSpPr>
          <p:cNvPr id="25" name="Rectangle 24"/>
          <p:cNvSpPr/>
          <p:nvPr/>
        </p:nvSpPr>
        <p:spPr>
          <a:xfrm>
            <a:off x="2560320" y="3977640"/>
            <a:ext cx="16459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Intune等</a:t>
            </a:r>
          </a:p>
        </p:txBody>
      </p:sp>
      <p:sp>
        <p:nvSpPr>
          <p:cNvPr id="26" name="Rectangle 25"/>
          <p:cNvSpPr/>
          <p:nvPr/>
        </p:nvSpPr>
        <p:spPr>
          <a:xfrm>
            <a:off x="4206240" y="3977640"/>
            <a:ext cx="34747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全エディション（Intune契約時）</a:t>
            </a:r>
          </a:p>
        </p:txBody>
      </p:sp>
      <p:sp>
        <p:nvSpPr>
          <p:cNvPr id="27" name="Rectangle 26"/>
          <p:cNvSpPr/>
          <p:nvPr/>
        </p:nvSpPr>
        <p:spPr>
          <a:xfrm>
            <a:off x="7680959" y="3977640"/>
            <a:ext cx="36576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アプリ配布・制御を一元管理</a:t>
            </a:r>
          </a:p>
        </p:txBody>
      </p:sp>
      <p:sp>
        <p:nvSpPr>
          <p:cNvPr id="28" name="Rectangle 27"/>
          <p:cNvSpPr/>
          <p:nvPr/>
        </p:nvSpPr>
        <p:spPr>
          <a:xfrm>
            <a:off x="11338559" y="3977640"/>
            <a:ext cx="301752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クラウドから配信</a:t>
            </a:r>
          </a:p>
        </p:txBody>
      </p:sp>
      <p:sp>
        <p:nvSpPr>
          <p:cNvPr id="29" name="Rectangle 28"/>
          <p:cNvSpPr/>
          <p:nvPr/>
        </p:nvSpPr>
        <p:spPr>
          <a:xfrm>
            <a:off x="731520" y="4480560"/>
            <a:ext cx="1362456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この攻撃に対する効果</a:t>
            </a:r>
          </a:p>
        </p:txBody>
      </p:sp>
      <p:sp>
        <p:nvSpPr>
          <p:cNvPr id="30" name="Rectangle 29"/>
          <p:cNvSpPr/>
          <p:nvPr/>
        </p:nvSpPr>
        <p:spPr>
          <a:xfrm>
            <a:off x="731520" y="4937760"/>
            <a:ext cx="6583680" cy="3200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AppLocker許可リスト（設定例）</a:t>
            </a:r>
          </a:p>
        </p:txBody>
      </p:sp>
      <p:sp>
        <p:nvSpPr>
          <p:cNvPr id="31" name="Rectangle 30"/>
          <p:cNvSpPr/>
          <p:nvPr/>
        </p:nvSpPr>
        <p:spPr>
          <a:xfrm>
            <a:off x="731520" y="525780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Microsoft Office</a:t>
            </a:r>
          </a:p>
        </p:txBody>
      </p:sp>
      <p:sp>
        <p:nvSpPr>
          <p:cNvPr id="32" name="Rectangle 31"/>
          <p:cNvSpPr/>
          <p:nvPr/>
        </p:nvSpPr>
        <p:spPr>
          <a:xfrm>
            <a:off x="731520" y="553212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業務アプリA, B, C</a:t>
            </a:r>
          </a:p>
        </p:txBody>
      </p:sp>
      <p:sp>
        <p:nvSpPr>
          <p:cNvPr id="33" name="Rectangle 32"/>
          <p:cNvSpPr/>
          <p:nvPr/>
        </p:nvSpPr>
        <p:spPr>
          <a:xfrm>
            <a:off x="731520" y="580644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7AE60"/>
                </a:solidFill>
                <a:latin typeface="Meiryo"/>
              </a:rPr>
              <a:t>✅ Rapport（IBM署名）</a:t>
            </a:r>
          </a:p>
        </p:txBody>
      </p:sp>
      <p:sp>
        <p:nvSpPr>
          <p:cNvPr id="34" name="Rectangle 33"/>
          <p:cNvSpPr/>
          <p:nvPr/>
        </p:nvSpPr>
        <p:spPr>
          <a:xfrm>
            <a:off x="731520" y="6080760"/>
            <a:ext cx="658368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C0392B"/>
                </a:solidFill>
                <a:latin typeface="Meiryo"/>
              </a:rPr>
              <a:t>❌ それ以外すべて → 実行拒否</a:t>
            </a:r>
          </a:p>
        </p:txBody>
      </p:sp>
      <p:sp>
        <p:nvSpPr>
          <p:cNvPr id="35" name="Rectangle 34"/>
          <p:cNvSpPr/>
          <p:nvPr/>
        </p:nvSpPr>
        <p:spPr>
          <a:xfrm>
            <a:off x="7772400" y="4937760"/>
            <a:ext cx="6400800" cy="320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攻撃時の流れ</a:t>
            </a:r>
          </a:p>
        </p:txBody>
      </p:sp>
      <p:sp>
        <p:nvSpPr>
          <p:cNvPr id="36" name="Rectangle 35"/>
          <p:cNvSpPr/>
          <p:nvPr/>
        </p:nvSpPr>
        <p:spPr>
          <a:xfrm>
            <a:off x="7772400" y="5257800"/>
            <a:ext cx="640080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犯人「実行するをクリックしてください」</a:t>
            </a:r>
          </a:p>
        </p:txBody>
      </p:sp>
      <p:sp>
        <p:nvSpPr>
          <p:cNvPr id="37" name="Rectangle 36"/>
          <p:cNvSpPr/>
          <p:nvPr/>
        </p:nvSpPr>
        <p:spPr>
          <a:xfrm>
            <a:off x="7772400" y="5605272"/>
            <a:ext cx="640080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被害者がクリック</a:t>
            </a:r>
          </a:p>
        </p:txBody>
      </p:sp>
      <p:sp>
        <p:nvSpPr>
          <p:cNvPr id="38" name="Rectangle 37"/>
          <p:cNvSpPr/>
          <p:nvPr/>
        </p:nvSpPr>
        <p:spPr>
          <a:xfrm>
            <a:off x="7772400" y="5952744"/>
            <a:ext cx="6400800" cy="320040"/>
          </a:xfrm>
          <a:prstGeom prst="rect">
            <a:avLst/>
          </a:prstGeom>
          <a:solidFill>
            <a:srgbClr val="27AE60"/>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FFFFFF"/>
                </a:solidFill>
                <a:latin typeface="Meiryo"/>
              </a:rPr>
              <a:t>OS「このアプリは組織のポリシーにより実行できません」</a:t>
            </a:r>
          </a:p>
        </p:txBody>
      </p:sp>
      <p:sp>
        <p:nvSpPr>
          <p:cNvPr id="39" name="Rectangle 38"/>
          <p:cNvSpPr/>
          <p:nvPr/>
        </p:nvSpPr>
        <p:spPr>
          <a:xfrm>
            <a:off x="7772400" y="6300216"/>
            <a:ext cx="6400800" cy="320040"/>
          </a:xfrm>
          <a:prstGeom prst="rect">
            <a:avLst/>
          </a:prstGeom>
          <a:solidFill>
            <a:srgbClr val="222222"/>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FFFFFF"/>
                </a:solidFill>
                <a:latin typeface="Meiryo"/>
              </a:rPr>
              <a:t>犯人が何を言っても突破不可能 ★</a:t>
            </a:r>
          </a:p>
        </p:txBody>
      </p:sp>
      <p:sp>
        <p:nvSpPr>
          <p:cNvPr id="40" name="Rectangle 39"/>
          <p:cNvSpPr/>
          <p:nvPr/>
        </p:nvSpPr>
        <p:spPr>
          <a:xfrm>
            <a:off x="731520" y="6766560"/>
            <a:ext cx="4480560" cy="7772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TextBox 40"/>
          <p:cNvSpPr txBox="1"/>
          <p:nvPr/>
        </p:nvSpPr>
        <p:spPr>
          <a:xfrm>
            <a:off x="914400" y="6812280"/>
            <a:ext cx="4114800" cy="685800"/>
          </a:xfrm>
          <a:prstGeom prst="rect">
            <a:avLst/>
          </a:prstGeom>
          <a:noFill/>
        </p:spPr>
        <p:txBody>
          <a:bodyPr wrap="square" lIns="50800" rIns="50800" tIns="38100" bIns="38100"/>
          <a:lstStyle/>
          <a:p>
            <a:pPr algn="l"/>
            <a:r>
              <a:rPr sz="1200" b="1">
                <a:solidFill>
                  <a:srgbClr val="FFFFFF"/>
                </a:solidFill>
                <a:latin typeface="Meiryo"/>
              </a:rPr>
              <a:t>追加コスト：ゼロ
追加ソフト：不要
必要な作業：ポリシー設定のみ</a:t>
            </a:r>
          </a:p>
        </p:txBody>
      </p:sp>
      <p:sp>
        <p:nvSpPr>
          <p:cNvPr id="42" name="Rectangle 41"/>
          <p:cNvSpPr/>
          <p:nvPr/>
        </p:nvSpPr>
        <p:spPr>
          <a:xfrm>
            <a:off x="5486400" y="6766560"/>
            <a:ext cx="4572000" cy="7772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TextBox 42"/>
          <p:cNvSpPr txBox="1"/>
          <p:nvPr/>
        </p:nvSpPr>
        <p:spPr>
          <a:xfrm>
            <a:off x="5669280" y="6812280"/>
            <a:ext cx="4206240" cy="685800"/>
          </a:xfrm>
          <a:prstGeom prst="rect">
            <a:avLst/>
          </a:prstGeom>
          <a:noFill/>
        </p:spPr>
        <p:txBody>
          <a:bodyPr wrap="square" lIns="50800" rIns="50800" tIns="38100" bIns="38100"/>
          <a:lstStyle/>
          <a:p>
            <a:pPr algn="l"/>
            <a:r>
              <a:rPr sz="1200" b="1">
                <a:solidFill>
                  <a:srgbClr val="FFFFFF"/>
                </a:solidFill>
                <a:latin typeface="Meiryo"/>
              </a:rPr>
              <a:t>電話で回避できない
管理者権限がないと
ポリシー変更できない</a:t>
            </a:r>
          </a:p>
        </p:txBody>
      </p:sp>
      <p:sp>
        <p:nvSpPr>
          <p:cNvPr id="44" name="Rectangle 43"/>
          <p:cNvSpPr/>
          <p:nvPr/>
        </p:nvSpPr>
        <p:spPr>
          <a:xfrm>
            <a:off x="10332720" y="6766560"/>
            <a:ext cx="4023360" cy="7772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TextBox 44"/>
          <p:cNvSpPr txBox="1"/>
          <p:nvPr/>
        </p:nvSpPr>
        <p:spPr>
          <a:xfrm>
            <a:off x="10515600" y="6812280"/>
            <a:ext cx="3657600" cy="685800"/>
          </a:xfrm>
          <a:prstGeom prst="rect">
            <a:avLst/>
          </a:prstGeom>
          <a:noFill/>
        </p:spPr>
        <p:txBody>
          <a:bodyPr wrap="square" lIns="50800" rIns="50800" tIns="38100" bIns="38100"/>
          <a:lstStyle/>
          <a:p>
            <a:pPr algn="l"/>
            <a:r>
              <a:rPr sz="1200" b="1">
                <a:solidFill>
                  <a:srgbClr val="FFFFFF"/>
                </a:solidFill>
                <a:latin typeface="Meiryo"/>
              </a:rPr>
              <a:t>DMARCと並ぶ
2つ目の確実な
技術的対策</a:t>
            </a:r>
          </a:p>
        </p:txBody>
      </p:sp>
      <p:sp>
        <p:nvSpPr>
          <p:cNvPr id="46" name="Rectangle 45"/>
          <p:cNvSpPr/>
          <p:nvPr/>
        </p:nvSpPr>
        <p:spPr>
          <a:xfrm>
            <a:off x="731520" y="7772400"/>
            <a:ext cx="1362456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Kill Chainを技術的に切れるポイント：④ DMARC p=reject（メール遮断）＋ ⑥ AppLocker/WDAC（実行阻止）— どちらも標準搭載・追加コストゼロ</a:t>
            </a:r>
          </a:p>
        </p:txBody>
      </p:sp>
      <p:sp>
        <p:nvSpPr>
          <p:cNvPr id="47" name="TextBox 46"/>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ホワイトリスト型アプリ制御</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「顧客の問題」にしている限り、この攻撃は止まらない</a:t>
            </a:r>
          </a:p>
        </p:txBody>
      </p:sp>
      <p:sp>
        <p:nvSpPr>
          <p:cNvPr id="3" name="TextBox 2"/>
          <p:cNvSpPr txBox="1"/>
          <p:nvPr/>
        </p:nvSpPr>
        <p:spPr>
          <a:xfrm>
            <a:off x="0" y="640080"/>
            <a:ext cx="15124176" cy="365760"/>
          </a:xfrm>
          <a:prstGeom prst="rect">
            <a:avLst/>
          </a:prstGeom>
          <a:noFill/>
        </p:spPr>
        <p:txBody>
          <a:bodyPr wrap="square" lIns="50800" rIns="50800" tIns="38100" bIns="38100"/>
          <a:lstStyle/>
          <a:p>
            <a:pPr algn="ctr"/>
            <a:r>
              <a:rPr sz="1100" b="0">
                <a:solidFill>
                  <a:srgbClr val="888888"/>
                </a:solidFill>
                <a:latin typeface="Meiryo"/>
              </a:rPr>
              <a:t>全ての対策が「顧客にやってね」で丸投げされている。DMARCも AppLockerも同じ構図。</a:t>
            </a:r>
          </a:p>
        </p:txBody>
      </p:sp>
      <p:sp>
        <p:nvSpPr>
          <p:cNvPr id="4" name="Rectangle 3"/>
          <p:cNvSpPr/>
          <p:nvPr/>
        </p:nvSpPr>
        <p:spPr>
          <a:xfrm>
            <a:off x="731520" y="1051560"/>
            <a:ext cx="13624560" cy="41148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300" b="1">
                <a:solidFill>
                  <a:srgbClr val="FFFFFF"/>
                </a:solidFill>
                <a:latin typeface="Meiryo"/>
              </a:rPr>
              <a:t>対策の責任はどこにあるか？</a:t>
            </a:r>
          </a:p>
        </p:txBody>
      </p:sp>
      <p:sp>
        <p:nvSpPr>
          <p:cNvPr id="5" name="Rectangle 4"/>
          <p:cNvSpPr/>
          <p:nvPr/>
        </p:nvSpPr>
        <p:spPr>
          <a:xfrm>
            <a:off x="731520" y="1463039"/>
            <a:ext cx="27432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対策</a:t>
            </a:r>
          </a:p>
        </p:txBody>
      </p:sp>
      <p:sp>
        <p:nvSpPr>
          <p:cNvPr id="6" name="Rectangle 5"/>
          <p:cNvSpPr/>
          <p:nvPr/>
        </p:nvSpPr>
        <p:spPr>
          <a:xfrm>
            <a:off x="3474720" y="1463039"/>
            <a:ext cx="27432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設定する場所</a:t>
            </a:r>
          </a:p>
        </p:txBody>
      </p:sp>
      <p:sp>
        <p:nvSpPr>
          <p:cNvPr id="7" name="Rectangle 6"/>
          <p:cNvSpPr/>
          <p:nvPr/>
        </p:nvSpPr>
        <p:spPr>
          <a:xfrm>
            <a:off x="6217920" y="1463039"/>
            <a:ext cx="274320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設定する人</a:t>
            </a:r>
          </a:p>
        </p:txBody>
      </p:sp>
      <p:sp>
        <p:nvSpPr>
          <p:cNvPr id="8" name="Rectangle 7"/>
          <p:cNvSpPr/>
          <p:nvPr/>
        </p:nvSpPr>
        <p:spPr>
          <a:xfrm>
            <a:off x="8961120" y="1463039"/>
            <a:ext cx="5394960" cy="365760"/>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責任</a:t>
            </a:r>
          </a:p>
        </p:txBody>
      </p:sp>
      <p:sp>
        <p:nvSpPr>
          <p:cNvPr id="9" name="Rectangle 8"/>
          <p:cNvSpPr/>
          <p:nvPr/>
        </p:nvSpPr>
        <p:spPr>
          <a:xfrm>
            <a:off x="731520" y="1828800"/>
            <a:ext cx="2743200" cy="411480"/>
          </a:xfrm>
          <a:prstGeom prst="rect">
            <a:avLst/>
          </a:prstGeom>
          <a:solidFill>
            <a:srgbClr val="FFFF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DMARC p=reject</a:t>
            </a:r>
          </a:p>
        </p:txBody>
      </p:sp>
      <p:sp>
        <p:nvSpPr>
          <p:cNvPr id="10" name="Rectangle 9"/>
          <p:cNvSpPr/>
          <p:nvPr/>
        </p:nvSpPr>
        <p:spPr>
          <a:xfrm>
            <a:off x="3474720" y="182880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銀行のメールサーバ</a:t>
            </a:r>
          </a:p>
        </p:txBody>
      </p:sp>
      <p:sp>
        <p:nvSpPr>
          <p:cNvPr id="11" name="Rectangle 10"/>
          <p:cNvSpPr/>
          <p:nvPr/>
        </p:nvSpPr>
        <p:spPr>
          <a:xfrm>
            <a:off x="6217920" y="182880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銀行のIT部門</a:t>
            </a:r>
          </a:p>
        </p:txBody>
      </p:sp>
      <p:sp>
        <p:nvSpPr>
          <p:cNvPr id="12" name="Rectangle 11"/>
          <p:cNvSpPr/>
          <p:nvPr/>
        </p:nvSpPr>
        <p:spPr>
          <a:xfrm>
            <a:off x="8961120" y="1828800"/>
            <a:ext cx="5394960" cy="411480"/>
          </a:xfrm>
          <a:prstGeom prst="rect">
            <a:avLst/>
          </a:prstGeom>
          <a:solidFill>
            <a:srgbClr val="FFFF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100%銀行側の問題。顧客は何もできない。</a:t>
            </a:r>
          </a:p>
        </p:txBody>
      </p:sp>
      <p:sp>
        <p:nvSpPr>
          <p:cNvPr id="13" name="Rectangle 12"/>
          <p:cNvSpPr/>
          <p:nvPr/>
        </p:nvSpPr>
        <p:spPr>
          <a:xfrm>
            <a:off x="731520" y="2240280"/>
            <a:ext cx="2743200" cy="41148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AppLocker/WDAC</a:t>
            </a:r>
          </a:p>
        </p:txBody>
      </p:sp>
      <p:sp>
        <p:nvSpPr>
          <p:cNvPr id="14" name="Rectangle 13"/>
          <p:cNvSpPr/>
          <p:nvPr/>
        </p:nvSpPr>
        <p:spPr>
          <a:xfrm>
            <a:off x="3474720" y="224028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顧客企業のPC</a:t>
            </a:r>
          </a:p>
        </p:txBody>
      </p:sp>
      <p:sp>
        <p:nvSpPr>
          <p:cNvPr id="15" name="Rectangle 14"/>
          <p:cNvSpPr/>
          <p:nvPr/>
        </p:nvSpPr>
        <p:spPr>
          <a:xfrm>
            <a:off x="6217920" y="2240280"/>
            <a:ext cx="274320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顧客企業のIT部門</a:t>
            </a:r>
          </a:p>
        </p:txBody>
      </p:sp>
      <p:sp>
        <p:nvSpPr>
          <p:cNvPr id="16" name="Rectangle 15"/>
          <p:cNvSpPr/>
          <p:nvPr/>
        </p:nvSpPr>
        <p:spPr>
          <a:xfrm>
            <a:off x="8961120" y="2240280"/>
            <a:ext cx="5394960" cy="41148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顧客企業の問題…に見えるが →</a:t>
            </a:r>
          </a:p>
        </p:txBody>
      </p:sp>
      <p:sp>
        <p:nvSpPr>
          <p:cNvPr id="17" name="Rectangle 16"/>
          <p:cNvSpPr/>
          <p:nvPr/>
        </p:nvSpPr>
        <p:spPr>
          <a:xfrm>
            <a:off x="731520" y="2880360"/>
            <a:ext cx="13624560" cy="4114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BizSTATION利用企業のIT体制 — AppLockerを設定できるか？</a:t>
            </a:r>
          </a:p>
        </p:txBody>
      </p:sp>
      <p:sp>
        <p:nvSpPr>
          <p:cNvPr id="18" name="Rectangle 17"/>
          <p:cNvSpPr/>
          <p:nvPr/>
        </p:nvSpPr>
        <p:spPr>
          <a:xfrm>
            <a:off x="731520" y="3291840"/>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大企業</a:t>
            </a:r>
          </a:p>
        </p:txBody>
      </p:sp>
      <p:sp>
        <p:nvSpPr>
          <p:cNvPr id="19" name="Rectangle 18"/>
          <p:cNvSpPr/>
          <p:nvPr/>
        </p:nvSpPr>
        <p:spPr>
          <a:xfrm>
            <a:off x="3474720" y="3291840"/>
            <a:ext cx="36576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情シス部門あり</a:t>
            </a:r>
          </a:p>
        </p:txBody>
      </p:sp>
      <p:sp>
        <p:nvSpPr>
          <p:cNvPr id="20" name="Rectangle 19"/>
          <p:cNvSpPr/>
          <p:nvPr/>
        </p:nvSpPr>
        <p:spPr>
          <a:xfrm>
            <a:off x="7132320" y="3291840"/>
            <a:ext cx="4114800" cy="384048"/>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可能</a:t>
            </a:r>
          </a:p>
        </p:txBody>
      </p:sp>
      <p:sp>
        <p:nvSpPr>
          <p:cNvPr id="21" name="Rectangle 20"/>
          <p:cNvSpPr/>
          <p:nvPr/>
        </p:nvSpPr>
        <p:spPr>
          <a:xfrm>
            <a:off x="731520" y="3675888"/>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中堅企業</a:t>
            </a:r>
          </a:p>
        </p:txBody>
      </p:sp>
      <p:sp>
        <p:nvSpPr>
          <p:cNvPr id="22" name="Rectangle 21"/>
          <p:cNvSpPr/>
          <p:nvPr/>
        </p:nvSpPr>
        <p:spPr>
          <a:xfrm>
            <a:off x="3474720" y="3675888"/>
            <a:ext cx="36576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IT担当が1〜2人</a:t>
            </a:r>
          </a:p>
        </p:txBody>
      </p:sp>
      <p:sp>
        <p:nvSpPr>
          <p:cNvPr id="23" name="Rectangle 22"/>
          <p:cNvSpPr/>
          <p:nvPr/>
        </p:nvSpPr>
        <p:spPr>
          <a:xfrm>
            <a:off x="7132320" y="3675888"/>
            <a:ext cx="4114800" cy="384048"/>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厳しい</a:t>
            </a:r>
          </a:p>
        </p:txBody>
      </p:sp>
      <p:sp>
        <p:nvSpPr>
          <p:cNvPr id="24" name="Rectangle 23"/>
          <p:cNvSpPr/>
          <p:nvPr/>
        </p:nvSpPr>
        <p:spPr>
          <a:xfrm>
            <a:off x="731520" y="4059936"/>
            <a:ext cx="27432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中小企業</a:t>
            </a:r>
          </a:p>
        </p:txBody>
      </p:sp>
      <p:sp>
        <p:nvSpPr>
          <p:cNvPr id="25" name="Rectangle 24"/>
          <p:cNvSpPr/>
          <p:nvPr/>
        </p:nvSpPr>
        <p:spPr>
          <a:xfrm>
            <a:off x="3474720" y="4059936"/>
            <a:ext cx="3657600" cy="384048"/>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IT専任者なし</a:t>
            </a:r>
          </a:p>
        </p:txBody>
      </p:sp>
      <p:sp>
        <p:nvSpPr>
          <p:cNvPr id="26" name="Rectangle 25"/>
          <p:cNvSpPr/>
          <p:nvPr/>
        </p:nvSpPr>
        <p:spPr>
          <a:xfrm>
            <a:off x="7132320" y="4059936"/>
            <a:ext cx="41148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無理</a:t>
            </a:r>
          </a:p>
        </p:txBody>
      </p:sp>
      <p:sp>
        <p:nvSpPr>
          <p:cNvPr id="27" name="Rectangle 26"/>
          <p:cNvSpPr/>
          <p:nvPr/>
        </p:nvSpPr>
        <p:spPr>
          <a:xfrm>
            <a:off x="731520" y="4443984"/>
            <a:ext cx="27432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1">
                <a:solidFill>
                  <a:srgbClr val="222222"/>
                </a:solidFill>
                <a:latin typeface="Meiryo"/>
              </a:rPr>
              <a:t>小規模事業者</a:t>
            </a:r>
          </a:p>
        </p:txBody>
      </p:sp>
      <p:sp>
        <p:nvSpPr>
          <p:cNvPr id="28" name="Rectangle 27"/>
          <p:cNvSpPr/>
          <p:nvPr/>
        </p:nvSpPr>
        <p:spPr>
          <a:xfrm>
            <a:off x="3474720" y="4443984"/>
            <a:ext cx="3657600" cy="384048"/>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社長がPC管理</a:t>
            </a:r>
          </a:p>
        </p:txBody>
      </p:sp>
      <p:sp>
        <p:nvSpPr>
          <p:cNvPr id="29" name="Rectangle 28"/>
          <p:cNvSpPr/>
          <p:nvPr/>
        </p:nvSpPr>
        <p:spPr>
          <a:xfrm>
            <a:off x="7132320" y="4443984"/>
            <a:ext cx="4114800" cy="384048"/>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論外</a:t>
            </a:r>
          </a:p>
        </p:txBody>
      </p:sp>
      <p:sp>
        <p:nvSpPr>
          <p:cNvPr id="30" name="Rectangle 29"/>
          <p:cNvSpPr/>
          <p:nvPr/>
        </p:nvSpPr>
        <p:spPr>
          <a:xfrm>
            <a:off x="731520" y="4937760"/>
            <a:ext cx="1362456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すべて同じ構図：「顧客にやってね」で丸投げ → 機能しない</a:t>
            </a:r>
          </a:p>
        </p:txBody>
      </p:sp>
      <p:sp>
        <p:nvSpPr>
          <p:cNvPr id="31" name="Rectangle 30"/>
          <p:cNvSpPr/>
          <p:nvPr/>
        </p:nvSpPr>
        <p:spPr>
          <a:xfrm>
            <a:off x="731520" y="5349240"/>
            <a:ext cx="685800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「メールのリンクをクリックしないで」</a:t>
            </a:r>
          </a:p>
        </p:txBody>
      </p:sp>
      <p:sp>
        <p:nvSpPr>
          <p:cNvPr id="32" name="Rectangle 31"/>
          <p:cNvSpPr/>
          <p:nvPr/>
        </p:nvSpPr>
        <p:spPr>
          <a:xfrm>
            <a:off x="7589520" y="5349240"/>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3" name="Rectangle 32"/>
          <p:cNvSpPr/>
          <p:nvPr/>
        </p:nvSpPr>
        <p:spPr>
          <a:xfrm>
            <a:off x="731520" y="5696712"/>
            <a:ext cx="6858000" cy="347472"/>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「ブックマークからアクセスして」</a:t>
            </a:r>
          </a:p>
        </p:txBody>
      </p:sp>
      <p:sp>
        <p:nvSpPr>
          <p:cNvPr id="34" name="Rectangle 33"/>
          <p:cNvSpPr/>
          <p:nvPr/>
        </p:nvSpPr>
        <p:spPr>
          <a:xfrm>
            <a:off x="7589520" y="5696712"/>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5" name="Rectangle 34"/>
          <p:cNvSpPr/>
          <p:nvPr/>
        </p:nvSpPr>
        <p:spPr>
          <a:xfrm>
            <a:off x="731520" y="6044184"/>
            <a:ext cx="685800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「不明な発行元に注意して」</a:t>
            </a:r>
          </a:p>
        </p:txBody>
      </p:sp>
      <p:sp>
        <p:nvSpPr>
          <p:cNvPr id="36" name="Rectangle 35"/>
          <p:cNvSpPr/>
          <p:nvPr/>
        </p:nvSpPr>
        <p:spPr>
          <a:xfrm>
            <a:off x="7589520" y="6044184"/>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7" name="Rectangle 36"/>
          <p:cNvSpPr/>
          <p:nvPr/>
        </p:nvSpPr>
        <p:spPr>
          <a:xfrm>
            <a:off x="731520" y="6391656"/>
            <a:ext cx="6858000" cy="347472"/>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「AppLockerを設定してください」</a:t>
            </a:r>
          </a:p>
        </p:txBody>
      </p:sp>
      <p:sp>
        <p:nvSpPr>
          <p:cNvPr id="38" name="Rectangle 37"/>
          <p:cNvSpPr/>
          <p:nvPr/>
        </p:nvSpPr>
        <p:spPr>
          <a:xfrm>
            <a:off x="7589520" y="6391656"/>
            <a:ext cx="6766560" cy="347472"/>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顧客任せ → 機能しない</a:t>
            </a:r>
          </a:p>
        </p:txBody>
      </p:sp>
      <p:sp>
        <p:nvSpPr>
          <p:cNvPr id="39" name="Rectangle 38"/>
          <p:cNvSpPr/>
          <p:nvPr/>
        </p:nvSpPr>
        <p:spPr>
          <a:xfrm>
            <a:off x="731520" y="6858000"/>
            <a:ext cx="1362456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銀行がやるべきこと</a:t>
            </a:r>
          </a:p>
        </p:txBody>
      </p:sp>
      <p:sp>
        <p:nvSpPr>
          <p:cNvPr id="40" name="Rectangle 39"/>
          <p:cNvSpPr/>
          <p:nvPr/>
        </p:nvSpPr>
        <p:spPr>
          <a:xfrm>
            <a:off x="731520" y="7223760"/>
            <a:ext cx="320040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DMARC p=reject</a:t>
            </a:r>
          </a:p>
        </p:txBody>
      </p:sp>
      <p:sp>
        <p:nvSpPr>
          <p:cNvPr id="41" name="Rectangle 40"/>
          <p:cNvSpPr/>
          <p:nvPr/>
        </p:nvSpPr>
        <p:spPr>
          <a:xfrm>
            <a:off x="3931920" y="722376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銀行が自分で設定する</a:t>
            </a:r>
          </a:p>
        </p:txBody>
      </p:sp>
      <p:sp>
        <p:nvSpPr>
          <p:cNvPr id="42" name="Rectangle 41"/>
          <p:cNvSpPr/>
          <p:nvPr/>
        </p:nvSpPr>
        <p:spPr>
          <a:xfrm>
            <a:off x="8961120" y="7223760"/>
            <a:ext cx="539496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顧客に求めること：なし</a:t>
            </a:r>
          </a:p>
        </p:txBody>
      </p:sp>
      <p:sp>
        <p:nvSpPr>
          <p:cNvPr id="43" name="Rectangle 42"/>
          <p:cNvSpPr/>
          <p:nvPr/>
        </p:nvSpPr>
        <p:spPr>
          <a:xfrm>
            <a:off x="731520" y="7589520"/>
            <a:ext cx="320040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AppLocker/WDAC設定支援</a:t>
            </a:r>
          </a:p>
        </p:txBody>
      </p:sp>
      <p:sp>
        <p:nvSpPr>
          <p:cNvPr id="44" name="Rectangle 43"/>
          <p:cNvSpPr/>
          <p:nvPr/>
        </p:nvSpPr>
        <p:spPr>
          <a:xfrm>
            <a:off x="3931920" y="758952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BizSTATION契約時に設定を支援する</a:t>
            </a:r>
          </a:p>
        </p:txBody>
      </p:sp>
      <p:sp>
        <p:nvSpPr>
          <p:cNvPr id="45" name="Rectangle 44"/>
          <p:cNvSpPr/>
          <p:nvPr/>
        </p:nvSpPr>
        <p:spPr>
          <a:xfrm>
            <a:off x="8961120" y="7589520"/>
            <a:ext cx="539496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顧客に求めること：なし</a:t>
            </a:r>
          </a:p>
        </p:txBody>
      </p:sp>
      <p:sp>
        <p:nvSpPr>
          <p:cNvPr id="46" name="Rectangle 45"/>
          <p:cNvSpPr/>
          <p:nvPr/>
        </p:nvSpPr>
        <p:spPr>
          <a:xfrm>
            <a:off x="731520" y="7955280"/>
            <a:ext cx="320040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初期設定ツール提供</a:t>
            </a:r>
          </a:p>
        </p:txBody>
      </p:sp>
      <p:sp>
        <p:nvSpPr>
          <p:cNvPr id="47" name="Rectangle 46"/>
          <p:cNvSpPr/>
          <p:nvPr/>
        </p:nvSpPr>
        <p:spPr>
          <a:xfrm>
            <a:off x="3931920" y="7955280"/>
            <a:ext cx="5029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ワンクリックで設定完了するツール</a:t>
            </a:r>
          </a:p>
        </p:txBody>
      </p:sp>
      <p:sp>
        <p:nvSpPr>
          <p:cNvPr id="48" name="Rectangle 47"/>
          <p:cNvSpPr/>
          <p:nvPr/>
        </p:nvSpPr>
        <p:spPr>
          <a:xfrm>
            <a:off x="8961120" y="7955280"/>
            <a:ext cx="5394960" cy="36576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実行するだけ</a:t>
            </a:r>
          </a:p>
        </p:txBody>
      </p:sp>
      <p:sp>
        <p:nvSpPr>
          <p:cNvPr id="49" name="Rectangle 48"/>
          <p:cNvSpPr/>
          <p:nvPr/>
        </p:nvSpPr>
        <p:spPr>
          <a:xfrm>
            <a:off x="731520" y="8321040"/>
            <a:ext cx="320040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BizSTATION利用条件に含める</a:t>
            </a:r>
          </a:p>
        </p:txBody>
      </p:sp>
      <p:sp>
        <p:nvSpPr>
          <p:cNvPr id="50" name="Rectangle 49"/>
          <p:cNvSpPr/>
          <p:nvPr/>
        </p:nvSpPr>
        <p:spPr>
          <a:xfrm>
            <a:off x="3931920" y="8321040"/>
            <a:ext cx="5029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アプリ制御を契約要件にする</a:t>
            </a:r>
          </a:p>
        </p:txBody>
      </p:sp>
      <p:sp>
        <p:nvSpPr>
          <p:cNvPr id="51" name="Rectangle 50"/>
          <p:cNvSpPr/>
          <p:nvPr/>
        </p:nvSpPr>
        <p:spPr>
          <a:xfrm>
            <a:off x="8961120" y="8321040"/>
            <a:ext cx="5394960" cy="365760"/>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7AE60"/>
                </a:solidFill>
                <a:latin typeface="Meiryo"/>
              </a:rPr>
              <a:t>IT業者に設定を依頼</a:t>
            </a:r>
          </a:p>
        </p:txBody>
      </p:sp>
      <p:sp>
        <p:nvSpPr>
          <p:cNvPr id="52" name="TextBox 51"/>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責任の所在</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200" b="1">
                <a:solidFill>
                  <a:srgbClr val="C0392B"/>
                </a:solidFill>
                <a:latin typeface="Meiryo"/>
              </a:rPr>
              <a:t>手順⑦ 赤い画面 — PCを封印し、犯人の操作を隠す</a:t>
            </a:r>
          </a:p>
        </p:txBody>
      </p:sp>
      <p:sp>
        <p:nvSpPr>
          <p:cNvPr id="3" name="Rectangle 2"/>
          <p:cNvSpPr/>
          <p:nvPr/>
        </p:nvSpPr>
        <p:spPr>
          <a:xfrm>
            <a:off x="731520" y="777240"/>
            <a:ext cx="13624560" cy="10058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 name="TextBox 3"/>
          <p:cNvSpPr txBox="1"/>
          <p:nvPr/>
        </p:nvSpPr>
        <p:spPr>
          <a:xfrm>
            <a:off x="1188720" y="868680"/>
            <a:ext cx="12710160" cy="868680"/>
          </a:xfrm>
          <a:prstGeom prst="rect">
            <a:avLst/>
          </a:prstGeom>
          <a:noFill/>
        </p:spPr>
        <p:txBody>
          <a:bodyPr wrap="square" lIns="50800" rIns="50800" tIns="38100" bIns="38100"/>
          <a:lstStyle/>
          <a:p>
            <a:pPr algn="l"/>
            <a:r>
              <a:rPr sz="1100" b="1">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5" name="Rectangle 4"/>
          <p:cNvSpPr/>
          <p:nvPr/>
        </p:nvSpPr>
        <p:spPr>
          <a:xfrm>
            <a:off x="731520" y="19202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赤い画面の3つの役割</a:t>
            </a:r>
          </a:p>
        </p:txBody>
      </p:sp>
      <p:sp>
        <p:nvSpPr>
          <p:cNvPr id="6" name="Rectangle 5"/>
          <p:cNvSpPr/>
          <p:nvPr/>
        </p:nvSpPr>
        <p:spPr>
          <a:xfrm>
            <a:off x="731520" y="2286000"/>
            <a:ext cx="3657600" cy="5029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PCを「封印」する</a:t>
            </a:r>
          </a:p>
        </p:txBody>
      </p:sp>
      <p:sp>
        <p:nvSpPr>
          <p:cNvPr id="7" name="Rectangle 6"/>
          <p:cNvSpPr/>
          <p:nvPr/>
        </p:nvSpPr>
        <p:spPr>
          <a:xfrm>
            <a:off x="4389120" y="2286000"/>
            <a:ext cx="9966960" cy="502920"/>
          </a:xfrm>
          <a:prstGeom prst="rect">
            <a:avLst/>
          </a:prstGeom>
          <a:solidFill>
            <a:srgbClr val="FFFFFF"/>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被害者はPCを操作できない。BizSTATIONで自分で確認することも不可能。</a:t>
            </a:r>
          </a:p>
        </p:txBody>
      </p:sp>
      <p:sp>
        <p:nvSpPr>
          <p:cNvPr id="8" name="Rectangle 7"/>
          <p:cNvSpPr/>
          <p:nvPr/>
        </p:nvSpPr>
        <p:spPr>
          <a:xfrm>
            <a:off x="731520" y="2788920"/>
            <a:ext cx="3657600" cy="50292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犯人の操作を隠す</a:t>
            </a:r>
          </a:p>
        </p:txBody>
      </p:sp>
      <p:sp>
        <p:nvSpPr>
          <p:cNvPr id="9" name="Rectangle 8"/>
          <p:cNvSpPr/>
          <p:nvPr/>
        </p:nvSpPr>
        <p:spPr>
          <a:xfrm>
            <a:off x="4389120" y="2788920"/>
            <a:ext cx="9966960" cy="502920"/>
          </a:xfrm>
          <a:prstGeom prst="rect">
            <a:avLst/>
          </a:prstGeom>
          <a:solidFill>
            <a:srgbClr val="FFFFFF"/>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赤い画面の裏でScreenConnect経由のPC操作が進行。被害者には見えない。</a:t>
            </a:r>
          </a:p>
        </p:txBody>
      </p:sp>
      <p:sp>
        <p:nvSpPr>
          <p:cNvPr id="10" name="Rectangle 9"/>
          <p:cNvSpPr/>
          <p:nvPr/>
        </p:nvSpPr>
        <p:spPr>
          <a:xfrm>
            <a:off x="731520" y="3291840"/>
            <a:ext cx="3657600" cy="50292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被害者を「待機」させる</a:t>
            </a:r>
          </a:p>
        </p:txBody>
      </p:sp>
      <p:sp>
        <p:nvSpPr>
          <p:cNvPr id="11" name="Rectangle 10"/>
          <p:cNvSpPr/>
          <p:nvPr/>
        </p:nvSpPr>
        <p:spPr>
          <a:xfrm>
            <a:off x="4389120" y="3291840"/>
            <a:ext cx="9966960" cy="50292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1000" b="0">
                <a:solidFill>
                  <a:srgbClr val="222222"/>
                </a:solidFill>
                <a:latin typeface="Meiryo"/>
              </a:rPr>
              <a:t>「処理完了までお待ちください」→ 異常を見ても「正常」と信じて待つ。</a:t>
            </a:r>
          </a:p>
        </p:txBody>
      </p:sp>
      <p:sp>
        <p:nvSpPr>
          <p:cNvPr id="12" name="Rectangle 11"/>
          <p:cNvSpPr/>
          <p:nvPr/>
        </p:nvSpPr>
        <p:spPr>
          <a:xfrm>
            <a:off x="731520" y="3886200"/>
            <a:ext cx="1362456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 破綻ポイント：銀行のシステム更新で顧客PCの画面が赤くなることはありえない</a:t>
            </a:r>
          </a:p>
        </p:txBody>
      </p:sp>
      <p:sp>
        <p:nvSpPr>
          <p:cNvPr id="13" name="TextBox 12"/>
          <p:cNvSpPr txBox="1"/>
          <p:nvPr/>
        </p:nvSpPr>
        <p:spPr>
          <a:xfrm>
            <a:off x="731520" y="4325112"/>
            <a:ext cx="13624560" cy="274320"/>
          </a:xfrm>
          <a:prstGeom prst="rect">
            <a:avLst/>
          </a:prstGeom>
          <a:noFill/>
        </p:spPr>
        <p:txBody>
          <a:bodyPr wrap="square" lIns="50800" rIns="50800" tIns="38100" bIns="38100"/>
          <a:lstStyle/>
          <a:p>
            <a:pPr algn="l"/>
            <a:r>
              <a:rPr sz="900" b="0">
                <a:solidFill>
                  <a:srgbClr val="888888"/>
                </a:solidFill>
                <a:latin typeface="Meiryo"/>
              </a:rPr>
              <a:t>IBのシステム更新はサーバー側の処理。顧客PCの画面が止まるわけがない。→ 手順②からの信頼の蓄積で気づけない。</a:t>
            </a:r>
          </a:p>
        </p:txBody>
      </p:sp>
      <p:sp>
        <p:nvSpPr>
          <p:cNvPr id="14" name="Rectangle 13"/>
          <p:cNvSpPr/>
          <p:nvPr/>
        </p:nvSpPr>
        <p:spPr>
          <a:xfrm>
            <a:off x="731520" y="4709160"/>
            <a:ext cx="1362456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企業側で検知できるポイント</a:t>
            </a:r>
          </a:p>
        </p:txBody>
      </p:sp>
      <p:sp>
        <p:nvSpPr>
          <p:cNvPr id="15" name="Rectangle 14"/>
          <p:cNvSpPr/>
          <p:nvPr/>
        </p:nvSpPr>
        <p:spPr>
          <a:xfrm>
            <a:off x="731520" y="5074920"/>
            <a:ext cx="6858000" cy="347472"/>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ScreenConnectのプロセス検知</a:t>
            </a:r>
          </a:p>
        </p:txBody>
      </p:sp>
      <p:sp>
        <p:nvSpPr>
          <p:cNvPr id="16" name="Rectangle 15"/>
          <p:cNvSpPr/>
          <p:nvPr/>
        </p:nvSpPr>
        <p:spPr>
          <a:xfrm>
            <a:off x="7589520" y="5074920"/>
            <a:ext cx="676656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EDRで検知可能</a:t>
            </a:r>
          </a:p>
        </p:txBody>
      </p:sp>
      <p:sp>
        <p:nvSpPr>
          <p:cNvPr id="17" name="Rectangle 16"/>
          <p:cNvSpPr/>
          <p:nvPr/>
        </p:nvSpPr>
        <p:spPr>
          <a:xfrm>
            <a:off x="731520" y="5422392"/>
            <a:ext cx="6858000" cy="347472"/>
          </a:xfrm>
          <a:prstGeom prst="rect">
            <a:avLst/>
          </a:prstGeom>
          <a:solidFill>
            <a:srgbClr val="F9F9F9"/>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C2サーバへの不審な通信</a:t>
            </a:r>
          </a:p>
        </p:txBody>
      </p:sp>
      <p:sp>
        <p:nvSpPr>
          <p:cNvPr id="18" name="Rectangle 17"/>
          <p:cNvSpPr/>
          <p:nvPr/>
        </p:nvSpPr>
        <p:spPr>
          <a:xfrm>
            <a:off x="7589520" y="5422392"/>
            <a:ext cx="6766560" cy="347472"/>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NW監視/プロキシで検知可能</a:t>
            </a:r>
          </a:p>
        </p:txBody>
      </p:sp>
      <p:sp>
        <p:nvSpPr>
          <p:cNvPr id="19" name="Rectangle 18"/>
          <p:cNvSpPr/>
          <p:nvPr/>
        </p:nvSpPr>
        <p:spPr>
          <a:xfrm>
            <a:off x="731520" y="5769864"/>
            <a:ext cx="6858000" cy="347472"/>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リモートデスクトップ系の異常セッション</a:t>
            </a:r>
          </a:p>
        </p:txBody>
      </p:sp>
      <p:sp>
        <p:nvSpPr>
          <p:cNvPr id="20" name="Rectangle 19"/>
          <p:cNvSpPr/>
          <p:nvPr/>
        </p:nvSpPr>
        <p:spPr>
          <a:xfrm>
            <a:off x="7589520" y="5769864"/>
            <a:ext cx="6766560" cy="347472"/>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SIEMで検知可能</a:t>
            </a:r>
          </a:p>
        </p:txBody>
      </p:sp>
      <p:sp>
        <p:nvSpPr>
          <p:cNvPr id="21" name="Rectangle 20"/>
          <p:cNvSpPr/>
          <p:nvPr/>
        </p:nvSpPr>
        <p:spPr>
          <a:xfrm>
            <a:off x="731520" y="617220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同じ構図：EDR/NW監視があれば検知可能 → しかし中小企業にはない → また「顧客の問題」になる</a:t>
            </a:r>
          </a:p>
        </p:txBody>
      </p:sp>
      <p:sp>
        <p:nvSpPr>
          <p:cNvPr id="22" name="TextBox 21"/>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手順⑦ 赤い画面</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C0392B"/>
                </a:solidFill>
                <a:latin typeface="Meiryo"/>
              </a:rPr>
              <a:t>手順⑧ デュアルデバイス攻撃 — 会社PCを封じ、個人スマホで認証を奪う</a:t>
            </a:r>
          </a:p>
        </p:txBody>
      </p:sp>
      <p:sp>
        <p:nvSpPr>
          <p:cNvPr id="3" name="Rectangle 2"/>
          <p:cNvSpPr/>
          <p:nvPr/>
        </p:nvSpPr>
        <p:spPr>
          <a:xfrm>
            <a:off x="731520" y="777240"/>
            <a:ext cx="658368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会社PC（封印済み）</a:t>
            </a:r>
          </a:p>
        </p:txBody>
      </p:sp>
      <p:sp>
        <p:nvSpPr>
          <p:cNvPr id="4" name="Rectangle 3"/>
          <p:cNvSpPr/>
          <p:nvPr/>
        </p:nvSpPr>
        <p:spPr>
          <a:xfrm>
            <a:off x="731520" y="1143000"/>
            <a:ext cx="658368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赤い画面で封印 → 確認手段なし
犯人がScreenConnect経由で操作中
→ BizSTATIONにアクセスし送金準備</a:t>
            </a:r>
          </a:p>
        </p:txBody>
      </p:sp>
      <p:sp>
        <p:nvSpPr>
          <p:cNvPr id="5" name="Rectangle 4"/>
          <p:cNvSpPr/>
          <p:nvPr/>
        </p:nvSpPr>
        <p:spPr>
          <a:xfrm>
            <a:off x="7772400" y="777240"/>
            <a:ext cx="6400800" cy="36576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個人スマホ（標的）</a:t>
            </a:r>
          </a:p>
        </p:txBody>
      </p:sp>
      <p:sp>
        <p:nvSpPr>
          <p:cNvPr id="6" name="Rectangle 5"/>
          <p:cNvSpPr/>
          <p:nvPr/>
        </p:nvSpPr>
        <p:spPr>
          <a:xfrm>
            <a:off x="7772400" y="1143000"/>
            <a:ext cx="6400800" cy="64008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SMS受信 → リンクをクリック
偽の認証画面が表示される
→ 認証情報5要素を入力させられる</a:t>
            </a:r>
          </a:p>
        </p:txBody>
      </p:sp>
      <p:sp>
        <p:nvSpPr>
          <p:cNvPr id="7" name="Rectangle 6"/>
          <p:cNvSpPr/>
          <p:nvPr/>
        </p:nvSpPr>
        <p:spPr>
          <a:xfrm>
            <a:off x="731520" y="196596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なぜ個人スマホに切り替えるのか</a:t>
            </a:r>
          </a:p>
        </p:txBody>
      </p:sp>
      <p:sp>
        <p:nvSpPr>
          <p:cNvPr id="8" name="Rectangle 7"/>
          <p:cNvSpPr/>
          <p:nvPr/>
        </p:nvSpPr>
        <p:spPr>
          <a:xfrm>
            <a:off x="731520" y="2331720"/>
            <a:ext cx="3200400" cy="41148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会社PCが使えない</a:t>
            </a:r>
          </a:p>
        </p:txBody>
      </p:sp>
      <p:sp>
        <p:nvSpPr>
          <p:cNvPr id="9" name="Rectangle 8"/>
          <p:cNvSpPr/>
          <p:nvPr/>
        </p:nvSpPr>
        <p:spPr>
          <a:xfrm>
            <a:off x="3931920" y="2331720"/>
            <a:ext cx="104241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赤い画面で封印済み。犯人が操作中。</a:t>
            </a:r>
          </a:p>
        </p:txBody>
      </p:sp>
      <p:sp>
        <p:nvSpPr>
          <p:cNvPr id="10" name="Rectangle 9"/>
          <p:cNvSpPr/>
          <p:nvPr/>
        </p:nvSpPr>
        <p:spPr>
          <a:xfrm>
            <a:off x="731520" y="2743200"/>
            <a:ext cx="3200400" cy="4114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企業セキュリティの回避</a:t>
            </a:r>
          </a:p>
        </p:txBody>
      </p:sp>
      <p:sp>
        <p:nvSpPr>
          <p:cNvPr id="11" name="Rectangle 10"/>
          <p:cNvSpPr/>
          <p:nvPr/>
        </p:nvSpPr>
        <p:spPr>
          <a:xfrm>
            <a:off x="3931920" y="2743200"/>
            <a:ext cx="104241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会社PCのEDR/プロキシを回避。個人スマホにはない。</a:t>
            </a:r>
          </a:p>
        </p:txBody>
      </p:sp>
      <p:sp>
        <p:nvSpPr>
          <p:cNvPr id="12" name="Rectangle 11"/>
          <p:cNvSpPr/>
          <p:nvPr/>
        </p:nvSpPr>
        <p:spPr>
          <a:xfrm>
            <a:off x="731520" y="3154679"/>
            <a:ext cx="3200400" cy="411480"/>
          </a:xfrm>
          <a:prstGeom prst="rect">
            <a:avLst/>
          </a:prstGeom>
          <a:solidFill>
            <a:srgbClr val="2980B9"/>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SMS認証は個人端末が前提</a:t>
            </a:r>
          </a:p>
        </p:txBody>
      </p:sp>
      <p:sp>
        <p:nvSpPr>
          <p:cNvPr id="13" name="Rectangle 12"/>
          <p:cNvSpPr/>
          <p:nvPr/>
        </p:nvSpPr>
        <p:spPr>
          <a:xfrm>
            <a:off x="3931920" y="3154679"/>
            <a:ext cx="104241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「携帯にSMSが届く」は自然な流れ。</a:t>
            </a:r>
          </a:p>
        </p:txBody>
      </p:sp>
      <p:sp>
        <p:nvSpPr>
          <p:cNvPr id="14" name="Rectangle 13"/>
          <p:cNvSpPr/>
          <p:nvPr/>
        </p:nvSpPr>
        <p:spPr>
          <a:xfrm>
            <a:off x="731520" y="3566160"/>
            <a:ext cx="3200400" cy="411480"/>
          </a:xfrm>
          <a:prstGeom prst="rect">
            <a:avLst/>
          </a:prstGeom>
          <a:solidFill>
            <a:srgbClr val="8E44AD"/>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2デバイス同時制御</a:t>
            </a:r>
          </a:p>
        </p:txBody>
      </p:sp>
      <p:sp>
        <p:nvSpPr>
          <p:cNvPr id="15" name="Rectangle 14"/>
          <p:cNvSpPr/>
          <p:nvPr/>
        </p:nvSpPr>
        <p:spPr>
          <a:xfrm>
            <a:off x="3931920" y="3566160"/>
            <a:ext cx="10424160" cy="41148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PCは遠隔操作、スマホは電話で指示。両方が犯人の支配下。</a:t>
            </a:r>
          </a:p>
        </p:txBody>
      </p:sp>
      <p:sp>
        <p:nvSpPr>
          <p:cNvPr id="16" name="Rectangle 15"/>
          <p:cNvSpPr/>
          <p:nvPr/>
        </p:nvSpPr>
        <p:spPr>
          <a:xfrm>
            <a:off x="731520" y="4069079"/>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 破綻ポイント：5つの認証情報を一画面で入力させること自体がありえない</a:t>
            </a:r>
          </a:p>
        </p:txBody>
      </p:sp>
      <p:sp>
        <p:nvSpPr>
          <p:cNvPr id="17" name="Rectangle 16"/>
          <p:cNvSpPr/>
          <p:nvPr/>
        </p:nvSpPr>
        <p:spPr>
          <a:xfrm>
            <a:off x="731520" y="4480559"/>
            <a:ext cx="6583680" cy="32004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正規のBizSTATION</a:t>
            </a:r>
          </a:p>
        </p:txBody>
      </p:sp>
      <p:sp>
        <p:nvSpPr>
          <p:cNvPr id="18" name="Rectangle 17"/>
          <p:cNvSpPr/>
          <p:nvPr/>
        </p:nvSpPr>
        <p:spPr>
          <a:xfrm>
            <a:off x="731520" y="4800599"/>
            <a:ext cx="6583680" cy="640080"/>
          </a:xfrm>
          <a:prstGeom prst="rect">
            <a:avLst/>
          </a:prstGeom>
          <a:solidFill>
            <a:srgbClr val="FFFFFF"/>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ステップ1：契約者番号 + 利用者ID → 入力
ステップ2：ログインPW → 入力
ステップ3：取引時にOTP → 入力（段階的）</a:t>
            </a:r>
          </a:p>
        </p:txBody>
      </p:sp>
      <p:sp>
        <p:nvSpPr>
          <p:cNvPr id="19" name="Rectangle 18"/>
          <p:cNvSpPr/>
          <p:nvPr/>
        </p:nvSpPr>
        <p:spPr>
          <a:xfrm>
            <a:off x="7772400" y="4480559"/>
            <a:ext cx="6400800" cy="3200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この攻撃</a:t>
            </a:r>
          </a:p>
        </p:txBody>
      </p:sp>
      <p:sp>
        <p:nvSpPr>
          <p:cNvPr id="20" name="Rectangle 19"/>
          <p:cNvSpPr/>
          <p:nvPr/>
        </p:nvSpPr>
        <p:spPr>
          <a:xfrm>
            <a:off x="7772400" y="4800599"/>
            <a:ext cx="640080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C0392B"/>
                </a:solidFill>
                <a:latin typeface="Meiryo"/>
              </a:rPr>
              <a:t>1画面で全部入力：
契約者番号 / 利用者ID / ログインPW / 取引実行PW / OTP
→ 5要素を一括。正規ではありえない。</a:t>
            </a:r>
          </a:p>
        </p:txBody>
      </p:sp>
      <p:sp>
        <p:nvSpPr>
          <p:cNvPr id="21" name="Rectangle 20"/>
          <p:cNvSpPr/>
          <p:nvPr/>
        </p:nvSpPr>
        <p:spPr>
          <a:xfrm>
            <a:off x="731520" y="5577840"/>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OTPの時間制限が犯人に有利に働く — リアルタイムだから成立する</a:t>
            </a:r>
          </a:p>
        </p:txBody>
      </p:sp>
      <p:sp>
        <p:nvSpPr>
          <p:cNvPr id="22" name="Rectangle 21"/>
          <p:cNvSpPr/>
          <p:nvPr/>
        </p:nvSpPr>
        <p:spPr>
          <a:xfrm>
            <a:off x="731520" y="5943600"/>
            <a:ext cx="13624560" cy="640080"/>
          </a:xfrm>
          <a:prstGeom prst="rect">
            <a:avLst/>
          </a:prstGeom>
          <a:solidFill>
            <a:srgbClr val="FFFFFF"/>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① 犯人：裏でBizSTATIONにアクセス → OTP入力画面まで進む
② 犯人：電話で「OTPを入力してください」→ 被害者がスマホに入力
③ 犯人：入力されたOTP（有効期限30〜60秒）を即座に使用 → 送金実行
→ 電話をつないだままだからリアルタイムにできる</a:t>
            </a:r>
          </a:p>
        </p:txBody>
      </p:sp>
      <p:sp>
        <p:nvSpPr>
          <p:cNvPr id="23" name="Rectangle 22"/>
          <p:cNvSpPr/>
          <p:nvPr/>
        </p:nvSpPr>
        <p:spPr>
          <a:xfrm>
            <a:off x="731520" y="6720840"/>
            <a:ext cx="13624560" cy="45720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同じ構図：個人スマホは企業セキュリティの管轄外 → 「顧客の問題」→ 対策されない</a:t>
            </a:r>
          </a:p>
        </p:txBody>
      </p:sp>
      <p:sp>
        <p:nvSpPr>
          <p:cNvPr id="24" name="TextBox 23"/>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手順⑧ デュアルデバイス攻撃</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82880"/>
            <a:ext cx="15124176" cy="548640"/>
          </a:xfrm>
          <a:prstGeom prst="rect">
            <a:avLst/>
          </a:prstGeom>
          <a:noFill/>
        </p:spPr>
        <p:txBody>
          <a:bodyPr wrap="square" lIns="50800" rIns="50800" tIns="38100" bIns="38100"/>
          <a:lstStyle/>
          <a:p>
            <a:pPr algn="ctr"/>
            <a:r>
              <a:rPr sz="2000" b="1">
                <a:solidFill>
                  <a:srgbClr val="C0392B"/>
                </a:solidFill>
                <a:latin typeface="Meiryo"/>
              </a:rPr>
              <a:t>手順⑨ 不正送金 — 被害者のPCを経由しIPアドレスを偽装する</a:t>
            </a:r>
          </a:p>
        </p:txBody>
      </p:sp>
      <p:sp>
        <p:nvSpPr>
          <p:cNvPr id="3" name="Rectangle 2"/>
          <p:cNvSpPr/>
          <p:nvPr/>
        </p:nvSpPr>
        <p:spPr>
          <a:xfrm>
            <a:off x="731520" y="777240"/>
            <a:ext cx="658368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犯人のPCからアクセスした場合</a:t>
            </a:r>
          </a:p>
        </p:txBody>
      </p:sp>
      <p:sp>
        <p:nvSpPr>
          <p:cNvPr id="4" name="Rectangle 3"/>
          <p:cNvSpPr/>
          <p:nvPr/>
        </p:nvSpPr>
        <p:spPr>
          <a:xfrm>
            <a:off x="731520" y="1143000"/>
            <a:ext cx="6583680" cy="5029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IPアドレスが被害者企業と異なる
→ 銀行側で「いつもと違う場所」と検知される可能性</a:t>
            </a:r>
          </a:p>
        </p:txBody>
      </p:sp>
      <p:sp>
        <p:nvSpPr>
          <p:cNvPr id="5" name="Rectangle 4"/>
          <p:cNvSpPr/>
          <p:nvPr/>
        </p:nvSpPr>
        <p:spPr>
          <a:xfrm>
            <a:off x="7772400" y="777240"/>
            <a:ext cx="640080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被害者のPC経由でアクセスした場合</a:t>
            </a:r>
          </a:p>
        </p:txBody>
      </p:sp>
      <p:sp>
        <p:nvSpPr>
          <p:cNvPr id="6" name="Rectangle 5"/>
          <p:cNvSpPr/>
          <p:nvPr/>
        </p:nvSpPr>
        <p:spPr>
          <a:xfrm>
            <a:off x="7772400" y="1143000"/>
            <a:ext cx="6400800" cy="502920"/>
          </a:xfrm>
          <a:prstGeom prst="rect">
            <a:avLst/>
          </a:prstGeom>
          <a:solidFill>
            <a:srgbClr val="FFFFFF"/>
          </a:solidFill>
          <a:ln w="25400">
            <a:solidFill>
              <a:srgbClr val="2222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IPアドレスは被害者企業のもの
→ 銀行から見ると「いつもの場所からのアクセス」</a:t>
            </a:r>
          </a:p>
        </p:txBody>
      </p:sp>
      <p:sp>
        <p:nvSpPr>
          <p:cNvPr id="7" name="Rectangle 6"/>
          <p:cNvSpPr/>
          <p:nvPr/>
        </p:nvSpPr>
        <p:spPr>
          <a:xfrm>
            <a:off x="731520" y="1874519"/>
            <a:ext cx="13624560" cy="36576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銀行側の振る舞い検知 — すり抜ける項目と検知できる項目</a:t>
            </a:r>
          </a:p>
        </p:txBody>
      </p:sp>
      <p:sp>
        <p:nvSpPr>
          <p:cNvPr id="8" name="Rectangle 7"/>
          <p:cNvSpPr/>
          <p:nvPr/>
        </p:nvSpPr>
        <p:spPr>
          <a:xfrm>
            <a:off x="731520" y="2240279"/>
            <a:ext cx="228600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検知項目</a:t>
            </a:r>
          </a:p>
        </p:txBody>
      </p:sp>
      <p:sp>
        <p:nvSpPr>
          <p:cNvPr id="9" name="Rectangle 8"/>
          <p:cNvSpPr/>
          <p:nvPr/>
        </p:nvSpPr>
        <p:spPr>
          <a:xfrm>
            <a:off x="3017520" y="2240279"/>
            <a:ext cx="274320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正常</a:t>
            </a:r>
          </a:p>
        </p:txBody>
      </p:sp>
      <p:sp>
        <p:nvSpPr>
          <p:cNvPr id="10" name="Rectangle 9"/>
          <p:cNvSpPr/>
          <p:nvPr/>
        </p:nvSpPr>
        <p:spPr>
          <a:xfrm>
            <a:off x="5760720" y="2240279"/>
            <a:ext cx="320040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この攻撃</a:t>
            </a:r>
          </a:p>
        </p:txBody>
      </p:sp>
      <p:sp>
        <p:nvSpPr>
          <p:cNvPr id="11" name="Rectangle 10"/>
          <p:cNvSpPr/>
          <p:nvPr/>
        </p:nvSpPr>
        <p:spPr>
          <a:xfrm>
            <a:off x="8961120" y="2240279"/>
            <a:ext cx="274320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結果</a:t>
            </a:r>
          </a:p>
        </p:txBody>
      </p:sp>
      <p:sp>
        <p:nvSpPr>
          <p:cNvPr id="12" name="Rectangle 11"/>
          <p:cNvSpPr/>
          <p:nvPr/>
        </p:nvSpPr>
        <p:spPr>
          <a:xfrm>
            <a:off x="11704320" y="2240279"/>
            <a:ext cx="2651760" cy="347472"/>
          </a:xfrm>
          <a:prstGeom prst="rect">
            <a:avLst/>
          </a:prstGeom>
          <a:solidFill>
            <a:srgbClr val="34495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FFFFFF"/>
                </a:solidFill>
                <a:latin typeface="Meiryo"/>
              </a:rPr>
              <a:t/>
            </a:r>
          </a:p>
        </p:txBody>
      </p:sp>
      <p:sp>
        <p:nvSpPr>
          <p:cNvPr id="13" name="Rectangle 12"/>
          <p:cNvSpPr/>
          <p:nvPr/>
        </p:nvSpPr>
        <p:spPr>
          <a:xfrm>
            <a:off x="731520" y="2587752"/>
            <a:ext cx="2286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IPアドレス</a:t>
            </a:r>
          </a:p>
        </p:txBody>
      </p:sp>
      <p:sp>
        <p:nvSpPr>
          <p:cNvPr id="14" name="Rectangle 13"/>
          <p:cNvSpPr/>
          <p:nvPr/>
        </p:nvSpPr>
        <p:spPr>
          <a:xfrm>
            <a:off x="3017520" y="2587752"/>
            <a:ext cx="2743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いつもの場所</a:t>
            </a:r>
          </a:p>
        </p:txBody>
      </p:sp>
      <p:sp>
        <p:nvSpPr>
          <p:cNvPr id="15" name="Rectangle 14"/>
          <p:cNvSpPr/>
          <p:nvPr/>
        </p:nvSpPr>
        <p:spPr>
          <a:xfrm>
            <a:off x="5760720" y="2587752"/>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いつもの場所（PC経由）</a:t>
            </a:r>
          </a:p>
        </p:txBody>
      </p:sp>
      <p:sp>
        <p:nvSpPr>
          <p:cNvPr id="16" name="Rectangle 15"/>
          <p:cNvSpPr/>
          <p:nvPr/>
        </p:nvSpPr>
        <p:spPr>
          <a:xfrm>
            <a:off x="8961120" y="2587752"/>
            <a:ext cx="539496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すり抜ける</a:t>
            </a:r>
          </a:p>
        </p:txBody>
      </p:sp>
      <p:sp>
        <p:nvSpPr>
          <p:cNvPr id="17" name="Rectangle 16"/>
          <p:cNvSpPr/>
          <p:nvPr/>
        </p:nvSpPr>
        <p:spPr>
          <a:xfrm>
            <a:off x="731520" y="2953512"/>
            <a:ext cx="2286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時間帯</a:t>
            </a:r>
          </a:p>
        </p:txBody>
      </p:sp>
      <p:sp>
        <p:nvSpPr>
          <p:cNvPr id="18" name="Rectangle 17"/>
          <p:cNvSpPr/>
          <p:nvPr/>
        </p:nvSpPr>
        <p:spPr>
          <a:xfrm>
            <a:off x="3017520" y="2953512"/>
            <a:ext cx="2743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業務時間内</a:t>
            </a:r>
          </a:p>
        </p:txBody>
      </p:sp>
      <p:sp>
        <p:nvSpPr>
          <p:cNvPr id="19" name="Rectangle 18"/>
          <p:cNvSpPr/>
          <p:nvPr/>
        </p:nvSpPr>
        <p:spPr>
          <a:xfrm>
            <a:off x="5760720" y="2953512"/>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業務時間内（電話中）</a:t>
            </a:r>
          </a:p>
        </p:txBody>
      </p:sp>
      <p:sp>
        <p:nvSpPr>
          <p:cNvPr id="20" name="Rectangle 19"/>
          <p:cNvSpPr/>
          <p:nvPr/>
        </p:nvSpPr>
        <p:spPr>
          <a:xfrm>
            <a:off x="8961120" y="2953512"/>
            <a:ext cx="5394960" cy="365760"/>
          </a:xfrm>
          <a:prstGeom prst="rect">
            <a:avLst/>
          </a:prstGeom>
          <a:solidFill>
            <a:srgbClr val="FDEDEC"/>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C0392B"/>
                </a:solidFill>
                <a:latin typeface="Meiryo"/>
              </a:rPr>
              <a:t>すり抜ける</a:t>
            </a:r>
          </a:p>
        </p:txBody>
      </p:sp>
      <p:sp>
        <p:nvSpPr>
          <p:cNvPr id="21" name="Rectangle 20"/>
          <p:cNvSpPr/>
          <p:nvPr/>
        </p:nvSpPr>
        <p:spPr>
          <a:xfrm>
            <a:off x="731520" y="3319272"/>
            <a:ext cx="2286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送金先口座</a:t>
            </a:r>
          </a:p>
        </p:txBody>
      </p:sp>
      <p:sp>
        <p:nvSpPr>
          <p:cNvPr id="22" name="Rectangle 21"/>
          <p:cNvSpPr/>
          <p:nvPr/>
        </p:nvSpPr>
        <p:spPr>
          <a:xfrm>
            <a:off x="3017520" y="3319272"/>
            <a:ext cx="2743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取引先</a:t>
            </a:r>
          </a:p>
        </p:txBody>
      </p:sp>
      <p:sp>
        <p:nvSpPr>
          <p:cNvPr id="23" name="Rectangle 22"/>
          <p:cNvSpPr/>
          <p:nvPr/>
        </p:nvSpPr>
        <p:spPr>
          <a:xfrm>
            <a:off x="5760720" y="3319272"/>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初めての口座</a:t>
            </a:r>
          </a:p>
        </p:txBody>
      </p:sp>
      <p:sp>
        <p:nvSpPr>
          <p:cNvPr id="24" name="Rectangle 23"/>
          <p:cNvSpPr/>
          <p:nvPr/>
        </p:nvSpPr>
        <p:spPr>
          <a:xfrm>
            <a:off x="8961120" y="3319272"/>
            <a:ext cx="539496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検知できる ★</a:t>
            </a:r>
          </a:p>
        </p:txBody>
      </p:sp>
      <p:sp>
        <p:nvSpPr>
          <p:cNvPr id="25" name="Rectangle 24"/>
          <p:cNvSpPr/>
          <p:nvPr/>
        </p:nvSpPr>
        <p:spPr>
          <a:xfrm>
            <a:off x="731520" y="3685032"/>
            <a:ext cx="22860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送金金額</a:t>
            </a:r>
          </a:p>
        </p:txBody>
      </p:sp>
      <p:sp>
        <p:nvSpPr>
          <p:cNvPr id="26" name="Rectangle 25"/>
          <p:cNvSpPr/>
          <p:nvPr/>
        </p:nvSpPr>
        <p:spPr>
          <a:xfrm>
            <a:off x="3017520" y="3685032"/>
            <a:ext cx="27432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通常範囲</a:t>
            </a:r>
          </a:p>
        </p:txBody>
      </p:sp>
      <p:sp>
        <p:nvSpPr>
          <p:cNvPr id="27" name="Rectangle 26"/>
          <p:cNvSpPr/>
          <p:nvPr/>
        </p:nvSpPr>
        <p:spPr>
          <a:xfrm>
            <a:off x="5760720" y="3685032"/>
            <a:ext cx="3200400" cy="365760"/>
          </a:xfrm>
          <a:prstGeom prst="rect">
            <a:avLst/>
          </a:prstGeom>
          <a:solidFill>
            <a:srgbClr val="F9F9F9"/>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通常より大きい可能性</a:t>
            </a:r>
          </a:p>
        </p:txBody>
      </p:sp>
      <p:sp>
        <p:nvSpPr>
          <p:cNvPr id="28" name="Rectangle 27"/>
          <p:cNvSpPr/>
          <p:nvPr/>
        </p:nvSpPr>
        <p:spPr>
          <a:xfrm>
            <a:off x="8961120" y="3685032"/>
            <a:ext cx="539496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検知できる ★</a:t>
            </a:r>
          </a:p>
        </p:txBody>
      </p:sp>
      <p:sp>
        <p:nvSpPr>
          <p:cNvPr id="29" name="Rectangle 28"/>
          <p:cNvSpPr/>
          <p:nvPr/>
        </p:nvSpPr>
        <p:spPr>
          <a:xfrm>
            <a:off x="731520" y="4050791"/>
            <a:ext cx="22860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操作速度</a:t>
            </a:r>
          </a:p>
        </p:txBody>
      </p:sp>
      <p:sp>
        <p:nvSpPr>
          <p:cNvPr id="30" name="Rectangle 29"/>
          <p:cNvSpPr/>
          <p:nvPr/>
        </p:nvSpPr>
        <p:spPr>
          <a:xfrm>
            <a:off x="3017520" y="4050791"/>
            <a:ext cx="27432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人間の速度</a:t>
            </a:r>
          </a:p>
        </p:txBody>
      </p:sp>
      <p:sp>
        <p:nvSpPr>
          <p:cNvPr id="31" name="Rectangle 30"/>
          <p:cNvSpPr/>
          <p:nvPr/>
        </p:nvSpPr>
        <p:spPr>
          <a:xfrm>
            <a:off x="5760720" y="4050791"/>
            <a:ext cx="3200400" cy="36576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異常に速い可能性</a:t>
            </a:r>
          </a:p>
        </p:txBody>
      </p:sp>
      <p:sp>
        <p:nvSpPr>
          <p:cNvPr id="32" name="Rectangle 31"/>
          <p:cNvSpPr/>
          <p:nvPr/>
        </p:nvSpPr>
        <p:spPr>
          <a:xfrm>
            <a:off x="8961120" y="4050791"/>
            <a:ext cx="5394960" cy="365760"/>
          </a:xfrm>
          <a:prstGeom prst="rect">
            <a:avLst/>
          </a:prstGeom>
          <a:solidFill>
            <a:srgbClr val="EAFAF1"/>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7AE60"/>
                </a:solidFill>
                <a:latin typeface="Meiryo"/>
              </a:rPr>
              <a:t>検知できる ★</a:t>
            </a:r>
          </a:p>
        </p:txBody>
      </p:sp>
      <p:sp>
        <p:nvSpPr>
          <p:cNvPr id="33" name="Rectangle 32"/>
          <p:cNvSpPr/>
          <p:nvPr/>
        </p:nvSpPr>
        <p:spPr>
          <a:xfrm>
            <a:off x="731520" y="4526279"/>
            <a:ext cx="1362456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銀行の追加認証（電話確認）すら機能しない</a:t>
            </a:r>
          </a:p>
        </p:txBody>
      </p:sp>
      <p:sp>
        <p:nvSpPr>
          <p:cNvPr id="34" name="Rectangle 33"/>
          <p:cNvSpPr/>
          <p:nvPr/>
        </p:nvSpPr>
        <p:spPr>
          <a:xfrm>
            <a:off x="731520" y="4892040"/>
            <a:ext cx="13624560" cy="640080"/>
          </a:xfrm>
          <a:prstGeom prst="rect">
            <a:avLst/>
          </a:prstGeom>
          <a:solidFill>
            <a:srgbClr val="FFFFFF"/>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銀行「送金確認のためお電話しました」→ 被害者は犯人との電話がつながったまま → 出られない
仮に出たとしても → 「はい、自分で送金しました」と答える（自分が攻撃されていることに気づいていない）</a:t>
            </a:r>
          </a:p>
        </p:txBody>
      </p:sp>
      <p:sp>
        <p:nvSpPr>
          <p:cNvPr id="35" name="TextBox 34"/>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手順⑨ 不正送金</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137160"/>
            <a:ext cx="15124176" cy="457200"/>
          </a:xfrm>
          <a:prstGeom prst="rect">
            <a:avLst/>
          </a:prstGeom>
          <a:noFill/>
        </p:spPr>
        <p:txBody>
          <a:bodyPr wrap="square" lIns="50800" rIns="50800" tIns="38100" bIns="38100"/>
          <a:lstStyle/>
          <a:p>
            <a:pPr algn="ctr"/>
            <a:r>
              <a:rPr sz="2400" b="1">
                <a:solidFill>
                  <a:srgbClr val="C0392B"/>
                </a:solidFill>
                <a:latin typeface="Meiryo"/>
              </a:rPr>
              <a:t>総括：正規の銀行体験を99%再現した攻撃</a:t>
            </a:r>
          </a:p>
        </p:txBody>
      </p:sp>
      <p:sp>
        <p:nvSpPr>
          <p:cNvPr id="3" name="Rectangle 2"/>
          <p:cNvSpPr/>
          <p:nvPr/>
        </p:nvSpPr>
        <p:spPr>
          <a:xfrm>
            <a:off x="731520" y="640080"/>
            <a:ext cx="658368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正規と同じもの（10個）</a:t>
            </a:r>
          </a:p>
        </p:txBody>
      </p:sp>
      <p:sp>
        <p:nvSpPr>
          <p:cNvPr id="4" name="Rectangle 3"/>
          <p:cNvSpPr/>
          <p:nvPr/>
        </p:nvSpPr>
        <p:spPr>
          <a:xfrm>
            <a:off x="731520" y="100584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自動音声の振り分け</a:t>
            </a:r>
          </a:p>
        </p:txBody>
      </p:sp>
      <p:sp>
        <p:nvSpPr>
          <p:cNvPr id="5" name="Rectangle 4"/>
          <p:cNvSpPr/>
          <p:nvPr/>
        </p:nvSpPr>
        <p:spPr>
          <a:xfrm>
            <a:off x="731520" y="128016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担当者との電話対応</a:t>
            </a:r>
          </a:p>
        </p:txBody>
      </p:sp>
      <p:sp>
        <p:nvSpPr>
          <p:cNvPr id="6" name="Rectangle 5"/>
          <p:cNvSpPr/>
          <p:nvPr/>
        </p:nvSpPr>
        <p:spPr>
          <a:xfrm>
            <a:off x="731520" y="155448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「郵送した」「口座制限」のセリフ</a:t>
            </a:r>
          </a:p>
        </p:txBody>
      </p:sp>
      <p:sp>
        <p:nvSpPr>
          <p:cNvPr id="7" name="Rectangle 6"/>
          <p:cNvSpPr/>
          <p:nvPr/>
        </p:nvSpPr>
        <p:spPr>
          <a:xfrm>
            <a:off x="731520" y="182880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メールのデザイン（Bizデザイン）</a:t>
            </a:r>
          </a:p>
        </p:txBody>
      </p:sp>
      <p:sp>
        <p:nvSpPr>
          <p:cNvPr id="8" name="Rectangle 7"/>
          <p:cNvSpPr/>
          <p:nvPr/>
        </p:nvSpPr>
        <p:spPr>
          <a:xfrm>
            <a:off x="731520" y="210312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メールの件名（実在する案内と同じ）</a:t>
            </a:r>
          </a:p>
        </p:txBody>
      </p:sp>
      <p:sp>
        <p:nvSpPr>
          <p:cNvPr id="9" name="Rectangle 8"/>
          <p:cNvSpPr/>
          <p:nvPr/>
        </p:nvSpPr>
        <p:spPr>
          <a:xfrm>
            <a:off x="731520" y="237744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Webページのデザイン</a:t>
            </a:r>
          </a:p>
        </p:txBody>
      </p:sp>
      <p:sp>
        <p:nvSpPr>
          <p:cNvPr id="10" name="Rectangle 9"/>
          <p:cNvSpPr/>
          <p:nvPr/>
        </p:nvSpPr>
        <p:spPr>
          <a:xfrm>
            <a:off x="731520" y="265176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赤い画面の色（ブランドカラー）</a:t>
            </a:r>
          </a:p>
        </p:txBody>
      </p:sp>
      <p:sp>
        <p:nvSpPr>
          <p:cNvPr id="11" name="Rectangle 10"/>
          <p:cNvSpPr/>
          <p:nvPr/>
        </p:nvSpPr>
        <p:spPr>
          <a:xfrm>
            <a:off x="731520" y="292608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赤い画面の文言（銀行の丁寧語）</a:t>
            </a:r>
          </a:p>
        </p:txBody>
      </p:sp>
      <p:sp>
        <p:nvSpPr>
          <p:cNvPr id="12" name="Rectangle 11"/>
          <p:cNvSpPr/>
          <p:nvPr/>
        </p:nvSpPr>
        <p:spPr>
          <a:xfrm>
            <a:off x="731520" y="320040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SMS認証の流れ</a:t>
            </a:r>
          </a:p>
        </p:txBody>
      </p:sp>
      <p:sp>
        <p:nvSpPr>
          <p:cNvPr id="13" name="Rectangle 12"/>
          <p:cNvSpPr/>
          <p:nvPr/>
        </p:nvSpPr>
        <p:spPr>
          <a:xfrm>
            <a:off x="731520" y="3474720"/>
            <a:ext cx="658368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7AE60"/>
                </a:solidFill>
                <a:latin typeface="Meiryo"/>
              </a:rPr>
              <a:t>✅ セキュリティソフト推奨（Rapportは実在）</a:t>
            </a:r>
          </a:p>
        </p:txBody>
      </p:sp>
      <p:sp>
        <p:nvSpPr>
          <p:cNvPr id="14" name="Rectangle 13"/>
          <p:cNvSpPr/>
          <p:nvPr/>
        </p:nvSpPr>
        <p:spPr>
          <a:xfrm>
            <a:off x="7772400" y="640080"/>
            <a:ext cx="640080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正規と違うもの（6個）</a:t>
            </a:r>
          </a:p>
        </p:txBody>
      </p:sp>
      <p:sp>
        <p:nvSpPr>
          <p:cNvPr id="15" name="Rectangle 14"/>
          <p:cNvSpPr/>
          <p:nvPr/>
        </p:nvSpPr>
        <p:spPr>
          <a:xfrm>
            <a:off x="7772400" y="10058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メアドを聞く</a:t>
            </a:r>
          </a:p>
        </p:txBody>
      </p:sp>
      <p:sp>
        <p:nvSpPr>
          <p:cNvPr id="16" name="Rectangle 15"/>
          <p:cNvSpPr/>
          <p:nvPr/>
        </p:nvSpPr>
        <p:spPr>
          <a:xfrm>
            <a:off x="10698480" y="10058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登録済みなので聞かない</a:t>
            </a:r>
          </a:p>
        </p:txBody>
      </p:sp>
      <p:sp>
        <p:nvSpPr>
          <p:cNvPr id="17" name="Rectangle 16"/>
          <p:cNvSpPr/>
          <p:nvPr/>
        </p:nvSpPr>
        <p:spPr>
          <a:xfrm>
            <a:off x="7772400" y="14630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迷惑フォルダを見て</a:t>
            </a:r>
          </a:p>
        </p:txBody>
      </p:sp>
      <p:sp>
        <p:nvSpPr>
          <p:cNvPr id="18" name="Rectangle 17"/>
          <p:cNvSpPr/>
          <p:nvPr/>
        </p:nvSpPr>
        <p:spPr>
          <a:xfrm>
            <a:off x="10698480" y="14630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正規メールは入らない</a:t>
            </a:r>
          </a:p>
        </p:txBody>
      </p:sp>
      <p:sp>
        <p:nvSpPr>
          <p:cNvPr id="19" name="Rectangle 18"/>
          <p:cNvSpPr/>
          <p:nvPr/>
        </p:nvSpPr>
        <p:spPr>
          <a:xfrm>
            <a:off x="7772400" y="19202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メールにURL</a:t>
            </a:r>
          </a:p>
        </p:txBody>
      </p:sp>
      <p:sp>
        <p:nvSpPr>
          <p:cNvPr id="20" name="Rectangle 19"/>
          <p:cNvSpPr/>
          <p:nvPr/>
        </p:nvSpPr>
        <p:spPr>
          <a:xfrm>
            <a:off x="10698480" y="19202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金融庁が禁止</a:t>
            </a:r>
          </a:p>
        </p:txBody>
      </p:sp>
      <p:sp>
        <p:nvSpPr>
          <p:cNvPr id="21" name="Rectangle 20"/>
          <p:cNvSpPr/>
          <p:nvPr/>
        </p:nvSpPr>
        <p:spPr>
          <a:xfrm>
            <a:off x="7772400" y="23774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不明な発行元でも実行して</a:t>
            </a:r>
          </a:p>
        </p:txBody>
      </p:sp>
      <p:sp>
        <p:nvSpPr>
          <p:cNvPr id="22" name="Rectangle 21"/>
          <p:cNvSpPr/>
          <p:nvPr/>
        </p:nvSpPr>
        <p:spPr>
          <a:xfrm>
            <a:off x="10698480" y="23774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正規ソフトは署名済み</a:t>
            </a:r>
          </a:p>
        </p:txBody>
      </p:sp>
      <p:sp>
        <p:nvSpPr>
          <p:cNvPr id="23" name="Rectangle 22"/>
          <p:cNvSpPr/>
          <p:nvPr/>
        </p:nvSpPr>
        <p:spPr>
          <a:xfrm>
            <a:off x="7772400" y="28346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携帯番号を聞く</a:t>
            </a:r>
          </a:p>
        </p:txBody>
      </p:sp>
      <p:sp>
        <p:nvSpPr>
          <p:cNvPr id="24" name="Rectangle 23"/>
          <p:cNvSpPr/>
          <p:nvPr/>
        </p:nvSpPr>
        <p:spPr>
          <a:xfrm>
            <a:off x="10698480" y="28346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登録済みなので聞かない</a:t>
            </a:r>
          </a:p>
        </p:txBody>
      </p:sp>
      <p:sp>
        <p:nvSpPr>
          <p:cNvPr id="25" name="Rectangle 24"/>
          <p:cNvSpPr/>
          <p:nvPr/>
        </p:nvSpPr>
        <p:spPr>
          <a:xfrm>
            <a:off x="7772400" y="3291840"/>
            <a:ext cx="2926080" cy="45720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C0392B"/>
                </a:solidFill>
                <a:latin typeface="Meiryo"/>
              </a:rPr>
              <a:t>❌ 5要素一括入力</a:t>
            </a:r>
          </a:p>
        </p:txBody>
      </p:sp>
      <p:sp>
        <p:nvSpPr>
          <p:cNvPr id="26" name="Rectangle 25"/>
          <p:cNvSpPr/>
          <p:nvPr/>
        </p:nvSpPr>
        <p:spPr>
          <a:xfrm>
            <a:off x="10698480" y="3291840"/>
            <a:ext cx="3474720" cy="457200"/>
          </a:xfrm>
          <a:prstGeom prst="rect">
            <a:avLst/>
          </a:prstGeom>
          <a:solidFill>
            <a:srgbClr val="FFFFFF"/>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888888"/>
                </a:solidFill>
                <a:latin typeface="Meiryo"/>
              </a:rPr>
              <a:t>段階的に認証する</a:t>
            </a:r>
          </a:p>
        </p:txBody>
      </p:sp>
      <p:sp>
        <p:nvSpPr>
          <p:cNvPr id="27" name="TextBox 26"/>
          <p:cNvSpPr txBox="1"/>
          <p:nvPr/>
        </p:nvSpPr>
        <p:spPr>
          <a:xfrm>
            <a:off x="7772400" y="3840480"/>
            <a:ext cx="6400800" cy="457200"/>
          </a:xfrm>
          <a:prstGeom prst="rect">
            <a:avLst/>
          </a:prstGeom>
          <a:noFill/>
        </p:spPr>
        <p:txBody>
          <a:bodyPr wrap="square" lIns="50800" rIns="50800" tIns="38100" bIns="38100"/>
          <a:lstStyle/>
          <a:p>
            <a:pPr algn="l"/>
            <a:r>
              <a:rPr sz="900" b="0">
                <a:solidFill>
                  <a:srgbClr val="888888"/>
                </a:solidFill>
                <a:latin typeface="Meiryo"/>
              </a:rPr>
              <a:t>6個全て専門知識がないと気づけない。
唯一「不明な発行元」だけがOSの警告で
気づけるが、犯人のレベルアップで消える。</a:t>
            </a:r>
          </a:p>
        </p:txBody>
      </p:sp>
      <p:sp>
        <p:nvSpPr>
          <p:cNvPr id="28" name="Rectangle 27"/>
          <p:cNvSpPr/>
          <p:nvPr/>
        </p:nvSpPr>
        <p:spPr>
          <a:xfrm>
            <a:off x="731520" y="4480560"/>
            <a:ext cx="13624560" cy="3657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犯人が言う「銀行が絶対に言わないセリフ」5つ → 全て手順②の恐怖で無効化される</a:t>
            </a:r>
          </a:p>
        </p:txBody>
      </p:sp>
      <p:sp>
        <p:nvSpPr>
          <p:cNvPr id="29" name="Rectangle 28"/>
          <p:cNvSpPr/>
          <p:nvPr/>
        </p:nvSpPr>
        <p:spPr>
          <a:xfrm>
            <a:off x="731520" y="4937760"/>
            <a:ext cx="13624560" cy="365760"/>
          </a:xfrm>
          <a:prstGeom prst="rect">
            <a:avLst/>
          </a:prstGeom>
          <a:solidFill>
            <a:srgbClr val="27AE60"/>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技術的にKill Chainを切れるポイント3つ → 全て既存ツール・追加コストゼロ・顧客に依存しない</a:t>
            </a:r>
          </a:p>
        </p:txBody>
      </p:sp>
      <p:sp>
        <p:nvSpPr>
          <p:cNvPr id="30" name="Rectangle 29"/>
          <p:cNvSpPr/>
          <p:nvPr/>
        </p:nvSpPr>
        <p:spPr>
          <a:xfrm>
            <a:off x="731520" y="5303520"/>
            <a:ext cx="365760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④ DMARC p=reject</a:t>
            </a:r>
          </a:p>
        </p:txBody>
      </p:sp>
      <p:sp>
        <p:nvSpPr>
          <p:cNvPr id="31" name="Rectangle 30"/>
          <p:cNvSpPr/>
          <p:nvPr/>
        </p:nvSpPr>
        <p:spPr>
          <a:xfrm>
            <a:off x="4389120" y="5303520"/>
            <a:ext cx="9966960" cy="320040"/>
          </a:xfrm>
          <a:prstGeom prst="rect">
            <a:avLst/>
          </a:prstGeom>
          <a:solidFill>
            <a:srgbClr val="EAFAF1"/>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メール遮断（銀行側で完結）</a:t>
            </a:r>
          </a:p>
        </p:txBody>
      </p:sp>
      <p:sp>
        <p:nvSpPr>
          <p:cNvPr id="32" name="Rectangle 31"/>
          <p:cNvSpPr/>
          <p:nvPr/>
        </p:nvSpPr>
        <p:spPr>
          <a:xfrm>
            <a:off x="731520" y="5623560"/>
            <a:ext cx="365760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⑥ AppLocker/WDAC</a:t>
            </a:r>
          </a:p>
        </p:txBody>
      </p:sp>
      <p:sp>
        <p:nvSpPr>
          <p:cNvPr id="33" name="Rectangle 32"/>
          <p:cNvSpPr/>
          <p:nvPr/>
        </p:nvSpPr>
        <p:spPr>
          <a:xfrm>
            <a:off x="4389120" y="5623560"/>
            <a:ext cx="9966960" cy="320040"/>
          </a:xfrm>
          <a:prstGeom prst="rect">
            <a:avLst/>
          </a:prstGeom>
          <a:solidFill>
            <a:srgbClr val="EAFAF1"/>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msi実行阻止（Windows標準搭載）</a:t>
            </a:r>
          </a:p>
        </p:txBody>
      </p:sp>
      <p:sp>
        <p:nvSpPr>
          <p:cNvPr id="34" name="Rectangle 33"/>
          <p:cNvSpPr/>
          <p:nvPr/>
        </p:nvSpPr>
        <p:spPr>
          <a:xfrm>
            <a:off x="731520" y="5943600"/>
            <a:ext cx="365760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⑦⑨ EDR/振る舞い検知</a:t>
            </a:r>
          </a:p>
        </p:txBody>
      </p:sp>
      <p:sp>
        <p:nvSpPr>
          <p:cNvPr id="35" name="Rectangle 34"/>
          <p:cNvSpPr/>
          <p:nvPr/>
        </p:nvSpPr>
        <p:spPr>
          <a:xfrm>
            <a:off x="4389120" y="5943600"/>
            <a:ext cx="9966960" cy="320040"/>
          </a:xfrm>
          <a:prstGeom prst="rect">
            <a:avLst/>
          </a:prstGeom>
          <a:solidFill>
            <a:srgbClr val="EAFAF1"/>
          </a:solidFill>
          <a:ln w="254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0">
                <a:solidFill>
                  <a:srgbClr val="222222"/>
                </a:solidFill>
                <a:latin typeface="Meiryo"/>
              </a:rPr>
              <a:t>ScreenConnect通信＋異常送金検知</a:t>
            </a:r>
          </a:p>
        </p:txBody>
      </p:sp>
      <p:sp>
        <p:nvSpPr>
          <p:cNvPr id="36" name="Rectangle 35"/>
          <p:cNvSpPr/>
          <p:nvPr/>
        </p:nvSpPr>
        <p:spPr>
          <a:xfrm>
            <a:off x="731520" y="6355080"/>
            <a:ext cx="13624560" cy="36576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200" b="1">
                <a:solidFill>
                  <a:srgbClr val="FFFFFF"/>
                </a:solidFill>
                <a:latin typeface="Meiryo"/>
              </a:rPr>
              <a:t>全ての対策が「顧客にやってね」で丸投げされ、機能していない</a:t>
            </a:r>
          </a:p>
        </p:txBody>
      </p:sp>
      <p:sp>
        <p:nvSpPr>
          <p:cNvPr id="37" name="Rectangle 36"/>
          <p:cNvSpPr/>
          <p:nvPr/>
        </p:nvSpPr>
        <p:spPr>
          <a:xfrm>
            <a:off x="731520" y="6812280"/>
            <a:ext cx="13624560" cy="5486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TextBox 37"/>
          <p:cNvSpPr txBox="1"/>
          <p:nvPr/>
        </p:nvSpPr>
        <p:spPr>
          <a:xfrm>
            <a:off x="1005840" y="6839712"/>
            <a:ext cx="13075920" cy="502920"/>
          </a:xfrm>
          <a:prstGeom prst="rect">
            <a:avLst/>
          </a:prstGeom>
          <a:noFill/>
        </p:spPr>
        <p:txBody>
          <a:bodyPr wrap="square" lIns="50800" rIns="50800" tIns="38100" bIns="38100"/>
          <a:lstStyle/>
          <a:p>
            <a:pPr algn="ctr"/>
            <a:r>
              <a:rPr sz="1300" b="1">
                <a:solidFill>
                  <a:srgbClr val="FFFFFF"/>
                </a:solidFill>
                <a:latin typeface="Meiryo"/>
              </a:rPr>
              <a:t>最終結論：この攻撃が成立している根本原因は、犯人の巧みさではなく
「既にある対策を設定していない」「全てを顧客の問題にしている」こと。
銀行側が技術的対策を実装すれば、この攻撃は成立しなくなる。</a:t>
            </a:r>
          </a:p>
        </p:txBody>
      </p:sp>
      <p:sp>
        <p:nvSpPr>
          <p:cNvPr id="39" name="TextBox 38"/>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総括</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