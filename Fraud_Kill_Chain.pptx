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5124176" cy="10689336"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91440"/>
            <a:ext cx="15124176" cy="457200"/>
          </a:xfrm>
          <a:prstGeom prst="rect">
            <a:avLst/>
          </a:prstGeom>
          <a:noFill/>
        </p:spPr>
        <p:txBody>
          <a:bodyPr wrap="square" lIns="50800" rIns="50800" tIns="38100" bIns="38100"/>
          <a:lstStyle/>
          <a:p>
            <a:pPr algn="ctr"/>
            <a:r>
              <a:rPr sz="2000" b="1">
                <a:solidFill>
                  <a:srgbClr val="222222"/>
                </a:solidFill>
                <a:latin typeface="Meiryo"/>
              </a:rPr>
              <a:t>Fraud Kill Chain（不正送金キルチェーン）</a:t>
            </a:r>
          </a:p>
        </p:txBody>
      </p:sp>
      <p:sp>
        <p:nvSpPr>
          <p:cNvPr id="3" name="TextBox 2"/>
          <p:cNvSpPr txBox="1"/>
          <p:nvPr/>
        </p:nvSpPr>
        <p:spPr>
          <a:xfrm>
            <a:off x="0" y="502920"/>
            <a:ext cx="15124176" cy="274320"/>
          </a:xfrm>
          <a:prstGeom prst="rect">
            <a:avLst/>
          </a:prstGeom>
          <a:noFill/>
        </p:spPr>
        <p:txBody>
          <a:bodyPr wrap="square" lIns="50800" rIns="50800" tIns="38100" bIns="38100"/>
          <a:lstStyle/>
          <a:p>
            <a:pPr algn="ctr"/>
            <a:r>
              <a:rPr sz="1000" b="0">
                <a:solidFill>
                  <a:srgbClr val="888888"/>
                </a:solidFill>
                <a:latin typeface="Meiryo"/>
              </a:rPr>
              <a:t>シート名「不審な電話手口」 ― 犯人サイド × 被害企業サイド スイムレーン図</a:t>
            </a:r>
          </a:p>
        </p:txBody>
      </p:sp>
      <p:sp>
        <p:nvSpPr>
          <p:cNvPr id="4" name="Rectangle 3"/>
          <p:cNvSpPr/>
          <p:nvPr/>
        </p:nvSpPr>
        <p:spPr>
          <a:xfrm>
            <a:off x="457200" y="804672"/>
            <a:ext cx="2926080" cy="2743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対象：法人向けIB（BizSTATION）</a:t>
            </a:r>
          </a:p>
        </p:txBody>
      </p:sp>
      <p:sp>
        <p:nvSpPr>
          <p:cNvPr id="5" name="Rectangle 4"/>
          <p:cNvSpPr/>
          <p:nvPr/>
        </p:nvSpPr>
        <p:spPr>
          <a:xfrm>
            <a:off x="3520440" y="804672"/>
            <a:ext cx="6217920" cy="2743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800" b="0">
                <a:solidFill>
                  <a:srgbClr val="FFFFFF"/>
                </a:solidFill>
                <a:latin typeface="Meiryo"/>
              </a:rPr>
              <a:t>犯人はBizSTATIONの認証フロー（契約者番号→利用者ID→ログインPW→取引実行PW→OTP）を完全に把握</a:t>
            </a:r>
          </a:p>
        </p:txBody>
      </p:sp>
      <p:sp>
        <p:nvSpPr>
          <p:cNvPr id="6" name="Rectangle 5"/>
          <p:cNvSpPr/>
          <p:nvPr/>
        </p:nvSpPr>
        <p:spPr>
          <a:xfrm>
            <a:off x="9875520" y="804672"/>
            <a:ext cx="4754880" cy="27432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800" b="0">
                <a:solidFill>
                  <a:srgbClr val="FFFFFF"/>
                </a:solidFill>
                <a:latin typeface="Meiryo"/>
              </a:rPr>
              <a:t>法人IBは送金限度額が高く、1件で数千万〜数億円の被害リスク</a:t>
            </a:r>
          </a:p>
        </p:txBody>
      </p:sp>
      <p:sp>
        <p:nvSpPr>
          <p:cNvPr id="7" name="Rectangle 6"/>
          <p:cNvSpPr/>
          <p:nvPr/>
        </p:nvSpPr>
        <p:spPr>
          <a:xfrm>
            <a:off x="1225296" y="1143000"/>
            <a:ext cx="5248656" cy="32004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犯人サイド</a:t>
            </a:r>
          </a:p>
        </p:txBody>
      </p:sp>
      <p:sp>
        <p:nvSpPr>
          <p:cNvPr id="8" name="Rectangle 7"/>
          <p:cNvSpPr/>
          <p:nvPr/>
        </p:nvSpPr>
        <p:spPr>
          <a:xfrm>
            <a:off x="6510528" y="1143000"/>
            <a:ext cx="7891272" cy="32004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被害企業サイド</a:t>
            </a:r>
          </a:p>
        </p:txBody>
      </p:sp>
      <p:sp>
        <p:nvSpPr>
          <p:cNvPr id="9" name="Rectangle 8"/>
          <p:cNvSpPr/>
          <p:nvPr/>
        </p:nvSpPr>
        <p:spPr>
          <a:xfrm>
            <a:off x="182880" y="1499616"/>
            <a:ext cx="10058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フェーズ</a:t>
            </a:r>
          </a:p>
        </p:txBody>
      </p:sp>
      <p:sp>
        <p:nvSpPr>
          <p:cNvPr id="10" name="Rectangle 9"/>
          <p:cNvSpPr/>
          <p:nvPr/>
        </p:nvSpPr>
        <p:spPr>
          <a:xfrm>
            <a:off x="1225296"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情報・インフラ</a:t>
            </a:r>
          </a:p>
        </p:txBody>
      </p:sp>
      <p:sp>
        <p:nvSpPr>
          <p:cNvPr id="11" name="Rectangle 10"/>
          <p:cNvSpPr/>
          <p:nvPr/>
        </p:nvSpPr>
        <p:spPr>
          <a:xfrm>
            <a:off x="3867912"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架電</a:t>
            </a:r>
          </a:p>
        </p:txBody>
      </p:sp>
      <p:sp>
        <p:nvSpPr>
          <p:cNvPr id="12" name="Rectangle 11"/>
          <p:cNvSpPr/>
          <p:nvPr/>
        </p:nvSpPr>
        <p:spPr>
          <a:xfrm>
            <a:off x="6510528"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受電</a:t>
            </a:r>
          </a:p>
        </p:txBody>
      </p:sp>
      <p:sp>
        <p:nvSpPr>
          <p:cNvPr id="13" name="Rectangle 12"/>
          <p:cNvSpPr/>
          <p:nvPr/>
        </p:nvSpPr>
        <p:spPr>
          <a:xfrm>
            <a:off x="9153144"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会社のPC</a:t>
            </a:r>
          </a:p>
        </p:txBody>
      </p:sp>
      <p:sp>
        <p:nvSpPr>
          <p:cNvPr id="14" name="Rectangle 13"/>
          <p:cNvSpPr/>
          <p:nvPr/>
        </p:nvSpPr>
        <p:spPr>
          <a:xfrm>
            <a:off x="11795760"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個人スマホ</a:t>
            </a:r>
          </a:p>
        </p:txBody>
      </p:sp>
      <p:sp>
        <p:nvSpPr>
          <p:cNvPr id="15" name="Rectangle 14"/>
          <p:cNvSpPr/>
          <p:nvPr/>
        </p:nvSpPr>
        <p:spPr>
          <a:xfrm>
            <a:off x="182880" y="1371600"/>
            <a:ext cx="1005840" cy="8686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① 犯行準備
（偵察など）</a:t>
            </a:r>
          </a:p>
        </p:txBody>
      </p:sp>
      <p:sp>
        <p:nvSpPr>
          <p:cNvPr id="16" name="Rectangle 15"/>
          <p:cNvSpPr/>
          <p:nvPr/>
        </p:nvSpPr>
        <p:spPr>
          <a:xfrm>
            <a:off x="182880" y="2276856"/>
            <a:ext cx="1005840" cy="9601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② 被害者への
接触</a:t>
            </a:r>
          </a:p>
        </p:txBody>
      </p:sp>
      <p:sp>
        <p:nvSpPr>
          <p:cNvPr id="17" name="Rectangle 16"/>
          <p:cNvSpPr/>
          <p:nvPr/>
        </p:nvSpPr>
        <p:spPr>
          <a:xfrm>
            <a:off x="182880" y="3273552"/>
            <a:ext cx="1005840" cy="26060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③ 心理的操作</a:t>
            </a:r>
          </a:p>
        </p:txBody>
      </p:sp>
      <p:sp>
        <p:nvSpPr>
          <p:cNvPr id="18" name="Rectangle 17"/>
          <p:cNvSpPr/>
          <p:nvPr/>
        </p:nvSpPr>
        <p:spPr>
          <a:xfrm>
            <a:off x="182880" y="5916168"/>
            <a:ext cx="1005840" cy="22402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④ システムや
機能の侵害</a:t>
            </a:r>
          </a:p>
        </p:txBody>
      </p:sp>
      <p:sp>
        <p:nvSpPr>
          <p:cNvPr id="19" name="Rectangle 18"/>
          <p:cNvSpPr/>
          <p:nvPr/>
        </p:nvSpPr>
        <p:spPr>
          <a:xfrm>
            <a:off x="182880" y="8193024"/>
            <a:ext cx="1005840" cy="2286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⑤ 侵害に使用
する認証情報</a:t>
            </a:r>
          </a:p>
        </p:txBody>
      </p:sp>
      <p:sp>
        <p:nvSpPr>
          <p:cNvPr id="20" name="Rectangle 19"/>
          <p:cNvSpPr/>
          <p:nvPr/>
        </p:nvSpPr>
        <p:spPr>
          <a:xfrm>
            <a:off x="182880" y="10515600"/>
            <a:ext cx="1005840" cy="5029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⑥ 収益化
／マネロン</a:t>
            </a:r>
          </a:p>
        </p:txBody>
      </p:sp>
      <p:sp>
        <p:nvSpPr>
          <p:cNvPr id="21" name="Rectangle 20"/>
          <p:cNvSpPr/>
          <p:nvPr/>
        </p:nvSpPr>
        <p:spPr>
          <a:xfrm>
            <a:off x="1225296"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2" name="Rectangle 21"/>
          <p:cNvSpPr/>
          <p:nvPr/>
        </p:nvSpPr>
        <p:spPr>
          <a:xfrm>
            <a:off x="3867912"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3" name="Rectangle 22"/>
          <p:cNvSpPr/>
          <p:nvPr/>
        </p:nvSpPr>
        <p:spPr>
          <a:xfrm>
            <a:off x="6510528"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4" name="Rectangle 23"/>
          <p:cNvSpPr/>
          <p:nvPr/>
        </p:nvSpPr>
        <p:spPr>
          <a:xfrm>
            <a:off x="9153144"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5" name="Rectangle 24"/>
          <p:cNvSpPr/>
          <p:nvPr/>
        </p:nvSpPr>
        <p:spPr>
          <a:xfrm>
            <a:off x="11795760"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6" name="Rectangle 25"/>
          <p:cNvSpPr/>
          <p:nvPr/>
        </p:nvSpPr>
        <p:spPr>
          <a:xfrm>
            <a:off x="1225296"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7" name="Rectangle 26"/>
          <p:cNvSpPr/>
          <p:nvPr/>
        </p:nvSpPr>
        <p:spPr>
          <a:xfrm>
            <a:off x="3867912"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8" name="Rectangle 27"/>
          <p:cNvSpPr/>
          <p:nvPr/>
        </p:nvSpPr>
        <p:spPr>
          <a:xfrm>
            <a:off x="6510528"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9" name="Rectangle 28"/>
          <p:cNvSpPr/>
          <p:nvPr/>
        </p:nvSpPr>
        <p:spPr>
          <a:xfrm>
            <a:off x="9153144"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0" name="Rectangle 29"/>
          <p:cNvSpPr/>
          <p:nvPr/>
        </p:nvSpPr>
        <p:spPr>
          <a:xfrm>
            <a:off x="11795760"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1" name="Rectangle 30"/>
          <p:cNvSpPr/>
          <p:nvPr/>
        </p:nvSpPr>
        <p:spPr>
          <a:xfrm>
            <a:off x="1225296" y="3273552"/>
            <a:ext cx="2606040" cy="2606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2" name="Rectangle 31"/>
          <p:cNvSpPr/>
          <p:nvPr/>
        </p:nvSpPr>
        <p:spPr>
          <a:xfrm>
            <a:off x="3867912" y="3273552"/>
            <a:ext cx="2606040" cy="2606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3" name="Rectangle 32"/>
          <p:cNvSpPr/>
          <p:nvPr/>
        </p:nvSpPr>
        <p:spPr>
          <a:xfrm>
            <a:off x="6510528" y="3273552"/>
            <a:ext cx="2606040" cy="2606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4" name="Rectangle 33"/>
          <p:cNvSpPr/>
          <p:nvPr/>
        </p:nvSpPr>
        <p:spPr>
          <a:xfrm>
            <a:off x="9153144" y="3273552"/>
            <a:ext cx="2606040" cy="2606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5" name="Rectangle 34"/>
          <p:cNvSpPr/>
          <p:nvPr/>
        </p:nvSpPr>
        <p:spPr>
          <a:xfrm>
            <a:off x="11795760" y="3273552"/>
            <a:ext cx="2606040" cy="2606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6" name="Rectangle 35"/>
          <p:cNvSpPr/>
          <p:nvPr/>
        </p:nvSpPr>
        <p:spPr>
          <a:xfrm>
            <a:off x="1225296" y="59161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7" name="Rectangle 36"/>
          <p:cNvSpPr/>
          <p:nvPr/>
        </p:nvSpPr>
        <p:spPr>
          <a:xfrm>
            <a:off x="3867912" y="59161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8" name="Rectangle 37"/>
          <p:cNvSpPr/>
          <p:nvPr/>
        </p:nvSpPr>
        <p:spPr>
          <a:xfrm>
            <a:off x="6510528" y="59161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9" name="Rectangle 38"/>
          <p:cNvSpPr/>
          <p:nvPr/>
        </p:nvSpPr>
        <p:spPr>
          <a:xfrm>
            <a:off x="9153144" y="59161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0" name="Rectangle 39"/>
          <p:cNvSpPr/>
          <p:nvPr/>
        </p:nvSpPr>
        <p:spPr>
          <a:xfrm>
            <a:off x="11795760" y="59161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1" name="Rectangle 40"/>
          <p:cNvSpPr/>
          <p:nvPr/>
        </p:nvSpPr>
        <p:spPr>
          <a:xfrm>
            <a:off x="1225296" y="81930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2" name="Rectangle 41"/>
          <p:cNvSpPr/>
          <p:nvPr/>
        </p:nvSpPr>
        <p:spPr>
          <a:xfrm>
            <a:off x="3867912" y="81930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3" name="Rectangle 42"/>
          <p:cNvSpPr/>
          <p:nvPr/>
        </p:nvSpPr>
        <p:spPr>
          <a:xfrm>
            <a:off x="6510528" y="81930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4" name="Rectangle 43"/>
          <p:cNvSpPr/>
          <p:nvPr/>
        </p:nvSpPr>
        <p:spPr>
          <a:xfrm>
            <a:off x="9153144" y="81930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5" name="Rectangle 44"/>
          <p:cNvSpPr/>
          <p:nvPr/>
        </p:nvSpPr>
        <p:spPr>
          <a:xfrm>
            <a:off x="11795760" y="81930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6" name="Rectangle 45"/>
          <p:cNvSpPr/>
          <p:nvPr/>
        </p:nvSpPr>
        <p:spPr>
          <a:xfrm>
            <a:off x="1225296" y="105156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7" name="Rectangle 46"/>
          <p:cNvSpPr/>
          <p:nvPr/>
        </p:nvSpPr>
        <p:spPr>
          <a:xfrm>
            <a:off x="3867912" y="105156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8" name="Rectangle 47"/>
          <p:cNvSpPr/>
          <p:nvPr/>
        </p:nvSpPr>
        <p:spPr>
          <a:xfrm>
            <a:off x="6510528" y="105156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9" name="Rectangle 48"/>
          <p:cNvSpPr/>
          <p:nvPr/>
        </p:nvSpPr>
        <p:spPr>
          <a:xfrm>
            <a:off x="9153144" y="105156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50" name="Rectangle 49"/>
          <p:cNvSpPr/>
          <p:nvPr/>
        </p:nvSpPr>
        <p:spPr>
          <a:xfrm>
            <a:off x="11795760" y="105156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51" name="Rectangle 50"/>
          <p:cNvSpPr/>
          <p:nvPr/>
        </p:nvSpPr>
        <p:spPr>
          <a:xfrm>
            <a:off x="1316736" y="1508760"/>
            <a:ext cx="2423160" cy="5029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電話番号・メールアドレスを取得</a:t>
            </a:r>
          </a:p>
        </p:txBody>
      </p:sp>
      <p:sp>
        <p:nvSpPr>
          <p:cNvPr id="52" name="Rectangle 51"/>
          <p:cNvSpPr/>
          <p:nvPr/>
        </p:nvSpPr>
        <p:spPr>
          <a:xfrm>
            <a:off x="3959352" y="1508760"/>
            <a:ext cx="2423160" cy="32004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事前調査</a:t>
            </a:r>
          </a:p>
        </p:txBody>
      </p:sp>
      <p:sp>
        <p:nvSpPr>
          <p:cNvPr id="53" name="TextBox 52"/>
          <p:cNvSpPr txBox="1"/>
          <p:nvPr/>
        </p:nvSpPr>
        <p:spPr>
          <a:xfrm>
            <a:off x="3959352" y="1874519"/>
            <a:ext cx="2423160" cy="274320"/>
          </a:xfrm>
          <a:prstGeom prst="rect">
            <a:avLst/>
          </a:prstGeom>
          <a:noFill/>
        </p:spPr>
        <p:txBody>
          <a:bodyPr wrap="square" lIns="50800" rIns="50800" tIns="38100" bIns="38100"/>
          <a:lstStyle/>
          <a:p>
            <a:pPr algn="l"/>
            <a:r>
              <a:rPr sz="700" b="0">
                <a:solidFill>
                  <a:srgbClr val="888888"/>
                </a:solidFill>
                <a:latin typeface="Meiryo"/>
              </a:rPr>
              <a:t>※幅広に架電している印象</a:t>
            </a:r>
          </a:p>
        </p:txBody>
      </p:sp>
      <p:sp>
        <p:nvSpPr>
          <p:cNvPr id="54" name="Rectangle 53"/>
          <p:cNvSpPr/>
          <p:nvPr/>
        </p:nvSpPr>
        <p:spPr>
          <a:xfrm>
            <a:off x="3959352" y="2350008"/>
            <a:ext cx="2423160" cy="777240"/>
          </a:xfrm>
          <a:prstGeom prst="rect">
            <a:avLst/>
          </a:prstGeom>
          <a:solidFill>
            <a:srgbClr val="EAF2FF"/>
          </a:solidFill>
          <a:ln w="25400">
            <a:solidFill>
              <a:srgbClr val="2980B9"/>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【自動音声】
「こちらはMバンく BizSTATION法人窓口です。BizSTATIONを利用している方は1を押してください。承認実行権限を持っている方は1を押してください」</a:t>
            </a:r>
          </a:p>
        </p:txBody>
      </p:sp>
      <p:sp>
        <p:nvSpPr>
          <p:cNvPr id="55" name="Rectangle 54"/>
          <p:cNvSpPr/>
          <p:nvPr/>
        </p:nvSpPr>
        <p:spPr>
          <a:xfrm>
            <a:off x="6601968" y="2350008"/>
            <a:ext cx="2423160" cy="32004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「1」押下</a:t>
            </a:r>
          </a:p>
        </p:txBody>
      </p:sp>
      <p:sp>
        <p:nvSpPr>
          <p:cNvPr id="56" name="TextBox 55"/>
          <p:cNvSpPr txBox="1"/>
          <p:nvPr/>
        </p:nvSpPr>
        <p:spPr>
          <a:xfrm>
            <a:off x="6601968" y="2734056"/>
            <a:ext cx="2423160" cy="502920"/>
          </a:xfrm>
          <a:prstGeom prst="rect">
            <a:avLst/>
          </a:prstGeom>
          <a:noFill/>
        </p:spPr>
        <p:txBody>
          <a:bodyPr wrap="square" lIns="50800" rIns="50800" tIns="38100" bIns="38100"/>
          <a:lstStyle/>
          <a:p>
            <a:pPr algn="l"/>
            <a:r>
              <a:rPr sz="600" b="0">
                <a:solidFill>
                  <a:srgbClr val="888888"/>
                </a:solidFill>
                <a:latin typeface="Meiryo"/>
              </a:rPr>
              <a:t>※「1」以外を押下した人は、法人ダイレクトオフィス（コールセンター）の電話番号を案内される</a:t>
            </a:r>
          </a:p>
        </p:txBody>
      </p:sp>
      <p:sp>
        <p:nvSpPr>
          <p:cNvPr id="57" name="Rectangle 56"/>
          <p:cNvSpPr/>
          <p:nvPr/>
        </p:nvSpPr>
        <p:spPr>
          <a:xfrm>
            <a:off x="3959352" y="3319272"/>
            <a:ext cx="2423160" cy="64008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【有人対応】
「パソコン環境の更新が必要。現在口座の利用制限をしています。手続きを郵送していますが、届いてますか。更新されていないので電話しました」</a:t>
            </a:r>
          </a:p>
        </p:txBody>
      </p:sp>
      <p:sp>
        <p:nvSpPr>
          <p:cNvPr id="58" name="TextBox 57"/>
          <p:cNvSpPr txBox="1"/>
          <p:nvPr/>
        </p:nvSpPr>
        <p:spPr>
          <a:xfrm>
            <a:off x="3959352" y="3986784"/>
            <a:ext cx="2423160" cy="182880"/>
          </a:xfrm>
          <a:prstGeom prst="rect">
            <a:avLst/>
          </a:prstGeom>
          <a:noFill/>
        </p:spPr>
        <p:txBody>
          <a:bodyPr wrap="square" lIns="50800" rIns="50800" tIns="38100" bIns="38100"/>
          <a:lstStyle/>
          <a:p>
            <a:pPr algn="l"/>
            <a:r>
              <a:rPr sz="600" b="0">
                <a:solidFill>
                  <a:srgbClr val="888888"/>
                </a:solidFill>
                <a:latin typeface="Meiryo"/>
              </a:rPr>
              <a:t>※複数の誘導方法あり</a:t>
            </a:r>
          </a:p>
        </p:txBody>
      </p:sp>
      <p:sp>
        <p:nvSpPr>
          <p:cNvPr id="59" name="TextBox 58"/>
          <p:cNvSpPr txBox="1"/>
          <p:nvPr/>
        </p:nvSpPr>
        <p:spPr>
          <a:xfrm>
            <a:off x="3959352" y="4096512"/>
            <a:ext cx="2423160" cy="182880"/>
          </a:xfrm>
          <a:prstGeom prst="rect">
            <a:avLst/>
          </a:prstGeom>
          <a:noFill/>
        </p:spPr>
        <p:txBody>
          <a:bodyPr wrap="square" lIns="50800" rIns="50800" tIns="38100" bIns="38100"/>
          <a:lstStyle/>
          <a:p>
            <a:pPr algn="l"/>
            <a:r>
              <a:rPr sz="600" b="1">
                <a:solidFill>
                  <a:srgbClr val="C0392B"/>
                </a:solidFill>
                <a:latin typeface="Meiryo"/>
              </a:rPr>
              <a:t>※AI音声または有人対応（法人高額案件のため両方の可能性あり）</a:t>
            </a:r>
          </a:p>
        </p:txBody>
      </p:sp>
      <p:sp>
        <p:nvSpPr>
          <p:cNvPr id="60" name="Rectangle 59"/>
          <p:cNvSpPr/>
          <p:nvPr/>
        </p:nvSpPr>
        <p:spPr>
          <a:xfrm>
            <a:off x="3959352" y="4206240"/>
            <a:ext cx="2423160" cy="201168"/>
          </a:xfrm>
          <a:prstGeom prst="rect">
            <a:avLst/>
          </a:prstGeom>
          <a:solidFill>
            <a:srgbClr val="222222"/>
          </a:solidFill>
          <a:ln w="25400">
            <a:solidFill>
              <a:srgbClr val="2222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600" b="1">
                <a:solidFill>
                  <a:srgbClr val="FFFFFF"/>
                </a:solidFill>
                <a:latin typeface="Meiryo"/>
              </a:rPr>
              <a:t>🔑 攻撃の鍵：「口座制限」で恐怖→以降の判断力を奪う</a:t>
            </a:r>
          </a:p>
        </p:txBody>
      </p:sp>
      <p:sp>
        <p:nvSpPr>
          <p:cNvPr id="61" name="Diamond 60"/>
          <p:cNvSpPr/>
          <p:nvPr/>
        </p:nvSpPr>
        <p:spPr>
          <a:xfrm>
            <a:off x="4507992" y="4443984"/>
            <a:ext cx="1280160" cy="457200"/>
          </a:xfrm>
          <a:prstGeom prst="diamond">
            <a:avLst/>
          </a:prstGeom>
          <a:solidFill>
            <a:srgbClr val="FFF3CD"/>
          </a:solidFill>
          <a:ln w="1905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25400" rIns="25400" tIns="25400" bIns="25400"/>
          <a:lstStyle/>
          <a:p>
            <a:pPr algn="ctr"/>
            <a:r>
              <a:rPr sz="700" b="1">
                <a:latin typeface="Meiryo"/>
              </a:rPr>
              <a:t>メアド
入手済／未済？</a:t>
            </a:r>
          </a:p>
        </p:txBody>
      </p:sp>
      <p:sp>
        <p:nvSpPr>
          <p:cNvPr id="62" name="Rectangle 61"/>
          <p:cNvSpPr/>
          <p:nvPr/>
        </p:nvSpPr>
        <p:spPr>
          <a:xfrm>
            <a:off x="3959352" y="4937760"/>
            <a:ext cx="2423160" cy="36576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【未済の場合】
「手続きをメールで案内するので、メールアドレスを教えてください」</a:t>
            </a:r>
          </a:p>
        </p:txBody>
      </p:sp>
      <p:sp>
        <p:nvSpPr>
          <p:cNvPr id="63" name="Rectangle 62"/>
          <p:cNvSpPr/>
          <p:nvPr/>
        </p:nvSpPr>
        <p:spPr>
          <a:xfrm>
            <a:off x="3959352" y="5321808"/>
            <a:ext cx="2423160" cy="27432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600" b="0">
                <a:solidFill>
                  <a:srgbClr val="222222"/>
                </a:solidFill>
                <a:latin typeface="Meiryo"/>
              </a:rPr>
              <a:t>⚠ 破綻ポイント：BizSTATION契約時にメアド登録済み。銀行が聞く必要はない→手順②の恐怖で気づけない</a:t>
            </a:r>
          </a:p>
        </p:txBody>
      </p:sp>
      <p:sp>
        <p:nvSpPr>
          <p:cNvPr id="64" name="Rectangle 63"/>
          <p:cNvSpPr/>
          <p:nvPr/>
        </p:nvSpPr>
        <p:spPr>
          <a:xfrm>
            <a:off x="3959352" y="5614416"/>
            <a:ext cx="2423160" cy="201168"/>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 メール送付</a:t>
            </a:r>
          </a:p>
        </p:txBody>
      </p:sp>
      <p:sp>
        <p:nvSpPr>
          <p:cNvPr id="65" name="Rectangle 64"/>
          <p:cNvSpPr/>
          <p:nvPr/>
        </p:nvSpPr>
        <p:spPr>
          <a:xfrm>
            <a:off x="3959352" y="5833872"/>
            <a:ext cx="2423160" cy="137160"/>
          </a:xfrm>
          <a:prstGeom prst="rect">
            <a:avLst/>
          </a:prstGeom>
          <a:solidFill>
            <a:srgbClr val="FAFAFA"/>
          </a:solidFill>
          <a:ln w="25400">
            <a:solidFill>
              <a:srgbClr val="888888"/>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600" b="0">
                <a:solidFill>
                  <a:srgbClr val="222222"/>
                </a:solidFill>
                <a:latin typeface="Meiryo"/>
              </a:rPr>
              <a:t>件名①「【重要】BizSTATIONお客さま情報更新のお知らせ」</a:t>
            </a:r>
          </a:p>
        </p:txBody>
      </p:sp>
      <p:sp>
        <p:nvSpPr>
          <p:cNvPr id="66" name="Rectangle 65"/>
          <p:cNvSpPr/>
          <p:nvPr/>
        </p:nvSpPr>
        <p:spPr>
          <a:xfrm>
            <a:off x="3959352" y="5989320"/>
            <a:ext cx="2423160" cy="137160"/>
          </a:xfrm>
          <a:prstGeom prst="rect">
            <a:avLst/>
          </a:prstGeom>
          <a:solidFill>
            <a:srgbClr val="FAFAFA"/>
          </a:solidFill>
          <a:ln w="25400">
            <a:solidFill>
              <a:srgbClr val="888888"/>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600" b="0">
                <a:solidFill>
                  <a:srgbClr val="222222"/>
                </a:solidFill>
                <a:latin typeface="Meiryo"/>
              </a:rPr>
              <a:t>件名②「【Mバンく】IB安全利用案内（Rapport推奨）」</a:t>
            </a:r>
          </a:p>
        </p:txBody>
      </p:sp>
      <p:sp>
        <p:nvSpPr>
          <p:cNvPr id="67" name="Rectangle 66"/>
          <p:cNvSpPr/>
          <p:nvPr/>
        </p:nvSpPr>
        <p:spPr>
          <a:xfrm>
            <a:off x="6601968" y="4937760"/>
            <a:ext cx="242316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メールアドレスを伝える</a:t>
            </a:r>
          </a:p>
        </p:txBody>
      </p:sp>
      <p:sp>
        <p:nvSpPr>
          <p:cNvPr id="68" name="Rectangle 67"/>
          <p:cNvSpPr/>
          <p:nvPr/>
        </p:nvSpPr>
        <p:spPr>
          <a:xfrm>
            <a:off x="9244584" y="5614416"/>
            <a:ext cx="2423160" cy="32004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メール受信
（Bizデザインのメール）</a:t>
            </a:r>
          </a:p>
        </p:txBody>
      </p:sp>
      <p:sp>
        <p:nvSpPr>
          <p:cNvPr id="69" name="Rectangle 68"/>
          <p:cNvSpPr/>
          <p:nvPr/>
        </p:nvSpPr>
        <p:spPr>
          <a:xfrm>
            <a:off x="3959352" y="5961888"/>
            <a:ext cx="2423160" cy="45720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【有人対応】
「セキュリティ強化のためソフトインストールが必要です。メールのボタンをクリックしてください」</a:t>
            </a:r>
          </a:p>
        </p:txBody>
      </p:sp>
      <p:sp>
        <p:nvSpPr>
          <p:cNvPr id="70" name="Rectangle 69"/>
          <p:cNvSpPr/>
          <p:nvPr/>
        </p:nvSpPr>
        <p:spPr>
          <a:xfrm>
            <a:off x="3959352" y="6464808"/>
            <a:ext cx="2423160" cy="27432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「セットアップをクリックしてください」</a:t>
            </a:r>
          </a:p>
        </p:txBody>
      </p:sp>
      <p:sp>
        <p:nvSpPr>
          <p:cNvPr id="71" name="Rectangle 70"/>
          <p:cNvSpPr/>
          <p:nvPr/>
        </p:nvSpPr>
        <p:spPr>
          <a:xfrm>
            <a:off x="3959352" y="6784848"/>
            <a:ext cx="2423160" cy="27432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「実行するをクリックしてください」</a:t>
            </a:r>
          </a:p>
        </p:txBody>
      </p:sp>
      <p:sp>
        <p:nvSpPr>
          <p:cNvPr id="72" name="Rectangle 71"/>
          <p:cNvSpPr/>
          <p:nvPr/>
        </p:nvSpPr>
        <p:spPr>
          <a:xfrm>
            <a:off x="9244584" y="5961888"/>
            <a:ext cx="2423160" cy="32004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クリック → ブラウザ表示
（Bizデザイン重要なお知らせ画面）</a:t>
            </a:r>
          </a:p>
        </p:txBody>
      </p:sp>
      <p:sp>
        <p:nvSpPr>
          <p:cNvPr id="73" name="Rectangle 72"/>
          <p:cNvSpPr/>
          <p:nvPr/>
        </p:nvSpPr>
        <p:spPr>
          <a:xfrm>
            <a:off x="9244584" y="6327648"/>
            <a:ext cx="2423160" cy="32004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【DL】リモートツールのセットアップファイル setup.msi がダウンロードされる</a:t>
            </a:r>
          </a:p>
        </p:txBody>
      </p:sp>
      <p:sp>
        <p:nvSpPr>
          <p:cNvPr id="74" name="Rectangle 73"/>
          <p:cNvSpPr/>
          <p:nvPr/>
        </p:nvSpPr>
        <p:spPr>
          <a:xfrm>
            <a:off x="9244584" y="6693408"/>
            <a:ext cx="2423160" cy="36576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【実行】msiファイル実行 → ポップアップ「実行する/実行しない」
※「不明な発行元」と表示</a:t>
            </a:r>
          </a:p>
        </p:txBody>
      </p:sp>
      <p:sp>
        <p:nvSpPr>
          <p:cNvPr id="75" name="Rectangle 74"/>
          <p:cNvSpPr/>
          <p:nvPr/>
        </p:nvSpPr>
        <p:spPr>
          <a:xfrm>
            <a:off x="9244584" y="7104888"/>
            <a:ext cx="2423160" cy="27432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1">
                <a:solidFill>
                  <a:srgbClr val="222222"/>
                </a:solidFill>
                <a:latin typeface="Meiryo"/>
              </a:rPr>
              <a:t>【インストール】ScreenConnect（リモートツール）がインストールされる</a:t>
            </a:r>
          </a:p>
        </p:txBody>
      </p:sp>
      <p:sp>
        <p:nvSpPr>
          <p:cNvPr id="76" name="Rectangle 75"/>
          <p:cNvSpPr/>
          <p:nvPr/>
        </p:nvSpPr>
        <p:spPr>
          <a:xfrm>
            <a:off x="9244584" y="7424928"/>
            <a:ext cx="2423160" cy="777240"/>
          </a:xfrm>
          <a:prstGeom prst="rect">
            <a:avLst/>
          </a:prstGeom>
          <a:solidFill>
            <a:srgbClr val="C0392B"/>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FFFFFF"/>
                </a:solidFill>
                <a:latin typeface="Meiryo"/>
              </a:rPr>
              <a:t>『Mバンく　現在セキュリティ保護強化に伴うシステム更新ならびに、お客さま情報の確認、更新処理を実施しております。処理完了までの間一時的に画面が遅延または停止する場合がありますが、正常な処理となりますのでそのままお待ちくださいますようお願い申し上げます。』</a:t>
            </a:r>
          </a:p>
        </p:txBody>
      </p:sp>
      <p:sp>
        <p:nvSpPr>
          <p:cNvPr id="77" name="Rectangle 76"/>
          <p:cNvSpPr/>
          <p:nvPr/>
        </p:nvSpPr>
        <p:spPr>
          <a:xfrm>
            <a:off x="3959352" y="8238744"/>
            <a:ext cx="2423160" cy="36576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「手続きを進めるにはSMS認証が必要なため、お客さまの携帯電話の番号を教えてください」</a:t>
            </a:r>
          </a:p>
        </p:txBody>
      </p:sp>
      <p:sp>
        <p:nvSpPr>
          <p:cNvPr id="78" name="Rectangle 77"/>
          <p:cNvSpPr/>
          <p:nvPr/>
        </p:nvSpPr>
        <p:spPr>
          <a:xfrm>
            <a:off x="3959352" y="8650224"/>
            <a:ext cx="2423160" cy="201168"/>
          </a:xfrm>
          <a:prstGeom prst="rect">
            <a:avLst/>
          </a:prstGeom>
          <a:solidFill>
            <a:srgbClr val="F4ECF7"/>
          </a:solidFill>
          <a:ln w="2540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【SMS送付】</a:t>
            </a:r>
          </a:p>
        </p:txBody>
      </p:sp>
      <p:sp>
        <p:nvSpPr>
          <p:cNvPr id="79" name="Rectangle 78"/>
          <p:cNvSpPr/>
          <p:nvPr/>
        </p:nvSpPr>
        <p:spPr>
          <a:xfrm>
            <a:off x="3959352" y="8906256"/>
            <a:ext cx="2423160" cy="27432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「認証画面を表示するためリンクをクリックしてください」</a:t>
            </a:r>
          </a:p>
        </p:txBody>
      </p:sp>
      <p:sp>
        <p:nvSpPr>
          <p:cNvPr id="80" name="Rectangle 79"/>
          <p:cNvSpPr/>
          <p:nvPr/>
        </p:nvSpPr>
        <p:spPr>
          <a:xfrm>
            <a:off x="3959352" y="9226296"/>
            <a:ext cx="2423160" cy="41148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「認証のため契約者番号、利用者ID、ログインPW、取引実行PW、OTPを入力してください」</a:t>
            </a:r>
          </a:p>
        </p:txBody>
      </p:sp>
      <p:sp>
        <p:nvSpPr>
          <p:cNvPr id="81" name="Rectangle 80"/>
          <p:cNvSpPr/>
          <p:nvPr/>
        </p:nvSpPr>
        <p:spPr>
          <a:xfrm>
            <a:off x="3959352" y="9701784"/>
            <a:ext cx="2423160" cy="41148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1">
                <a:solidFill>
                  <a:srgbClr val="222222"/>
                </a:solidFill>
                <a:latin typeface="Meiryo"/>
              </a:rPr>
              <a:t>【犯人ブラウザ】赤い画面の裏でBizにアクセス、窃取したOTPを入力</a:t>
            </a:r>
          </a:p>
        </p:txBody>
      </p:sp>
      <p:sp>
        <p:nvSpPr>
          <p:cNvPr id="82" name="Rectangle 81"/>
          <p:cNvSpPr/>
          <p:nvPr/>
        </p:nvSpPr>
        <p:spPr>
          <a:xfrm>
            <a:off x="6601968" y="8238744"/>
            <a:ext cx="242316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電話番号を伝える</a:t>
            </a:r>
          </a:p>
        </p:txBody>
      </p:sp>
      <p:sp>
        <p:nvSpPr>
          <p:cNvPr id="83" name="Rectangle 82"/>
          <p:cNvSpPr/>
          <p:nvPr/>
        </p:nvSpPr>
        <p:spPr>
          <a:xfrm>
            <a:off x="11887200" y="8650224"/>
            <a:ext cx="2423160" cy="274320"/>
          </a:xfrm>
          <a:prstGeom prst="rect">
            <a:avLst/>
          </a:prstGeom>
          <a:solidFill>
            <a:srgbClr val="F4ECF7"/>
          </a:solidFill>
          <a:ln w="2540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SMS受信 → リンクをクリック</a:t>
            </a:r>
          </a:p>
        </p:txBody>
      </p:sp>
      <p:sp>
        <p:nvSpPr>
          <p:cNvPr id="84" name="Rectangle 83"/>
          <p:cNvSpPr/>
          <p:nvPr/>
        </p:nvSpPr>
        <p:spPr>
          <a:xfrm>
            <a:off x="11887200" y="8997696"/>
            <a:ext cx="2423160" cy="64008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開いた画面に認証情報を入力
・契約者番号
・利用者ID
・ログインPW
・取引実行PW
・OTP</a:t>
            </a:r>
          </a:p>
        </p:txBody>
      </p:sp>
      <p:sp>
        <p:nvSpPr>
          <p:cNvPr id="85" name="Rectangle 84"/>
          <p:cNvSpPr/>
          <p:nvPr/>
        </p:nvSpPr>
        <p:spPr>
          <a:xfrm>
            <a:off x="3959352" y="10588752"/>
            <a:ext cx="2423160" cy="411480"/>
          </a:xfrm>
          <a:prstGeom prst="rect">
            <a:avLst/>
          </a:prstGeom>
          <a:solidFill>
            <a:srgbClr val="C0392B"/>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ctr"/>
            <a:r>
              <a:rPr sz="1400" b="1">
                <a:solidFill>
                  <a:srgbClr val="FFFFFF"/>
                </a:solidFill>
                <a:latin typeface="Meiryo"/>
              </a:rPr>
              <a:t>不正送金</a:t>
            </a:r>
          </a:p>
        </p:txBody>
      </p:sp>
      <p:sp>
        <p:nvSpPr>
          <p:cNvPr id="86" name="TextBox 85"/>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不審な電話手口 ｜ A3横印刷対応</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274320"/>
            <a:ext cx="15124176" cy="548640"/>
          </a:xfrm>
          <a:prstGeom prst="rect">
            <a:avLst/>
          </a:prstGeom>
          <a:noFill/>
        </p:spPr>
        <p:txBody>
          <a:bodyPr wrap="square" lIns="50800" rIns="50800" tIns="38100" bIns="38100"/>
          <a:lstStyle/>
          <a:p>
            <a:pPr algn="ctr"/>
            <a:r>
              <a:rPr sz="2200" b="1">
                <a:solidFill>
                  <a:srgbClr val="C0392B"/>
                </a:solidFill>
                <a:latin typeface="Meiryo"/>
              </a:rPr>
              <a:t>なぜ見破れないのか — 銀行の正規フローとの類似性</a:t>
            </a:r>
          </a:p>
        </p:txBody>
      </p:sp>
      <p:sp>
        <p:nvSpPr>
          <p:cNvPr id="3" name="TextBox 2"/>
          <p:cNvSpPr txBox="1"/>
          <p:nvPr/>
        </p:nvSpPr>
        <p:spPr>
          <a:xfrm>
            <a:off x="0" y="777240"/>
            <a:ext cx="15124176" cy="365760"/>
          </a:xfrm>
          <a:prstGeom prst="rect">
            <a:avLst/>
          </a:prstGeom>
          <a:noFill/>
        </p:spPr>
        <p:txBody>
          <a:bodyPr wrap="square" lIns="50800" rIns="50800" tIns="38100" bIns="38100"/>
          <a:lstStyle/>
          <a:p>
            <a:pPr algn="ctr"/>
            <a:r>
              <a:rPr sz="1200" b="0">
                <a:solidFill>
                  <a:srgbClr val="888888"/>
                </a:solidFill>
                <a:latin typeface="Meiryo"/>
              </a:rPr>
              <a:t>銀行自身が顧客を「自動音声の指示に従う」行動パターンに教育してきた結果、この攻撃が成立している。</a:t>
            </a:r>
          </a:p>
        </p:txBody>
      </p:sp>
      <p:sp>
        <p:nvSpPr>
          <p:cNvPr id="4" name="Rectangle 3"/>
          <p:cNvSpPr/>
          <p:nvPr/>
        </p:nvSpPr>
        <p:spPr>
          <a:xfrm>
            <a:off x="1371600" y="1463040"/>
            <a:ext cx="411480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銀行の正規フロー</a:t>
            </a:r>
          </a:p>
        </p:txBody>
      </p:sp>
      <p:sp>
        <p:nvSpPr>
          <p:cNvPr id="5" name="Rectangle 4"/>
          <p:cNvSpPr/>
          <p:nvPr/>
        </p:nvSpPr>
        <p:spPr>
          <a:xfrm>
            <a:off x="5486400" y="1463040"/>
            <a:ext cx="411480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この攻撃の手口</a:t>
            </a:r>
          </a:p>
        </p:txBody>
      </p:sp>
      <p:sp>
        <p:nvSpPr>
          <p:cNvPr id="6" name="Rectangle 5"/>
          <p:cNvSpPr/>
          <p:nvPr/>
        </p:nvSpPr>
        <p:spPr>
          <a:xfrm>
            <a:off x="9601200" y="1463040"/>
            <a:ext cx="411480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顧客の体験</a:t>
            </a:r>
          </a:p>
        </p:txBody>
      </p:sp>
      <p:sp>
        <p:nvSpPr>
          <p:cNvPr id="7" name="Rectangle 6"/>
          <p:cNvSpPr/>
          <p:nvPr/>
        </p:nvSpPr>
        <p:spPr>
          <a:xfrm>
            <a:off x="1371600" y="1965960"/>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自動音声で用件を振り分け</a:t>
            </a:r>
          </a:p>
        </p:txBody>
      </p:sp>
      <p:sp>
        <p:nvSpPr>
          <p:cNvPr id="8" name="Rectangle 7"/>
          <p:cNvSpPr/>
          <p:nvPr/>
        </p:nvSpPr>
        <p:spPr>
          <a:xfrm>
            <a:off x="5486400" y="1965960"/>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自動音声で権限者を選別</a:t>
            </a:r>
          </a:p>
        </p:txBody>
      </p:sp>
      <p:sp>
        <p:nvSpPr>
          <p:cNvPr id="9" name="Rectangle 8"/>
          <p:cNvSpPr/>
          <p:nvPr/>
        </p:nvSpPr>
        <p:spPr>
          <a:xfrm>
            <a:off x="9601200" y="1965960"/>
            <a:ext cx="411480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10" name="Rectangle 9"/>
          <p:cNvSpPr/>
          <p:nvPr/>
        </p:nvSpPr>
        <p:spPr>
          <a:xfrm>
            <a:off x="1371600" y="2468880"/>
            <a:ext cx="4114800" cy="50292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番号を押して選択</a:t>
            </a:r>
          </a:p>
        </p:txBody>
      </p:sp>
      <p:sp>
        <p:nvSpPr>
          <p:cNvPr id="11" name="Rectangle 10"/>
          <p:cNvSpPr/>
          <p:nvPr/>
        </p:nvSpPr>
        <p:spPr>
          <a:xfrm>
            <a:off x="5486400" y="2468880"/>
            <a:ext cx="4114800" cy="50292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「1」を押す</a:t>
            </a:r>
          </a:p>
        </p:txBody>
      </p:sp>
      <p:sp>
        <p:nvSpPr>
          <p:cNvPr id="12" name="Rectangle 11"/>
          <p:cNvSpPr/>
          <p:nvPr/>
        </p:nvSpPr>
        <p:spPr>
          <a:xfrm>
            <a:off x="9601200" y="2468880"/>
            <a:ext cx="4114800" cy="50292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13" name="Rectangle 12"/>
          <p:cNvSpPr/>
          <p:nvPr/>
        </p:nvSpPr>
        <p:spPr>
          <a:xfrm>
            <a:off x="1371600" y="2971800"/>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担当者と話す</a:t>
            </a:r>
          </a:p>
        </p:txBody>
      </p:sp>
      <p:sp>
        <p:nvSpPr>
          <p:cNvPr id="14" name="Rectangle 13"/>
          <p:cNvSpPr/>
          <p:nvPr/>
        </p:nvSpPr>
        <p:spPr>
          <a:xfrm>
            <a:off x="5486400" y="2971800"/>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犯人（AI音声/有人）と話す</a:t>
            </a:r>
          </a:p>
        </p:txBody>
      </p:sp>
      <p:sp>
        <p:nvSpPr>
          <p:cNvPr id="15" name="Rectangle 14"/>
          <p:cNvSpPr/>
          <p:nvPr/>
        </p:nvSpPr>
        <p:spPr>
          <a:xfrm>
            <a:off x="9601200" y="2971800"/>
            <a:ext cx="411480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16" name="Rectangle 15"/>
          <p:cNvSpPr/>
          <p:nvPr/>
        </p:nvSpPr>
        <p:spPr>
          <a:xfrm>
            <a:off x="1371600" y="3474720"/>
            <a:ext cx="4114800" cy="50292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指示に従って手続き</a:t>
            </a:r>
          </a:p>
        </p:txBody>
      </p:sp>
      <p:sp>
        <p:nvSpPr>
          <p:cNvPr id="17" name="Rectangle 16"/>
          <p:cNvSpPr/>
          <p:nvPr/>
        </p:nvSpPr>
        <p:spPr>
          <a:xfrm>
            <a:off x="5486400" y="3474720"/>
            <a:ext cx="4114800" cy="50292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指示に従ってインストール</a:t>
            </a:r>
          </a:p>
        </p:txBody>
      </p:sp>
      <p:sp>
        <p:nvSpPr>
          <p:cNvPr id="18" name="Rectangle 17"/>
          <p:cNvSpPr/>
          <p:nvPr/>
        </p:nvSpPr>
        <p:spPr>
          <a:xfrm>
            <a:off x="9601200" y="3474720"/>
            <a:ext cx="4114800" cy="50292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19" name="Rectangle 18"/>
          <p:cNvSpPr/>
          <p:nvPr/>
        </p:nvSpPr>
        <p:spPr>
          <a:xfrm>
            <a:off x="1371600" y="3977639"/>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本人確認で情報を伝える</a:t>
            </a:r>
          </a:p>
        </p:txBody>
      </p:sp>
      <p:sp>
        <p:nvSpPr>
          <p:cNvPr id="20" name="Rectangle 19"/>
          <p:cNvSpPr/>
          <p:nvPr/>
        </p:nvSpPr>
        <p:spPr>
          <a:xfrm>
            <a:off x="5486400" y="3977639"/>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認証情報をすべて入力</a:t>
            </a:r>
          </a:p>
        </p:txBody>
      </p:sp>
      <p:sp>
        <p:nvSpPr>
          <p:cNvPr id="21" name="Rectangle 20"/>
          <p:cNvSpPr/>
          <p:nvPr/>
        </p:nvSpPr>
        <p:spPr>
          <a:xfrm>
            <a:off x="9601200" y="3977639"/>
            <a:ext cx="411480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22" name="Rectangle 21"/>
          <p:cNvSpPr/>
          <p:nvPr/>
        </p:nvSpPr>
        <p:spPr>
          <a:xfrm>
            <a:off x="1371600" y="4754880"/>
            <a:ext cx="1234440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600" b="1">
                <a:solidFill>
                  <a:srgbClr val="FFFFFF"/>
                </a:solidFill>
                <a:latin typeface="Meiryo"/>
              </a:rPr>
              <a:t>構造的問題：正規と詐欺の区別が顧客側ではほぼ不可能</a:t>
            </a:r>
          </a:p>
        </p:txBody>
      </p:sp>
      <p:sp>
        <p:nvSpPr>
          <p:cNvPr id="23" name="TextBox 22"/>
          <p:cNvSpPr txBox="1"/>
          <p:nvPr/>
        </p:nvSpPr>
        <p:spPr>
          <a:xfrm>
            <a:off x="1371600" y="5486400"/>
            <a:ext cx="12344400" cy="1645920"/>
          </a:xfrm>
          <a:prstGeom prst="rect">
            <a:avLst/>
          </a:prstGeom>
          <a:noFill/>
        </p:spPr>
        <p:txBody>
          <a:bodyPr wrap="square" lIns="50800" rIns="50800" tIns="38100" bIns="38100"/>
          <a:lstStyle/>
          <a:p>
            <a:pPr algn="l"/>
            <a:r>
              <a:rPr sz="1300" b="0">
                <a:solidFill>
                  <a:srgbClr val="222222"/>
                </a:solidFill>
                <a:latin typeface="Meiryo"/>
              </a:rPr>
              <a:t>銀行側が取るべき対策：
① 架電を原則廃止し「銀行からは電話しません」と宣言する
② やむを得ない架電は事前にIB画面やアプリで通知してから行う
③「電話でソフトインストールを指示することはない」を明示する（現状周知不足）</a:t>
            </a:r>
          </a:p>
        </p:txBody>
      </p:sp>
      <p:sp>
        <p:nvSpPr>
          <p:cNvPr id="24" name="TextBox 23"/>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銀行の正規フローとの類似性</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274320"/>
            <a:ext cx="15124176" cy="548640"/>
          </a:xfrm>
          <a:prstGeom prst="rect">
            <a:avLst/>
          </a:prstGeom>
          <a:noFill/>
        </p:spPr>
        <p:txBody>
          <a:bodyPr wrap="square" lIns="50800" rIns="50800" tIns="38100" bIns="38100"/>
          <a:lstStyle/>
          <a:p>
            <a:pPr algn="ctr"/>
            <a:r>
              <a:rPr sz="2200" b="1">
                <a:solidFill>
                  <a:srgbClr val="E67E22"/>
                </a:solidFill>
                <a:latin typeface="Meiryo"/>
              </a:rPr>
              <a:t>手順②の心理操作 — どう答えても犯人のシナリオに乗る設計</a:t>
            </a:r>
          </a:p>
        </p:txBody>
      </p:sp>
      <p:sp>
        <p:nvSpPr>
          <p:cNvPr id="3" name="TextBox 2"/>
          <p:cNvSpPr txBox="1"/>
          <p:nvPr/>
        </p:nvSpPr>
        <p:spPr>
          <a:xfrm>
            <a:off x="0" y="777240"/>
            <a:ext cx="15124176" cy="365760"/>
          </a:xfrm>
          <a:prstGeom prst="rect">
            <a:avLst/>
          </a:prstGeom>
          <a:noFill/>
        </p:spPr>
        <p:txBody>
          <a:bodyPr wrap="square" lIns="50800" rIns="50800" tIns="38100" bIns="38100"/>
          <a:lstStyle/>
          <a:p>
            <a:pPr algn="ctr"/>
            <a:r>
              <a:rPr sz="1200" b="0">
                <a:solidFill>
                  <a:srgbClr val="888888"/>
                </a:solidFill>
                <a:latin typeface="Meiryo"/>
              </a:rPr>
              <a:t>4つのセリフそれぞれに明確な狙いがあり、被害者の心理的退路を塞いでいる。</a:t>
            </a:r>
          </a:p>
        </p:txBody>
      </p:sp>
      <p:sp>
        <p:nvSpPr>
          <p:cNvPr id="4" name="Rectangle 3"/>
          <p:cNvSpPr/>
          <p:nvPr/>
        </p:nvSpPr>
        <p:spPr>
          <a:xfrm>
            <a:off x="1371600" y="1371600"/>
            <a:ext cx="4114800" cy="5943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セリフ</a:t>
            </a:r>
          </a:p>
        </p:txBody>
      </p:sp>
      <p:sp>
        <p:nvSpPr>
          <p:cNvPr id="5" name="Rectangle 4"/>
          <p:cNvSpPr/>
          <p:nvPr/>
        </p:nvSpPr>
        <p:spPr>
          <a:xfrm>
            <a:off x="5486400" y="1371600"/>
            <a:ext cx="1828800" cy="5943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狙い</a:t>
            </a:r>
          </a:p>
        </p:txBody>
      </p:sp>
      <p:sp>
        <p:nvSpPr>
          <p:cNvPr id="6" name="Rectangle 5"/>
          <p:cNvSpPr/>
          <p:nvPr/>
        </p:nvSpPr>
        <p:spPr>
          <a:xfrm>
            <a:off x="7315200" y="1371600"/>
            <a:ext cx="6400800" cy="5943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効果</a:t>
            </a:r>
          </a:p>
        </p:txBody>
      </p:sp>
      <p:sp>
        <p:nvSpPr>
          <p:cNvPr id="7" name="Rectangle 6"/>
          <p:cNvSpPr/>
          <p:nvPr/>
        </p:nvSpPr>
        <p:spPr>
          <a:xfrm>
            <a:off x="1371600" y="1965960"/>
            <a:ext cx="4114800" cy="5943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「パソコン環境の更新が必要」</a:t>
            </a:r>
          </a:p>
        </p:txBody>
      </p:sp>
      <p:sp>
        <p:nvSpPr>
          <p:cNvPr id="8" name="Rectangle 7"/>
          <p:cNvSpPr/>
          <p:nvPr/>
        </p:nvSpPr>
        <p:spPr>
          <a:xfrm>
            <a:off x="5486400" y="1965960"/>
            <a:ext cx="1828800" cy="594360"/>
          </a:xfrm>
          <a:prstGeom prst="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伏線</a:t>
            </a:r>
          </a:p>
        </p:txBody>
      </p:sp>
      <p:sp>
        <p:nvSpPr>
          <p:cNvPr id="9" name="Rectangle 8"/>
          <p:cNvSpPr/>
          <p:nvPr/>
        </p:nvSpPr>
        <p:spPr>
          <a:xfrm>
            <a:off x="7315200" y="1965960"/>
            <a:ext cx="6400800" cy="5943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後のソフトインストール（手順⑤⑥）を自然に受け入れさせる</a:t>
            </a:r>
          </a:p>
        </p:txBody>
      </p:sp>
      <p:sp>
        <p:nvSpPr>
          <p:cNvPr id="10" name="Rectangle 9"/>
          <p:cNvSpPr/>
          <p:nvPr/>
        </p:nvSpPr>
        <p:spPr>
          <a:xfrm>
            <a:off x="1371600" y="2560320"/>
            <a:ext cx="4114800" cy="5943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「口座の利用制限をしています」</a:t>
            </a:r>
          </a:p>
        </p:txBody>
      </p:sp>
      <p:sp>
        <p:nvSpPr>
          <p:cNvPr id="11" name="Rectangle 10"/>
          <p:cNvSpPr/>
          <p:nvPr/>
        </p:nvSpPr>
        <p:spPr>
          <a:xfrm>
            <a:off x="5486400" y="2560320"/>
            <a:ext cx="1828800" cy="5943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恐怖</a:t>
            </a:r>
          </a:p>
        </p:txBody>
      </p:sp>
      <p:sp>
        <p:nvSpPr>
          <p:cNvPr id="12" name="Rectangle 11"/>
          <p:cNvSpPr/>
          <p:nvPr/>
        </p:nvSpPr>
        <p:spPr>
          <a:xfrm>
            <a:off x="7315200" y="2560320"/>
            <a:ext cx="6400800" cy="5943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「今すぐ対応しなきゃ」と焦らせ、冷静な判断を奪う</a:t>
            </a:r>
          </a:p>
        </p:txBody>
      </p:sp>
      <p:sp>
        <p:nvSpPr>
          <p:cNvPr id="13" name="Rectangle 12"/>
          <p:cNvSpPr/>
          <p:nvPr/>
        </p:nvSpPr>
        <p:spPr>
          <a:xfrm>
            <a:off x="1371600" y="3154680"/>
            <a:ext cx="4114800" cy="5943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「手続きを郵送しましたが、届いてますか」</a:t>
            </a:r>
          </a:p>
        </p:txBody>
      </p:sp>
      <p:sp>
        <p:nvSpPr>
          <p:cNvPr id="14" name="Rectangle 13"/>
          <p:cNvSpPr/>
          <p:nvPr/>
        </p:nvSpPr>
        <p:spPr>
          <a:xfrm>
            <a:off x="5486400" y="3154680"/>
            <a:ext cx="1828800" cy="59436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負い目</a:t>
            </a:r>
          </a:p>
        </p:txBody>
      </p:sp>
      <p:sp>
        <p:nvSpPr>
          <p:cNvPr id="15" name="Rectangle 14"/>
          <p:cNvSpPr/>
          <p:nvPr/>
        </p:nvSpPr>
        <p:spPr>
          <a:xfrm>
            <a:off x="7315200" y="3154680"/>
            <a:ext cx="6400800" cy="5943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被害者に「自分が見落とした」と思わせ、指示に従いやすくする</a:t>
            </a:r>
          </a:p>
        </p:txBody>
      </p:sp>
      <p:sp>
        <p:nvSpPr>
          <p:cNvPr id="16" name="Rectangle 15"/>
          <p:cNvSpPr/>
          <p:nvPr/>
        </p:nvSpPr>
        <p:spPr>
          <a:xfrm>
            <a:off x="1371600" y="3749039"/>
            <a:ext cx="4114800" cy="5943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「更新されていないので電話しました」</a:t>
            </a:r>
          </a:p>
        </p:txBody>
      </p:sp>
      <p:sp>
        <p:nvSpPr>
          <p:cNvPr id="17" name="Rectangle 16"/>
          <p:cNvSpPr/>
          <p:nvPr/>
        </p:nvSpPr>
        <p:spPr>
          <a:xfrm>
            <a:off x="5486400" y="3749039"/>
            <a:ext cx="1828800" cy="594360"/>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正当化</a:t>
            </a:r>
          </a:p>
        </p:txBody>
      </p:sp>
      <p:sp>
        <p:nvSpPr>
          <p:cNvPr id="18" name="Rectangle 17"/>
          <p:cNvSpPr/>
          <p:nvPr/>
        </p:nvSpPr>
        <p:spPr>
          <a:xfrm>
            <a:off x="7315200" y="3749039"/>
            <a:ext cx="6400800" cy="5943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架電がフォローアップに見え、銀行の丁寧な対応と錯覚させる</a:t>
            </a:r>
          </a:p>
        </p:txBody>
      </p:sp>
      <p:sp>
        <p:nvSpPr>
          <p:cNvPr id="19" name="Rectangle 18"/>
          <p:cNvSpPr/>
          <p:nvPr/>
        </p:nvSpPr>
        <p:spPr>
          <a:xfrm>
            <a:off x="1371600" y="4617720"/>
            <a:ext cx="12344400" cy="4114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l"/>
            <a:r>
              <a:rPr sz="1300" b="1">
                <a:solidFill>
                  <a:srgbClr val="222222"/>
                </a:solidFill>
                <a:latin typeface="Meiryo"/>
              </a:rPr>
              <a:t>「届いてますか？」への回答パターン</a:t>
            </a:r>
          </a:p>
        </p:txBody>
      </p:sp>
      <p:sp>
        <p:nvSpPr>
          <p:cNvPr id="20" name="Rectangle 19"/>
          <p:cNvSpPr/>
          <p:nvPr/>
        </p:nvSpPr>
        <p:spPr>
          <a:xfrm>
            <a:off x="1371600" y="5074920"/>
            <a:ext cx="5943600" cy="457200"/>
          </a:xfrm>
          <a:prstGeom prst="rect">
            <a:avLst/>
          </a:prstGeom>
          <a:solidFill>
            <a:srgbClr val="FFFFFF"/>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「届いてない」（大多数）
→「届いていないなら仕方ない、電話で手続きしましょう」</a:t>
            </a:r>
          </a:p>
        </p:txBody>
      </p:sp>
      <p:sp>
        <p:nvSpPr>
          <p:cNvPr id="21" name="Rectangle 20"/>
          <p:cNvSpPr/>
          <p:nvPr/>
        </p:nvSpPr>
        <p:spPr>
          <a:xfrm>
            <a:off x="7406640" y="5074920"/>
            <a:ext cx="137160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 シナリオ続行</a:t>
            </a:r>
          </a:p>
        </p:txBody>
      </p:sp>
      <p:sp>
        <p:nvSpPr>
          <p:cNvPr id="22" name="Rectangle 21"/>
          <p:cNvSpPr/>
          <p:nvPr/>
        </p:nvSpPr>
        <p:spPr>
          <a:xfrm>
            <a:off x="8961120" y="5074920"/>
            <a:ext cx="3474720" cy="457200"/>
          </a:xfrm>
          <a:prstGeom prst="rect">
            <a:avLst/>
          </a:prstGeom>
          <a:solidFill>
            <a:srgbClr val="FFFFFF"/>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「届いてる」（稀）
→「では確認しながら進めましょう」</a:t>
            </a:r>
          </a:p>
        </p:txBody>
      </p:sp>
      <p:sp>
        <p:nvSpPr>
          <p:cNvPr id="23" name="Rectangle 22"/>
          <p:cNvSpPr/>
          <p:nvPr/>
        </p:nvSpPr>
        <p:spPr>
          <a:xfrm>
            <a:off x="12527280" y="5074920"/>
            <a:ext cx="118872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 シナリオ続行</a:t>
            </a:r>
          </a:p>
        </p:txBody>
      </p:sp>
      <p:sp>
        <p:nvSpPr>
          <p:cNvPr id="24" name="Rectangle 23"/>
          <p:cNvSpPr/>
          <p:nvPr/>
        </p:nvSpPr>
        <p:spPr>
          <a:xfrm>
            <a:off x="1371600" y="5715000"/>
            <a:ext cx="1234440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500" b="1">
                <a:solidFill>
                  <a:srgbClr val="FFFFFF"/>
                </a:solidFill>
                <a:latin typeface="Meiryo"/>
              </a:rPr>
              <a:t>どう答えても犯人のシナリオから逸脱できない — 顧客には見破れない</a:t>
            </a:r>
          </a:p>
        </p:txBody>
      </p:sp>
      <p:sp>
        <p:nvSpPr>
          <p:cNvPr id="25" name="TextBox 24"/>
          <p:cNvSpPr txBox="1"/>
          <p:nvPr/>
        </p:nvSpPr>
        <p:spPr>
          <a:xfrm>
            <a:off x="1371600" y="6355079"/>
            <a:ext cx="12344400" cy="548640"/>
          </a:xfrm>
          <a:prstGeom prst="rect">
            <a:avLst/>
          </a:prstGeom>
          <a:noFill/>
        </p:spPr>
        <p:txBody>
          <a:bodyPr wrap="square" lIns="50800" rIns="50800" tIns="38100" bIns="38100"/>
          <a:lstStyle/>
          <a:p>
            <a:pPr algn="l"/>
            <a:r>
              <a:rPr sz="1200" b="0">
                <a:solidFill>
                  <a:srgbClr val="222222"/>
                </a:solidFill>
                <a:latin typeface="Meiryo"/>
              </a:rPr>
              <a:t>これも銀行が日常的に行う「書類を郵送しました → 届きましたか → 未対応なのでお電話」と同一パターンであり、顧客には見破れない</a:t>
            </a:r>
          </a:p>
        </p:txBody>
      </p:sp>
      <p:sp>
        <p:nvSpPr>
          <p:cNvPr id="26" name="TextBox 25"/>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手順②の心理操作テクニック</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400" b="1">
                <a:solidFill>
                  <a:srgbClr val="C0392B"/>
                </a:solidFill>
                <a:latin typeface="Meiryo"/>
              </a:rPr>
              <a:t>顧客はこの攻撃を見破れるか？</a:t>
            </a:r>
          </a:p>
        </p:txBody>
      </p:sp>
      <p:sp>
        <p:nvSpPr>
          <p:cNvPr id="3" name="Rectangle 2"/>
          <p:cNvSpPr/>
          <p:nvPr/>
        </p:nvSpPr>
        <p:spPr>
          <a:xfrm>
            <a:off x="731520" y="914400"/>
            <a:ext cx="91440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手順</a:t>
            </a:r>
          </a:p>
        </p:txBody>
      </p:sp>
      <p:sp>
        <p:nvSpPr>
          <p:cNvPr id="4" name="Rectangle 3"/>
          <p:cNvSpPr/>
          <p:nvPr/>
        </p:nvSpPr>
        <p:spPr>
          <a:xfrm>
            <a:off x="1645920" y="914400"/>
            <a:ext cx="347472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内容</a:t>
            </a:r>
          </a:p>
        </p:txBody>
      </p:sp>
      <p:sp>
        <p:nvSpPr>
          <p:cNvPr id="5" name="Rectangle 4"/>
          <p:cNvSpPr/>
          <p:nvPr/>
        </p:nvSpPr>
        <p:spPr>
          <a:xfrm>
            <a:off x="5120640" y="914400"/>
            <a:ext cx="164592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見破れるか</a:t>
            </a:r>
          </a:p>
        </p:txBody>
      </p:sp>
      <p:sp>
        <p:nvSpPr>
          <p:cNvPr id="6" name="Rectangle 5"/>
          <p:cNvSpPr/>
          <p:nvPr/>
        </p:nvSpPr>
        <p:spPr>
          <a:xfrm>
            <a:off x="6766559" y="914400"/>
            <a:ext cx="594360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理由</a:t>
            </a:r>
          </a:p>
        </p:txBody>
      </p:sp>
      <p:sp>
        <p:nvSpPr>
          <p:cNvPr id="7" name="Rectangle 6"/>
          <p:cNvSpPr/>
          <p:nvPr/>
        </p:nvSpPr>
        <p:spPr>
          <a:xfrm>
            <a:off x="731520" y="1371600"/>
            <a:ext cx="91440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①</a:t>
            </a:r>
          </a:p>
        </p:txBody>
      </p:sp>
      <p:sp>
        <p:nvSpPr>
          <p:cNvPr id="8" name="Rectangle 7"/>
          <p:cNvSpPr/>
          <p:nvPr/>
        </p:nvSpPr>
        <p:spPr>
          <a:xfrm>
            <a:off x="1645920" y="1371600"/>
            <a:ext cx="347472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自動音声「1を押してください」</a:t>
            </a:r>
          </a:p>
        </p:txBody>
      </p:sp>
      <p:sp>
        <p:nvSpPr>
          <p:cNvPr id="9" name="Rectangle 8"/>
          <p:cNvSpPr/>
          <p:nvPr/>
        </p:nvSpPr>
        <p:spPr>
          <a:xfrm>
            <a:off x="5120640" y="1371600"/>
            <a:ext cx="164592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不可能</a:t>
            </a:r>
          </a:p>
        </p:txBody>
      </p:sp>
      <p:sp>
        <p:nvSpPr>
          <p:cNvPr id="10" name="Rectangle 9"/>
          <p:cNvSpPr/>
          <p:nvPr/>
        </p:nvSpPr>
        <p:spPr>
          <a:xfrm>
            <a:off x="6766559" y="1371600"/>
            <a:ext cx="594360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銀行も同じことをする</a:t>
            </a:r>
          </a:p>
        </p:txBody>
      </p:sp>
      <p:sp>
        <p:nvSpPr>
          <p:cNvPr id="11" name="Rectangle 10"/>
          <p:cNvSpPr/>
          <p:nvPr/>
        </p:nvSpPr>
        <p:spPr>
          <a:xfrm>
            <a:off x="731520" y="1828800"/>
            <a:ext cx="914400" cy="45720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②</a:t>
            </a:r>
          </a:p>
        </p:txBody>
      </p:sp>
      <p:sp>
        <p:nvSpPr>
          <p:cNvPr id="12" name="Rectangle 11"/>
          <p:cNvSpPr/>
          <p:nvPr/>
        </p:nvSpPr>
        <p:spPr>
          <a:xfrm>
            <a:off x="1645920" y="1828800"/>
            <a:ext cx="347472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「口座制限中、郵送したが届いてますか」</a:t>
            </a:r>
          </a:p>
        </p:txBody>
      </p:sp>
      <p:sp>
        <p:nvSpPr>
          <p:cNvPr id="13" name="Rectangle 12"/>
          <p:cNvSpPr/>
          <p:nvPr/>
        </p:nvSpPr>
        <p:spPr>
          <a:xfrm>
            <a:off x="5120640" y="1828800"/>
            <a:ext cx="164592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不可能</a:t>
            </a:r>
          </a:p>
        </p:txBody>
      </p:sp>
      <p:sp>
        <p:nvSpPr>
          <p:cNvPr id="14" name="Rectangle 13"/>
          <p:cNvSpPr/>
          <p:nvPr/>
        </p:nvSpPr>
        <p:spPr>
          <a:xfrm>
            <a:off x="6766559" y="1828800"/>
            <a:ext cx="594360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銀行も同じことを言う</a:t>
            </a:r>
          </a:p>
        </p:txBody>
      </p:sp>
      <p:sp>
        <p:nvSpPr>
          <p:cNvPr id="15" name="Rectangle 14"/>
          <p:cNvSpPr/>
          <p:nvPr/>
        </p:nvSpPr>
        <p:spPr>
          <a:xfrm>
            <a:off x="731520" y="2286000"/>
            <a:ext cx="91440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③</a:t>
            </a:r>
          </a:p>
        </p:txBody>
      </p:sp>
      <p:sp>
        <p:nvSpPr>
          <p:cNvPr id="16" name="Rectangle 15"/>
          <p:cNvSpPr/>
          <p:nvPr/>
        </p:nvSpPr>
        <p:spPr>
          <a:xfrm>
            <a:off x="1645920" y="2286000"/>
            <a:ext cx="347472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「メールで案内します」メアド聞き出し</a:t>
            </a:r>
          </a:p>
        </p:txBody>
      </p:sp>
      <p:sp>
        <p:nvSpPr>
          <p:cNvPr id="17" name="Rectangle 16"/>
          <p:cNvSpPr/>
          <p:nvPr/>
        </p:nvSpPr>
        <p:spPr>
          <a:xfrm>
            <a:off x="5120640" y="2286000"/>
            <a:ext cx="164592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ほぼ不可能</a:t>
            </a:r>
          </a:p>
        </p:txBody>
      </p:sp>
      <p:sp>
        <p:nvSpPr>
          <p:cNvPr id="18" name="Rectangle 17"/>
          <p:cNvSpPr/>
          <p:nvPr/>
        </p:nvSpPr>
        <p:spPr>
          <a:xfrm>
            <a:off x="6766559" y="2286000"/>
            <a:ext cx="594360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銀行も確認することがある</a:t>
            </a:r>
          </a:p>
        </p:txBody>
      </p:sp>
      <p:sp>
        <p:nvSpPr>
          <p:cNvPr id="19" name="Rectangle 18"/>
          <p:cNvSpPr/>
          <p:nvPr/>
        </p:nvSpPr>
        <p:spPr>
          <a:xfrm>
            <a:off x="731520" y="2743200"/>
            <a:ext cx="914400" cy="45720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④</a:t>
            </a:r>
          </a:p>
        </p:txBody>
      </p:sp>
      <p:sp>
        <p:nvSpPr>
          <p:cNvPr id="20" name="Rectangle 19"/>
          <p:cNvSpPr/>
          <p:nvPr/>
        </p:nvSpPr>
        <p:spPr>
          <a:xfrm>
            <a:off x="1645920" y="2743200"/>
            <a:ext cx="347472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Bizデザインの偽メール送付</a:t>
            </a:r>
          </a:p>
        </p:txBody>
      </p:sp>
      <p:sp>
        <p:nvSpPr>
          <p:cNvPr id="21" name="Rectangle 20"/>
          <p:cNvSpPr/>
          <p:nvPr/>
        </p:nvSpPr>
        <p:spPr>
          <a:xfrm>
            <a:off x="5120640" y="2743200"/>
            <a:ext cx="1645920" cy="45720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困難</a:t>
            </a:r>
          </a:p>
        </p:txBody>
      </p:sp>
      <p:sp>
        <p:nvSpPr>
          <p:cNvPr id="22" name="Rectangle 21"/>
          <p:cNvSpPr/>
          <p:nvPr/>
        </p:nvSpPr>
        <p:spPr>
          <a:xfrm>
            <a:off x="6766559" y="2743200"/>
            <a:ext cx="594360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精巧に模倣されている</a:t>
            </a:r>
          </a:p>
        </p:txBody>
      </p:sp>
      <p:sp>
        <p:nvSpPr>
          <p:cNvPr id="23" name="Rectangle 22"/>
          <p:cNvSpPr/>
          <p:nvPr/>
        </p:nvSpPr>
        <p:spPr>
          <a:xfrm>
            <a:off x="731520" y="3200400"/>
            <a:ext cx="91440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⑤</a:t>
            </a:r>
          </a:p>
        </p:txBody>
      </p:sp>
      <p:sp>
        <p:nvSpPr>
          <p:cNvPr id="24" name="Rectangle 23"/>
          <p:cNvSpPr/>
          <p:nvPr/>
        </p:nvSpPr>
        <p:spPr>
          <a:xfrm>
            <a:off x="1645920" y="3200400"/>
            <a:ext cx="347472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「ソフトをインストールしてください」</a:t>
            </a:r>
          </a:p>
        </p:txBody>
      </p:sp>
      <p:sp>
        <p:nvSpPr>
          <p:cNvPr id="25" name="Rectangle 24"/>
          <p:cNvSpPr/>
          <p:nvPr/>
        </p:nvSpPr>
        <p:spPr>
          <a:xfrm>
            <a:off x="5120640" y="3200400"/>
            <a:ext cx="1645920" cy="45720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唯一のチャンス</a:t>
            </a:r>
          </a:p>
        </p:txBody>
      </p:sp>
      <p:sp>
        <p:nvSpPr>
          <p:cNvPr id="26" name="Rectangle 25"/>
          <p:cNvSpPr/>
          <p:nvPr/>
        </p:nvSpPr>
        <p:spPr>
          <a:xfrm>
            <a:off x="6766559" y="3200400"/>
            <a:ext cx="594360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ただし既に心理的に従う状態</a:t>
            </a:r>
          </a:p>
        </p:txBody>
      </p:sp>
      <p:sp>
        <p:nvSpPr>
          <p:cNvPr id="27" name="Rectangle 26"/>
          <p:cNvSpPr/>
          <p:nvPr/>
        </p:nvSpPr>
        <p:spPr>
          <a:xfrm>
            <a:off x="731520" y="3657600"/>
            <a:ext cx="914400" cy="45720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⑥</a:t>
            </a:r>
          </a:p>
        </p:txBody>
      </p:sp>
      <p:sp>
        <p:nvSpPr>
          <p:cNvPr id="28" name="Rectangle 27"/>
          <p:cNvSpPr/>
          <p:nvPr/>
        </p:nvSpPr>
        <p:spPr>
          <a:xfrm>
            <a:off x="1645920" y="3657600"/>
            <a:ext cx="347472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msi実行「不明な発行元」の警告</a:t>
            </a:r>
          </a:p>
        </p:txBody>
      </p:sp>
      <p:sp>
        <p:nvSpPr>
          <p:cNvPr id="29" name="Rectangle 28"/>
          <p:cNvSpPr/>
          <p:nvPr/>
        </p:nvSpPr>
        <p:spPr>
          <a:xfrm>
            <a:off x="5120640" y="3657600"/>
            <a:ext cx="1645920" cy="45720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技術的には可能</a:t>
            </a:r>
          </a:p>
        </p:txBody>
      </p:sp>
      <p:sp>
        <p:nvSpPr>
          <p:cNvPr id="30" name="Rectangle 29"/>
          <p:cNvSpPr/>
          <p:nvPr/>
        </p:nvSpPr>
        <p:spPr>
          <a:xfrm>
            <a:off x="6766559" y="3657600"/>
            <a:ext cx="594360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電話で「実行して」と言われ突破される</a:t>
            </a:r>
          </a:p>
        </p:txBody>
      </p:sp>
      <p:sp>
        <p:nvSpPr>
          <p:cNvPr id="31" name="Rectangle 30"/>
          <p:cNvSpPr/>
          <p:nvPr/>
        </p:nvSpPr>
        <p:spPr>
          <a:xfrm>
            <a:off x="731520" y="4114800"/>
            <a:ext cx="91440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⑦</a:t>
            </a:r>
          </a:p>
        </p:txBody>
      </p:sp>
      <p:sp>
        <p:nvSpPr>
          <p:cNvPr id="32" name="Rectangle 31"/>
          <p:cNvSpPr/>
          <p:nvPr/>
        </p:nvSpPr>
        <p:spPr>
          <a:xfrm>
            <a:off x="1645920" y="4114800"/>
            <a:ext cx="347472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赤い画面「お待ちください」</a:t>
            </a:r>
          </a:p>
        </p:txBody>
      </p:sp>
      <p:sp>
        <p:nvSpPr>
          <p:cNvPr id="33" name="Rectangle 32"/>
          <p:cNvSpPr/>
          <p:nvPr/>
        </p:nvSpPr>
        <p:spPr>
          <a:xfrm>
            <a:off x="5120640" y="4114800"/>
            <a:ext cx="1645920" cy="45720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困難</a:t>
            </a:r>
          </a:p>
        </p:txBody>
      </p:sp>
      <p:sp>
        <p:nvSpPr>
          <p:cNvPr id="34" name="Rectangle 33"/>
          <p:cNvSpPr/>
          <p:nvPr/>
        </p:nvSpPr>
        <p:spPr>
          <a:xfrm>
            <a:off x="6766559" y="4114800"/>
            <a:ext cx="594360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もう完全に信用している</a:t>
            </a:r>
          </a:p>
        </p:txBody>
      </p:sp>
      <p:sp>
        <p:nvSpPr>
          <p:cNvPr id="35" name="Rectangle 34"/>
          <p:cNvSpPr/>
          <p:nvPr/>
        </p:nvSpPr>
        <p:spPr>
          <a:xfrm>
            <a:off x="731520" y="4572000"/>
            <a:ext cx="914400" cy="45720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⑧</a:t>
            </a:r>
          </a:p>
        </p:txBody>
      </p:sp>
      <p:sp>
        <p:nvSpPr>
          <p:cNvPr id="36" name="Rectangle 35"/>
          <p:cNvSpPr/>
          <p:nvPr/>
        </p:nvSpPr>
        <p:spPr>
          <a:xfrm>
            <a:off x="1645920" y="4572000"/>
            <a:ext cx="347472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認証情報5要素を一画面で入力</a:t>
            </a:r>
          </a:p>
        </p:txBody>
      </p:sp>
      <p:sp>
        <p:nvSpPr>
          <p:cNvPr id="37" name="Rectangle 36"/>
          <p:cNvSpPr/>
          <p:nvPr/>
        </p:nvSpPr>
        <p:spPr>
          <a:xfrm>
            <a:off x="5120640" y="4572000"/>
            <a:ext cx="1645920" cy="45720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本来は異常</a:t>
            </a:r>
          </a:p>
        </p:txBody>
      </p:sp>
      <p:sp>
        <p:nvSpPr>
          <p:cNvPr id="38" name="Rectangle 37"/>
          <p:cNvSpPr/>
          <p:nvPr/>
        </p:nvSpPr>
        <p:spPr>
          <a:xfrm>
            <a:off x="6766559" y="4572000"/>
            <a:ext cx="594360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焦りと電話指示で気づく余裕がない</a:t>
            </a:r>
          </a:p>
        </p:txBody>
      </p:sp>
      <p:sp>
        <p:nvSpPr>
          <p:cNvPr id="39" name="Rectangle 38"/>
          <p:cNvSpPr/>
          <p:nvPr/>
        </p:nvSpPr>
        <p:spPr>
          <a:xfrm>
            <a:off x="731520" y="5257800"/>
            <a:ext cx="11978640" cy="5029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FFFFFF"/>
                </a:solidFill>
                <a:latin typeface="Meiryo"/>
              </a:rPr>
              <a:t>唯一の見破りポイント（手順⑤⑥）に到達した時点で、冷静に判断できる心理状態ではない</a:t>
            </a:r>
          </a:p>
        </p:txBody>
      </p:sp>
      <p:sp>
        <p:nvSpPr>
          <p:cNvPr id="40" name="Rectangle 39"/>
          <p:cNvSpPr/>
          <p:nvPr/>
        </p:nvSpPr>
        <p:spPr>
          <a:xfrm>
            <a:off x="731520" y="5943600"/>
            <a:ext cx="5852160" cy="36576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222222"/>
                </a:solidFill>
                <a:latin typeface="Meiryo"/>
              </a:rPr>
              <a:t>顧客側（ほぼ無力）</a:t>
            </a:r>
          </a:p>
        </p:txBody>
      </p:sp>
      <p:sp>
        <p:nvSpPr>
          <p:cNvPr id="41" name="Rectangle 40"/>
          <p:cNvSpPr/>
          <p:nvPr/>
        </p:nvSpPr>
        <p:spPr>
          <a:xfrm>
            <a:off x="731520" y="6309360"/>
            <a:ext cx="585216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888888"/>
                </a:solidFill>
                <a:latin typeface="Meiryo"/>
              </a:rPr>
              <a:t>「気をつける」「注意喚起」では構造的に防げない</a:t>
            </a:r>
          </a:p>
        </p:txBody>
      </p:sp>
      <p:sp>
        <p:nvSpPr>
          <p:cNvPr id="42" name="Rectangle 41"/>
          <p:cNvSpPr/>
          <p:nvPr/>
        </p:nvSpPr>
        <p:spPr>
          <a:xfrm>
            <a:off x="6858000" y="5943600"/>
            <a:ext cx="5852160" cy="3657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銀行/企業側（ここでしか止められない）</a:t>
            </a:r>
          </a:p>
        </p:txBody>
      </p:sp>
      <p:sp>
        <p:nvSpPr>
          <p:cNvPr id="43" name="Rectangle 42"/>
          <p:cNvSpPr/>
          <p:nvPr/>
        </p:nvSpPr>
        <p:spPr>
          <a:xfrm>
            <a:off x="6858000" y="6309360"/>
            <a:ext cx="5852160" cy="146304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① ScreenConnectの通信をNWで検知
② 送金時の振る舞い検知（時間帯、金額、送金先）
③ 架電を廃止し「電話では手続きしない」と宣言
④ リモートツール実行をEDRでブロック
⑤ SMS認証のリンク先ドメインをホワイトリスト化</a:t>
            </a:r>
          </a:p>
        </p:txBody>
      </p:sp>
      <p:sp>
        <p:nvSpPr>
          <p:cNvPr id="44" name="Rectangle 43"/>
          <p:cNvSpPr/>
          <p:nvPr/>
        </p:nvSpPr>
        <p:spPr>
          <a:xfrm>
            <a:off x="731520" y="7955279"/>
            <a:ext cx="1197864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FFFFFF"/>
                </a:solidFill>
                <a:latin typeface="Meiryo"/>
              </a:rPr>
              <a:t>結論：「顧客が気をつければ防げる」は幻想 — 銀行側のシステム対策でしか止められない</a:t>
            </a:r>
          </a:p>
        </p:txBody>
      </p:sp>
      <p:sp>
        <p:nvSpPr>
          <p:cNvPr id="45" name="TextBox 44"/>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顧客は見破れるか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400" b="1">
                <a:solidFill>
                  <a:srgbClr val="C0392B"/>
                </a:solidFill>
                <a:latin typeface="Meiryo"/>
              </a:rPr>
              <a:t>1本の電話 — つないだまま全手順を完了させる</a:t>
            </a:r>
          </a:p>
        </p:txBody>
      </p:sp>
      <p:sp>
        <p:nvSpPr>
          <p:cNvPr id="3" name="TextBox 2"/>
          <p:cNvSpPr txBox="1"/>
          <p:nvPr/>
        </p:nvSpPr>
        <p:spPr>
          <a:xfrm>
            <a:off x="0" y="685800"/>
            <a:ext cx="15124176" cy="365760"/>
          </a:xfrm>
          <a:prstGeom prst="rect">
            <a:avLst/>
          </a:prstGeom>
          <a:noFill/>
        </p:spPr>
        <p:txBody>
          <a:bodyPr wrap="square" lIns="50800" rIns="50800" tIns="38100" bIns="38100"/>
          <a:lstStyle/>
          <a:p>
            <a:pPr algn="ctr"/>
            <a:r>
              <a:rPr sz="1200" b="0">
                <a:solidFill>
                  <a:srgbClr val="888888"/>
                </a:solidFill>
                <a:latin typeface="Meiryo"/>
              </a:rPr>
              <a:t>この攻撃は「9つの手順」ではなく、1本の電話の中で起きる1つの連続した攻撃である。</a:t>
            </a:r>
          </a:p>
        </p:txBody>
      </p:sp>
      <p:sp>
        <p:nvSpPr>
          <p:cNvPr id="4" name="Rectangle 3"/>
          <p:cNvSpPr/>
          <p:nvPr/>
        </p:nvSpPr>
        <p:spPr>
          <a:xfrm>
            <a:off x="914400" y="1188720"/>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①  自動音声で架電</a:t>
            </a:r>
          </a:p>
        </p:txBody>
      </p:sp>
      <p:sp>
        <p:nvSpPr>
          <p:cNvPr id="5" name="Rectangle 4"/>
          <p:cNvSpPr/>
          <p:nvPr/>
        </p:nvSpPr>
        <p:spPr>
          <a:xfrm>
            <a:off x="914400" y="1600200"/>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②  心理操作（口座制限中）</a:t>
            </a:r>
          </a:p>
        </p:txBody>
      </p:sp>
      <p:sp>
        <p:nvSpPr>
          <p:cNvPr id="6" name="Rectangle 5"/>
          <p:cNvSpPr/>
          <p:nvPr/>
        </p:nvSpPr>
        <p:spPr>
          <a:xfrm>
            <a:off x="914400" y="2011680"/>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③  メアド聞き出し＋メール送付</a:t>
            </a:r>
          </a:p>
        </p:txBody>
      </p:sp>
      <p:sp>
        <p:nvSpPr>
          <p:cNvPr id="7" name="Rectangle 6"/>
          <p:cNvSpPr/>
          <p:nvPr/>
        </p:nvSpPr>
        <p:spPr>
          <a:xfrm>
            <a:off x="914400" y="2423160"/>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④  「メールを開いてください」</a:t>
            </a:r>
          </a:p>
        </p:txBody>
      </p:sp>
      <p:sp>
        <p:nvSpPr>
          <p:cNvPr id="8" name="Rectangle 7"/>
          <p:cNvSpPr/>
          <p:nvPr/>
        </p:nvSpPr>
        <p:spPr>
          <a:xfrm>
            <a:off x="914400" y="2834639"/>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⑤  「インストールしてください」</a:t>
            </a:r>
          </a:p>
        </p:txBody>
      </p:sp>
      <p:sp>
        <p:nvSpPr>
          <p:cNvPr id="9" name="Rectangle 8"/>
          <p:cNvSpPr/>
          <p:nvPr/>
        </p:nvSpPr>
        <p:spPr>
          <a:xfrm>
            <a:off x="914400" y="3246120"/>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⑥  「実行してください」</a:t>
            </a:r>
          </a:p>
        </p:txBody>
      </p:sp>
      <p:sp>
        <p:nvSpPr>
          <p:cNvPr id="10" name="Rectangle 9"/>
          <p:cNvSpPr/>
          <p:nvPr/>
        </p:nvSpPr>
        <p:spPr>
          <a:xfrm>
            <a:off x="914400" y="3657600"/>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⑦  赤い画面表示</a:t>
            </a:r>
          </a:p>
        </p:txBody>
      </p:sp>
      <p:sp>
        <p:nvSpPr>
          <p:cNvPr id="11" name="Rectangle 10"/>
          <p:cNvSpPr/>
          <p:nvPr/>
        </p:nvSpPr>
        <p:spPr>
          <a:xfrm>
            <a:off x="914400" y="4069079"/>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⑧  「携帯番号を教えて」</a:t>
            </a:r>
          </a:p>
        </p:txBody>
      </p:sp>
      <p:sp>
        <p:nvSpPr>
          <p:cNvPr id="12" name="Rectangle 11"/>
          <p:cNvSpPr/>
          <p:nvPr/>
        </p:nvSpPr>
        <p:spPr>
          <a:xfrm>
            <a:off x="914400" y="4480559"/>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⑨  「認証情報を入力して」</a:t>
            </a:r>
          </a:p>
        </p:txBody>
      </p:sp>
      <p:sp>
        <p:nvSpPr>
          <p:cNvPr id="13" name="Rectangle 12"/>
          <p:cNvSpPr/>
          <p:nvPr/>
        </p:nvSpPr>
        <p:spPr>
          <a:xfrm>
            <a:off x="914400" y="4892040"/>
            <a:ext cx="5029200" cy="38404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l"/>
            <a:r>
              <a:rPr sz="1100" b="1">
                <a:solidFill>
                  <a:srgbClr val="FFFFFF"/>
                </a:solidFill>
                <a:latin typeface="Meiryo"/>
              </a:rPr>
              <a:t>  不正送金</a:t>
            </a:r>
          </a:p>
        </p:txBody>
      </p:sp>
      <p:sp>
        <p:nvSpPr>
          <p:cNvPr id="14" name="Rectangle 13"/>
          <p:cNvSpPr/>
          <p:nvPr/>
        </p:nvSpPr>
        <p:spPr>
          <a:xfrm>
            <a:off x="6126480" y="1188720"/>
            <a:ext cx="457200" cy="408736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15" name="TextBox 14"/>
          <p:cNvSpPr txBox="1"/>
          <p:nvPr/>
        </p:nvSpPr>
        <p:spPr>
          <a:xfrm>
            <a:off x="6035040" y="1280160"/>
            <a:ext cx="640080" cy="274320"/>
          </a:xfrm>
          <a:prstGeom prst="rect">
            <a:avLst/>
          </a:prstGeom>
          <a:noFill/>
        </p:spPr>
        <p:txBody>
          <a:bodyPr wrap="square" lIns="50800" rIns="50800" tIns="38100" bIns="38100"/>
          <a:lstStyle/>
          <a:p>
            <a:pPr algn="ctr"/>
            <a:r>
              <a:rPr sz="800" b="1">
                <a:solidFill>
                  <a:srgbClr val="FFFFFF"/>
                </a:solidFill>
                <a:latin typeface="Meiryo"/>
              </a:rPr>
              <a:t>電話接続</a:t>
            </a:r>
          </a:p>
        </p:txBody>
      </p:sp>
      <p:sp>
        <p:nvSpPr>
          <p:cNvPr id="16" name="TextBox 15"/>
          <p:cNvSpPr txBox="1"/>
          <p:nvPr/>
        </p:nvSpPr>
        <p:spPr>
          <a:xfrm>
            <a:off x="5852160" y="2823667"/>
            <a:ext cx="1005840" cy="457200"/>
          </a:xfrm>
          <a:prstGeom prst="rect">
            <a:avLst/>
          </a:prstGeom>
          <a:noFill/>
        </p:spPr>
        <p:txBody>
          <a:bodyPr wrap="square" lIns="50800" rIns="50800" tIns="38100" bIns="38100"/>
          <a:lstStyle/>
          <a:p>
            <a:pPr algn="ctr"/>
            <a:r>
              <a:rPr sz="900" b="1">
                <a:solidFill>
                  <a:srgbClr val="FFFFFF"/>
                </a:solidFill>
                <a:latin typeface="Meiryo"/>
              </a:rPr>
              <a:t>ずっと
電話が
つながっている</a:t>
            </a:r>
          </a:p>
        </p:txBody>
      </p:sp>
      <p:sp>
        <p:nvSpPr>
          <p:cNvPr id="17" name="Rectangle 16"/>
          <p:cNvSpPr/>
          <p:nvPr/>
        </p:nvSpPr>
        <p:spPr>
          <a:xfrm>
            <a:off x="7315200" y="1188720"/>
            <a:ext cx="685800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電話をつないだままにする5つの効果</a:t>
            </a:r>
          </a:p>
        </p:txBody>
      </p:sp>
      <p:sp>
        <p:nvSpPr>
          <p:cNvPr id="18" name="Rectangle 17"/>
          <p:cNvSpPr/>
          <p:nvPr/>
        </p:nvSpPr>
        <p:spPr>
          <a:xfrm>
            <a:off x="7315200" y="1691640"/>
            <a:ext cx="2286000" cy="5029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考える隙を与えない</a:t>
            </a:r>
          </a:p>
        </p:txBody>
      </p:sp>
      <p:sp>
        <p:nvSpPr>
          <p:cNvPr id="19" name="Rectangle 18"/>
          <p:cNvSpPr/>
          <p:nvPr/>
        </p:nvSpPr>
        <p:spPr>
          <a:xfrm>
            <a:off x="9601200" y="1691640"/>
            <a:ext cx="4572000" cy="50292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電話を切ったら冷静になる。切らせない</a:t>
            </a:r>
          </a:p>
        </p:txBody>
      </p:sp>
      <p:sp>
        <p:nvSpPr>
          <p:cNvPr id="20" name="Rectangle 19"/>
          <p:cNvSpPr/>
          <p:nvPr/>
        </p:nvSpPr>
        <p:spPr>
          <a:xfrm>
            <a:off x="7315200" y="2194560"/>
            <a:ext cx="2286000" cy="50292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リアルタイム制御</a:t>
            </a:r>
          </a:p>
        </p:txBody>
      </p:sp>
      <p:sp>
        <p:nvSpPr>
          <p:cNvPr id="21" name="Rectangle 20"/>
          <p:cNvSpPr/>
          <p:nvPr/>
        </p:nvSpPr>
        <p:spPr>
          <a:xfrm>
            <a:off x="9601200" y="2194560"/>
            <a:ext cx="4572000" cy="50292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被害者の画面状況に合わせて次の指示を出せる</a:t>
            </a:r>
          </a:p>
        </p:txBody>
      </p:sp>
      <p:sp>
        <p:nvSpPr>
          <p:cNvPr id="22" name="Rectangle 21"/>
          <p:cNvSpPr/>
          <p:nvPr/>
        </p:nvSpPr>
        <p:spPr>
          <a:xfrm>
            <a:off x="7315200" y="2697480"/>
            <a:ext cx="2286000" cy="502920"/>
          </a:xfrm>
          <a:prstGeom prst="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離脱防止</a:t>
            </a:r>
          </a:p>
        </p:txBody>
      </p:sp>
      <p:sp>
        <p:nvSpPr>
          <p:cNvPr id="23" name="Rectangle 22"/>
          <p:cNvSpPr/>
          <p:nvPr/>
        </p:nvSpPr>
        <p:spPr>
          <a:xfrm>
            <a:off x="9601200" y="2697480"/>
            <a:ext cx="4572000" cy="50292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「このままお待ちください」で引き留められる</a:t>
            </a:r>
          </a:p>
        </p:txBody>
      </p:sp>
      <p:sp>
        <p:nvSpPr>
          <p:cNvPr id="24" name="Rectangle 23"/>
          <p:cNvSpPr/>
          <p:nvPr/>
        </p:nvSpPr>
        <p:spPr>
          <a:xfrm>
            <a:off x="7315200" y="3200400"/>
            <a:ext cx="2286000" cy="502920"/>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第三者への相談を防ぐ</a:t>
            </a:r>
          </a:p>
        </p:txBody>
      </p:sp>
      <p:sp>
        <p:nvSpPr>
          <p:cNvPr id="25" name="Rectangle 24"/>
          <p:cNvSpPr/>
          <p:nvPr/>
        </p:nvSpPr>
        <p:spPr>
          <a:xfrm>
            <a:off x="9601200" y="3200400"/>
            <a:ext cx="4572000" cy="50292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電話中なので同僚や家族に相談できない</a:t>
            </a:r>
          </a:p>
        </p:txBody>
      </p:sp>
      <p:sp>
        <p:nvSpPr>
          <p:cNvPr id="26" name="Rectangle 25"/>
          <p:cNvSpPr/>
          <p:nvPr/>
        </p:nvSpPr>
        <p:spPr>
          <a:xfrm>
            <a:off x="7315200" y="3703320"/>
            <a:ext cx="2286000" cy="50292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信頼の維持</a:t>
            </a:r>
          </a:p>
        </p:txBody>
      </p:sp>
      <p:sp>
        <p:nvSpPr>
          <p:cNvPr id="27" name="Rectangle 26"/>
          <p:cNvSpPr/>
          <p:nvPr/>
        </p:nvSpPr>
        <p:spPr>
          <a:xfrm>
            <a:off x="9601200" y="3703320"/>
            <a:ext cx="4572000" cy="50292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銀行員が丁寧に付き添ってくれている感覚</a:t>
            </a:r>
          </a:p>
        </p:txBody>
      </p:sp>
      <p:sp>
        <p:nvSpPr>
          <p:cNvPr id="28" name="Rectangle 27"/>
          <p:cNvSpPr/>
          <p:nvPr/>
        </p:nvSpPr>
        <p:spPr>
          <a:xfrm>
            <a:off x="7315200" y="4434840"/>
            <a:ext cx="6858000" cy="36576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もし電話が切れたら（攻撃失敗）</a:t>
            </a:r>
          </a:p>
        </p:txBody>
      </p:sp>
      <p:sp>
        <p:nvSpPr>
          <p:cNvPr id="29" name="Rectangle 28"/>
          <p:cNvSpPr/>
          <p:nvPr/>
        </p:nvSpPr>
        <p:spPr>
          <a:xfrm>
            <a:off x="7315200" y="4800600"/>
            <a:ext cx="6858000" cy="82296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 「本当に銀行からの電話だったのか？」と疑問に思う
→ 銀行の公式番号にかけ直す
→ 同僚や上司に相談する
→ ネットで調べる</a:t>
            </a:r>
          </a:p>
        </p:txBody>
      </p:sp>
      <p:sp>
        <p:nvSpPr>
          <p:cNvPr id="30" name="Rectangle 29"/>
          <p:cNvSpPr/>
          <p:nvPr/>
        </p:nvSpPr>
        <p:spPr>
          <a:xfrm>
            <a:off x="914400" y="5806440"/>
            <a:ext cx="1325880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被害者の体験：「銀行の担当者に電話で付き添ってもらいながら手続きをした」— それが攻撃だったとは気づかない</a:t>
            </a:r>
          </a:p>
        </p:txBody>
      </p:sp>
      <p:sp>
        <p:nvSpPr>
          <p:cNvPr id="31" name="TextBox 30"/>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1本の電話の構造</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200" b="1">
                <a:solidFill>
                  <a:srgbClr val="C0392B"/>
                </a:solidFill>
                <a:latin typeface="Meiryo"/>
              </a:rPr>
              <a:t>手順④ フィッシングメール — セキュリティ対策も電話1本で無力化</a:t>
            </a:r>
          </a:p>
        </p:txBody>
      </p:sp>
      <p:sp>
        <p:nvSpPr>
          <p:cNvPr id="3" name="TextBox 2"/>
          <p:cNvSpPr txBox="1"/>
          <p:nvPr/>
        </p:nvSpPr>
        <p:spPr>
          <a:xfrm>
            <a:off x="0" y="685800"/>
            <a:ext cx="15124176" cy="365760"/>
          </a:xfrm>
          <a:prstGeom prst="rect">
            <a:avLst/>
          </a:prstGeom>
          <a:noFill/>
        </p:spPr>
        <p:txBody>
          <a:bodyPr wrap="square" lIns="50800" rIns="50800" tIns="38100" bIns="38100"/>
          <a:lstStyle/>
          <a:p>
            <a:pPr algn="ctr"/>
            <a:r>
              <a:rPr sz="1200" b="0">
                <a:solidFill>
                  <a:srgbClr val="888888"/>
                </a:solidFill>
                <a:latin typeface="Meiryo"/>
              </a:rPr>
              <a:t>電話で予告してからメールを送る。通常のフィッシングとは根本的に異なる構造。</a:t>
            </a:r>
          </a:p>
        </p:txBody>
      </p:sp>
      <p:sp>
        <p:nvSpPr>
          <p:cNvPr id="4" name="Rectangle 3"/>
          <p:cNvSpPr/>
          <p:nvPr/>
        </p:nvSpPr>
        <p:spPr>
          <a:xfrm>
            <a:off x="914400" y="1188720"/>
            <a:ext cx="6400800" cy="41148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222222"/>
                </a:solidFill>
                <a:latin typeface="Meiryo"/>
              </a:rPr>
              <a:t>通常のフィッシング</a:t>
            </a:r>
          </a:p>
        </p:txBody>
      </p:sp>
      <p:sp>
        <p:nvSpPr>
          <p:cNvPr id="5" name="Rectangle 4"/>
          <p:cNvSpPr/>
          <p:nvPr/>
        </p:nvSpPr>
        <p:spPr>
          <a:xfrm>
            <a:off x="914400" y="1645920"/>
            <a:ext cx="64008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200" b="0">
                <a:solidFill>
                  <a:srgbClr val="222222"/>
                </a:solidFill>
                <a:latin typeface="Meiryo"/>
              </a:rPr>
              <a:t>メールが突然届く</a:t>
            </a:r>
          </a:p>
        </p:txBody>
      </p:sp>
      <p:sp>
        <p:nvSpPr>
          <p:cNvPr id="6" name="Rectangle 5"/>
          <p:cNvSpPr/>
          <p:nvPr/>
        </p:nvSpPr>
        <p:spPr>
          <a:xfrm>
            <a:off x="2286000" y="2103120"/>
            <a:ext cx="3657600" cy="36576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222222"/>
                </a:solidFill>
                <a:latin typeface="Meiryo"/>
              </a:rPr>
              <a:t>↓</a:t>
            </a:r>
          </a:p>
        </p:txBody>
      </p:sp>
      <p:sp>
        <p:nvSpPr>
          <p:cNvPr id="7" name="Rectangle 6"/>
          <p:cNvSpPr/>
          <p:nvPr/>
        </p:nvSpPr>
        <p:spPr>
          <a:xfrm>
            <a:off x="914400" y="2514600"/>
            <a:ext cx="64008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200" b="0">
                <a:solidFill>
                  <a:srgbClr val="222222"/>
                </a:solidFill>
                <a:latin typeface="Meiryo"/>
              </a:rPr>
              <a:t>「怪しいかも？」と思う余地あり</a:t>
            </a:r>
          </a:p>
        </p:txBody>
      </p:sp>
      <p:sp>
        <p:nvSpPr>
          <p:cNvPr id="8" name="Rectangle 7"/>
          <p:cNvSpPr/>
          <p:nvPr/>
        </p:nvSpPr>
        <p:spPr>
          <a:xfrm>
            <a:off x="2286000" y="2971800"/>
            <a:ext cx="3657600" cy="36576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222222"/>
                </a:solidFill>
                <a:latin typeface="Meiryo"/>
              </a:rPr>
              <a:t>↓</a:t>
            </a:r>
          </a:p>
        </p:txBody>
      </p:sp>
      <p:sp>
        <p:nvSpPr>
          <p:cNvPr id="9" name="Rectangle 8"/>
          <p:cNvSpPr/>
          <p:nvPr/>
        </p:nvSpPr>
        <p:spPr>
          <a:xfrm>
            <a:off x="914400" y="3383280"/>
            <a:ext cx="6400800" cy="41148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迷惑メールフィルタが防いでくれる可能性あり</a:t>
            </a:r>
          </a:p>
        </p:txBody>
      </p:sp>
      <p:sp>
        <p:nvSpPr>
          <p:cNvPr id="10" name="Rectangle 9"/>
          <p:cNvSpPr/>
          <p:nvPr/>
        </p:nvSpPr>
        <p:spPr>
          <a:xfrm>
            <a:off x="7772400" y="1188720"/>
            <a:ext cx="6400800" cy="4114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FFFFFF"/>
                </a:solidFill>
                <a:latin typeface="Meiryo"/>
              </a:rPr>
              <a:t>この攻撃</a:t>
            </a:r>
          </a:p>
        </p:txBody>
      </p:sp>
      <p:sp>
        <p:nvSpPr>
          <p:cNvPr id="11" name="Rectangle 10"/>
          <p:cNvSpPr/>
          <p:nvPr/>
        </p:nvSpPr>
        <p:spPr>
          <a:xfrm>
            <a:off x="7772400" y="1645920"/>
            <a:ext cx="6400800" cy="41148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200" b="1">
                <a:solidFill>
                  <a:srgbClr val="222222"/>
                </a:solidFill>
                <a:latin typeface="Meiryo"/>
              </a:rPr>
              <a:t>電話で「今からメール送ります」と予告</a:t>
            </a:r>
          </a:p>
        </p:txBody>
      </p:sp>
      <p:sp>
        <p:nvSpPr>
          <p:cNvPr id="12" name="Rectangle 11"/>
          <p:cNvSpPr/>
          <p:nvPr/>
        </p:nvSpPr>
        <p:spPr>
          <a:xfrm>
            <a:off x="9144000" y="2103120"/>
            <a:ext cx="365760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a:t>
            </a:r>
          </a:p>
        </p:txBody>
      </p:sp>
      <p:sp>
        <p:nvSpPr>
          <p:cNvPr id="13" name="Rectangle 12"/>
          <p:cNvSpPr/>
          <p:nvPr/>
        </p:nvSpPr>
        <p:spPr>
          <a:xfrm>
            <a:off x="7772400" y="2514600"/>
            <a:ext cx="6400800" cy="41148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200" b="1">
                <a:solidFill>
                  <a:srgbClr val="222222"/>
                </a:solidFill>
                <a:latin typeface="Meiryo"/>
              </a:rPr>
              <a:t>メール到着 →「本物だ」と確信（予告通り来たから）</a:t>
            </a:r>
          </a:p>
        </p:txBody>
      </p:sp>
      <p:sp>
        <p:nvSpPr>
          <p:cNvPr id="14" name="Rectangle 13"/>
          <p:cNvSpPr/>
          <p:nvPr/>
        </p:nvSpPr>
        <p:spPr>
          <a:xfrm>
            <a:off x="9144000" y="2971800"/>
            <a:ext cx="365760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a:t>
            </a:r>
          </a:p>
        </p:txBody>
      </p:sp>
      <p:sp>
        <p:nvSpPr>
          <p:cNvPr id="15" name="Rectangle 14"/>
          <p:cNvSpPr/>
          <p:nvPr/>
        </p:nvSpPr>
        <p:spPr>
          <a:xfrm>
            <a:off x="7772400" y="3383280"/>
            <a:ext cx="6400800" cy="4114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電話 × メールの二重チャネルが相互に信頼性を補強</a:t>
            </a:r>
          </a:p>
        </p:txBody>
      </p:sp>
      <p:sp>
        <p:nvSpPr>
          <p:cNvPr id="16" name="Rectangle 15"/>
          <p:cNvSpPr/>
          <p:nvPr/>
        </p:nvSpPr>
        <p:spPr>
          <a:xfrm>
            <a:off x="914400" y="4114800"/>
            <a:ext cx="1325880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FFFFFF"/>
                </a:solidFill>
                <a:latin typeface="Meiryo"/>
              </a:rPr>
              <a:t>迷惑メールフィルタに入った場合も、電話1本で無力化される</a:t>
            </a:r>
          </a:p>
        </p:txBody>
      </p:sp>
      <p:sp>
        <p:nvSpPr>
          <p:cNvPr id="17" name="Rectangle 16"/>
          <p:cNvSpPr/>
          <p:nvPr/>
        </p:nvSpPr>
        <p:spPr>
          <a:xfrm>
            <a:off x="914400" y="4663440"/>
            <a:ext cx="3017520" cy="502920"/>
          </a:xfrm>
          <a:prstGeom prst="rect">
            <a:avLst/>
          </a:prstGeom>
          <a:solidFill>
            <a:srgbClr val="FFFFFF"/>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ctr"/>
            <a:r>
              <a:rPr sz="1000" b="1">
                <a:solidFill>
                  <a:srgbClr val="222222"/>
                </a:solidFill>
                <a:latin typeface="Meiryo"/>
              </a:rPr>
              <a:t>メールが迷惑フォルダへ</a:t>
            </a:r>
          </a:p>
        </p:txBody>
      </p:sp>
      <p:sp>
        <p:nvSpPr>
          <p:cNvPr id="18" name="TextBox 17"/>
          <p:cNvSpPr txBox="1"/>
          <p:nvPr/>
        </p:nvSpPr>
        <p:spPr>
          <a:xfrm>
            <a:off x="3977639" y="4736592"/>
            <a:ext cx="365760" cy="365760"/>
          </a:xfrm>
          <a:prstGeom prst="rect">
            <a:avLst/>
          </a:prstGeom>
          <a:noFill/>
        </p:spPr>
        <p:txBody>
          <a:bodyPr wrap="square" lIns="50800" rIns="50800" tIns="38100" bIns="38100"/>
          <a:lstStyle/>
          <a:p>
            <a:pPr algn="ctr"/>
            <a:r>
              <a:rPr sz="1600" b="1">
                <a:solidFill>
                  <a:srgbClr val="C0392B"/>
                </a:solidFill>
                <a:latin typeface="Meiryo"/>
              </a:rPr>
              <a:t>→</a:t>
            </a:r>
          </a:p>
        </p:txBody>
      </p:sp>
      <p:sp>
        <p:nvSpPr>
          <p:cNvPr id="19" name="Rectangle 18"/>
          <p:cNvSpPr/>
          <p:nvPr/>
        </p:nvSpPr>
        <p:spPr>
          <a:xfrm>
            <a:off x="4389120" y="4663440"/>
            <a:ext cx="3017520" cy="502920"/>
          </a:xfrm>
          <a:prstGeom prst="rect">
            <a:avLst/>
          </a:prstGeom>
          <a:solidFill>
            <a:srgbClr val="FFFFFF"/>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ctr"/>
            <a:r>
              <a:rPr sz="1000" b="0">
                <a:solidFill>
                  <a:srgbClr val="222222"/>
                </a:solidFill>
                <a:latin typeface="Meiryo"/>
              </a:rPr>
              <a:t>被害者「メール来てません」</a:t>
            </a:r>
          </a:p>
        </p:txBody>
      </p:sp>
      <p:sp>
        <p:nvSpPr>
          <p:cNvPr id="20" name="TextBox 19"/>
          <p:cNvSpPr txBox="1"/>
          <p:nvPr/>
        </p:nvSpPr>
        <p:spPr>
          <a:xfrm>
            <a:off x="7452360" y="4736592"/>
            <a:ext cx="365760" cy="365760"/>
          </a:xfrm>
          <a:prstGeom prst="rect">
            <a:avLst/>
          </a:prstGeom>
          <a:noFill/>
        </p:spPr>
        <p:txBody>
          <a:bodyPr wrap="square" lIns="50800" rIns="50800" tIns="38100" bIns="38100"/>
          <a:lstStyle/>
          <a:p>
            <a:pPr algn="ctr"/>
            <a:r>
              <a:rPr sz="1600" b="1">
                <a:solidFill>
                  <a:srgbClr val="C0392B"/>
                </a:solidFill>
                <a:latin typeface="Meiryo"/>
              </a:rPr>
              <a:t>→</a:t>
            </a:r>
          </a:p>
        </p:txBody>
      </p:sp>
      <p:sp>
        <p:nvSpPr>
          <p:cNvPr id="21" name="Rectangle 20"/>
          <p:cNvSpPr/>
          <p:nvPr/>
        </p:nvSpPr>
        <p:spPr>
          <a:xfrm>
            <a:off x="7863840" y="4663440"/>
            <a:ext cx="3200400" cy="50292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ctr"/>
            <a:r>
              <a:rPr sz="1000" b="0">
                <a:solidFill>
                  <a:srgbClr val="222222"/>
                </a:solidFill>
                <a:latin typeface="Meiryo"/>
              </a:rPr>
              <a:t>犯人「迷惑メールフォルダを
確認してください」</a:t>
            </a:r>
          </a:p>
        </p:txBody>
      </p:sp>
      <p:sp>
        <p:nvSpPr>
          <p:cNvPr id="22" name="TextBox 21"/>
          <p:cNvSpPr txBox="1"/>
          <p:nvPr/>
        </p:nvSpPr>
        <p:spPr>
          <a:xfrm>
            <a:off x="11109960" y="4736592"/>
            <a:ext cx="365760" cy="365760"/>
          </a:xfrm>
          <a:prstGeom prst="rect">
            <a:avLst/>
          </a:prstGeom>
          <a:noFill/>
        </p:spPr>
        <p:txBody>
          <a:bodyPr wrap="square" lIns="50800" rIns="50800" tIns="38100" bIns="38100"/>
          <a:lstStyle/>
          <a:p>
            <a:pPr algn="ctr"/>
            <a:r>
              <a:rPr sz="1600" b="1">
                <a:solidFill>
                  <a:srgbClr val="C0392B"/>
                </a:solidFill>
                <a:latin typeface="Meiryo"/>
              </a:rPr>
              <a:t>→</a:t>
            </a:r>
          </a:p>
        </p:txBody>
      </p:sp>
      <p:sp>
        <p:nvSpPr>
          <p:cNvPr id="23" name="Rectangle 22"/>
          <p:cNvSpPr/>
          <p:nvPr/>
        </p:nvSpPr>
        <p:spPr>
          <a:xfrm>
            <a:off x="11521440" y="4663440"/>
            <a:ext cx="2651760" cy="50292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ctr"/>
            <a:r>
              <a:rPr sz="1000" b="1">
                <a:solidFill>
                  <a:srgbClr val="222222"/>
                </a:solidFill>
                <a:latin typeface="Meiryo"/>
              </a:rPr>
              <a:t>被害者が自ら発見
→ 攻撃続行</a:t>
            </a:r>
          </a:p>
        </p:txBody>
      </p:sp>
      <p:sp>
        <p:nvSpPr>
          <p:cNvPr id="24" name="Rectangle 23"/>
          <p:cNvSpPr/>
          <p:nvPr/>
        </p:nvSpPr>
        <p:spPr>
          <a:xfrm>
            <a:off x="914400" y="5349240"/>
            <a:ext cx="13258800" cy="6400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222222"/>
                </a:solidFill>
                <a:latin typeface="Meiryo"/>
              </a:rPr>
              <a:t/>
            </a:r>
          </a:p>
        </p:txBody>
      </p:sp>
      <p:sp>
        <p:nvSpPr>
          <p:cNvPr id="25" name="TextBox 24"/>
          <p:cNvSpPr txBox="1"/>
          <p:nvPr/>
        </p:nvSpPr>
        <p:spPr>
          <a:xfrm>
            <a:off x="1097280" y="5376672"/>
            <a:ext cx="12801600" cy="594360"/>
          </a:xfrm>
          <a:prstGeom prst="rect">
            <a:avLst/>
          </a:prstGeom>
          <a:noFill/>
        </p:spPr>
        <p:txBody>
          <a:bodyPr wrap="square" lIns="50800" rIns="50800" tIns="38100" bIns="38100"/>
          <a:lstStyle/>
          <a:p>
            <a:pPr algn="l"/>
            <a:r>
              <a:rPr sz="1100" b="0">
                <a:solidFill>
                  <a:srgbClr val="222222"/>
                </a:solidFill>
                <a:latin typeface="Meiryo"/>
              </a:rPr>
              <a:t>さらに悪いことに：迷惑フォルダに入っていたことが、手順②の話を補強してしまう
「重要なメールがフィルタに引っかかっていた → だから口座更新の案内に気づけなかったんだ」
→ 被害者はますます犯人の話を信じる</a:t>
            </a:r>
          </a:p>
        </p:txBody>
      </p:sp>
      <p:sp>
        <p:nvSpPr>
          <p:cNvPr id="26" name="Rectangle 25"/>
          <p:cNvSpPr/>
          <p:nvPr/>
        </p:nvSpPr>
        <p:spPr>
          <a:xfrm>
            <a:off x="914400" y="6172200"/>
            <a:ext cx="1325880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FFFFFF"/>
                </a:solidFill>
                <a:latin typeface="Meiryo"/>
              </a:rPr>
              <a:t>メールセキュリティの最後の砦である迷惑メールフィルタも、電話1本で無力化される</a:t>
            </a:r>
          </a:p>
        </p:txBody>
      </p:sp>
      <p:sp>
        <p:nvSpPr>
          <p:cNvPr id="27" name="TextBox 26"/>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手順④ フィッシングメールと迷惑メールフィルタ回避</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