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27AE60"/>
                </a:solidFill>
                <a:latin typeface="Meiryo"/>
              </a:rPr>
              <a:t>技術的対策：DMARC＋DNSで手順④を確実に遮断できる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顧客の注意力に一切依存せず、銀行側の設定だけでKill Chainを切れる。技術的にはもう解決できる話。</a:t>
            </a:r>
          </a:p>
        </p:txBody>
      </p:sp>
      <p:sp>
        <p:nvSpPr>
          <p:cNvPr id="4" name="Rectangle 3"/>
          <p:cNvSpPr/>
          <p:nvPr/>
        </p:nvSpPr>
        <p:spPr>
          <a:xfrm>
            <a:off x="731520" y="118872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DMARCポリシーの違い — p=reject で正規ドメイン詐称を完全遮断</a:t>
            </a:r>
          </a:p>
        </p:txBody>
      </p:sp>
      <p:sp>
        <p:nvSpPr>
          <p:cNvPr id="5" name="Rectangle 4"/>
          <p:cNvSpPr/>
          <p:nvPr/>
        </p:nvSpPr>
        <p:spPr>
          <a:xfrm>
            <a:off x="731520" y="16002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p=none（監視のみ）</a:t>
            </a:r>
          </a:p>
        </p:txBody>
      </p:sp>
      <p:sp>
        <p:nvSpPr>
          <p:cNvPr id="6" name="Rectangle 5"/>
          <p:cNvSpPr/>
          <p:nvPr/>
        </p:nvSpPr>
        <p:spPr>
          <a:xfrm>
            <a:off x="3931920" y="16002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偽メールが普通に届く</a:t>
            </a:r>
          </a:p>
        </p:txBody>
      </p:sp>
      <p:sp>
        <p:nvSpPr>
          <p:cNvPr id="7" name="Rectangle 6"/>
          <p:cNvSpPr/>
          <p:nvPr/>
        </p:nvSpPr>
        <p:spPr>
          <a:xfrm>
            <a:off x="8961120" y="1600200"/>
            <a:ext cx="3200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攻撃成立</a:t>
            </a:r>
          </a:p>
        </p:txBody>
      </p:sp>
      <p:sp>
        <p:nvSpPr>
          <p:cNvPr id="8" name="Rectangle 7"/>
          <p:cNvSpPr/>
          <p:nvPr/>
        </p:nvSpPr>
        <p:spPr>
          <a:xfrm>
            <a:off x="731520" y="2057400"/>
            <a:ext cx="3200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p=quarantine（隔離）</a:t>
            </a:r>
          </a:p>
        </p:txBody>
      </p:sp>
      <p:sp>
        <p:nvSpPr>
          <p:cNvPr id="9" name="Rectangle 8"/>
          <p:cNvSpPr/>
          <p:nvPr/>
        </p:nvSpPr>
        <p:spPr>
          <a:xfrm>
            <a:off x="3931920" y="2057400"/>
            <a:ext cx="50292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迷惑フォルダに入る</a:t>
            </a:r>
          </a:p>
        </p:txBody>
      </p:sp>
      <p:sp>
        <p:nvSpPr>
          <p:cNvPr id="10" name="Rectangle 9"/>
          <p:cNvSpPr/>
          <p:nvPr/>
        </p:nvSpPr>
        <p:spPr>
          <a:xfrm>
            <a:off x="8961120" y="2057400"/>
            <a:ext cx="32004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電話で突破される</a:t>
            </a:r>
          </a:p>
        </p:txBody>
      </p:sp>
      <p:sp>
        <p:nvSpPr>
          <p:cNvPr id="11" name="Rectangle 10"/>
          <p:cNvSpPr/>
          <p:nvPr/>
        </p:nvSpPr>
        <p:spPr>
          <a:xfrm>
            <a:off x="731520" y="25146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p=reject（拒否）★</a:t>
            </a:r>
          </a:p>
        </p:txBody>
      </p:sp>
      <p:sp>
        <p:nvSpPr>
          <p:cNvPr id="12" name="Rectangle 11"/>
          <p:cNvSpPr/>
          <p:nvPr/>
        </p:nvSpPr>
        <p:spPr>
          <a:xfrm>
            <a:off x="3931920" y="25146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メールサーバが受信拒否。配信されない。</a:t>
            </a:r>
          </a:p>
        </p:txBody>
      </p:sp>
      <p:sp>
        <p:nvSpPr>
          <p:cNvPr id="13" name="Rectangle 12"/>
          <p:cNvSpPr/>
          <p:nvPr/>
        </p:nvSpPr>
        <p:spPr>
          <a:xfrm>
            <a:off x="8961120" y="2514600"/>
            <a:ext cx="32004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攻撃が止まる</a:t>
            </a:r>
          </a:p>
        </p:txBody>
      </p:sp>
      <p:sp>
        <p:nvSpPr>
          <p:cNvPr id="14" name="Rectangle 13"/>
          <p:cNvSpPr/>
          <p:nvPr/>
        </p:nvSpPr>
        <p:spPr>
          <a:xfrm>
            <a:off x="731520" y="31089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類似ドメインも含めた包括的DNS対策</a:t>
            </a:r>
          </a:p>
        </p:txBody>
      </p:sp>
      <p:sp>
        <p:nvSpPr>
          <p:cNvPr id="15" name="Rectangle 14"/>
          <p:cNvSpPr/>
          <p:nvPr/>
        </p:nvSpPr>
        <p:spPr>
          <a:xfrm>
            <a:off x="731520" y="356616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対策</a:t>
            </a:r>
          </a:p>
        </p:txBody>
      </p:sp>
      <p:sp>
        <p:nvSpPr>
          <p:cNvPr id="16" name="Rectangle 15"/>
          <p:cNvSpPr/>
          <p:nvPr/>
        </p:nvSpPr>
        <p:spPr>
          <a:xfrm>
            <a:off x="4389120" y="3566160"/>
            <a:ext cx="5943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17" name="Rectangle 16"/>
          <p:cNvSpPr/>
          <p:nvPr/>
        </p:nvSpPr>
        <p:spPr>
          <a:xfrm>
            <a:off x="10332720" y="3566160"/>
            <a:ext cx="40233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効果</a:t>
            </a:r>
          </a:p>
        </p:txBody>
      </p:sp>
      <p:sp>
        <p:nvSpPr>
          <p:cNvPr id="18" name="Rectangle 17"/>
          <p:cNvSpPr/>
          <p:nvPr/>
        </p:nvSpPr>
        <p:spPr>
          <a:xfrm>
            <a:off x="731520" y="39319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類似ドメインの防御的登録</a:t>
            </a:r>
          </a:p>
        </p:txBody>
      </p:sp>
      <p:sp>
        <p:nvSpPr>
          <p:cNvPr id="19" name="Rectangle 18"/>
          <p:cNvSpPr/>
          <p:nvPr/>
        </p:nvSpPr>
        <p:spPr>
          <a:xfrm>
            <a:off x="4389120" y="39319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mufg-security.com, bizstation-update.jp 等を銀行が先に取得</a:t>
            </a:r>
          </a:p>
        </p:txBody>
      </p:sp>
      <p:sp>
        <p:nvSpPr>
          <p:cNvPr id="20" name="Rectangle 19"/>
          <p:cNvSpPr/>
          <p:nvPr/>
        </p:nvSpPr>
        <p:spPr>
          <a:xfrm>
            <a:off x="10332720" y="39319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犯人が使えるドメインを潰す</a:t>
            </a:r>
          </a:p>
        </p:txBody>
      </p:sp>
      <p:sp>
        <p:nvSpPr>
          <p:cNvPr id="21" name="Rectangle 20"/>
          <p:cNvSpPr/>
          <p:nvPr/>
        </p:nvSpPr>
        <p:spPr>
          <a:xfrm>
            <a:off x="731520" y="43891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新規登録ドメイン（NRD）ブロック</a:t>
            </a:r>
          </a:p>
        </p:txBody>
      </p:sp>
      <p:sp>
        <p:nvSpPr>
          <p:cNvPr id="22" name="Rectangle 21"/>
          <p:cNvSpPr/>
          <p:nvPr/>
        </p:nvSpPr>
        <p:spPr>
          <a:xfrm>
            <a:off x="4389120" y="43891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登録から日が浅いドメインを受信側で高リスク判定・ブロック</a:t>
            </a:r>
          </a:p>
        </p:txBody>
      </p:sp>
      <p:sp>
        <p:nvSpPr>
          <p:cNvPr id="23" name="Rectangle 22"/>
          <p:cNvSpPr/>
          <p:nvPr/>
        </p:nvSpPr>
        <p:spPr>
          <a:xfrm>
            <a:off x="10332720" y="43891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犯人が新ドメインを取得しても即座に使えない</a:t>
            </a:r>
          </a:p>
        </p:txBody>
      </p:sp>
      <p:sp>
        <p:nvSpPr>
          <p:cNvPr id="24" name="Rectangle 23"/>
          <p:cNvSpPr/>
          <p:nvPr/>
        </p:nvSpPr>
        <p:spPr>
          <a:xfrm>
            <a:off x="731520" y="48463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正規送信ドメインの公開＋GW制御</a:t>
            </a:r>
          </a:p>
        </p:txBody>
      </p:sp>
      <p:sp>
        <p:nvSpPr>
          <p:cNvPr id="25" name="Rectangle 24"/>
          <p:cNvSpPr/>
          <p:nvPr/>
        </p:nvSpPr>
        <p:spPr>
          <a:xfrm>
            <a:off x="4389120" y="48463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銀行が「当行のメールは @mufg.jp, @bk.mufg.co.jp のみ」と宣言</a:t>
            </a:r>
          </a:p>
        </p:txBody>
      </p:sp>
      <p:sp>
        <p:nvSpPr>
          <p:cNvPr id="26" name="Rectangle 25"/>
          <p:cNvSpPr/>
          <p:nvPr/>
        </p:nvSpPr>
        <p:spPr>
          <a:xfrm>
            <a:off x="10332720" y="48463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企業のメールGWで上記以外を自動ブロック</a:t>
            </a:r>
          </a:p>
        </p:txBody>
      </p:sp>
      <p:sp>
        <p:nvSpPr>
          <p:cNvPr id="27" name="Rectangle 26"/>
          <p:cNvSpPr/>
          <p:nvPr/>
        </p:nvSpPr>
        <p:spPr>
          <a:xfrm>
            <a:off x="731520" y="53035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SPF/DKIM未設定ドメインの拒否</a:t>
            </a:r>
          </a:p>
        </p:txBody>
      </p:sp>
      <p:sp>
        <p:nvSpPr>
          <p:cNvPr id="28" name="Rectangle 27"/>
          <p:cNvSpPr/>
          <p:nvPr/>
        </p:nvSpPr>
        <p:spPr>
          <a:xfrm>
            <a:off x="4389120" y="53035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受信側で認証未設定のドメインからのメールを拒否</a:t>
            </a:r>
          </a:p>
        </p:txBody>
      </p:sp>
      <p:sp>
        <p:nvSpPr>
          <p:cNvPr id="29" name="Rectangle 28"/>
          <p:cNvSpPr/>
          <p:nvPr/>
        </p:nvSpPr>
        <p:spPr>
          <a:xfrm>
            <a:off x="10332720" y="53035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犯人の急造ドメインは認証が通らない</a:t>
            </a:r>
          </a:p>
        </p:txBody>
      </p:sp>
      <p:sp>
        <p:nvSpPr>
          <p:cNvPr id="30" name="Rectangle 29"/>
          <p:cNvSpPr/>
          <p:nvPr/>
        </p:nvSpPr>
        <p:spPr>
          <a:xfrm>
            <a:off x="731520" y="59436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対策カバレッジ</a:t>
            </a:r>
          </a:p>
        </p:txBody>
      </p:sp>
      <p:sp>
        <p:nvSpPr>
          <p:cNvPr id="31" name="Rectangle 30"/>
          <p:cNvSpPr/>
          <p:nvPr/>
        </p:nvSpPr>
        <p:spPr>
          <a:xfrm>
            <a:off x="731520" y="6309360"/>
            <a:ext cx="45720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32" name="Rectangle 31"/>
          <p:cNvSpPr/>
          <p:nvPr/>
        </p:nvSpPr>
        <p:spPr>
          <a:xfrm>
            <a:off x="530352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正規ドメイン詐称</a:t>
            </a:r>
          </a:p>
        </p:txBody>
      </p:sp>
      <p:sp>
        <p:nvSpPr>
          <p:cNvPr id="33" name="Rectangle 32"/>
          <p:cNvSpPr/>
          <p:nvPr/>
        </p:nvSpPr>
        <p:spPr>
          <a:xfrm>
            <a:off x="832104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類似ドメイン</a:t>
            </a:r>
          </a:p>
        </p:txBody>
      </p:sp>
      <p:sp>
        <p:nvSpPr>
          <p:cNvPr id="34" name="Rectangle 33"/>
          <p:cNvSpPr/>
          <p:nvPr/>
        </p:nvSpPr>
        <p:spPr>
          <a:xfrm>
            <a:off x="11338559"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新規ドメイン</a:t>
            </a:r>
          </a:p>
        </p:txBody>
      </p:sp>
      <p:sp>
        <p:nvSpPr>
          <p:cNvPr id="35" name="Rectangle 34"/>
          <p:cNvSpPr/>
          <p:nvPr/>
        </p:nvSpPr>
        <p:spPr>
          <a:xfrm>
            <a:off x="731520" y="667512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DMARC p=reject のみ</a:t>
            </a:r>
          </a:p>
        </p:txBody>
      </p:sp>
      <p:sp>
        <p:nvSpPr>
          <p:cNvPr id="36" name="Rectangle 35"/>
          <p:cNvSpPr/>
          <p:nvPr/>
        </p:nvSpPr>
        <p:spPr>
          <a:xfrm>
            <a:off x="5303520" y="667512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37" name="Rectangle 36"/>
          <p:cNvSpPr/>
          <p:nvPr/>
        </p:nvSpPr>
        <p:spPr>
          <a:xfrm>
            <a:off x="8321040"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8" name="Rectangle 37"/>
          <p:cNvSpPr/>
          <p:nvPr/>
        </p:nvSpPr>
        <p:spPr>
          <a:xfrm>
            <a:off x="11338559"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9" name="Rectangle 38"/>
          <p:cNvSpPr/>
          <p:nvPr/>
        </p:nvSpPr>
        <p:spPr>
          <a:xfrm>
            <a:off x="731520" y="704088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類似ドメイン防御的登録</a:t>
            </a:r>
          </a:p>
        </p:txBody>
      </p:sp>
      <p:sp>
        <p:nvSpPr>
          <p:cNvPr id="40" name="Rectangle 39"/>
          <p:cNvSpPr/>
          <p:nvPr/>
        </p:nvSpPr>
        <p:spPr>
          <a:xfrm>
            <a:off x="530352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1" name="Rectangle 40"/>
          <p:cNvSpPr/>
          <p:nvPr/>
        </p:nvSpPr>
        <p:spPr>
          <a:xfrm>
            <a:off x="832104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2" name="Rectangle 41"/>
          <p:cNvSpPr/>
          <p:nvPr/>
        </p:nvSpPr>
        <p:spPr>
          <a:xfrm>
            <a:off x="11338559" y="704088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43" name="Rectangle 42"/>
          <p:cNvSpPr/>
          <p:nvPr/>
        </p:nvSpPr>
        <p:spPr>
          <a:xfrm>
            <a:off x="731520" y="740664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NRDブロック＋SPF/DKIM必須化</a:t>
            </a:r>
          </a:p>
        </p:txBody>
      </p:sp>
      <p:sp>
        <p:nvSpPr>
          <p:cNvPr id="44" name="Rectangle 43"/>
          <p:cNvSpPr/>
          <p:nvPr/>
        </p:nvSpPr>
        <p:spPr>
          <a:xfrm>
            <a:off x="530352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5" name="Rectangle 44"/>
          <p:cNvSpPr/>
          <p:nvPr/>
        </p:nvSpPr>
        <p:spPr>
          <a:xfrm>
            <a:off x="832104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6" name="Rectangle 45"/>
          <p:cNvSpPr/>
          <p:nvPr/>
        </p:nvSpPr>
        <p:spPr>
          <a:xfrm>
            <a:off x="11338559"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7" name="Rectangle 46"/>
          <p:cNvSpPr/>
          <p:nvPr/>
        </p:nvSpPr>
        <p:spPr>
          <a:xfrm>
            <a:off x="731520" y="777240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正規ドメイン公開＋GW制御（全部）</a:t>
            </a:r>
          </a:p>
        </p:txBody>
      </p:sp>
      <p:sp>
        <p:nvSpPr>
          <p:cNvPr id="48" name="Rectangle 47"/>
          <p:cNvSpPr/>
          <p:nvPr/>
        </p:nvSpPr>
        <p:spPr>
          <a:xfrm>
            <a:off x="530352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9" name="Rectangle 48"/>
          <p:cNvSpPr/>
          <p:nvPr/>
        </p:nvSpPr>
        <p:spPr>
          <a:xfrm>
            <a:off x="832104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0" name="Rectangle 49"/>
          <p:cNvSpPr/>
          <p:nvPr/>
        </p:nvSpPr>
        <p:spPr>
          <a:xfrm>
            <a:off x="11338559"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1" name="Rectangle 50"/>
          <p:cNvSpPr/>
          <p:nvPr/>
        </p:nvSpPr>
        <p:spPr>
          <a:xfrm>
            <a:off x="731520" y="8229600"/>
            <a:ext cx="1362456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全部やれば手順④のメールは顧客に届かない。Kill Chainはここで切れる。顧客の注意力に一切依存しない。</a:t>
            </a:r>
          </a:p>
        </p:txBody>
      </p:sp>
      <p:sp>
        <p:nvSpPr>
          <p:cNvPr id="52" name="Rectangle 51"/>
          <p:cNvSpPr/>
          <p:nvPr/>
        </p:nvSpPr>
        <p:spPr>
          <a:xfrm>
            <a:off x="731520" y="877824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技術的にはもう解決できる話。やるかやらないかだけ。</a:t>
            </a:r>
          </a:p>
        </p:txBody>
      </p:sp>
      <p:sp>
        <p:nvSpPr>
          <p:cNvPr id="53" name="TextBox 5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DMARC＋DNSによる技術的遮断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8E44AD"/>
                </a:solidFill>
                <a:latin typeface="Meiryo"/>
              </a:rPr>
              <a:t>手順⑤「メールのボタンをクリックして」— 最大の破綻ポイント</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銀行の方針・金融庁の要請・顧客への周知、すべてに反する行為。それでも突破される。</a:t>
            </a:r>
          </a:p>
        </p:txBody>
      </p:sp>
      <p:sp>
        <p:nvSpPr>
          <p:cNvPr id="4" name="Rectangle 3"/>
          <p:cNvSpPr/>
          <p:nvPr/>
        </p:nvSpPr>
        <p:spPr>
          <a:xfrm>
            <a:off x="731520" y="1097280"/>
            <a:ext cx="1362456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金融庁の要請：金融機関が顧客に送信するメールにURLリンクを記載しないこと</a:t>
            </a:r>
          </a:p>
        </p:txBody>
      </p:sp>
      <p:sp>
        <p:nvSpPr>
          <p:cNvPr id="5" name="TextBox 4"/>
          <p:cNvSpPr txBox="1"/>
          <p:nvPr/>
        </p:nvSpPr>
        <p:spPr>
          <a:xfrm>
            <a:off x="731520" y="1627631"/>
            <a:ext cx="13624560" cy="274320"/>
          </a:xfrm>
          <a:prstGeom prst="rect">
            <a:avLst/>
          </a:prstGeom>
          <a:noFill/>
        </p:spPr>
        <p:txBody>
          <a:bodyPr wrap="square" lIns="50800" rIns="50800" tIns="38100" bIns="38100"/>
          <a:lstStyle/>
          <a:p>
            <a:pPr algn="l"/>
            <a:r>
              <a:rPr sz="900" b="0">
                <a:solidFill>
                  <a:srgbClr val="888888"/>
                </a:solidFill>
                <a:latin typeface="Meiryo"/>
              </a:rPr>
              <a:t>→ 多くの銀行が「メール内のリンクはクリックしないでください」と顧客に周知済み</a:t>
            </a:r>
          </a:p>
        </p:txBody>
      </p:sp>
      <p:sp>
        <p:nvSpPr>
          <p:cNvPr id="6" name="Rectangle 5"/>
          <p:cNvSpPr/>
          <p:nvPr/>
        </p:nvSpPr>
        <p:spPr>
          <a:xfrm>
            <a:off x="731520" y="2011680"/>
            <a:ext cx="22860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a:r>
          </a:p>
        </p:txBody>
      </p:sp>
      <p:sp>
        <p:nvSpPr>
          <p:cNvPr id="7" name="Rectangle 6"/>
          <p:cNvSpPr/>
          <p:nvPr/>
        </p:nvSpPr>
        <p:spPr>
          <a:xfrm>
            <a:off x="3017520" y="2011680"/>
            <a:ext cx="54864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銀行の正規誘導</a:t>
            </a:r>
          </a:p>
        </p:txBody>
      </p:sp>
      <p:sp>
        <p:nvSpPr>
          <p:cNvPr id="8" name="Rectangle 7"/>
          <p:cNvSpPr/>
          <p:nvPr/>
        </p:nvSpPr>
        <p:spPr>
          <a:xfrm>
            <a:off x="8503920" y="2011680"/>
            <a:ext cx="58521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9" name="Rectangle 8"/>
          <p:cNvSpPr/>
          <p:nvPr/>
        </p:nvSpPr>
        <p:spPr>
          <a:xfrm>
            <a:off x="731520" y="24231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方法</a:t>
            </a:r>
          </a:p>
        </p:txBody>
      </p:sp>
      <p:sp>
        <p:nvSpPr>
          <p:cNvPr id="10" name="Rectangle 9"/>
          <p:cNvSpPr/>
          <p:nvPr/>
        </p:nvSpPr>
        <p:spPr>
          <a:xfrm>
            <a:off x="3017520" y="24231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ブックマーク・URL直接入力・公式アプリ</a:t>
            </a:r>
          </a:p>
        </p:txBody>
      </p:sp>
      <p:sp>
        <p:nvSpPr>
          <p:cNvPr id="11" name="Rectangle 10"/>
          <p:cNvSpPr/>
          <p:nvPr/>
        </p:nvSpPr>
        <p:spPr>
          <a:xfrm>
            <a:off x="8503920" y="24231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メールのボタンをクリック</a:t>
            </a:r>
          </a:p>
        </p:txBody>
      </p:sp>
      <p:sp>
        <p:nvSpPr>
          <p:cNvPr id="12" name="Rectangle 11"/>
          <p:cNvSpPr/>
          <p:nvPr/>
        </p:nvSpPr>
        <p:spPr>
          <a:xfrm>
            <a:off x="731520" y="28803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URLの出所</a:t>
            </a:r>
          </a:p>
        </p:txBody>
      </p:sp>
      <p:sp>
        <p:nvSpPr>
          <p:cNvPr id="13" name="Rectangle 12"/>
          <p:cNvSpPr/>
          <p:nvPr/>
        </p:nvSpPr>
        <p:spPr>
          <a:xfrm>
            <a:off x="3017520" y="28803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顧客が自分で持っている</a:t>
            </a:r>
          </a:p>
        </p:txBody>
      </p:sp>
      <p:sp>
        <p:nvSpPr>
          <p:cNvPr id="14" name="Rectangle 13"/>
          <p:cNvSpPr/>
          <p:nvPr/>
        </p:nvSpPr>
        <p:spPr>
          <a:xfrm>
            <a:off x="8503920" y="28803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犯人が送りつけた</a:t>
            </a:r>
          </a:p>
        </p:txBody>
      </p:sp>
      <p:sp>
        <p:nvSpPr>
          <p:cNvPr id="15" name="Rectangle 14"/>
          <p:cNvSpPr/>
          <p:nvPr/>
        </p:nvSpPr>
        <p:spPr>
          <a:xfrm>
            <a:off x="731520" y="33375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顧客の行動</a:t>
            </a:r>
          </a:p>
        </p:txBody>
      </p:sp>
      <p:sp>
        <p:nvSpPr>
          <p:cNvPr id="16" name="Rectangle 15"/>
          <p:cNvSpPr/>
          <p:nvPr/>
        </p:nvSpPr>
        <p:spPr>
          <a:xfrm>
            <a:off x="3017520" y="33375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能動的（自分でアクセス）</a:t>
            </a:r>
          </a:p>
        </p:txBody>
      </p:sp>
      <p:sp>
        <p:nvSpPr>
          <p:cNvPr id="17" name="Rectangle 16"/>
          <p:cNvSpPr/>
          <p:nvPr/>
        </p:nvSpPr>
        <p:spPr>
          <a:xfrm>
            <a:off x="8503920" y="33375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受動的（指示されてクリック）</a:t>
            </a:r>
          </a:p>
        </p:txBody>
      </p:sp>
      <p:sp>
        <p:nvSpPr>
          <p:cNvPr id="18" name="Rectangle 17"/>
          <p:cNvSpPr/>
          <p:nvPr/>
        </p:nvSpPr>
        <p:spPr>
          <a:xfrm>
            <a:off x="731520" y="37947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利便性</a:t>
            </a:r>
          </a:p>
        </p:txBody>
      </p:sp>
      <p:sp>
        <p:nvSpPr>
          <p:cNvPr id="19" name="Rectangle 18"/>
          <p:cNvSpPr/>
          <p:nvPr/>
        </p:nvSpPr>
        <p:spPr>
          <a:xfrm>
            <a:off x="3017520" y="37947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面倒（ブックマーク探す、URL入力）</a:t>
            </a:r>
          </a:p>
        </p:txBody>
      </p:sp>
      <p:sp>
        <p:nvSpPr>
          <p:cNvPr id="20" name="Rectangle 19"/>
          <p:cNvSpPr/>
          <p:nvPr/>
        </p:nvSpPr>
        <p:spPr>
          <a:xfrm>
            <a:off x="8503920" y="37947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楽（ボタン1つ押すだけ）</a:t>
            </a:r>
          </a:p>
        </p:txBody>
      </p:sp>
      <p:sp>
        <p:nvSpPr>
          <p:cNvPr id="21" name="Rectangle 20"/>
          <p:cNvSpPr/>
          <p:nvPr/>
        </p:nvSpPr>
        <p:spPr>
          <a:xfrm>
            <a:off x="731520" y="4343400"/>
            <a:ext cx="13624560" cy="8229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TextBox 21"/>
          <p:cNvSpPr txBox="1"/>
          <p:nvPr/>
        </p:nvSpPr>
        <p:spPr>
          <a:xfrm>
            <a:off x="1005840" y="4389120"/>
            <a:ext cx="13075920" cy="777240"/>
          </a:xfrm>
          <a:prstGeom prst="rect">
            <a:avLst/>
          </a:prstGeom>
          <a:noFill/>
        </p:spPr>
        <p:txBody>
          <a:bodyPr wrap="square" lIns="50800" rIns="50800" tIns="38100" bIns="38100"/>
          <a:lstStyle/>
          <a:p>
            <a:pPr algn="l"/>
            <a:r>
              <a:rPr sz="1100" b="1">
                <a:solidFill>
                  <a:srgbClr val="FFFFFF"/>
                </a:solidFill>
                <a:latin typeface="Meiryo"/>
              </a:rPr>
              <a:t>皮肉：犯人のほうが「ユーザー体験が良い」
正規の銀行：「ブックマークからアクセスしてください」（面倒）
犯人：「ボタンをクリックするだけです」（簡単）
→ 焦っている被害者がどちらに従いたくなるかは明白</a:t>
            </a:r>
          </a:p>
        </p:txBody>
      </p:sp>
      <p:sp>
        <p:nvSpPr>
          <p:cNvPr id="23" name="Rectangle 22"/>
          <p:cNvSpPr/>
          <p:nvPr/>
        </p:nvSpPr>
        <p:spPr>
          <a:xfrm>
            <a:off x="731520" y="5349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手順⑤の破綻ポイントまとめ</a:t>
            </a:r>
          </a:p>
        </p:txBody>
      </p:sp>
      <p:sp>
        <p:nvSpPr>
          <p:cNvPr id="24" name="Rectangle 23"/>
          <p:cNvSpPr/>
          <p:nvPr/>
        </p:nvSpPr>
        <p:spPr>
          <a:xfrm>
            <a:off x="731520" y="571500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銀行の方針</a:t>
            </a:r>
          </a:p>
        </p:txBody>
      </p:sp>
      <p:sp>
        <p:nvSpPr>
          <p:cNvPr id="25" name="Rectangle 24"/>
          <p:cNvSpPr/>
          <p:nvPr/>
        </p:nvSpPr>
        <p:spPr>
          <a:xfrm>
            <a:off x="4389120" y="571500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メールにURLリンクを載せない</a:t>
            </a:r>
          </a:p>
        </p:txBody>
      </p:sp>
      <p:sp>
        <p:nvSpPr>
          <p:cNvPr id="26" name="Rectangle 25"/>
          <p:cNvSpPr/>
          <p:nvPr/>
        </p:nvSpPr>
        <p:spPr>
          <a:xfrm>
            <a:off x="731520" y="6080760"/>
            <a:ext cx="36576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金融庁の要請</a:t>
            </a:r>
          </a:p>
        </p:txBody>
      </p:sp>
      <p:sp>
        <p:nvSpPr>
          <p:cNvPr id="27" name="Rectangle 26"/>
          <p:cNvSpPr/>
          <p:nvPr/>
        </p:nvSpPr>
        <p:spPr>
          <a:xfrm>
            <a:off x="4389120" y="6080760"/>
            <a:ext cx="99669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金融機関のメールにURL記載禁止</a:t>
            </a:r>
          </a:p>
        </p:txBody>
      </p:sp>
      <p:sp>
        <p:nvSpPr>
          <p:cNvPr id="28" name="Rectangle 27"/>
          <p:cNvSpPr/>
          <p:nvPr/>
        </p:nvSpPr>
        <p:spPr>
          <a:xfrm>
            <a:off x="731520" y="644652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顧客への周知</a:t>
            </a:r>
          </a:p>
        </p:txBody>
      </p:sp>
      <p:sp>
        <p:nvSpPr>
          <p:cNvPr id="29" name="Rectangle 28"/>
          <p:cNvSpPr/>
          <p:nvPr/>
        </p:nvSpPr>
        <p:spPr>
          <a:xfrm>
            <a:off x="4389120" y="644652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「メールのリンクをクリックしないで」と案内済み</a:t>
            </a:r>
          </a:p>
        </p:txBody>
      </p:sp>
      <p:sp>
        <p:nvSpPr>
          <p:cNvPr id="30" name="Rectangle 29"/>
          <p:cNvSpPr/>
          <p:nvPr/>
        </p:nvSpPr>
        <p:spPr>
          <a:xfrm>
            <a:off x="731520" y="6812280"/>
            <a:ext cx="36576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それでも突破される理由</a:t>
            </a:r>
          </a:p>
        </p:txBody>
      </p:sp>
      <p:sp>
        <p:nvSpPr>
          <p:cNvPr id="31" name="Rectangle 30"/>
          <p:cNvSpPr/>
          <p:nvPr/>
        </p:nvSpPr>
        <p:spPr>
          <a:xfrm>
            <a:off x="4389120" y="6812280"/>
            <a:ext cx="99669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手順②の恐怖 ＋ 電話でのリアルタイム指示 ＋ 犯人のほうがUXが良い</a:t>
            </a:r>
          </a:p>
        </p:txBody>
      </p:sp>
      <p:sp>
        <p:nvSpPr>
          <p:cNvPr id="32" name="Rectangle 31"/>
          <p:cNvSpPr/>
          <p:nvPr/>
        </p:nvSpPr>
        <p:spPr>
          <a:xfrm>
            <a:off x="731520" y="7223759"/>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注意喚起・ガイドライン・金融庁の要請 — すべてが「冷静な時の判断力」を前提にしている。この攻撃は、その前提自体を手順②で破壊している。</a:t>
            </a:r>
          </a:p>
        </p:txBody>
      </p:sp>
      <p:sp>
        <p:nvSpPr>
          <p:cNvPr id="33" name="TextBox 3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手順⑤ メールURLと金融庁要請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