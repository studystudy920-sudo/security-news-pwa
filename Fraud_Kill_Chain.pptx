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5124176"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91440"/>
            <a:ext cx="15124176" cy="457200"/>
          </a:xfrm>
          <a:prstGeom prst="rect">
            <a:avLst/>
          </a:prstGeom>
          <a:noFill/>
        </p:spPr>
        <p:txBody>
          <a:bodyPr wrap="square" lIns="50800" rIns="50800" tIns="38100" bIns="38100"/>
          <a:lstStyle/>
          <a:p>
            <a:pPr algn="ctr"/>
            <a:r>
              <a:rPr sz="2000" b="1">
                <a:solidFill>
                  <a:srgbClr val="222222"/>
                </a:solidFill>
                <a:latin typeface="Meiryo"/>
              </a:rPr>
              <a:t>Fraud Kill Chain（不正送金キルチェーン）</a:t>
            </a:r>
          </a:p>
        </p:txBody>
      </p:sp>
      <p:sp>
        <p:nvSpPr>
          <p:cNvPr id="3" name="TextBox 2"/>
          <p:cNvSpPr txBox="1"/>
          <p:nvPr/>
        </p:nvSpPr>
        <p:spPr>
          <a:xfrm>
            <a:off x="0" y="502920"/>
            <a:ext cx="15124176" cy="274320"/>
          </a:xfrm>
          <a:prstGeom prst="rect">
            <a:avLst/>
          </a:prstGeom>
          <a:noFill/>
        </p:spPr>
        <p:txBody>
          <a:bodyPr wrap="square" lIns="50800" rIns="50800" tIns="38100" bIns="38100"/>
          <a:lstStyle/>
          <a:p>
            <a:pPr algn="ctr"/>
            <a:r>
              <a:rPr sz="1000" b="0">
                <a:solidFill>
                  <a:srgbClr val="888888"/>
                </a:solidFill>
                <a:latin typeface="Meiryo"/>
              </a:rPr>
              <a:t>シート名「不審な電話手口」 ― 犯人サイド × 被害企業サイド スイムレーン図</a:t>
            </a:r>
          </a:p>
        </p:txBody>
      </p:sp>
      <p:sp>
        <p:nvSpPr>
          <p:cNvPr id="4" name="Rectangle 3"/>
          <p:cNvSpPr/>
          <p:nvPr/>
        </p:nvSpPr>
        <p:spPr>
          <a:xfrm>
            <a:off x="457200" y="804672"/>
            <a:ext cx="292608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対象：法人向けIB（BizSTATION）</a:t>
            </a:r>
          </a:p>
        </p:txBody>
      </p:sp>
      <p:sp>
        <p:nvSpPr>
          <p:cNvPr id="5" name="Rectangle 4"/>
          <p:cNvSpPr/>
          <p:nvPr/>
        </p:nvSpPr>
        <p:spPr>
          <a:xfrm>
            <a:off x="3520440" y="804672"/>
            <a:ext cx="6217920" cy="2743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800" b="0">
                <a:solidFill>
                  <a:srgbClr val="FFFFFF"/>
                </a:solidFill>
                <a:latin typeface="Meiryo"/>
              </a:rPr>
              <a:t>犯人はBizSTATIONの認証フロー（契約者番号→利用者ID→ログインPW→取引実行PW→OTP）を完全に把握</a:t>
            </a:r>
          </a:p>
        </p:txBody>
      </p:sp>
      <p:sp>
        <p:nvSpPr>
          <p:cNvPr id="6" name="Rectangle 5"/>
          <p:cNvSpPr/>
          <p:nvPr/>
        </p:nvSpPr>
        <p:spPr>
          <a:xfrm>
            <a:off x="9875520" y="804672"/>
            <a:ext cx="4754880" cy="274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800" b="0">
                <a:solidFill>
                  <a:srgbClr val="FFFFFF"/>
                </a:solidFill>
                <a:latin typeface="Meiryo"/>
              </a:rPr>
              <a:t>法人IBは送金限度額が高く、1件で数千万〜数億円の被害リスク</a:t>
            </a:r>
          </a:p>
        </p:txBody>
      </p:sp>
      <p:sp>
        <p:nvSpPr>
          <p:cNvPr id="7" name="Rectangle 6"/>
          <p:cNvSpPr/>
          <p:nvPr/>
        </p:nvSpPr>
        <p:spPr>
          <a:xfrm>
            <a:off x="1225296" y="1143000"/>
            <a:ext cx="5248656" cy="3200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犯人サイド</a:t>
            </a:r>
          </a:p>
        </p:txBody>
      </p:sp>
      <p:sp>
        <p:nvSpPr>
          <p:cNvPr id="8" name="Rectangle 7"/>
          <p:cNvSpPr/>
          <p:nvPr/>
        </p:nvSpPr>
        <p:spPr>
          <a:xfrm>
            <a:off x="6510528" y="1143000"/>
            <a:ext cx="7891272" cy="3200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被害企業サイド</a:t>
            </a:r>
          </a:p>
        </p:txBody>
      </p:sp>
      <p:sp>
        <p:nvSpPr>
          <p:cNvPr id="9" name="Rectangle 8"/>
          <p:cNvSpPr/>
          <p:nvPr/>
        </p:nvSpPr>
        <p:spPr>
          <a:xfrm>
            <a:off x="182880" y="1499616"/>
            <a:ext cx="100584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22222"/>
                </a:solidFill>
                <a:latin typeface="Meiryo"/>
              </a:rPr>
              <a:t>フェーズ</a:t>
            </a:r>
          </a:p>
        </p:txBody>
      </p:sp>
      <p:sp>
        <p:nvSpPr>
          <p:cNvPr id="10" name="Rectangle 9"/>
          <p:cNvSpPr/>
          <p:nvPr/>
        </p:nvSpPr>
        <p:spPr>
          <a:xfrm>
            <a:off x="1225296" y="1499616"/>
            <a:ext cx="260604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22222"/>
                </a:solidFill>
                <a:latin typeface="Meiryo"/>
              </a:rPr>
              <a:t>情報・インフラ</a:t>
            </a:r>
          </a:p>
        </p:txBody>
      </p:sp>
      <p:sp>
        <p:nvSpPr>
          <p:cNvPr id="11" name="Rectangle 10"/>
          <p:cNvSpPr/>
          <p:nvPr/>
        </p:nvSpPr>
        <p:spPr>
          <a:xfrm>
            <a:off x="3867912" y="1499616"/>
            <a:ext cx="260604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22222"/>
                </a:solidFill>
                <a:latin typeface="Meiryo"/>
              </a:rPr>
              <a:t>架電</a:t>
            </a:r>
          </a:p>
        </p:txBody>
      </p:sp>
      <p:sp>
        <p:nvSpPr>
          <p:cNvPr id="12" name="Rectangle 11"/>
          <p:cNvSpPr/>
          <p:nvPr/>
        </p:nvSpPr>
        <p:spPr>
          <a:xfrm>
            <a:off x="6510528" y="1499616"/>
            <a:ext cx="260604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22222"/>
                </a:solidFill>
                <a:latin typeface="Meiryo"/>
              </a:rPr>
              <a:t>受電</a:t>
            </a:r>
          </a:p>
        </p:txBody>
      </p:sp>
      <p:sp>
        <p:nvSpPr>
          <p:cNvPr id="13" name="Rectangle 12"/>
          <p:cNvSpPr/>
          <p:nvPr/>
        </p:nvSpPr>
        <p:spPr>
          <a:xfrm>
            <a:off x="9153144" y="1499616"/>
            <a:ext cx="260604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22222"/>
                </a:solidFill>
                <a:latin typeface="Meiryo"/>
              </a:rPr>
              <a:t>会社のPC</a:t>
            </a:r>
          </a:p>
        </p:txBody>
      </p:sp>
      <p:sp>
        <p:nvSpPr>
          <p:cNvPr id="14" name="Rectangle 13"/>
          <p:cNvSpPr/>
          <p:nvPr/>
        </p:nvSpPr>
        <p:spPr>
          <a:xfrm>
            <a:off x="11795760" y="1499616"/>
            <a:ext cx="2606040" cy="2743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22222"/>
                </a:solidFill>
                <a:latin typeface="Meiryo"/>
              </a:rPr>
              <a:t>個人スマホ</a:t>
            </a:r>
          </a:p>
        </p:txBody>
      </p:sp>
      <p:sp>
        <p:nvSpPr>
          <p:cNvPr id="15" name="Rectangle 14"/>
          <p:cNvSpPr/>
          <p:nvPr/>
        </p:nvSpPr>
        <p:spPr>
          <a:xfrm>
            <a:off x="182880" y="1371600"/>
            <a:ext cx="1005840" cy="8686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① 犯行準備
（偵察など）</a:t>
            </a:r>
          </a:p>
        </p:txBody>
      </p:sp>
      <p:sp>
        <p:nvSpPr>
          <p:cNvPr id="16" name="Rectangle 15"/>
          <p:cNvSpPr/>
          <p:nvPr/>
        </p:nvSpPr>
        <p:spPr>
          <a:xfrm>
            <a:off x="182880" y="2276856"/>
            <a:ext cx="100584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② 被害者への
接触</a:t>
            </a:r>
          </a:p>
        </p:txBody>
      </p:sp>
      <p:sp>
        <p:nvSpPr>
          <p:cNvPr id="17" name="Rectangle 16"/>
          <p:cNvSpPr/>
          <p:nvPr/>
        </p:nvSpPr>
        <p:spPr>
          <a:xfrm>
            <a:off x="182880" y="3273552"/>
            <a:ext cx="1005840" cy="2606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③ 心理的操作</a:t>
            </a:r>
          </a:p>
        </p:txBody>
      </p:sp>
      <p:sp>
        <p:nvSpPr>
          <p:cNvPr id="18" name="Rectangle 17"/>
          <p:cNvSpPr/>
          <p:nvPr/>
        </p:nvSpPr>
        <p:spPr>
          <a:xfrm>
            <a:off x="182880" y="5916168"/>
            <a:ext cx="1005840" cy="22402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④ システムや
機能の侵害</a:t>
            </a:r>
          </a:p>
        </p:txBody>
      </p:sp>
      <p:sp>
        <p:nvSpPr>
          <p:cNvPr id="19" name="Rectangle 18"/>
          <p:cNvSpPr/>
          <p:nvPr/>
        </p:nvSpPr>
        <p:spPr>
          <a:xfrm>
            <a:off x="182880" y="8193024"/>
            <a:ext cx="1005840" cy="2286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⑤ 侵害に使用
する認証情報</a:t>
            </a:r>
          </a:p>
        </p:txBody>
      </p:sp>
      <p:sp>
        <p:nvSpPr>
          <p:cNvPr id="20" name="Rectangle 19"/>
          <p:cNvSpPr/>
          <p:nvPr/>
        </p:nvSpPr>
        <p:spPr>
          <a:xfrm>
            <a:off x="182880" y="10515600"/>
            <a:ext cx="100584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⑥ 収益化
／マネロン</a:t>
            </a:r>
          </a:p>
        </p:txBody>
      </p:sp>
      <p:sp>
        <p:nvSpPr>
          <p:cNvPr id="21" name="Rectangle 20"/>
          <p:cNvSpPr/>
          <p:nvPr/>
        </p:nvSpPr>
        <p:spPr>
          <a:xfrm>
            <a:off x="1225296" y="1371600"/>
            <a:ext cx="2606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2" name="Rectangle 21"/>
          <p:cNvSpPr/>
          <p:nvPr/>
        </p:nvSpPr>
        <p:spPr>
          <a:xfrm>
            <a:off x="3867912" y="1371600"/>
            <a:ext cx="2606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3" name="Rectangle 22"/>
          <p:cNvSpPr/>
          <p:nvPr/>
        </p:nvSpPr>
        <p:spPr>
          <a:xfrm>
            <a:off x="6510528" y="1371600"/>
            <a:ext cx="2606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4" name="Rectangle 23"/>
          <p:cNvSpPr/>
          <p:nvPr/>
        </p:nvSpPr>
        <p:spPr>
          <a:xfrm>
            <a:off x="9153144" y="1371600"/>
            <a:ext cx="2606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5" name="Rectangle 24"/>
          <p:cNvSpPr/>
          <p:nvPr/>
        </p:nvSpPr>
        <p:spPr>
          <a:xfrm>
            <a:off x="11795760" y="1371600"/>
            <a:ext cx="2606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6" name="Rectangle 25"/>
          <p:cNvSpPr/>
          <p:nvPr/>
        </p:nvSpPr>
        <p:spPr>
          <a:xfrm>
            <a:off x="1225296" y="2276856"/>
            <a:ext cx="26060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7" name="Rectangle 26"/>
          <p:cNvSpPr/>
          <p:nvPr/>
        </p:nvSpPr>
        <p:spPr>
          <a:xfrm>
            <a:off x="3867912" y="2276856"/>
            <a:ext cx="26060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8" name="Rectangle 27"/>
          <p:cNvSpPr/>
          <p:nvPr/>
        </p:nvSpPr>
        <p:spPr>
          <a:xfrm>
            <a:off x="6510528" y="2276856"/>
            <a:ext cx="26060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9" name="Rectangle 28"/>
          <p:cNvSpPr/>
          <p:nvPr/>
        </p:nvSpPr>
        <p:spPr>
          <a:xfrm>
            <a:off x="9153144" y="2276856"/>
            <a:ext cx="26060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0" name="Rectangle 29"/>
          <p:cNvSpPr/>
          <p:nvPr/>
        </p:nvSpPr>
        <p:spPr>
          <a:xfrm>
            <a:off x="11795760" y="2276856"/>
            <a:ext cx="26060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1" name="Rectangle 30"/>
          <p:cNvSpPr/>
          <p:nvPr/>
        </p:nvSpPr>
        <p:spPr>
          <a:xfrm>
            <a:off x="1225296" y="3273552"/>
            <a:ext cx="2606040" cy="2606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2" name="Rectangle 31"/>
          <p:cNvSpPr/>
          <p:nvPr/>
        </p:nvSpPr>
        <p:spPr>
          <a:xfrm>
            <a:off x="3867912" y="3273552"/>
            <a:ext cx="2606040" cy="2606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3" name="Rectangle 32"/>
          <p:cNvSpPr/>
          <p:nvPr/>
        </p:nvSpPr>
        <p:spPr>
          <a:xfrm>
            <a:off x="6510528" y="3273552"/>
            <a:ext cx="2606040" cy="2606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4" name="Rectangle 33"/>
          <p:cNvSpPr/>
          <p:nvPr/>
        </p:nvSpPr>
        <p:spPr>
          <a:xfrm>
            <a:off x="9153144" y="3273552"/>
            <a:ext cx="2606040" cy="2606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5" name="Rectangle 34"/>
          <p:cNvSpPr/>
          <p:nvPr/>
        </p:nvSpPr>
        <p:spPr>
          <a:xfrm>
            <a:off x="11795760" y="3273552"/>
            <a:ext cx="2606040" cy="2606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6" name="Rectangle 35"/>
          <p:cNvSpPr/>
          <p:nvPr/>
        </p:nvSpPr>
        <p:spPr>
          <a:xfrm>
            <a:off x="1225296" y="5916168"/>
            <a:ext cx="26060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7" name="Rectangle 36"/>
          <p:cNvSpPr/>
          <p:nvPr/>
        </p:nvSpPr>
        <p:spPr>
          <a:xfrm>
            <a:off x="3867912" y="5916168"/>
            <a:ext cx="26060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8" name="Rectangle 37"/>
          <p:cNvSpPr/>
          <p:nvPr/>
        </p:nvSpPr>
        <p:spPr>
          <a:xfrm>
            <a:off x="6510528" y="5916168"/>
            <a:ext cx="26060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39" name="Rectangle 38"/>
          <p:cNvSpPr/>
          <p:nvPr/>
        </p:nvSpPr>
        <p:spPr>
          <a:xfrm>
            <a:off x="9153144" y="5916168"/>
            <a:ext cx="26060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0" name="Rectangle 39"/>
          <p:cNvSpPr/>
          <p:nvPr/>
        </p:nvSpPr>
        <p:spPr>
          <a:xfrm>
            <a:off x="11795760" y="5916168"/>
            <a:ext cx="26060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1" name="Rectangle 40"/>
          <p:cNvSpPr/>
          <p:nvPr/>
        </p:nvSpPr>
        <p:spPr>
          <a:xfrm>
            <a:off x="1225296" y="8193024"/>
            <a:ext cx="26060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2" name="Rectangle 41"/>
          <p:cNvSpPr/>
          <p:nvPr/>
        </p:nvSpPr>
        <p:spPr>
          <a:xfrm>
            <a:off x="3867912" y="8193024"/>
            <a:ext cx="26060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3" name="Rectangle 42"/>
          <p:cNvSpPr/>
          <p:nvPr/>
        </p:nvSpPr>
        <p:spPr>
          <a:xfrm>
            <a:off x="6510528" y="8193024"/>
            <a:ext cx="26060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4" name="Rectangle 43"/>
          <p:cNvSpPr/>
          <p:nvPr/>
        </p:nvSpPr>
        <p:spPr>
          <a:xfrm>
            <a:off x="9153144" y="8193024"/>
            <a:ext cx="26060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5" name="Rectangle 44"/>
          <p:cNvSpPr/>
          <p:nvPr/>
        </p:nvSpPr>
        <p:spPr>
          <a:xfrm>
            <a:off x="11795760" y="8193024"/>
            <a:ext cx="26060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6" name="Rectangle 45"/>
          <p:cNvSpPr/>
          <p:nvPr/>
        </p:nvSpPr>
        <p:spPr>
          <a:xfrm>
            <a:off x="1225296" y="10515600"/>
            <a:ext cx="26060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7" name="Rectangle 46"/>
          <p:cNvSpPr/>
          <p:nvPr/>
        </p:nvSpPr>
        <p:spPr>
          <a:xfrm>
            <a:off x="3867912" y="10515600"/>
            <a:ext cx="26060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8" name="Rectangle 47"/>
          <p:cNvSpPr/>
          <p:nvPr/>
        </p:nvSpPr>
        <p:spPr>
          <a:xfrm>
            <a:off x="6510528" y="10515600"/>
            <a:ext cx="26060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9" name="Rectangle 48"/>
          <p:cNvSpPr/>
          <p:nvPr/>
        </p:nvSpPr>
        <p:spPr>
          <a:xfrm>
            <a:off x="9153144" y="10515600"/>
            <a:ext cx="26060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50" name="Rectangle 49"/>
          <p:cNvSpPr/>
          <p:nvPr/>
        </p:nvSpPr>
        <p:spPr>
          <a:xfrm>
            <a:off x="11795760" y="10515600"/>
            <a:ext cx="260604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51" name="Rectangle 50"/>
          <p:cNvSpPr/>
          <p:nvPr/>
        </p:nvSpPr>
        <p:spPr>
          <a:xfrm>
            <a:off x="1316736" y="1508760"/>
            <a:ext cx="2423160" cy="50292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電話番号・メールアドレスを取得</a:t>
            </a:r>
          </a:p>
        </p:txBody>
      </p:sp>
      <p:sp>
        <p:nvSpPr>
          <p:cNvPr id="52" name="Rectangle 51"/>
          <p:cNvSpPr/>
          <p:nvPr/>
        </p:nvSpPr>
        <p:spPr>
          <a:xfrm>
            <a:off x="3959352" y="1508760"/>
            <a:ext cx="2423160" cy="32004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0">
                <a:solidFill>
                  <a:srgbClr val="222222"/>
                </a:solidFill>
                <a:latin typeface="Meiryo"/>
              </a:rPr>
              <a:t>事前調査</a:t>
            </a:r>
          </a:p>
        </p:txBody>
      </p:sp>
      <p:sp>
        <p:nvSpPr>
          <p:cNvPr id="53" name="TextBox 52"/>
          <p:cNvSpPr txBox="1"/>
          <p:nvPr/>
        </p:nvSpPr>
        <p:spPr>
          <a:xfrm>
            <a:off x="3959352" y="1874519"/>
            <a:ext cx="2423160" cy="274320"/>
          </a:xfrm>
          <a:prstGeom prst="rect">
            <a:avLst/>
          </a:prstGeom>
          <a:noFill/>
        </p:spPr>
        <p:txBody>
          <a:bodyPr wrap="square" lIns="50800" rIns="50800" tIns="38100" bIns="38100"/>
          <a:lstStyle/>
          <a:p>
            <a:pPr algn="l"/>
            <a:r>
              <a:rPr sz="700" b="0">
                <a:solidFill>
                  <a:srgbClr val="888888"/>
                </a:solidFill>
                <a:latin typeface="Meiryo"/>
              </a:rPr>
              <a:t>※幅広に架電している印象</a:t>
            </a:r>
          </a:p>
        </p:txBody>
      </p:sp>
      <p:sp>
        <p:nvSpPr>
          <p:cNvPr id="54" name="Rectangle 53"/>
          <p:cNvSpPr/>
          <p:nvPr/>
        </p:nvSpPr>
        <p:spPr>
          <a:xfrm>
            <a:off x="3959352" y="2350008"/>
            <a:ext cx="2423160" cy="777240"/>
          </a:xfrm>
          <a:prstGeom prst="rect">
            <a:avLst/>
          </a:prstGeom>
          <a:solidFill>
            <a:srgbClr val="EAF2FF"/>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【自動音声】
「こちらはMバンく BizSTATION法人窓口です。BizSTATIONを利用している方は1を押してください。承認実行権限を持っている方は1を押してください」</a:t>
            </a:r>
          </a:p>
        </p:txBody>
      </p:sp>
      <p:sp>
        <p:nvSpPr>
          <p:cNvPr id="55" name="Rectangle 54"/>
          <p:cNvSpPr/>
          <p:nvPr/>
        </p:nvSpPr>
        <p:spPr>
          <a:xfrm>
            <a:off x="6601968" y="2350008"/>
            <a:ext cx="2423160" cy="32004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「1」押下</a:t>
            </a:r>
          </a:p>
        </p:txBody>
      </p:sp>
      <p:sp>
        <p:nvSpPr>
          <p:cNvPr id="56" name="TextBox 55"/>
          <p:cNvSpPr txBox="1"/>
          <p:nvPr/>
        </p:nvSpPr>
        <p:spPr>
          <a:xfrm>
            <a:off x="6601968" y="2734056"/>
            <a:ext cx="2423160" cy="502920"/>
          </a:xfrm>
          <a:prstGeom prst="rect">
            <a:avLst/>
          </a:prstGeom>
          <a:noFill/>
        </p:spPr>
        <p:txBody>
          <a:bodyPr wrap="square" lIns="50800" rIns="50800" tIns="38100" bIns="38100"/>
          <a:lstStyle/>
          <a:p>
            <a:pPr algn="l"/>
            <a:r>
              <a:rPr sz="600" b="0">
                <a:solidFill>
                  <a:srgbClr val="888888"/>
                </a:solidFill>
                <a:latin typeface="Meiryo"/>
              </a:rPr>
              <a:t>※「1」以外を押下した人は、法人ダイレクトオフィス（コールセンター）の電話番号を案内される</a:t>
            </a:r>
          </a:p>
        </p:txBody>
      </p:sp>
      <p:sp>
        <p:nvSpPr>
          <p:cNvPr id="57" name="Rectangle 56"/>
          <p:cNvSpPr/>
          <p:nvPr/>
        </p:nvSpPr>
        <p:spPr>
          <a:xfrm>
            <a:off x="3959352" y="3319272"/>
            <a:ext cx="2423160" cy="64008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【有人対応】
「パソコン環境の更新が必要。現在口座の利用制限をしています。手続きを郵送していますが、届いてますか。更新されていないので電話しました」</a:t>
            </a:r>
          </a:p>
        </p:txBody>
      </p:sp>
      <p:sp>
        <p:nvSpPr>
          <p:cNvPr id="58" name="TextBox 57"/>
          <p:cNvSpPr txBox="1"/>
          <p:nvPr/>
        </p:nvSpPr>
        <p:spPr>
          <a:xfrm>
            <a:off x="3959352" y="3986784"/>
            <a:ext cx="2423160" cy="182880"/>
          </a:xfrm>
          <a:prstGeom prst="rect">
            <a:avLst/>
          </a:prstGeom>
          <a:noFill/>
        </p:spPr>
        <p:txBody>
          <a:bodyPr wrap="square" lIns="50800" rIns="50800" tIns="38100" bIns="38100"/>
          <a:lstStyle/>
          <a:p>
            <a:pPr algn="l"/>
            <a:r>
              <a:rPr sz="600" b="0">
                <a:solidFill>
                  <a:srgbClr val="888888"/>
                </a:solidFill>
                <a:latin typeface="Meiryo"/>
              </a:rPr>
              <a:t>※複数の誘導方法あり</a:t>
            </a:r>
          </a:p>
        </p:txBody>
      </p:sp>
      <p:sp>
        <p:nvSpPr>
          <p:cNvPr id="59" name="TextBox 58"/>
          <p:cNvSpPr txBox="1"/>
          <p:nvPr/>
        </p:nvSpPr>
        <p:spPr>
          <a:xfrm>
            <a:off x="3959352" y="4096512"/>
            <a:ext cx="2423160" cy="182880"/>
          </a:xfrm>
          <a:prstGeom prst="rect">
            <a:avLst/>
          </a:prstGeom>
          <a:noFill/>
        </p:spPr>
        <p:txBody>
          <a:bodyPr wrap="square" lIns="50800" rIns="50800" tIns="38100" bIns="38100"/>
          <a:lstStyle/>
          <a:p>
            <a:pPr algn="l"/>
            <a:r>
              <a:rPr sz="600" b="1">
                <a:solidFill>
                  <a:srgbClr val="C0392B"/>
                </a:solidFill>
                <a:latin typeface="Meiryo"/>
              </a:rPr>
              <a:t>※AI音声または有人対応（法人高額案件のため両方の可能性あり）</a:t>
            </a:r>
          </a:p>
        </p:txBody>
      </p:sp>
      <p:sp>
        <p:nvSpPr>
          <p:cNvPr id="60" name="Rectangle 59"/>
          <p:cNvSpPr/>
          <p:nvPr/>
        </p:nvSpPr>
        <p:spPr>
          <a:xfrm>
            <a:off x="3959352" y="4206240"/>
            <a:ext cx="2423160" cy="201168"/>
          </a:xfrm>
          <a:prstGeom prst="rect">
            <a:avLst/>
          </a:prstGeom>
          <a:solidFill>
            <a:srgbClr val="222222"/>
          </a:solidFill>
          <a:ln w="254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600" b="1">
                <a:solidFill>
                  <a:srgbClr val="FFFFFF"/>
                </a:solidFill>
                <a:latin typeface="Meiryo"/>
              </a:rPr>
              <a:t>🔑 攻撃の鍵：「口座制限」で恐怖→以降の判断力を奪う</a:t>
            </a:r>
          </a:p>
        </p:txBody>
      </p:sp>
      <p:sp>
        <p:nvSpPr>
          <p:cNvPr id="61" name="Diamond 60"/>
          <p:cNvSpPr/>
          <p:nvPr/>
        </p:nvSpPr>
        <p:spPr>
          <a:xfrm>
            <a:off x="4507992" y="4443984"/>
            <a:ext cx="1280160" cy="457200"/>
          </a:xfrm>
          <a:prstGeom prst="diamond">
            <a:avLst/>
          </a:prstGeom>
          <a:solidFill>
            <a:srgbClr val="FFF3CD"/>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25400" rIns="25400" tIns="25400" bIns="25400"/>
          <a:lstStyle/>
          <a:p>
            <a:pPr algn="ctr"/>
            <a:r>
              <a:rPr sz="700" b="1">
                <a:latin typeface="Meiryo"/>
              </a:rPr>
              <a:t>メアド
入手済／未済？</a:t>
            </a:r>
          </a:p>
        </p:txBody>
      </p:sp>
      <p:sp>
        <p:nvSpPr>
          <p:cNvPr id="62" name="Rectangle 61"/>
          <p:cNvSpPr/>
          <p:nvPr/>
        </p:nvSpPr>
        <p:spPr>
          <a:xfrm>
            <a:off x="3959352" y="4937760"/>
            <a:ext cx="2423160" cy="36576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【未済の場合】
「手続きをメールで案内するので、メールアドレスを教えてください」</a:t>
            </a:r>
          </a:p>
        </p:txBody>
      </p:sp>
      <p:sp>
        <p:nvSpPr>
          <p:cNvPr id="63" name="Rectangle 62"/>
          <p:cNvSpPr/>
          <p:nvPr/>
        </p:nvSpPr>
        <p:spPr>
          <a:xfrm>
            <a:off x="3959352" y="5321808"/>
            <a:ext cx="2423160" cy="27432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600" b="0">
                <a:solidFill>
                  <a:srgbClr val="222222"/>
                </a:solidFill>
                <a:latin typeface="Meiryo"/>
              </a:rPr>
              <a:t>⚠ 破綻ポイント：BizSTATION契約時にメアド登録済み。銀行が聞く必要はない→手順②の恐怖で気づけない</a:t>
            </a:r>
          </a:p>
        </p:txBody>
      </p:sp>
      <p:sp>
        <p:nvSpPr>
          <p:cNvPr id="64" name="Rectangle 63"/>
          <p:cNvSpPr/>
          <p:nvPr/>
        </p:nvSpPr>
        <p:spPr>
          <a:xfrm>
            <a:off x="3959352" y="5614416"/>
            <a:ext cx="2423160" cy="201168"/>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 メール送付</a:t>
            </a:r>
          </a:p>
        </p:txBody>
      </p:sp>
      <p:sp>
        <p:nvSpPr>
          <p:cNvPr id="65" name="Rectangle 64"/>
          <p:cNvSpPr/>
          <p:nvPr/>
        </p:nvSpPr>
        <p:spPr>
          <a:xfrm>
            <a:off x="3959352" y="5833872"/>
            <a:ext cx="2423160" cy="137160"/>
          </a:xfrm>
          <a:prstGeom prst="rect">
            <a:avLst/>
          </a:prstGeom>
          <a:solidFill>
            <a:srgbClr val="FAFAFA"/>
          </a:solidFill>
          <a:ln w="254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600" b="0">
                <a:solidFill>
                  <a:srgbClr val="222222"/>
                </a:solidFill>
                <a:latin typeface="Meiryo"/>
              </a:rPr>
              <a:t>件名①「【重要】BizSTATIONお客さま情報更新のお知らせ」</a:t>
            </a:r>
          </a:p>
        </p:txBody>
      </p:sp>
      <p:sp>
        <p:nvSpPr>
          <p:cNvPr id="66" name="Rectangle 65"/>
          <p:cNvSpPr/>
          <p:nvPr/>
        </p:nvSpPr>
        <p:spPr>
          <a:xfrm>
            <a:off x="3959352" y="5989320"/>
            <a:ext cx="2423160" cy="137160"/>
          </a:xfrm>
          <a:prstGeom prst="rect">
            <a:avLst/>
          </a:prstGeom>
          <a:solidFill>
            <a:srgbClr val="FAFAFA"/>
          </a:solidFill>
          <a:ln w="254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600" b="0">
                <a:solidFill>
                  <a:srgbClr val="222222"/>
                </a:solidFill>
                <a:latin typeface="Meiryo"/>
              </a:rPr>
              <a:t>件名②「【Mバンく】IB安全利用案内（Rapport推奨）」</a:t>
            </a:r>
          </a:p>
        </p:txBody>
      </p:sp>
      <p:sp>
        <p:nvSpPr>
          <p:cNvPr id="67" name="Rectangle 66"/>
          <p:cNvSpPr/>
          <p:nvPr/>
        </p:nvSpPr>
        <p:spPr>
          <a:xfrm>
            <a:off x="6601968" y="4937760"/>
            <a:ext cx="2423160" cy="27432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0">
                <a:solidFill>
                  <a:srgbClr val="222222"/>
                </a:solidFill>
                <a:latin typeface="Meiryo"/>
              </a:rPr>
              <a:t>メールアドレスを伝える</a:t>
            </a:r>
          </a:p>
        </p:txBody>
      </p:sp>
      <p:sp>
        <p:nvSpPr>
          <p:cNvPr id="68" name="Rectangle 67"/>
          <p:cNvSpPr/>
          <p:nvPr/>
        </p:nvSpPr>
        <p:spPr>
          <a:xfrm>
            <a:off x="9244584" y="5614416"/>
            <a:ext cx="2423160" cy="32004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0">
                <a:solidFill>
                  <a:srgbClr val="222222"/>
                </a:solidFill>
                <a:latin typeface="Meiryo"/>
              </a:rPr>
              <a:t>メール受信
（Bizデザインのメール）</a:t>
            </a:r>
          </a:p>
        </p:txBody>
      </p:sp>
      <p:sp>
        <p:nvSpPr>
          <p:cNvPr id="69" name="Rectangle 68"/>
          <p:cNvSpPr/>
          <p:nvPr/>
        </p:nvSpPr>
        <p:spPr>
          <a:xfrm>
            <a:off x="3959352" y="5961888"/>
            <a:ext cx="2423160" cy="45720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【有人対応】
「セキュリティ強化のためソフトインストールが必要です。メールのボタンをクリックしてください」</a:t>
            </a:r>
          </a:p>
        </p:txBody>
      </p:sp>
      <p:sp>
        <p:nvSpPr>
          <p:cNvPr id="70" name="Rectangle 69"/>
          <p:cNvSpPr/>
          <p:nvPr/>
        </p:nvSpPr>
        <p:spPr>
          <a:xfrm>
            <a:off x="3959352" y="6464808"/>
            <a:ext cx="2423160" cy="27432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「セットアップをクリックしてください」</a:t>
            </a:r>
          </a:p>
        </p:txBody>
      </p:sp>
      <p:sp>
        <p:nvSpPr>
          <p:cNvPr id="71" name="Rectangle 70"/>
          <p:cNvSpPr/>
          <p:nvPr/>
        </p:nvSpPr>
        <p:spPr>
          <a:xfrm>
            <a:off x="3959352" y="6784848"/>
            <a:ext cx="2423160" cy="27432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「実行するをクリックしてください」</a:t>
            </a:r>
          </a:p>
        </p:txBody>
      </p:sp>
      <p:sp>
        <p:nvSpPr>
          <p:cNvPr id="72" name="Rectangle 71"/>
          <p:cNvSpPr/>
          <p:nvPr/>
        </p:nvSpPr>
        <p:spPr>
          <a:xfrm>
            <a:off x="9244584" y="5961888"/>
            <a:ext cx="2423160" cy="32004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クリック → ブラウザ表示
（Bizデザイン重要なお知らせ画面）</a:t>
            </a:r>
          </a:p>
        </p:txBody>
      </p:sp>
      <p:sp>
        <p:nvSpPr>
          <p:cNvPr id="73" name="Rectangle 72"/>
          <p:cNvSpPr/>
          <p:nvPr/>
        </p:nvSpPr>
        <p:spPr>
          <a:xfrm>
            <a:off x="9244584" y="6327648"/>
            <a:ext cx="2423160" cy="32004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【DL】リモートツールのセットアップファイル setup.msi がダウンロードされる</a:t>
            </a:r>
          </a:p>
        </p:txBody>
      </p:sp>
      <p:sp>
        <p:nvSpPr>
          <p:cNvPr id="74" name="Rectangle 73"/>
          <p:cNvSpPr/>
          <p:nvPr/>
        </p:nvSpPr>
        <p:spPr>
          <a:xfrm>
            <a:off x="9244584" y="6693408"/>
            <a:ext cx="2423160" cy="36576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【実行】msiファイル実行 → ポップアップ「実行する/実行しない」
※「不明な発行元」と表示</a:t>
            </a:r>
          </a:p>
        </p:txBody>
      </p:sp>
      <p:sp>
        <p:nvSpPr>
          <p:cNvPr id="75" name="Rectangle 74"/>
          <p:cNvSpPr/>
          <p:nvPr/>
        </p:nvSpPr>
        <p:spPr>
          <a:xfrm>
            <a:off x="9244584" y="7104888"/>
            <a:ext cx="2423160" cy="27432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1">
                <a:solidFill>
                  <a:srgbClr val="222222"/>
                </a:solidFill>
                <a:latin typeface="Meiryo"/>
              </a:rPr>
              <a:t>【インストール】ScreenConnect（リモートツール）がインストールされる</a:t>
            </a:r>
          </a:p>
        </p:txBody>
      </p:sp>
      <p:sp>
        <p:nvSpPr>
          <p:cNvPr id="76" name="Rectangle 75"/>
          <p:cNvSpPr/>
          <p:nvPr/>
        </p:nvSpPr>
        <p:spPr>
          <a:xfrm>
            <a:off x="9244584" y="7424928"/>
            <a:ext cx="2423160" cy="777240"/>
          </a:xfrm>
          <a:prstGeom prst="rect">
            <a:avLst/>
          </a:prstGeom>
          <a:solidFill>
            <a:srgbClr val="C0392B"/>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FFFFFF"/>
                </a:solidFill>
                <a:latin typeface="Meiryo"/>
              </a:rPr>
              <a:t>『Mバンく　現在セキュリティ保護強化に伴うシステム更新ならびに、お客さま情報の確認、更新処理を実施しております。処理完了までの間一時的に画面が遅延または停止する場合がありますが、正常な処理となりますのでそのままお待ちくださいますようお願い申し上げます。』</a:t>
            </a:r>
          </a:p>
        </p:txBody>
      </p:sp>
      <p:sp>
        <p:nvSpPr>
          <p:cNvPr id="77" name="Rectangle 76"/>
          <p:cNvSpPr/>
          <p:nvPr/>
        </p:nvSpPr>
        <p:spPr>
          <a:xfrm>
            <a:off x="3959352" y="8238744"/>
            <a:ext cx="2423160" cy="36576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「手続きを進めるにはSMS認証が必要なため、お客さまの携帯電話の番号を教えてください」</a:t>
            </a:r>
          </a:p>
        </p:txBody>
      </p:sp>
      <p:sp>
        <p:nvSpPr>
          <p:cNvPr id="78" name="Rectangle 77"/>
          <p:cNvSpPr/>
          <p:nvPr/>
        </p:nvSpPr>
        <p:spPr>
          <a:xfrm>
            <a:off x="3959352" y="8650224"/>
            <a:ext cx="2423160" cy="201168"/>
          </a:xfrm>
          <a:prstGeom prst="rect">
            <a:avLst/>
          </a:prstGeom>
          <a:solidFill>
            <a:srgbClr val="F4ECF7"/>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【SMS送付】</a:t>
            </a:r>
          </a:p>
        </p:txBody>
      </p:sp>
      <p:sp>
        <p:nvSpPr>
          <p:cNvPr id="79" name="Rectangle 78"/>
          <p:cNvSpPr/>
          <p:nvPr/>
        </p:nvSpPr>
        <p:spPr>
          <a:xfrm>
            <a:off x="3959352" y="8906256"/>
            <a:ext cx="2423160" cy="27432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「認証画面を表示するためリンクをクリックしてください」</a:t>
            </a:r>
          </a:p>
        </p:txBody>
      </p:sp>
      <p:sp>
        <p:nvSpPr>
          <p:cNvPr id="80" name="Rectangle 79"/>
          <p:cNvSpPr/>
          <p:nvPr/>
        </p:nvSpPr>
        <p:spPr>
          <a:xfrm>
            <a:off x="3959352" y="9226296"/>
            <a:ext cx="2423160" cy="41148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「認証のため契約者番号、利用者ID、ログインPW、取引実行PW、OTPを入力してください」</a:t>
            </a:r>
          </a:p>
        </p:txBody>
      </p:sp>
      <p:sp>
        <p:nvSpPr>
          <p:cNvPr id="81" name="Rectangle 80"/>
          <p:cNvSpPr/>
          <p:nvPr/>
        </p:nvSpPr>
        <p:spPr>
          <a:xfrm>
            <a:off x="3959352" y="9701784"/>
            <a:ext cx="2423160" cy="41148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1">
                <a:solidFill>
                  <a:srgbClr val="222222"/>
                </a:solidFill>
                <a:latin typeface="Meiryo"/>
              </a:rPr>
              <a:t>【犯人ブラウザ】赤い画面の裏でBizにアクセス、窃取したOTPを入力</a:t>
            </a:r>
          </a:p>
        </p:txBody>
      </p:sp>
      <p:sp>
        <p:nvSpPr>
          <p:cNvPr id="82" name="Rectangle 81"/>
          <p:cNvSpPr/>
          <p:nvPr/>
        </p:nvSpPr>
        <p:spPr>
          <a:xfrm>
            <a:off x="6601968" y="8238744"/>
            <a:ext cx="2423160" cy="27432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0">
                <a:solidFill>
                  <a:srgbClr val="222222"/>
                </a:solidFill>
                <a:latin typeface="Meiryo"/>
              </a:rPr>
              <a:t>電話番号を伝える</a:t>
            </a:r>
          </a:p>
        </p:txBody>
      </p:sp>
      <p:sp>
        <p:nvSpPr>
          <p:cNvPr id="83" name="Rectangle 82"/>
          <p:cNvSpPr/>
          <p:nvPr/>
        </p:nvSpPr>
        <p:spPr>
          <a:xfrm>
            <a:off x="11887200" y="8650224"/>
            <a:ext cx="2423160" cy="274320"/>
          </a:xfrm>
          <a:prstGeom prst="rect">
            <a:avLst/>
          </a:prstGeom>
          <a:solidFill>
            <a:srgbClr val="F4ECF7"/>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0">
                <a:solidFill>
                  <a:srgbClr val="222222"/>
                </a:solidFill>
                <a:latin typeface="Meiryo"/>
              </a:rPr>
              <a:t>SMS受信 → リンクをクリック</a:t>
            </a:r>
          </a:p>
        </p:txBody>
      </p:sp>
      <p:sp>
        <p:nvSpPr>
          <p:cNvPr id="84" name="Rectangle 83"/>
          <p:cNvSpPr/>
          <p:nvPr/>
        </p:nvSpPr>
        <p:spPr>
          <a:xfrm>
            <a:off x="11887200" y="8997696"/>
            <a:ext cx="2423160" cy="64008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700" b="0">
                <a:solidFill>
                  <a:srgbClr val="222222"/>
                </a:solidFill>
                <a:latin typeface="Meiryo"/>
              </a:rPr>
              <a:t>開いた画面に認証情報を入力
・契約者番号
・利用者ID
・ログインPW
・取引実行PW
・OTP</a:t>
            </a:r>
          </a:p>
        </p:txBody>
      </p:sp>
      <p:sp>
        <p:nvSpPr>
          <p:cNvPr id="85" name="Rectangle 84"/>
          <p:cNvSpPr/>
          <p:nvPr/>
        </p:nvSpPr>
        <p:spPr>
          <a:xfrm>
            <a:off x="3959352" y="10588752"/>
            <a:ext cx="2423160" cy="411480"/>
          </a:xfrm>
          <a:prstGeom prst="rect">
            <a:avLst/>
          </a:prstGeom>
          <a:solidFill>
            <a:srgbClr val="C0392B"/>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ctr"/>
            <a:r>
              <a:rPr sz="1400" b="1">
                <a:solidFill>
                  <a:srgbClr val="FFFFFF"/>
                </a:solidFill>
                <a:latin typeface="Meiryo"/>
              </a:rPr>
              <a:t>不正送金</a:t>
            </a:r>
          </a:p>
        </p:txBody>
      </p:sp>
      <p:sp>
        <p:nvSpPr>
          <p:cNvPr id="86" name="TextBox 85"/>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不審な電話手口 ｜ A3横印刷対応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274320"/>
            <a:ext cx="15124176" cy="548640"/>
          </a:xfrm>
          <a:prstGeom prst="rect">
            <a:avLst/>
          </a:prstGeom>
          <a:noFill/>
        </p:spPr>
        <p:txBody>
          <a:bodyPr wrap="square" lIns="50800" rIns="50800" tIns="38100" bIns="38100"/>
          <a:lstStyle/>
          <a:p>
            <a:pPr algn="ctr"/>
            <a:r>
              <a:rPr sz="2200" b="1">
                <a:solidFill>
                  <a:srgbClr val="C0392B"/>
                </a:solidFill>
                <a:latin typeface="Meiryo"/>
              </a:rPr>
              <a:t>なぜ見破れないのか — 銀行の正規フローとの類似性</a:t>
            </a:r>
          </a:p>
        </p:txBody>
      </p:sp>
      <p:sp>
        <p:nvSpPr>
          <p:cNvPr id="3" name="TextBox 2"/>
          <p:cNvSpPr txBox="1"/>
          <p:nvPr/>
        </p:nvSpPr>
        <p:spPr>
          <a:xfrm>
            <a:off x="0" y="777240"/>
            <a:ext cx="15124176" cy="365760"/>
          </a:xfrm>
          <a:prstGeom prst="rect">
            <a:avLst/>
          </a:prstGeom>
          <a:noFill/>
        </p:spPr>
        <p:txBody>
          <a:bodyPr wrap="square" lIns="50800" rIns="50800" tIns="38100" bIns="38100"/>
          <a:lstStyle/>
          <a:p>
            <a:pPr algn="ctr"/>
            <a:r>
              <a:rPr sz="1200" b="0">
                <a:solidFill>
                  <a:srgbClr val="888888"/>
                </a:solidFill>
                <a:latin typeface="Meiryo"/>
              </a:rPr>
              <a:t>銀行自身が顧客を「自動音声の指示に従う」行動パターンに教育してきた結果、この攻撃が成立している。</a:t>
            </a:r>
          </a:p>
        </p:txBody>
      </p:sp>
      <p:sp>
        <p:nvSpPr>
          <p:cNvPr id="4" name="Rectangle 3"/>
          <p:cNvSpPr/>
          <p:nvPr/>
        </p:nvSpPr>
        <p:spPr>
          <a:xfrm>
            <a:off x="1371600" y="1463040"/>
            <a:ext cx="411480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銀行の正規フロー</a:t>
            </a:r>
          </a:p>
        </p:txBody>
      </p:sp>
      <p:sp>
        <p:nvSpPr>
          <p:cNvPr id="5" name="Rectangle 4"/>
          <p:cNvSpPr/>
          <p:nvPr/>
        </p:nvSpPr>
        <p:spPr>
          <a:xfrm>
            <a:off x="5486400" y="1463040"/>
            <a:ext cx="411480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この攻撃の手口</a:t>
            </a:r>
          </a:p>
        </p:txBody>
      </p:sp>
      <p:sp>
        <p:nvSpPr>
          <p:cNvPr id="6" name="Rectangle 5"/>
          <p:cNvSpPr/>
          <p:nvPr/>
        </p:nvSpPr>
        <p:spPr>
          <a:xfrm>
            <a:off x="9601200" y="1463040"/>
            <a:ext cx="411480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顧客の体験</a:t>
            </a:r>
          </a:p>
        </p:txBody>
      </p:sp>
      <p:sp>
        <p:nvSpPr>
          <p:cNvPr id="7" name="Rectangle 6"/>
          <p:cNvSpPr/>
          <p:nvPr/>
        </p:nvSpPr>
        <p:spPr>
          <a:xfrm>
            <a:off x="1371600" y="1965960"/>
            <a:ext cx="4114800" cy="50292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自動音声で用件を振り分け</a:t>
            </a:r>
          </a:p>
        </p:txBody>
      </p:sp>
      <p:sp>
        <p:nvSpPr>
          <p:cNvPr id="8" name="Rectangle 7"/>
          <p:cNvSpPr/>
          <p:nvPr/>
        </p:nvSpPr>
        <p:spPr>
          <a:xfrm>
            <a:off x="5486400" y="1965960"/>
            <a:ext cx="4114800" cy="50292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自動音声で権限者を選別</a:t>
            </a:r>
          </a:p>
        </p:txBody>
      </p:sp>
      <p:sp>
        <p:nvSpPr>
          <p:cNvPr id="9" name="Rectangle 8"/>
          <p:cNvSpPr/>
          <p:nvPr/>
        </p:nvSpPr>
        <p:spPr>
          <a:xfrm>
            <a:off x="9601200" y="196596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同じ</a:t>
            </a:r>
          </a:p>
        </p:txBody>
      </p:sp>
      <p:sp>
        <p:nvSpPr>
          <p:cNvPr id="10" name="Rectangle 9"/>
          <p:cNvSpPr/>
          <p:nvPr/>
        </p:nvSpPr>
        <p:spPr>
          <a:xfrm>
            <a:off x="1371600" y="2468880"/>
            <a:ext cx="4114800" cy="50292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番号を押して選択</a:t>
            </a:r>
          </a:p>
        </p:txBody>
      </p:sp>
      <p:sp>
        <p:nvSpPr>
          <p:cNvPr id="11" name="Rectangle 10"/>
          <p:cNvSpPr/>
          <p:nvPr/>
        </p:nvSpPr>
        <p:spPr>
          <a:xfrm>
            <a:off x="5486400" y="2468880"/>
            <a:ext cx="4114800" cy="50292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「1」を押す</a:t>
            </a:r>
          </a:p>
        </p:txBody>
      </p:sp>
      <p:sp>
        <p:nvSpPr>
          <p:cNvPr id="12" name="Rectangle 11"/>
          <p:cNvSpPr/>
          <p:nvPr/>
        </p:nvSpPr>
        <p:spPr>
          <a:xfrm>
            <a:off x="9601200" y="2468880"/>
            <a:ext cx="411480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同じ</a:t>
            </a:r>
          </a:p>
        </p:txBody>
      </p:sp>
      <p:sp>
        <p:nvSpPr>
          <p:cNvPr id="13" name="Rectangle 12"/>
          <p:cNvSpPr/>
          <p:nvPr/>
        </p:nvSpPr>
        <p:spPr>
          <a:xfrm>
            <a:off x="1371600" y="2971800"/>
            <a:ext cx="4114800" cy="50292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担当者と話す</a:t>
            </a:r>
          </a:p>
        </p:txBody>
      </p:sp>
      <p:sp>
        <p:nvSpPr>
          <p:cNvPr id="14" name="Rectangle 13"/>
          <p:cNvSpPr/>
          <p:nvPr/>
        </p:nvSpPr>
        <p:spPr>
          <a:xfrm>
            <a:off x="5486400" y="2971800"/>
            <a:ext cx="4114800" cy="50292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犯人（AI音声/有人）と話す</a:t>
            </a:r>
          </a:p>
        </p:txBody>
      </p:sp>
      <p:sp>
        <p:nvSpPr>
          <p:cNvPr id="15" name="Rectangle 14"/>
          <p:cNvSpPr/>
          <p:nvPr/>
        </p:nvSpPr>
        <p:spPr>
          <a:xfrm>
            <a:off x="9601200" y="297180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同じ</a:t>
            </a:r>
          </a:p>
        </p:txBody>
      </p:sp>
      <p:sp>
        <p:nvSpPr>
          <p:cNvPr id="16" name="Rectangle 15"/>
          <p:cNvSpPr/>
          <p:nvPr/>
        </p:nvSpPr>
        <p:spPr>
          <a:xfrm>
            <a:off x="1371600" y="3474720"/>
            <a:ext cx="4114800" cy="50292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指示に従って手続き</a:t>
            </a:r>
          </a:p>
        </p:txBody>
      </p:sp>
      <p:sp>
        <p:nvSpPr>
          <p:cNvPr id="17" name="Rectangle 16"/>
          <p:cNvSpPr/>
          <p:nvPr/>
        </p:nvSpPr>
        <p:spPr>
          <a:xfrm>
            <a:off x="5486400" y="3474720"/>
            <a:ext cx="4114800" cy="50292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指示に従ってインストール</a:t>
            </a:r>
          </a:p>
        </p:txBody>
      </p:sp>
      <p:sp>
        <p:nvSpPr>
          <p:cNvPr id="18" name="Rectangle 17"/>
          <p:cNvSpPr/>
          <p:nvPr/>
        </p:nvSpPr>
        <p:spPr>
          <a:xfrm>
            <a:off x="9601200" y="3474720"/>
            <a:ext cx="411480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同じ</a:t>
            </a:r>
          </a:p>
        </p:txBody>
      </p:sp>
      <p:sp>
        <p:nvSpPr>
          <p:cNvPr id="19" name="Rectangle 18"/>
          <p:cNvSpPr/>
          <p:nvPr/>
        </p:nvSpPr>
        <p:spPr>
          <a:xfrm>
            <a:off x="1371600" y="3977639"/>
            <a:ext cx="4114800" cy="50292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本人確認で情報を伝える</a:t>
            </a:r>
          </a:p>
        </p:txBody>
      </p:sp>
      <p:sp>
        <p:nvSpPr>
          <p:cNvPr id="20" name="Rectangle 19"/>
          <p:cNvSpPr/>
          <p:nvPr/>
        </p:nvSpPr>
        <p:spPr>
          <a:xfrm>
            <a:off x="5486400" y="3977639"/>
            <a:ext cx="4114800" cy="50292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100" b="0">
                <a:solidFill>
                  <a:srgbClr val="222222"/>
                </a:solidFill>
                <a:latin typeface="Meiryo"/>
              </a:rPr>
              <a:t>認証情報をすべて入力</a:t>
            </a:r>
          </a:p>
        </p:txBody>
      </p:sp>
      <p:sp>
        <p:nvSpPr>
          <p:cNvPr id="21" name="Rectangle 20"/>
          <p:cNvSpPr/>
          <p:nvPr/>
        </p:nvSpPr>
        <p:spPr>
          <a:xfrm>
            <a:off x="9601200" y="3977639"/>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同じ</a:t>
            </a:r>
          </a:p>
        </p:txBody>
      </p:sp>
      <p:sp>
        <p:nvSpPr>
          <p:cNvPr id="22" name="Rectangle 21"/>
          <p:cNvSpPr/>
          <p:nvPr/>
        </p:nvSpPr>
        <p:spPr>
          <a:xfrm>
            <a:off x="1371600" y="4754880"/>
            <a:ext cx="123444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600" b="1">
                <a:solidFill>
                  <a:srgbClr val="FFFFFF"/>
                </a:solidFill>
                <a:latin typeface="Meiryo"/>
              </a:rPr>
              <a:t>構造的問題：正規と詐欺の区別が顧客側ではほぼ不可能</a:t>
            </a:r>
          </a:p>
        </p:txBody>
      </p:sp>
      <p:sp>
        <p:nvSpPr>
          <p:cNvPr id="23" name="TextBox 22"/>
          <p:cNvSpPr txBox="1"/>
          <p:nvPr/>
        </p:nvSpPr>
        <p:spPr>
          <a:xfrm>
            <a:off x="1371600" y="5486400"/>
            <a:ext cx="12344400" cy="1645920"/>
          </a:xfrm>
          <a:prstGeom prst="rect">
            <a:avLst/>
          </a:prstGeom>
          <a:noFill/>
        </p:spPr>
        <p:txBody>
          <a:bodyPr wrap="square" lIns="50800" rIns="50800" tIns="38100" bIns="38100"/>
          <a:lstStyle/>
          <a:p>
            <a:pPr algn="l"/>
            <a:r>
              <a:rPr sz="1300" b="0">
                <a:solidFill>
                  <a:srgbClr val="222222"/>
                </a:solidFill>
                <a:latin typeface="Meiryo"/>
              </a:rPr>
              <a:t>銀行側が取るべき対策：
① 架電を原則廃止し「銀行からは電話しません」と宣言する
② やむを得ない架電は事前にIB画面やアプリで通知してから行う
③「電話でソフトインストールを指示することはない」を明示する（現状周知不足）</a:t>
            </a:r>
          </a:p>
        </p:txBody>
      </p:sp>
      <p:sp>
        <p:nvSpPr>
          <p:cNvPr id="24" name="TextBox 23"/>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銀行の正規フローとの類似性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274320"/>
            <a:ext cx="15124176" cy="548640"/>
          </a:xfrm>
          <a:prstGeom prst="rect">
            <a:avLst/>
          </a:prstGeom>
          <a:noFill/>
        </p:spPr>
        <p:txBody>
          <a:bodyPr wrap="square" lIns="50800" rIns="50800" tIns="38100" bIns="38100"/>
          <a:lstStyle/>
          <a:p>
            <a:pPr algn="ctr"/>
            <a:r>
              <a:rPr sz="2200" b="1">
                <a:solidFill>
                  <a:srgbClr val="E67E22"/>
                </a:solidFill>
                <a:latin typeface="Meiryo"/>
              </a:rPr>
              <a:t>手順②の心理操作 — どう答えても犯人のシナリオに乗る設計</a:t>
            </a:r>
          </a:p>
        </p:txBody>
      </p:sp>
      <p:sp>
        <p:nvSpPr>
          <p:cNvPr id="3" name="TextBox 2"/>
          <p:cNvSpPr txBox="1"/>
          <p:nvPr/>
        </p:nvSpPr>
        <p:spPr>
          <a:xfrm>
            <a:off x="0" y="777240"/>
            <a:ext cx="15124176" cy="365760"/>
          </a:xfrm>
          <a:prstGeom prst="rect">
            <a:avLst/>
          </a:prstGeom>
          <a:noFill/>
        </p:spPr>
        <p:txBody>
          <a:bodyPr wrap="square" lIns="50800" rIns="50800" tIns="38100" bIns="38100"/>
          <a:lstStyle/>
          <a:p>
            <a:pPr algn="ctr"/>
            <a:r>
              <a:rPr sz="1200" b="0">
                <a:solidFill>
                  <a:srgbClr val="888888"/>
                </a:solidFill>
                <a:latin typeface="Meiryo"/>
              </a:rPr>
              <a:t>4つのセリフそれぞれに明確な狙いがあり、被害者の心理的退路を塞いでいる。</a:t>
            </a:r>
          </a:p>
        </p:txBody>
      </p:sp>
      <p:sp>
        <p:nvSpPr>
          <p:cNvPr id="4" name="Rectangle 3"/>
          <p:cNvSpPr/>
          <p:nvPr/>
        </p:nvSpPr>
        <p:spPr>
          <a:xfrm>
            <a:off x="1371600" y="1371600"/>
            <a:ext cx="411480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セリフ</a:t>
            </a:r>
          </a:p>
        </p:txBody>
      </p:sp>
      <p:sp>
        <p:nvSpPr>
          <p:cNvPr id="5" name="Rectangle 4"/>
          <p:cNvSpPr/>
          <p:nvPr/>
        </p:nvSpPr>
        <p:spPr>
          <a:xfrm>
            <a:off x="5486400" y="1371600"/>
            <a:ext cx="182880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狙い</a:t>
            </a:r>
          </a:p>
        </p:txBody>
      </p:sp>
      <p:sp>
        <p:nvSpPr>
          <p:cNvPr id="6" name="Rectangle 5"/>
          <p:cNvSpPr/>
          <p:nvPr/>
        </p:nvSpPr>
        <p:spPr>
          <a:xfrm>
            <a:off x="7315200" y="1371600"/>
            <a:ext cx="6400800" cy="594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効果</a:t>
            </a:r>
          </a:p>
        </p:txBody>
      </p:sp>
      <p:sp>
        <p:nvSpPr>
          <p:cNvPr id="7" name="Rectangle 6"/>
          <p:cNvSpPr/>
          <p:nvPr/>
        </p:nvSpPr>
        <p:spPr>
          <a:xfrm>
            <a:off x="1371600" y="1965960"/>
            <a:ext cx="4114800" cy="5943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「パソコン環境の更新が必要」</a:t>
            </a:r>
          </a:p>
        </p:txBody>
      </p:sp>
      <p:sp>
        <p:nvSpPr>
          <p:cNvPr id="8" name="Rectangle 7"/>
          <p:cNvSpPr/>
          <p:nvPr/>
        </p:nvSpPr>
        <p:spPr>
          <a:xfrm>
            <a:off x="5486400" y="1965960"/>
            <a:ext cx="1828800" cy="5943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伏線</a:t>
            </a:r>
          </a:p>
        </p:txBody>
      </p:sp>
      <p:sp>
        <p:nvSpPr>
          <p:cNvPr id="9" name="Rectangle 8"/>
          <p:cNvSpPr/>
          <p:nvPr/>
        </p:nvSpPr>
        <p:spPr>
          <a:xfrm>
            <a:off x="7315200" y="1965960"/>
            <a:ext cx="6400800" cy="5943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後のソフトインストール（手順⑤⑥）を自然に受け入れさせる</a:t>
            </a:r>
          </a:p>
        </p:txBody>
      </p:sp>
      <p:sp>
        <p:nvSpPr>
          <p:cNvPr id="10" name="Rectangle 9"/>
          <p:cNvSpPr/>
          <p:nvPr/>
        </p:nvSpPr>
        <p:spPr>
          <a:xfrm>
            <a:off x="1371600" y="2560320"/>
            <a:ext cx="4114800" cy="5943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「口座の利用制限をしています」</a:t>
            </a:r>
          </a:p>
        </p:txBody>
      </p:sp>
      <p:sp>
        <p:nvSpPr>
          <p:cNvPr id="11" name="Rectangle 10"/>
          <p:cNvSpPr/>
          <p:nvPr/>
        </p:nvSpPr>
        <p:spPr>
          <a:xfrm>
            <a:off x="5486400" y="2560320"/>
            <a:ext cx="18288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恐怖</a:t>
            </a:r>
          </a:p>
        </p:txBody>
      </p:sp>
      <p:sp>
        <p:nvSpPr>
          <p:cNvPr id="12" name="Rectangle 11"/>
          <p:cNvSpPr/>
          <p:nvPr/>
        </p:nvSpPr>
        <p:spPr>
          <a:xfrm>
            <a:off x="7315200" y="2560320"/>
            <a:ext cx="6400800" cy="5943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「今すぐ対応しなきゃ」と焦らせ、冷静な判断を奪う</a:t>
            </a:r>
          </a:p>
        </p:txBody>
      </p:sp>
      <p:sp>
        <p:nvSpPr>
          <p:cNvPr id="13" name="Rectangle 12"/>
          <p:cNvSpPr/>
          <p:nvPr/>
        </p:nvSpPr>
        <p:spPr>
          <a:xfrm>
            <a:off x="1371600" y="3154680"/>
            <a:ext cx="4114800" cy="5943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「手続きを郵送しましたが、届いてますか」</a:t>
            </a:r>
          </a:p>
        </p:txBody>
      </p:sp>
      <p:sp>
        <p:nvSpPr>
          <p:cNvPr id="14" name="Rectangle 13"/>
          <p:cNvSpPr/>
          <p:nvPr/>
        </p:nvSpPr>
        <p:spPr>
          <a:xfrm>
            <a:off x="5486400" y="3154680"/>
            <a:ext cx="1828800" cy="5943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負い目</a:t>
            </a:r>
          </a:p>
        </p:txBody>
      </p:sp>
      <p:sp>
        <p:nvSpPr>
          <p:cNvPr id="15" name="Rectangle 14"/>
          <p:cNvSpPr/>
          <p:nvPr/>
        </p:nvSpPr>
        <p:spPr>
          <a:xfrm>
            <a:off x="7315200" y="3154680"/>
            <a:ext cx="6400800" cy="5943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被害者に「自分が見落とした」と思わせ、指示に従いやすくする</a:t>
            </a:r>
          </a:p>
        </p:txBody>
      </p:sp>
      <p:sp>
        <p:nvSpPr>
          <p:cNvPr id="16" name="Rectangle 15"/>
          <p:cNvSpPr/>
          <p:nvPr/>
        </p:nvSpPr>
        <p:spPr>
          <a:xfrm>
            <a:off x="1371600" y="3749039"/>
            <a:ext cx="4114800" cy="5943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「更新されていないので電話しました」</a:t>
            </a:r>
          </a:p>
        </p:txBody>
      </p:sp>
      <p:sp>
        <p:nvSpPr>
          <p:cNvPr id="17" name="Rectangle 16"/>
          <p:cNvSpPr/>
          <p:nvPr/>
        </p:nvSpPr>
        <p:spPr>
          <a:xfrm>
            <a:off x="5486400" y="3749039"/>
            <a:ext cx="1828800" cy="5943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正当化</a:t>
            </a:r>
          </a:p>
        </p:txBody>
      </p:sp>
      <p:sp>
        <p:nvSpPr>
          <p:cNvPr id="18" name="Rectangle 17"/>
          <p:cNvSpPr/>
          <p:nvPr/>
        </p:nvSpPr>
        <p:spPr>
          <a:xfrm>
            <a:off x="7315200" y="3749039"/>
            <a:ext cx="6400800" cy="5943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架電がフォローアップに見え、銀行の丁寧な対応と錯覚させる</a:t>
            </a:r>
          </a:p>
        </p:txBody>
      </p:sp>
      <p:sp>
        <p:nvSpPr>
          <p:cNvPr id="19" name="Rectangle 18"/>
          <p:cNvSpPr/>
          <p:nvPr/>
        </p:nvSpPr>
        <p:spPr>
          <a:xfrm>
            <a:off x="1371600" y="4617720"/>
            <a:ext cx="12344400" cy="4114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1300" b="1">
                <a:solidFill>
                  <a:srgbClr val="222222"/>
                </a:solidFill>
                <a:latin typeface="Meiryo"/>
              </a:rPr>
              <a:t>「届いてますか？」への回答パターン</a:t>
            </a:r>
          </a:p>
        </p:txBody>
      </p:sp>
      <p:sp>
        <p:nvSpPr>
          <p:cNvPr id="20" name="Rectangle 19"/>
          <p:cNvSpPr/>
          <p:nvPr/>
        </p:nvSpPr>
        <p:spPr>
          <a:xfrm>
            <a:off x="1371600" y="5074920"/>
            <a:ext cx="5943600" cy="45720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「届いてない」（大多数）
→「届いていないなら仕方ない、電話で手続きしましょう」</a:t>
            </a:r>
          </a:p>
        </p:txBody>
      </p:sp>
      <p:sp>
        <p:nvSpPr>
          <p:cNvPr id="21" name="Rectangle 20"/>
          <p:cNvSpPr/>
          <p:nvPr/>
        </p:nvSpPr>
        <p:spPr>
          <a:xfrm>
            <a:off x="7406640" y="5074920"/>
            <a:ext cx="13716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 シナリオ続行</a:t>
            </a:r>
          </a:p>
        </p:txBody>
      </p:sp>
      <p:sp>
        <p:nvSpPr>
          <p:cNvPr id="22" name="Rectangle 21"/>
          <p:cNvSpPr/>
          <p:nvPr/>
        </p:nvSpPr>
        <p:spPr>
          <a:xfrm>
            <a:off x="8961120" y="5074920"/>
            <a:ext cx="3474720" cy="45720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「届いてる」（稀）
→「では確認しながら進めましょう」</a:t>
            </a:r>
          </a:p>
        </p:txBody>
      </p:sp>
      <p:sp>
        <p:nvSpPr>
          <p:cNvPr id="23" name="Rectangle 22"/>
          <p:cNvSpPr/>
          <p:nvPr/>
        </p:nvSpPr>
        <p:spPr>
          <a:xfrm>
            <a:off x="12527280" y="5074920"/>
            <a:ext cx="118872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 シナリオ続行</a:t>
            </a:r>
          </a:p>
        </p:txBody>
      </p:sp>
      <p:sp>
        <p:nvSpPr>
          <p:cNvPr id="24" name="Rectangle 23"/>
          <p:cNvSpPr/>
          <p:nvPr/>
        </p:nvSpPr>
        <p:spPr>
          <a:xfrm>
            <a:off x="1371600" y="5715000"/>
            <a:ext cx="123444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Meiryo"/>
              </a:rPr>
              <a:t>どう答えても犯人のシナリオから逸脱できない — 顧客には見破れない</a:t>
            </a:r>
          </a:p>
        </p:txBody>
      </p:sp>
      <p:sp>
        <p:nvSpPr>
          <p:cNvPr id="25" name="TextBox 24"/>
          <p:cNvSpPr txBox="1"/>
          <p:nvPr/>
        </p:nvSpPr>
        <p:spPr>
          <a:xfrm>
            <a:off x="1371600" y="6355079"/>
            <a:ext cx="12344400" cy="548640"/>
          </a:xfrm>
          <a:prstGeom prst="rect">
            <a:avLst/>
          </a:prstGeom>
          <a:noFill/>
        </p:spPr>
        <p:txBody>
          <a:bodyPr wrap="square" lIns="50800" rIns="50800" tIns="38100" bIns="38100"/>
          <a:lstStyle/>
          <a:p>
            <a:pPr algn="l"/>
            <a:r>
              <a:rPr sz="1200" b="0">
                <a:solidFill>
                  <a:srgbClr val="222222"/>
                </a:solidFill>
                <a:latin typeface="Meiryo"/>
              </a:rPr>
              <a:t>これも銀行が日常的に行う「書類を郵送しました → 届きましたか → 未対応なのでお電話」と同一パターンであり、顧客には見破れない</a:t>
            </a:r>
          </a:p>
        </p:txBody>
      </p:sp>
      <p:sp>
        <p:nvSpPr>
          <p:cNvPr id="26" name="TextBox 25"/>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手順②の心理操作テクニック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400" b="1">
                <a:solidFill>
                  <a:srgbClr val="C0392B"/>
                </a:solidFill>
                <a:latin typeface="Meiryo"/>
              </a:rPr>
              <a:t>顧客はこの攻撃を見破れるか？</a:t>
            </a:r>
          </a:p>
        </p:txBody>
      </p:sp>
      <p:sp>
        <p:nvSpPr>
          <p:cNvPr id="3" name="Rectangle 2"/>
          <p:cNvSpPr/>
          <p:nvPr/>
        </p:nvSpPr>
        <p:spPr>
          <a:xfrm>
            <a:off x="731520" y="914400"/>
            <a:ext cx="91440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手順</a:t>
            </a:r>
          </a:p>
        </p:txBody>
      </p:sp>
      <p:sp>
        <p:nvSpPr>
          <p:cNvPr id="4" name="Rectangle 3"/>
          <p:cNvSpPr/>
          <p:nvPr/>
        </p:nvSpPr>
        <p:spPr>
          <a:xfrm>
            <a:off x="1645920" y="914400"/>
            <a:ext cx="347472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内容</a:t>
            </a:r>
          </a:p>
        </p:txBody>
      </p:sp>
      <p:sp>
        <p:nvSpPr>
          <p:cNvPr id="5" name="Rectangle 4"/>
          <p:cNvSpPr/>
          <p:nvPr/>
        </p:nvSpPr>
        <p:spPr>
          <a:xfrm>
            <a:off x="5120640" y="914400"/>
            <a:ext cx="164592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見破れるか</a:t>
            </a:r>
          </a:p>
        </p:txBody>
      </p:sp>
      <p:sp>
        <p:nvSpPr>
          <p:cNvPr id="6" name="Rectangle 5"/>
          <p:cNvSpPr/>
          <p:nvPr/>
        </p:nvSpPr>
        <p:spPr>
          <a:xfrm>
            <a:off x="6766559" y="914400"/>
            <a:ext cx="594360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理由</a:t>
            </a:r>
          </a:p>
        </p:txBody>
      </p:sp>
      <p:sp>
        <p:nvSpPr>
          <p:cNvPr id="7" name="Rectangle 6"/>
          <p:cNvSpPr/>
          <p:nvPr/>
        </p:nvSpPr>
        <p:spPr>
          <a:xfrm>
            <a:off x="731520" y="1371600"/>
            <a:ext cx="914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①</a:t>
            </a:r>
          </a:p>
        </p:txBody>
      </p:sp>
      <p:sp>
        <p:nvSpPr>
          <p:cNvPr id="8" name="Rectangle 7"/>
          <p:cNvSpPr/>
          <p:nvPr/>
        </p:nvSpPr>
        <p:spPr>
          <a:xfrm>
            <a:off x="1645920" y="1371600"/>
            <a:ext cx="347472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自動音声「1を押してください」</a:t>
            </a:r>
          </a:p>
        </p:txBody>
      </p:sp>
      <p:sp>
        <p:nvSpPr>
          <p:cNvPr id="9" name="Rectangle 8"/>
          <p:cNvSpPr/>
          <p:nvPr/>
        </p:nvSpPr>
        <p:spPr>
          <a:xfrm>
            <a:off x="5120640" y="1371600"/>
            <a:ext cx="164592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不可能</a:t>
            </a:r>
          </a:p>
        </p:txBody>
      </p:sp>
      <p:sp>
        <p:nvSpPr>
          <p:cNvPr id="10" name="Rectangle 9"/>
          <p:cNvSpPr/>
          <p:nvPr/>
        </p:nvSpPr>
        <p:spPr>
          <a:xfrm>
            <a:off x="6766559" y="1371600"/>
            <a:ext cx="594360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銀行も同じことをする</a:t>
            </a:r>
          </a:p>
        </p:txBody>
      </p:sp>
      <p:sp>
        <p:nvSpPr>
          <p:cNvPr id="11" name="Rectangle 10"/>
          <p:cNvSpPr/>
          <p:nvPr/>
        </p:nvSpPr>
        <p:spPr>
          <a:xfrm>
            <a:off x="731520" y="1828800"/>
            <a:ext cx="914400" cy="45720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②</a:t>
            </a:r>
          </a:p>
        </p:txBody>
      </p:sp>
      <p:sp>
        <p:nvSpPr>
          <p:cNvPr id="12" name="Rectangle 11"/>
          <p:cNvSpPr/>
          <p:nvPr/>
        </p:nvSpPr>
        <p:spPr>
          <a:xfrm>
            <a:off x="1645920" y="1828800"/>
            <a:ext cx="347472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「口座制限中、郵送したが届いてますか」</a:t>
            </a:r>
          </a:p>
        </p:txBody>
      </p:sp>
      <p:sp>
        <p:nvSpPr>
          <p:cNvPr id="13" name="Rectangle 12"/>
          <p:cNvSpPr/>
          <p:nvPr/>
        </p:nvSpPr>
        <p:spPr>
          <a:xfrm>
            <a:off x="5120640" y="1828800"/>
            <a:ext cx="164592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不可能</a:t>
            </a:r>
          </a:p>
        </p:txBody>
      </p:sp>
      <p:sp>
        <p:nvSpPr>
          <p:cNvPr id="14" name="Rectangle 13"/>
          <p:cNvSpPr/>
          <p:nvPr/>
        </p:nvSpPr>
        <p:spPr>
          <a:xfrm>
            <a:off x="6766559" y="1828800"/>
            <a:ext cx="594360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銀行も同じことを言う</a:t>
            </a:r>
          </a:p>
        </p:txBody>
      </p:sp>
      <p:sp>
        <p:nvSpPr>
          <p:cNvPr id="15" name="Rectangle 14"/>
          <p:cNvSpPr/>
          <p:nvPr/>
        </p:nvSpPr>
        <p:spPr>
          <a:xfrm>
            <a:off x="731520" y="2286000"/>
            <a:ext cx="914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③</a:t>
            </a:r>
          </a:p>
        </p:txBody>
      </p:sp>
      <p:sp>
        <p:nvSpPr>
          <p:cNvPr id="16" name="Rectangle 15"/>
          <p:cNvSpPr/>
          <p:nvPr/>
        </p:nvSpPr>
        <p:spPr>
          <a:xfrm>
            <a:off x="1645920" y="2286000"/>
            <a:ext cx="347472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「メールで案内します」メアド聞き出し</a:t>
            </a:r>
          </a:p>
        </p:txBody>
      </p:sp>
      <p:sp>
        <p:nvSpPr>
          <p:cNvPr id="17" name="Rectangle 16"/>
          <p:cNvSpPr/>
          <p:nvPr/>
        </p:nvSpPr>
        <p:spPr>
          <a:xfrm>
            <a:off x="5120640" y="2286000"/>
            <a:ext cx="164592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ほぼ不可能</a:t>
            </a:r>
          </a:p>
        </p:txBody>
      </p:sp>
      <p:sp>
        <p:nvSpPr>
          <p:cNvPr id="18" name="Rectangle 17"/>
          <p:cNvSpPr/>
          <p:nvPr/>
        </p:nvSpPr>
        <p:spPr>
          <a:xfrm>
            <a:off x="6766559" y="2286000"/>
            <a:ext cx="594360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銀行も確認することがある</a:t>
            </a:r>
          </a:p>
        </p:txBody>
      </p:sp>
      <p:sp>
        <p:nvSpPr>
          <p:cNvPr id="19" name="Rectangle 18"/>
          <p:cNvSpPr/>
          <p:nvPr/>
        </p:nvSpPr>
        <p:spPr>
          <a:xfrm>
            <a:off x="731520" y="2743200"/>
            <a:ext cx="914400" cy="45720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④</a:t>
            </a:r>
          </a:p>
        </p:txBody>
      </p:sp>
      <p:sp>
        <p:nvSpPr>
          <p:cNvPr id="20" name="Rectangle 19"/>
          <p:cNvSpPr/>
          <p:nvPr/>
        </p:nvSpPr>
        <p:spPr>
          <a:xfrm>
            <a:off x="1645920" y="2743200"/>
            <a:ext cx="347472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Bizデザインの偽メール送付</a:t>
            </a:r>
          </a:p>
        </p:txBody>
      </p:sp>
      <p:sp>
        <p:nvSpPr>
          <p:cNvPr id="21" name="Rectangle 20"/>
          <p:cNvSpPr/>
          <p:nvPr/>
        </p:nvSpPr>
        <p:spPr>
          <a:xfrm>
            <a:off x="5120640" y="2743200"/>
            <a:ext cx="164592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困難</a:t>
            </a:r>
          </a:p>
        </p:txBody>
      </p:sp>
      <p:sp>
        <p:nvSpPr>
          <p:cNvPr id="22" name="Rectangle 21"/>
          <p:cNvSpPr/>
          <p:nvPr/>
        </p:nvSpPr>
        <p:spPr>
          <a:xfrm>
            <a:off x="6766559" y="2743200"/>
            <a:ext cx="594360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精巧に模倣されている</a:t>
            </a:r>
          </a:p>
        </p:txBody>
      </p:sp>
      <p:sp>
        <p:nvSpPr>
          <p:cNvPr id="23" name="Rectangle 22"/>
          <p:cNvSpPr/>
          <p:nvPr/>
        </p:nvSpPr>
        <p:spPr>
          <a:xfrm>
            <a:off x="731520" y="3200400"/>
            <a:ext cx="914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⑤</a:t>
            </a:r>
          </a:p>
        </p:txBody>
      </p:sp>
      <p:sp>
        <p:nvSpPr>
          <p:cNvPr id="24" name="Rectangle 23"/>
          <p:cNvSpPr/>
          <p:nvPr/>
        </p:nvSpPr>
        <p:spPr>
          <a:xfrm>
            <a:off x="1645920" y="3200400"/>
            <a:ext cx="347472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「ソフトをインストールしてください」</a:t>
            </a:r>
          </a:p>
        </p:txBody>
      </p:sp>
      <p:sp>
        <p:nvSpPr>
          <p:cNvPr id="25" name="Rectangle 24"/>
          <p:cNvSpPr/>
          <p:nvPr/>
        </p:nvSpPr>
        <p:spPr>
          <a:xfrm>
            <a:off x="5120640" y="3200400"/>
            <a:ext cx="164592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唯一のチャンス</a:t>
            </a:r>
          </a:p>
        </p:txBody>
      </p:sp>
      <p:sp>
        <p:nvSpPr>
          <p:cNvPr id="26" name="Rectangle 25"/>
          <p:cNvSpPr/>
          <p:nvPr/>
        </p:nvSpPr>
        <p:spPr>
          <a:xfrm>
            <a:off x="6766559" y="3200400"/>
            <a:ext cx="594360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ただし既に心理的に従う状態</a:t>
            </a:r>
          </a:p>
        </p:txBody>
      </p:sp>
      <p:sp>
        <p:nvSpPr>
          <p:cNvPr id="27" name="Rectangle 26"/>
          <p:cNvSpPr/>
          <p:nvPr/>
        </p:nvSpPr>
        <p:spPr>
          <a:xfrm>
            <a:off x="731520" y="3657600"/>
            <a:ext cx="914400" cy="45720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⑥</a:t>
            </a:r>
          </a:p>
        </p:txBody>
      </p:sp>
      <p:sp>
        <p:nvSpPr>
          <p:cNvPr id="28" name="Rectangle 27"/>
          <p:cNvSpPr/>
          <p:nvPr/>
        </p:nvSpPr>
        <p:spPr>
          <a:xfrm>
            <a:off x="1645920" y="3657600"/>
            <a:ext cx="347472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msi実行「不明な発行元」の警告</a:t>
            </a:r>
          </a:p>
        </p:txBody>
      </p:sp>
      <p:sp>
        <p:nvSpPr>
          <p:cNvPr id="29" name="Rectangle 28"/>
          <p:cNvSpPr/>
          <p:nvPr/>
        </p:nvSpPr>
        <p:spPr>
          <a:xfrm>
            <a:off x="5120640" y="3657600"/>
            <a:ext cx="164592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技術的には可能</a:t>
            </a:r>
          </a:p>
        </p:txBody>
      </p:sp>
      <p:sp>
        <p:nvSpPr>
          <p:cNvPr id="30" name="Rectangle 29"/>
          <p:cNvSpPr/>
          <p:nvPr/>
        </p:nvSpPr>
        <p:spPr>
          <a:xfrm>
            <a:off x="6766559" y="3657600"/>
            <a:ext cx="594360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電話で「実行して」と言われ突破される</a:t>
            </a:r>
          </a:p>
        </p:txBody>
      </p:sp>
      <p:sp>
        <p:nvSpPr>
          <p:cNvPr id="31" name="Rectangle 30"/>
          <p:cNvSpPr/>
          <p:nvPr/>
        </p:nvSpPr>
        <p:spPr>
          <a:xfrm>
            <a:off x="731520" y="4114800"/>
            <a:ext cx="914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⑦</a:t>
            </a:r>
          </a:p>
        </p:txBody>
      </p:sp>
      <p:sp>
        <p:nvSpPr>
          <p:cNvPr id="32" name="Rectangle 31"/>
          <p:cNvSpPr/>
          <p:nvPr/>
        </p:nvSpPr>
        <p:spPr>
          <a:xfrm>
            <a:off x="1645920" y="4114800"/>
            <a:ext cx="347472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赤い画面「お待ちください」</a:t>
            </a:r>
          </a:p>
        </p:txBody>
      </p:sp>
      <p:sp>
        <p:nvSpPr>
          <p:cNvPr id="33" name="Rectangle 32"/>
          <p:cNvSpPr/>
          <p:nvPr/>
        </p:nvSpPr>
        <p:spPr>
          <a:xfrm>
            <a:off x="5120640" y="4114800"/>
            <a:ext cx="164592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困難</a:t>
            </a:r>
          </a:p>
        </p:txBody>
      </p:sp>
      <p:sp>
        <p:nvSpPr>
          <p:cNvPr id="34" name="Rectangle 33"/>
          <p:cNvSpPr/>
          <p:nvPr/>
        </p:nvSpPr>
        <p:spPr>
          <a:xfrm>
            <a:off x="6766559" y="4114800"/>
            <a:ext cx="594360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もう完全に信用している</a:t>
            </a:r>
          </a:p>
        </p:txBody>
      </p:sp>
      <p:sp>
        <p:nvSpPr>
          <p:cNvPr id="35" name="Rectangle 34"/>
          <p:cNvSpPr/>
          <p:nvPr/>
        </p:nvSpPr>
        <p:spPr>
          <a:xfrm>
            <a:off x="731520" y="4572000"/>
            <a:ext cx="914400" cy="45720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222222"/>
                </a:solidFill>
                <a:latin typeface="Meiryo"/>
              </a:rPr>
              <a:t>⑧</a:t>
            </a:r>
          </a:p>
        </p:txBody>
      </p:sp>
      <p:sp>
        <p:nvSpPr>
          <p:cNvPr id="36" name="Rectangle 35"/>
          <p:cNvSpPr/>
          <p:nvPr/>
        </p:nvSpPr>
        <p:spPr>
          <a:xfrm>
            <a:off x="1645920" y="4572000"/>
            <a:ext cx="347472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認証情報5要素を一画面で入力</a:t>
            </a:r>
          </a:p>
        </p:txBody>
      </p:sp>
      <p:sp>
        <p:nvSpPr>
          <p:cNvPr id="37" name="Rectangle 36"/>
          <p:cNvSpPr/>
          <p:nvPr/>
        </p:nvSpPr>
        <p:spPr>
          <a:xfrm>
            <a:off x="5120640" y="4572000"/>
            <a:ext cx="164592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本来は異常</a:t>
            </a:r>
          </a:p>
        </p:txBody>
      </p:sp>
      <p:sp>
        <p:nvSpPr>
          <p:cNvPr id="38" name="Rectangle 37"/>
          <p:cNvSpPr/>
          <p:nvPr/>
        </p:nvSpPr>
        <p:spPr>
          <a:xfrm>
            <a:off x="6766559" y="4572000"/>
            <a:ext cx="5943600" cy="45720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焦りと電話指示で気づく余裕がない</a:t>
            </a:r>
          </a:p>
        </p:txBody>
      </p:sp>
      <p:sp>
        <p:nvSpPr>
          <p:cNvPr id="39" name="Rectangle 38"/>
          <p:cNvSpPr/>
          <p:nvPr/>
        </p:nvSpPr>
        <p:spPr>
          <a:xfrm>
            <a:off x="731520" y="5257800"/>
            <a:ext cx="1197864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Meiryo"/>
              </a:rPr>
              <a:t>唯一の見破りポイント（手順⑤⑥）に到達した時点で、冷静に判断できる心理状態ではない</a:t>
            </a:r>
          </a:p>
        </p:txBody>
      </p:sp>
      <p:sp>
        <p:nvSpPr>
          <p:cNvPr id="40" name="Rectangle 39"/>
          <p:cNvSpPr/>
          <p:nvPr/>
        </p:nvSpPr>
        <p:spPr>
          <a:xfrm>
            <a:off x="731520" y="5943600"/>
            <a:ext cx="5852160" cy="3657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222222"/>
                </a:solidFill>
                <a:latin typeface="Meiryo"/>
              </a:rPr>
              <a:t>顧客側（ほぼ無力）</a:t>
            </a:r>
          </a:p>
        </p:txBody>
      </p:sp>
      <p:sp>
        <p:nvSpPr>
          <p:cNvPr id="41" name="Rectangle 40"/>
          <p:cNvSpPr/>
          <p:nvPr/>
        </p:nvSpPr>
        <p:spPr>
          <a:xfrm>
            <a:off x="731520" y="6309360"/>
            <a:ext cx="5852160" cy="45720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888888"/>
                </a:solidFill>
                <a:latin typeface="Meiryo"/>
              </a:rPr>
              <a:t>「気をつける」「注意喚起」では構造的に防げない</a:t>
            </a:r>
          </a:p>
        </p:txBody>
      </p:sp>
      <p:sp>
        <p:nvSpPr>
          <p:cNvPr id="42" name="Rectangle 41"/>
          <p:cNvSpPr/>
          <p:nvPr/>
        </p:nvSpPr>
        <p:spPr>
          <a:xfrm>
            <a:off x="6858000" y="5943600"/>
            <a:ext cx="585216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銀行/企業側（ここでしか止められない）</a:t>
            </a:r>
          </a:p>
        </p:txBody>
      </p:sp>
      <p:sp>
        <p:nvSpPr>
          <p:cNvPr id="43" name="Rectangle 42"/>
          <p:cNvSpPr/>
          <p:nvPr/>
        </p:nvSpPr>
        <p:spPr>
          <a:xfrm>
            <a:off x="6858000" y="6309360"/>
            <a:ext cx="5852160" cy="146304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① ScreenConnectの通信をNWで検知
② 送金時の振る舞い検知（時間帯、金額、送金先）
③ 架電を廃止し「電話では手続きしない」と宣言
④ リモートツール実行をEDRでブロック
⑤ SMS認証のリンク先ドメインをホワイトリスト化</a:t>
            </a:r>
          </a:p>
        </p:txBody>
      </p:sp>
      <p:sp>
        <p:nvSpPr>
          <p:cNvPr id="44" name="Rectangle 43"/>
          <p:cNvSpPr/>
          <p:nvPr/>
        </p:nvSpPr>
        <p:spPr>
          <a:xfrm>
            <a:off x="731520" y="7955279"/>
            <a:ext cx="1197864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Meiryo"/>
              </a:rPr>
              <a:t>結論：「顧客が気をつければ防げる」は幻想 — 銀行側のシステム対策でしか止められない</a:t>
            </a:r>
          </a:p>
        </p:txBody>
      </p:sp>
      <p:sp>
        <p:nvSpPr>
          <p:cNvPr id="45" name="TextBox 44"/>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顧客は見破れるか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400" b="1">
                <a:solidFill>
                  <a:srgbClr val="C0392B"/>
                </a:solidFill>
                <a:latin typeface="Meiryo"/>
              </a:rPr>
              <a:t>1本の電話 — つないだまま全手順を完了させる</a:t>
            </a:r>
          </a:p>
        </p:txBody>
      </p:sp>
      <p:sp>
        <p:nvSpPr>
          <p:cNvPr id="3" name="TextBox 2"/>
          <p:cNvSpPr txBox="1"/>
          <p:nvPr/>
        </p:nvSpPr>
        <p:spPr>
          <a:xfrm>
            <a:off x="0" y="685800"/>
            <a:ext cx="15124176" cy="365760"/>
          </a:xfrm>
          <a:prstGeom prst="rect">
            <a:avLst/>
          </a:prstGeom>
          <a:noFill/>
        </p:spPr>
        <p:txBody>
          <a:bodyPr wrap="square" lIns="50800" rIns="50800" tIns="38100" bIns="38100"/>
          <a:lstStyle/>
          <a:p>
            <a:pPr algn="ctr"/>
            <a:r>
              <a:rPr sz="1200" b="0">
                <a:solidFill>
                  <a:srgbClr val="888888"/>
                </a:solidFill>
                <a:latin typeface="Meiryo"/>
              </a:rPr>
              <a:t>この攻撃は「9つの手順」ではなく、1本の電話の中で起きる1つの連続した攻撃である。</a:t>
            </a:r>
          </a:p>
        </p:txBody>
      </p:sp>
      <p:sp>
        <p:nvSpPr>
          <p:cNvPr id="4" name="Rectangle 3"/>
          <p:cNvSpPr/>
          <p:nvPr/>
        </p:nvSpPr>
        <p:spPr>
          <a:xfrm>
            <a:off x="914400" y="1188720"/>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①  自動音声で架電</a:t>
            </a:r>
          </a:p>
        </p:txBody>
      </p:sp>
      <p:sp>
        <p:nvSpPr>
          <p:cNvPr id="5" name="Rectangle 4"/>
          <p:cNvSpPr/>
          <p:nvPr/>
        </p:nvSpPr>
        <p:spPr>
          <a:xfrm>
            <a:off x="914400" y="1600200"/>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②  心理操作（口座制限中）</a:t>
            </a:r>
          </a:p>
        </p:txBody>
      </p:sp>
      <p:sp>
        <p:nvSpPr>
          <p:cNvPr id="6" name="Rectangle 5"/>
          <p:cNvSpPr/>
          <p:nvPr/>
        </p:nvSpPr>
        <p:spPr>
          <a:xfrm>
            <a:off x="914400" y="2011680"/>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③  メアド聞き出し＋メール送付</a:t>
            </a:r>
          </a:p>
        </p:txBody>
      </p:sp>
      <p:sp>
        <p:nvSpPr>
          <p:cNvPr id="7" name="Rectangle 6"/>
          <p:cNvSpPr/>
          <p:nvPr/>
        </p:nvSpPr>
        <p:spPr>
          <a:xfrm>
            <a:off x="914400" y="2423160"/>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④  「メールを開いてください」</a:t>
            </a:r>
          </a:p>
        </p:txBody>
      </p:sp>
      <p:sp>
        <p:nvSpPr>
          <p:cNvPr id="8" name="Rectangle 7"/>
          <p:cNvSpPr/>
          <p:nvPr/>
        </p:nvSpPr>
        <p:spPr>
          <a:xfrm>
            <a:off x="914400" y="2834639"/>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⑤  「インストールしてください」</a:t>
            </a:r>
          </a:p>
        </p:txBody>
      </p:sp>
      <p:sp>
        <p:nvSpPr>
          <p:cNvPr id="9" name="Rectangle 8"/>
          <p:cNvSpPr/>
          <p:nvPr/>
        </p:nvSpPr>
        <p:spPr>
          <a:xfrm>
            <a:off x="914400" y="3246120"/>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⑥  「実行してください」</a:t>
            </a:r>
          </a:p>
        </p:txBody>
      </p:sp>
      <p:sp>
        <p:nvSpPr>
          <p:cNvPr id="10" name="Rectangle 9"/>
          <p:cNvSpPr/>
          <p:nvPr/>
        </p:nvSpPr>
        <p:spPr>
          <a:xfrm>
            <a:off x="914400" y="3657600"/>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⑦  赤い画面表示</a:t>
            </a:r>
          </a:p>
        </p:txBody>
      </p:sp>
      <p:sp>
        <p:nvSpPr>
          <p:cNvPr id="11" name="Rectangle 10"/>
          <p:cNvSpPr/>
          <p:nvPr/>
        </p:nvSpPr>
        <p:spPr>
          <a:xfrm>
            <a:off x="914400" y="4069079"/>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⑧  「携帯番号を教えて」</a:t>
            </a:r>
          </a:p>
        </p:txBody>
      </p:sp>
      <p:sp>
        <p:nvSpPr>
          <p:cNvPr id="12" name="Rectangle 11"/>
          <p:cNvSpPr/>
          <p:nvPr/>
        </p:nvSpPr>
        <p:spPr>
          <a:xfrm>
            <a:off x="914400" y="4480559"/>
            <a:ext cx="5029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⑨  「認証情報を入力して」</a:t>
            </a:r>
          </a:p>
        </p:txBody>
      </p:sp>
      <p:sp>
        <p:nvSpPr>
          <p:cNvPr id="13" name="Rectangle 12"/>
          <p:cNvSpPr/>
          <p:nvPr/>
        </p:nvSpPr>
        <p:spPr>
          <a:xfrm>
            <a:off x="914400" y="4892040"/>
            <a:ext cx="502920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1100" b="1">
                <a:solidFill>
                  <a:srgbClr val="FFFFFF"/>
                </a:solidFill>
                <a:latin typeface="Meiryo"/>
              </a:rPr>
              <a:t>  不正送金</a:t>
            </a:r>
          </a:p>
        </p:txBody>
      </p:sp>
      <p:sp>
        <p:nvSpPr>
          <p:cNvPr id="14" name="Rectangle 13"/>
          <p:cNvSpPr/>
          <p:nvPr/>
        </p:nvSpPr>
        <p:spPr>
          <a:xfrm>
            <a:off x="6126480" y="1188720"/>
            <a:ext cx="457200" cy="408736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15" name="TextBox 14"/>
          <p:cNvSpPr txBox="1"/>
          <p:nvPr/>
        </p:nvSpPr>
        <p:spPr>
          <a:xfrm>
            <a:off x="6035040" y="1280160"/>
            <a:ext cx="640080" cy="274320"/>
          </a:xfrm>
          <a:prstGeom prst="rect">
            <a:avLst/>
          </a:prstGeom>
          <a:noFill/>
        </p:spPr>
        <p:txBody>
          <a:bodyPr wrap="square" lIns="50800" rIns="50800" tIns="38100" bIns="38100"/>
          <a:lstStyle/>
          <a:p>
            <a:pPr algn="ctr"/>
            <a:r>
              <a:rPr sz="800" b="1">
                <a:solidFill>
                  <a:srgbClr val="FFFFFF"/>
                </a:solidFill>
                <a:latin typeface="Meiryo"/>
              </a:rPr>
              <a:t>電話接続</a:t>
            </a:r>
          </a:p>
        </p:txBody>
      </p:sp>
      <p:sp>
        <p:nvSpPr>
          <p:cNvPr id="16" name="TextBox 15"/>
          <p:cNvSpPr txBox="1"/>
          <p:nvPr/>
        </p:nvSpPr>
        <p:spPr>
          <a:xfrm>
            <a:off x="5852160" y="2823667"/>
            <a:ext cx="1005840" cy="457200"/>
          </a:xfrm>
          <a:prstGeom prst="rect">
            <a:avLst/>
          </a:prstGeom>
          <a:noFill/>
        </p:spPr>
        <p:txBody>
          <a:bodyPr wrap="square" lIns="50800" rIns="50800" tIns="38100" bIns="38100"/>
          <a:lstStyle/>
          <a:p>
            <a:pPr algn="ctr"/>
            <a:r>
              <a:rPr sz="900" b="1">
                <a:solidFill>
                  <a:srgbClr val="FFFFFF"/>
                </a:solidFill>
                <a:latin typeface="Meiryo"/>
              </a:rPr>
              <a:t>ずっと
電話が
つながっている</a:t>
            </a:r>
          </a:p>
        </p:txBody>
      </p:sp>
      <p:sp>
        <p:nvSpPr>
          <p:cNvPr id="17" name="Rectangle 16"/>
          <p:cNvSpPr/>
          <p:nvPr/>
        </p:nvSpPr>
        <p:spPr>
          <a:xfrm>
            <a:off x="7315200" y="1188720"/>
            <a:ext cx="685800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電話をつないだままにする5つの効果</a:t>
            </a:r>
          </a:p>
        </p:txBody>
      </p:sp>
      <p:sp>
        <p:nvSpPr>
          <p:cNvPr id="18" name="Rectangle 17"/>
          <p:cNvSpPr/>
          <p:nvPr/>
        </p:nvSpPr>
        <p:spPr>
          <a:xfrm>
            <a:off x="7315200" y="1691640"/>
            <a:ext cx="22860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考える隙を与えない</a:t>
            </a:r>
          </a:p>
        </p:txBody>
      </p:sp>
      <p:sp>
        <p:nvSpPr>
          <p:cNvPr id="19" name="Rectangle 18"/>
          <p:cNvSpPr/>
          <p:nvPr/>
        </p:nvSpPr>
        <p:spPr>
          <a:xfrm>
            <a:off x="9601200" y="1691640"/>
            <a:ext cx="4572000" cy="50292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電話を切ったら冷静になる。切らせない</a:t>
            </a:r>
          </a:p>
        </p:txBody>
      </p:sp>
      <p:sp>
        <p:nvSpPr>
          <p:cNvPr id="20" name="Rectangle 19"/>
          <p:cNvSpPr/>
          <p:nvPr/>
        </p:nvSpPr>
        <p:spPr>
          <a:xfrm>
            <a:off x="7315200" y="2194560"/>
            <a:ext cx="2286000" cy="5029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リアルタイム制御</a:t>
            </a:r>
          </a:p>
        </p:txBody>
      </p:sp>
      <p:sp>
        <p:nvSpPr>
          <p:cNvPr id="21" name="Rectangle 20"/>
          <p:cNvSpPr/>
          <p:nvPr/>
        </p:nvSpPr>
        <p:spPr>
          <a:xfrm>
            <a:off x="9601200" y="2194560"/>
            <a:ext cx="4572000" cy="50292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被害者の画面状況に合わせて次の指示を出せる</a:t>
            </a:r>
          </a:p>
        </p:txBody>
      </p:sp>
      <p:sp>
        <p:nvSpPr>
          <p:cNvPr id="22" name="Rectangle 21"/>
          <p:cNvSpPr/>
          <p:nvPr/>
        </p:nvSpPr>
        <p:spPr>
          <a:xfrm>
            <a:off x="7315200" y="2697480"/>
            <a:ext cx="2286000" cy="5029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離脱防止</a:t>
            </a:r>
          </a:p>
        </p:txBody>
      </p:sp>
      <p:sp>
        <p:nvSpPr>
          <p:cNvPr id="23" name="Rectangle 22"/>
          <p:cNvSpPr/>
          <p:nvPr/>
        </p:nvSpPr>
        <p:spPr>
          <a:xfrm>
            <a:off x="9601200" y="2697480"/>
            <a:ext cx="4572000" cy="50292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「このままお待ちください」で引き留められる</a:t>
            </a:r>
          </a:p>
        </p:txBody>
      </p:sp>
      <p:sp>
        <p:nvSpPr>
          <p:cNvPr id="24" name="Rectangle 23"/>
          <p:cNvSpPr/>
          <p:nvPr/>
        </p:nvSpPr>
        <p:spPr>
          <a:xfrm>
            <a:off x="7315200" y="3200400"/>
            <a:ext cx="2286000" cy="5029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第三者への相談を防ぐ</a:t>
            </a:r>
          </a:p>
        </p:txBody>
      </p:sp>
      <p:sp>
        <p:nvSpPr>
          <p:cNvPr id="25" name="Rectangle 24"/>
          <p:cNvSpPr/>
          <p:nvPr/>
        </p:nvSpPr>
        <p:spPr>
          <a:xfrm>
            <a:off x="9601200" y="3200400"/>
            <a:ext cx="4572000" cy="502920"/>
          </a:xfrm>
          <a:prstGeom prst="rect">
            <a:avLst/>
          </a:prstGeom>
          <a:solidFill>
            <a:srgbClr val="F9F9F9"/>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電話中なので同僚や家族に相談できない</a:t>
            </a:r>
          </a:p>
        </p:txBody>
      </p:sp>
      <p:sp>
        <p:nvSpPr>
          <p:cNvPr id="26" name="Rectangle 25"/>
          <p:cNvSpPr/>
          <p:nvPr/>
        </p:nvSpPr>
        <p:spPr>
          <a:xfrm>
            <a:off x="7315200" y="3703320"/>
            <a:ext cx="22860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信頼の維持</a:t>
            </a:r>
          </a:p>
        </p:txBody>
      </p:sp>
      <p:sp>
        <p:nvSpPr>
          <p:cNvPr id="27" name="Rectangle 26"/>
          <p:cNvSpPr/>
          <p:nvPr/>
        </p:nvSpPr>
        <p:spPr>
          <a:xfrm>
            <a:off x="9601200" y="3703320"/>
            <a:ext cx="4572000" cy="502920"/>
          </a:xfrm>
          <a:prstGeom prst="rect">
            <a:avLst/>
          </a:prstGeom>
          <a:solidFill>
            <a:srgbClr val="FFFFFF"/>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銀行員が丁寧に付き添ってくれている感覚</a:t>
            </a:r>
          </a:p>
        </p:txBody>
      </p:sp>
      <p:sp>
        <p:nvSpPr>
          <p:cNvPr id="28" name="Rectangle 27"/>
          <p:cNvSpPr/>
          <p:nvPr/>
        </p:nvSpPr>
        <p:spPr>
          <a:xfrm>
            <a:off x="7315200" y="4434840"/>
            <a:ext cx="685800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もし電話が切れたら（攻撃失敗）</a:t>
            </a:r>
          </a:p>
        </p:txBody>
      </p:sp>
      <p:sp>
        <p:nvSpPr>
          <p:cNvPr id="29" name="Rectangle 28"/>
          <p:cNvSpPr/>
          <p:nvPr/>
        </p:nvSpPr>
        <p:spPr>
          <a:xfrm>
            <a:off x="7315200" y="4800600"/>
            <a:ext cx="6858000" cy="82296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 「本当に銀行からの電話だったのか？」と疑問に思う
→ 銀行の公式番号にかけ直す
→ 同僚や上司に相談する
→ ネットで調べる</a:t>
            </a:r>
          </a:p>
        </p:txBody>
      </p:sp>
      <p:sp>
        <p:nvSpPr>
          <p:cNvPr id="30" name="Rectangle 29"/>
          <p:cNvSpPr/>
          <p:nvPr/>
        </p:nvSpPr>
        <p:spPr>
          <a:xfrm>
            <a:off x="914400" y="5806440"/>
            <a:ext cx="1325880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被害者の体験：「銀行の担当者に電話で付き添ってもらいながら手続きをした」— それが攻撃だったとは気づかない</a:t>
            </a:r>
          </a:p>
        </p:txBody>
      </p:sp>
      <p:sp>
        <p:nvSpPr>
          <p:cNvPr id="31" name="TextBox 30"/>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1本の電話の構造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200" b="1">
                <a:solidFill>
                  <a:srgbClr val="C0392B"/>
                </a:solidFill>
                <a:latin typeface="Meiryo"/>
              </a:rPr>
              <a:t>手順④ フィッシングメール — セキュリティ対策も電話1本で無力化</a:t>
            </a:r>
          </a:p>
        </p:txBody>
      </p:sp>
      <p:sp>
        <p:nvSpPr>
          <p:cNvPr id="3" name="TextBox 2"/>
          <p:cNvSpPr txBox="1"/>
          <p:nvPr/>
        </p:nvSpPr>
        <p:spPr>
          <a:xfrm>
            <a:off x="0" y="685800"/>
            <a:ext cx="15124176" cy="365760"/>
          </a:xfrm>
          <a:prstGeom prst="rect">
            <a:avLst/>
          </a:prstGeom>
          <a:noFill/>
        </p:spPr>
        <p:txBody>
          <a:bodyPr wrap="square" lIns="50800" rIns="50800" tIns="38100" bIns="38100"/>
          <a:lstStyle/>
          <a:p>
            <a:pPr algn="ctr"/>
            <a:r>
              <a:rPr sz="1200" b="0">
                <a:solidFill>
                  <a:srgbClr val="888888"/>
                </a:solidFill>
                <a:latin typeface="Meiryo"/>
              </a:rPr>
              <a:t>電話で予告してからメールを送る。通常のフィッシングとは根本的に異なる構造。</a:t>
            </a:r>
          </a:p>
        </p:txBody>
      </p:sp>
      <p:sp>
        <p:nvSpPr>
          <p:cNvPr id="4" name="Rectangle 3"/>
          <p:cNvSpPr/>
          <p:nvPr/>
        </p:nvSpPr>
        <p:spPr>
          <a:xfrm>
            <a:off x="914400" y="1188720"/>
            <a:ext cx="6400800" cy="4114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222222"/>
                </a:solidFill>
                <a:latin typeface="Meiryo"/>
              </a:rPr>
              <a:t>通常のフィッシング</a:t>
            </a:r>
          </a:p>
        </p:txBody>
      </p:sp>
      <p:sp>
        <p:nvSpPr>
          <p:cNvPr id="5" name="Rectangle 4"/>
          <p:cNvSpPr/>
          <p:nvPr/>
        </p:nvSpPr>
        <p:spPr>
          <a:xfrm>
            <a:off x="914400" y="1645920"/>
            <a:ext cx="64008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200" b="0">
                <a:solidFill>
                  <a:srgbClr val="222222"/>
                </a:solidFill>
                <a:latin typeface="Meiryo"/>
              </a:rPr>
              <a:t>メールが突然届く</a:t>
            </a:r>
          </a:p>
        </p:txBody>
      </p:sp>
      <p:sp>
        <p:nvSpPr>
          <p:cNvPr id="6" name="Rectangle 5"/>
          <p:cNvSpPr/>
          <p:nvPr/>
        </p:nvSpPr>
        <p:spPr>
          <a:xfrm>
            <a:off x="2286000" y="2103120"/>
            <a:ext cx="3657600" cy="3657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222222"/>
                </a:solidFill>
                <a:latin typeface="Meiryo"/>
              </a:rPr>
              <a:t>↓</a:t>
            </a:r>
          </a:p>
        </p:txBody>
      </p:sp>
      <p:sp>
        <p:nvSpPr>
          <p:cNvPr id="7" name="Rectangle 6"/>
          <p:cNvSpPr/>
          <p:nvPr/>
        </p:nvSpPr>
        <p:spPr>
          <a:xfrm>
            <a:off x="914400" y="2514600"/>
            <a:ext cx="64008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200" b="0">
                <a:solidFill>
                  <a:srgbClr val="222222"/>
                </a:solidFill>
                <a:latin typeface="Meiryo"/>
              </a:rPr>
              <a:t>「怪しいかも？」と思う余地あり</a:t>
            </a:r>
          </a:p>
        </p:txBody>
      </p:sp>
      <p:sp>
        <p:nvSpPr>
          <p:cNvPr id="8" name="Rectangle 7"/>
          <p:cNvSpPr/>
          <p:nvPr/>
        </p:nvSpPr>
        <p:spPr>
          <a:xfrm>
            <a:off x="2286000" y="2971800"/>
            <a:ext cx="3657600" cy="3657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222222"/>
                </a:solidFill>
                <a:latin typeface="Meiryo"/>
              </a:rPr>
              <a:t>↓</a:t>
            </a:r>
          </a:p>
        </p:txBody>
      </p:sp>
      <p:sp>
        <p:nvSpPr>
          <p:cNvPr id="9" name="Rectangle 8"/>
          <p:cNvSpPr/>
          <p:nvPr/>
        </p:nvSpPr>
        <p:spPr>
          <a:xfrm>
            <a:off x="914400" y="3383280"/>
            <a:ext cx="640080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迷惑メールフィルタが防いでくれる可能性あり</a:t>
            </a:r>
          </a:p>
        </p:txBody>
      </p:sp>
      <p:sp>
        <p:nvSpPr>
          <p:cNvPr id="10" name="Rectangle 9"/>
          <p:cNvSpPr/>
          <p:nvPr/>
        </p:nvSpPr>
        <p:spPr>
          <a:xfrm>
            <a:off x="7772400" y="1188720"/>
            <a:ext cx="64008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Meiryo"/>
              </a:rPr>
              <a:t>この攻撃</a:t>
            </a:r>
          </a:p>
        </p:txBody>
      </p:sp>
      <p:sp>
        <p:nvSpPr>
          <p:cNvPr id="11" name="Rectangle 10"/>
          <p:cNvSpPr/>
          <p:nvPr/>
        </p:nvSpPr>
        <p:spPr>
          <a:xfrm>
            <a:off x="7772400" y="1645920"/>
            <a:ext cx="6400800" cy="41148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200" b="1">
                <a:solidFill>
                  <a:srgbClr val="222222"/>
                </a:solidFill>
                <a:latin typeface="Meiryo"/>
              </a:rPr>
              <a:t>電話で「今からメール送ります」と予告</a:t>
            </a:r>
          </a:p>
        </p:txBody>
      </p:sp>
      <p:sp>
        <p:nvSpPr>
          <p:cNvPr id="12" name="Rectangle 11"/>
          <p:cNvSpPr/>
          <p:nvPr/>
        </p:nvSpPr>
        <p:spPr>
          <a:xfrm>
            <a:off x="9144000" y="2103120"/>
            <a:ext cx="365760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a:t>
            </a:r>
          </a:p>
        </p:txBody>
      </p:sp>
      <p:sp>
        <p:nvSpPr>
          <p:cNvPr id="13" name="Rectangle 12"/>
          <p:cNvSpPr/>
          <p:nvPr/>
        </p:nvSpPr>
        <p:spPr>
          <a:xfrm>
            <a:off x="7772400" y="2514600"/>
            <a:ext cx="6400800" cy="41148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200" b="1">
                <a:solidFill>
                  <a:srgbClr val="222222"/>
                </a:solidFill>
                <a:latin typeface="Meiryo"/>
              </a:rPr>
              <a:t>メール到着 →「本物だ」と確信（予告通り来たから）</a:t>
            </a:r>
          </a:p>
        </p:txBody>
      </p:sp>
      <p:sp>
        <p:nvSpPr>
          <p:cNvPr id="14" name="Rectangle 13"/>
          <p:cNvSpPr/>
          <p:nvPr/>
        </p:nvSpPr>
        <p:spPr>
          <a:xfrm>
            <a:off x="9144000" y="2971800"/>
            <a:ext cx="365760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C0392B"/>
                </a:solidFill>
                <a:latin typeface="Meiryo"/>
              </a:rPr>
              <a:t>↓</a:t>
            </a:r>
          </a:p>
        </p:txBody>
      </p:sp>
      <p:sp>
        <p:nvSpPr>
          <p:cNvPr id="15" name="Rectangle 14"/>
          <p:cNvSpPr/>
          <p:nvPr/>
        </p:nvSpPr>
        <p:spPr>
          <a:xfrm>
            <a:off x="7772400" y="3383280"/>
            <a:ext cx="64008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電話 × メールの二重チャネルが相互に信頼性を補強</a:t>
            </a:r>
          </a:p>
        </p:txBody>
      </p:sp>
      <p:sp>
        <p:nvSpPr>
          <p:cNvPr id="16" name="Rectangle 15"/>
          <p:cNvSpPr/>
          <p:nvPr/>
        </p:nvSpPr>
        <p:spPr>
          <a:xfrm>
            <a:off x="914400" y="4114800"/>
            <a:ext cx="1325880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偽メールは正規フォルダに入らない（SPF/DKIM/DMARC不通過）→ ほぼ確実に迷惑フォルダ行き</a:t>
            </a:r>
          </a:p>
        </p:txBody>
      </p:sp>
      <p:sp>
        <p:nvSpPr>
          <p:cNvPr id="17" name="Rectangle 16"/>
          <p:cNvSpPr/>
          <p:nvPr/>
        </p:nvSpPr>
        <p:spPr>
          <a:xfrm>
            <a:off x="914400" y="4663440"/>
            <a:ext cx="3017520" cy="50292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ctr"/>
            <a:r>
              <a:rPr sz="1000" b="1">
                <a:solidFill>
                  <a:srgbClr val="222222"/>
                </a:solidFill>
                <a:latin typeface="Meiryo"/>
              </a:rPr>
              <a:t>メールが迷惑フォルダへ</a:t>
            </a:r>
          </a:p>
        </p:txBody>
      </p:sp>
      <p:sp>
        <p:nvSpPr>
          <p:cNvPr id="18" name="TextBox 17"/>
          <p:cNvSpPr txBox="1"/>
          <p:nvPr/>
        </p:nvSpPr>
        <p:spPr>
          <a:xfrm>
            <a:off x="3977639" y="4736592"/>
            <a:ext cx="365760" cy="365760"/>
          </a:xfrm>
          <a:prstGeom prst="rect">
            <a:avLst/>
          </a:prstGeom>
          <a:noFill/>
        </p:spPr>
        <p:txBody>
          <a:bodyPr wrap="square" lIns="50800" rIns="50800" tIns="38100" bIns="38100"/>
          <a:lstStyle/>
          <a:p>
            <a:pPr algn="ctr"/>
            <a:r>
              <a:rPr sz="1600" b="1">
                <a:solidFill>
                  <a:srgbClr val="C0392B"/>
                </a:solidFill>
                <a:latin typeface="Meiryo"/>
              </a:rPr>
              <a:t>→</a:t>
            </a:r>
          </a:p>
        </p:txBody>
      </p:sp>
      <p:sp>
        <p:nvSpPr>
          <p:cNvPr id="19" name="Rectangle 18"/>
          <p:cNvSpPr/>
          <p:nvPr/>
        </p:nvSpPr>
        <p:spPr>
          <a:xfrm>
            <a:off x="4389120" y="4663440"/>
            <a:ext cx="3017520" cy="50292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ctr"/>
            <a:r>
              <a:rPr sz="1000" b="0">
                <a:solidFill>
                  <a:srgbClr val="222222"/>
                </a:solidFill>
                <a:latin typeface="Meiryo"/>
              </a:rPr>
              <a:t>被害者「メール来てません」</a:t>
            </a:r>
          </a:p>
        </p:txBody>
      </p:sp>
      <p:sp>
        <p:nvSpPr>
          <p:cNvPr id="20" name="TextBox 19"/>
          <p:cNvSpPr txBox="1"/>
          <p:nvPr/>
        </p:nvSpPr>
        <p:spPr>
          <a:xfrm>
            <a:off x="7452360" y="4736592"/>
            <a:ext cx="365760" cy="365760"/>
          </a:xfrm>
          <a:prstGeom prst="rect">
            <a:avLst/>
          </a:prstGeom>
          <a:noFill/>
        </p:spPr>
        <p:txBody>
          <a:bodyPr wrap="square" lIns="50800" rIns="50800" tIns="38100" bIns="38100"/>
          <a:lstStyle/>
          <a:p>
            <a:pPr algn="ctr"/>
            <a:r>
              <a:rPr sz="1600" b="1">
                <a:solidFill>
                  <a:srgbClr val="C0392B"/>
                </a:solidFill>
                <a:latin typeface="Meiryo"/>
              </a:rPr>
              <a:t>→</a:t>
            </a:r>
          </a:p>
        </p:txBody>
      </p:sp>
      <p:sp>
        <p:nvSpPr>
          <p:cNvPr id="21" name="Rectangle 20"/>
          <p:cNvSpPr/>
          <p:nvPr/>
        </p:nvSpPr>
        <p:spPr>
          <a:xfrm>
            <a:off x="7863840" y="4663440"/>
            <a:ext cx="3200400" cy="50292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ctr"/>
            <a:r>
              <a:rPr sz="1000" b="0">
                <a:solidFill>
                  <a:srgbClr val="222222"/>
                </a:solidFill>
                <a:latin typeface="Meiryo"/>
              </a:rPr>
              <a:t>犯人「迷惑メールフォルダを
確認してください」</a:t>
            </a:r>
          </a:p>
        </p:txBody>
      </p:sp>
      <p:sp>
        <p:nvSpPr>
          <p:cNvPr id="22" name="TextBox 21"/>
          <p:cNvSpPr txBox="1"/>
          <p:nvPr/>
        </p:nvSpPr>
        <p:spPr>
          <a:xfrm>
            <a:off x="11109960" y="4736592"/>
            <a:ext cx="365760" cy="365760"/>
          </a:xfrm>
          <a:prstGeom prst="rect">
            <a:avLst/>
          </a:prstGeom>
          <a:noFill/>
        </p:spPr>
        <p:txBody>
          <a:bodyPr wrap="square" lIns="50800" rIns="50800" tIns="38100" bIns="38100"/>
          <a:lstStyle/>
          <a:p>
            <a:pPr algn="ctr"/>
            <a:r>
              <a:rPr sz="1600" b="1">
                <a:solidFill>
                  <a:srgbClr val="C0392B"/>
                </a:solidFill>
                <a:latin typeface="Meiryo"/>
              </a:rPr>
              <a:t>→</a:t>
            </a:r>
          </a:p>
        </p:txBody>
      </p:sp>
      <p:sp>
        <p:nvSpPr>
          <p:cNvPr id="23" name="Rectangle 22"/>
          <p:cNvSpPr/>
          <p:nvPr/>
        </p:nvSpPr>
        <p:spPr>
          <a:xfrm>
            <a:off x="11521440" y="4663440"/>
            <a:ext cx="2651760" cy="50292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ctr"/>
            <a:r>
              <a:rPr sz="1000" b="1">
                <a:solidFill>
                  <a:srgbClr val="222222"/>
                </a:solidFill>
                <a:latin typeface="Meiryo"/>
              </a:rPr>
              <a:t>被害者が自ら発見
→ 攻撃続行</a:t>
            </a:r>
          </a:p>
        </p:txBody>
      </p:sp>
      <p:sp>
        <p:nvSpPr>
          <p:cNvPr id="24" name="Rectangle 23"/>
          <p:cNvSpPr/>
          <p:nvPr/>
        </p:nvSpPr>
        <p:spPr>
          <a:xfrm>
            <a:off x="914400" y="5303520"/>
            <a:ext cx="132588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 破綻ポイント：「迷惑フォルダを確認して」＝ 銀行が絶対に言わないセリフ ＝ 100%詐欺</a:t>
            </a:r>
          </a:p>
        </p:txBody>
      </p:sp>
      <p:sp>
        <p:nvSpPr>
          <p:cNvPr id="25" name="Rectangle 24"/>
          <p:cNvSpPr/>
          <p:nvPr/>
        </p:nvSpPr>
        <p:spPr>
          <a:xfrm>
            <a:off x="914400" y="5852160"/>
            <a:ext cx="13258800" cy="6400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222222"/>
                </a:solidFill>
                <a:latin typeface="Meiryo"/>
              </a:rPr>
              <a:t/>
            </a:r>
          </a:p>
        </p:txBody>
      </p:sp>
      <p:sp>
        <p:nvSpPr>
          <p:cNvPr id="26" name="TextBox 25"/>
          <p:cNvSpPr txBox="1"/>
          <p:nvPr/>
        </p:nvSpPr>
        <p:spPr>
          <a:xfrm>
            <a:off x="1097280" y="5879592"/>
            <a:ext cx="12801600" cy="594360"/>
          </a:xfrm>
          <a:prstGeom prst="rect">
            <a:avLst/>
          </a:prstGeom>
          <a:noFill/>
        </p:spPr>
        <p:txBody>
          <a:bodyPr wrap="square" lIns="50800" rIns="50800" tIns="38100" bIns="38100"/>
          <a:lstStyle/>
          <a:p>
            <a:pPr algn="l"/>
            <a:r>
              <a:rPr sz="1100" b="0">
                <a:solidFill>
                  <a:srgbClr val="222222"/>
                </a:solidFill>
                <a:latin typeface="Meiryo"/>
              </a:rPr>
              <a:t>しかし気づけない。さらに悪いことに、迷惑フォルダに入っていたことが手順②の話を補強してしまう
「重要なメールがフィルタに引っかかっていた → だから口座更新の案内に気づけなかったんだ」
→ 被害者はますます犯人の話を信じる</a:t>
            </a:r>
          </a:p>
        </p:txBody>
      </p:sp>
      <p:sp>
        <p:nvSpPr>
          <p:cNvPr id="27" name="Rectangle 26"/>
          <p:cNvSpPr/>
          <p:nvPr/>
        </p:nvSpPr>
        <p:spPr>
          <a:xfrm>
            <a:off x="914400" y="6675120"/>
            <a:ext cx="1325880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Meiryo"/>
              </a:rPr>
              <a:t>手順②の恐怖が全ての破綻ポイント（③メアド、④迷惑フォルダ）を無効化している</a:t>
            </a:r>
          </a:p>
        </p:txBody>
      </p:sp>
      <p:sp>
        <p:nvSpPr>
          <p:cNvPr id="28" name="TextBox 27"/>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手順④ フィッシングメールと迷惑メールフィルタ回避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200" b="1">
                <a:solidFill>
                  <a:srgbClr val="27AE60"/>
                </a:solidFill>
                <a:latin typeface="Meiryo"/>
              </a:rPr>
              <a:t>技術的対策：DMARC＋DNSで手順④を確実に遮断できる</a:t>
            </a:r>
          </a:p>
        </p:txBody>
      </p:sp>
      <p:sp>
        <p:nvSpPr>
          <p:cNvPr id="3" name="TextBox 2"/>
          <p:cNvSpPr txBox="1"/>
          <p:nvPr/>
        </p:nvSpPr>
        <p:spPr>
          <a:xfrm>
            <a:off x="0" y="685800"/>
            <a:ext cx="15124176" cy="365760"/>
          </a:xfrm>
          <a:prstGeom prst="rect">
            <a:avLst/>
          </a:prstGeom>
          <a:noFill/>
        </p:spPr>
        <p:txBody>
          <a:bodyPr wrap="square" lIns="50800" rIns="50800" tIns="38100" bIns="38100"/>
          <a:lstStyle/>
          <a:p>
            <a:pPr algn="ctr"/>
            <a:r>
              <a:rPr sz="1200" b="0">
                <a:solidFill>
                  <a:srgbClr val="888888"/>
                </a:solidFill>
                <a:latin typeface="Meiryo"/>
              </a:rPr>
              <a:t>顧客の注意力に一切依存せず、銀行側の設定だけでKill Chainを切れる。技術的にはもう解決できる話。</a:t>
            </a:r>
          </a:p>
        </p:txBody>
      </p:sp>
      <p:sp>
        <p:nvSpPr>
          <p:cNvPr id="4" name="Rectangle 3"/>
          <p:cNvSpPr/>
          <p:nvPr/>
        </p:nvSpPr>
        <p:spPr>
          <a:xfrm>
            <a:off x="731520" y="1188720"/>
            <a:ext cx="1362456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DMARCポリシーの違い — p=reject で正規ドメイン詐称を完全遮断</a:t>
            </a:r>
          </a:p>
        </p:txBody>
      </p:sp>
      <p:sp>
        <p:nvSpPr>
          <p:cNvPr id="5" name="Rectangle 4"/>
          <p:cNvSpPr/>
          <p:nvPr/>
        </p:nvSpPr>
        <p:spPr>
          <a:xfrm>
            <a:off x="731520" y="1600200"/>
            <a:ext cx="32004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p=none（監視のみ）</a:t>
            </a:r>
          </a:p>
        </p:txBody>
      </p:sp>
      <p:sp>
        <p:nvSpPr>
          <p:cNvPr id="6" name="Rectangle 5"/>
          <p:cNvSpPr/>
          <p:nvPr/>
        </p:nvSpPr>
        <p:spPr>
          <a:xfrm>
            <a:off x="3931920" y="1600200"/>
            <a:ext cx="50292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偽メールが普通に届く</a:t>
            </a:r>
          </a:p>
        </p:txBody>
      </p:sp>
      <p:sp>
        <p:nvSpPr>
          <p:cNvPr id="7" name="Rectangle 6"/>
          <p:cNvSpPr/>
          <p:nvPr/>
        </p:nvSpPr>
        <p:spPr>
          <a:xfrm>
            <a:off x="8961120" y="1600200"/>
            <a:ext cx="32004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攻撃成立</a:t>
            </a:r>
          </a:p>
        </p:txBody>
      </p:sp>
      <p:sp>
        <p:nvSpPr>
          <p:cNvPr id="8" name="Rectangle 7"/>
          <p:cNvSpPr/>
          <p:nvPr/>
        </p:nvSpPr>
        <p:spPr>
          <a:xfrm>
            <a:off x="731520" y="2057400"/>
            <a:ext cx="32004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p=quarantine（隔離）</a:t>
            </a:r>
          </a:p>
        </p:txBody>
      </p:sp>
      <p:sp>
        <p:nvSpPr>
          <p:cNvPr id="9" name="Rectangle 8"/>
          <p:cNvSpPr/>
          <p:nvPr/>
        </p:nvSpPr>
        <p:spPr>
          <a:xfrm>
            <a:off x="3931920" y="2057400"/>
            <a:ext cx="50292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迷惑フォルダに入る</a:t>
            </a:r>
          </a:p>
        </p:txBody>
      </p:sp>
      <p:sp>
        <p:nvSpPr>
          <p:cNvPr id="10" name="Rectangle 9"/>
          <p:cNvSpPr/>
          <p:nvPr/>
        </p:nvSpPr>
        <p:spPr>
          <a:xfrm>
            <a:off x="8961120" y="2057400"/>
            <a:ext cx="320040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電話で突破される</a:t>
            </a:r>
          </a:p>
        </p:txBody>
      </p:sp>
      <p:sp>
        <p:nvSpPr>
          <p:cNvPr id="11" name="Rectangle 10"/>
          <p:cNvSpPr/>
          <p:nvPr/>
        </p:nvSpPr>
        <p:spPr>
          <a:xfrm>
            <a:off x="731520" y="2514600"/>
            <a:ext cx="32004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p=reject（拒否）★</a:t>
            </a:r>
          </a:p>
        </p:txBody>
      </p:sp>
      <p:sp>
        <p:nvSpPr>
          <p:cNvPr id="12" name="Rectangle 11"/>
          <p:cNvSpPr/>
          <p:nvPr/>
        </p:nvSpPr>
        <p:spPr>
          <a:xfrm>
            <a:off x="3931920" y="2514600"/>
            <a:ext cx="50292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メールサーバが受信拒否。配信されない。</a:t>
            </a:r>
          </a:p>
        </p:txBody>
      </p:sp>
      <p:sp>
        <p:nvSpPr>
          <p:cNvPr id="13" name="Rectangle 12"/>
          <p:cNvSpPr/>
          <p:nvPr/>
        </p:nvSpPr>
        <p:spPr>
          <a:xfrm>
            <a:off x="8961120" y="2514600"/>
            <a:ext cx="320040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攻撃が止まる</a:t>
            </a:r>
          </a:p>
        </p:txBody>
      </p:sp>
      <p:sp>
        <p:nvSpPr>
          <p:cNvPr id="14" name="Rectangle 13"/>
          <p:cNvSpPr/>
          <p:nvPr/>
        </p:nvSpPr>
        <p:spPr>
          <a:xfrm>
            <a:off x="731520" y="3108960"/>
            <a:ext cx="1362456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類似ドメインも含めた包括的DNS対策</a:t>
            </a:r>
          </a:p>
        </p:txBody>
      </p:sp>
      <p:sp>
        <p:nvSpPr>
          <p:cNvPr id="15" name="Rectangle 14"/>
          <p:cNvSpPr/>
          <p:nvPr/>
        </p:nvSpPr>
        <p:spPr>
          <a:xfrm>
            <a:off x="731520" y="3566160"/>
            <a:ext cx="36576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対策</a:t>
            </a:r>
          </a:p>
        </p:txBody>
      </p:sp>
      <p:sp>
        <p:nvSpPr>
          <p:cNvPr id="16" name="Rectangle 15"/>
          <p:cNvSpPr/>
          <p:nvPr/>
        </p:nvSpPr>
        <p:spPr>
          <a:xfrm>
            <a:off x="4389120" y="3566160"/>
            <a:ext cx="59436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内容</a:t>
            </a:r>
          </a:p>
        </p:txBody>
      </p:sp>
      <p:sp>
        <p:nvSpPr>
          <p:cNvPr id="17" name="Rectangle 16"/>
          <p:cNvSpPr/>
          <p:nvPr/>
        </p:nvSpPr>
        <p:spPr>
          <a:xfrm>
            <a:off x="10332720" y="3566160"/>
            <a:ext cx="402336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効果</a:t>
            </a:r>
          </a:p>
        </p:txBody>
      </p:sp>
      <p:sp>
        <p:nvSpPr>
          <p:cNvPr id="18" name="Rectangle 17"/>
          <p:cNvSpPr/>
          <p:nvPr/>
        </p:nvSpPr>
        <p:spPr>
          <a:xfrm>
            <a:off x="731520" y="3931920"/>
            <a:ext cx="36576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① 類似ドメインの防御的登録</a:t>
            </a:r>
          </a:p>
        </p:txBody>
      </p:sp>
      <p:sp>
        <p:nvSpPr>
          <p:cNvPr id="19" name="Rectangle 18"/>
          <p:cNvSpPr/>
          <p:nvPr/>
        </p:nvSpPr>
        <p:spPr>
          <a:xfrm>
            <a:off x="4389120" y="3931920"/>
            <a:ext cx="59436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mufg-security.com, bizstation-update.jp 等を銀行が先に取得</a:t>
            </a:r>
          </a:p>
        </p:txBody>
      </p:sp>
      <p:sp>
        <p:nvSpPr>
          <p:cNvPr id="20" name="Rectangle 19"/>
          <p:cNvSpPr/>
          <p:nvPr/>
        </p:nvSpPr>
        <p:spPr>
          <a:xfrm>
            <a:off x="10332720" y="3931920"/>
            <a:ext cx="4023360" cy="45720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犯人が使えるドメインを潰す</a:t>
            </a:r>
          </a:p>
        </p:txBody>
      </p:sp>
      <p:sp>
        <p:nvSpPr>
          <p:cNvPr id="21" name="Rectangle 20"/>
          <p:cNvSpPr/>
          <p:nvPr/>
        </p:nvSpPr>
        <p:spPr>
          <a:xfrm>
            <a:off x="731520" y="4389120"/>
            <a:ext cx="36576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② 新規登録ドメイン（NRD）ブロック</a:t>
            </a:r>
          </a:p>
        </p:txBody>
      </p:sp>
      <p:sp>
        <p:nvSpPr>
          <p:cNvPr id="22" name="Rectangle 21"/>
          <p:cNvSpPr/>
          <p:nvPr/>
        </p:nvSpPr>
        <p:spPr>
          <a:xfrm>
            <a:off x="4389120" y="4389120"/>
            <a:ext cx="59436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登録から日が浅いドメインを受信側で高リスク判定・ブロック</a:t>
            </a:r>
          </a:p>
        </p:txBody>
      </p:sp>
      <p:sp>
        <p:nvSpPr>
          <p:cNvPr id="23" name="Rectangle 22"/>
          <p:cNvSpPr/>
          <p:nvPr/>
        </p:nvSpPr>
        <p:spPr>
          <a:xfrm>
            <a:off x="10332720" y="4389120"/>
            <a:ext cx="4023360" cy="45720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犯人が新ドメインを取得しても即座に使えない</a:t>
            </a:r>
          </a:p>
        </p:txBody>
      </p:sp>
      <p:sp>
        <p:nvSpPr>
          <p:cNvPr id="24" name="Rectangle 23"/>
          <p:cNvSpPr/>
          <p:nvPr/>
        </p:nvSpPr>
        <p:spPr>
          <a:xfrm>
            <a:off x="731520" y="4846320"/>
            <a:ext cx="36576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③ 正規送信ドメインの公開＋GW制御</a:t>
            </a:r>
          </a:p>
        </p:txBody>
      </p:sp>
      <p:sp>
        <p:nvSpPr>
          <p:cNvPr id="25" name="Rectangle 24"/>
          <p:cNvSpPr/>
          <p:nvPr/>
        </p:nvSpPr>
        <p:spPr>
          <a:xfrm>
            <a:off x="4389120" y="4846320"/>
            <a:ext cx="59436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銀行が「当行のメールは @mufg.jp, @bk.mufg.co.jp のみ」と宣言</a:t>
            </a:r>
          </a:p>
        </p:txBody>
      </p:sp>
      <p:sp>
        <p:nvSpPr>
          <p:cNvPr id="26" name="Rectangle 25"/>
          <p:cNvSpPr/>
          <p:nvPr/>
        </p:nvSpPr>
        <p:spPr>
          <a:xfrm>
            <a:off x="10332720" y="4846320"/>
            <a:ext cx="4023360" cy="45720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企業のメールGWで上記以外を自動ブロック</a:t>
            </a:r>
          </a:p>
        </p:txBody>
      </p:sp>
      <p:sp>
        <p:nvSpPr>
          <p:cNvPr id="27" name="Rectangle 26"/>
          <p:cNvSpPr/>
          <p:nvPr/>
        </p:nvSpPr>
        <p:spPr>
          <a:xfrm>
            <a:off x="731520" y="5303520"/>
            <a:ext cx="36576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④ SPF/DKIM未設定ドメインの拒否</a:t>
            </a:r>
          </a:p>
        </p:txBody>
      </p:sp>
      <p:sp>
        <p:nvSpPr>
          <p:cNvPr id="28" name="Rectangle 27"/>
          <p:cNvSpPr/>
          <p:nvPr/>
        </p:nvSpPr>
        <p:spPr>
          <a:xfrm>
            <a:off x="4389120" y="5303520"/>
            <a:ext cx="59436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受信側で認証未設定のドメインからのメールを拒否</a:t>
            </a:r>
          </a:p>
        </p:txBody>
      </p:sp>
      <p:sp>
        <p:nvSpPr>
          <p:cNvPr id="29" name="Rectangle 28"/>
          <p:cNvSpPr/>
          <p:nvPr/>
        </p:nvSpPr>
        <p:spPr>
          <a:xfrm>
            <a:off x="10332720" y="5303520"/>
            <a:ext cx="4023360" cy="45720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犯人の急造ドメインは認証が通らない</a:t>
            </a:r>
          </a:p>
        </p:txBody>
      </p:sp>
      <p:sp>
        <p:nvSpPr>
          <p:cNvPr id="30" name="Rectangle 29"/>
          <p:cNvSpPr/>
          <p:nvPr/>
        </p:nvSpPr>
        <p:spPr>
          <a:xfrm>
            <a:off x="731520" y="594360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対策カバレッジ</a:t>
            </a:r>
          </a:p>
        </p:txBody>
      </p:sp>
      <p:sp>
        <p:nvSpPr>
          <p:cNvPr id="31" name="Rectangle 30"/>
          <p:cNvSpPr/>
          <p:nvPr/>
        </p:nvSpPr>
        <p:spPr>
          <a:xfrm>
            <a:off x="731520" y="6309360"/>
            <a:ext cx="45720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対策</a:t>
            </a:r>
          </a:p>
        </p:txBody>
      </p:sp>
      <p:sp>
        <p:nvSpPr>
          <p:cNvPr id="32" name="Rectangle 31"/>
          <p:cNvSpPr/>
          <p:nvPr/>
        </p:nvSpPr>
        <p:spPr>
          <a:xfrm>
            <a:off x="5303520" y="6309360"/>
            <a:ext cx="30175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正規ドメイン詐称</a:t>
            </a:r>
          </a:p>
        </p:txBody>
      </p:sp>
      <p:sp>
        <p:nvSpPr>
          <p:cNvPr id="33" name="Rectangle 32"/>
          <p:cNvSpPr/>
          <p:nvPr/>
        </p:nvSpPr>
        <p:spPr>
          <a:xfrm>
            <a:off x="8321040" y="6309360"/>
            <a:ext cx="30175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類似ドメイン</a:t>
            </a:r>
          </a:p>
        </p:txBody>
      </p:sp>
      <p:sp>
        <p:nvSpPr>
          <p:cNvPr id="34" name="Rectangle 33"/>
          <p:cNvSpPr/>
          <p:nvPr/>
        </p:nvSpPr>
        <p:spPr>
          <a:xfrm>
            <a:off x="11338559" y="6309360"/>
            <a:ext cx="30175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新規ドメイン</a:t>
            </a:r>
          </a:p>
        </p:txBody>
      </p:sp>
      <p:sp>
        <p:nvSpPr>
          <p:cNvPr id="35" name="Rectangle 34"/>
          <p:cNvSpPr/>
          <p:nvPr/>
        </p:nvSpPr>
        <p:spPr>
          <a:xfrm>
            <a:off x="731520" y="6675120"/>
            <a:ext cx="45720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DMARC p=reject のみ</a:t>
            </a:r>
          </a:p>
        </p:txBody>
      </p:sp>
      <p:sp>
        <p:nvSpPr>
          <p:cNvPr id="36" name="Rectangle 35"/>
          <p:cNvSpPr/>
          <p:nvPr/>
        </p:nvSpPr>
        <p:spPr>
          <a:xfrm>
            <a:off x="5303520" y="667512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37" name="Rectangle 36"/>
          <p:cNvSpPr/>
          <p:nvPr/>
        </p:nvSpPr>
        <p:spPr>
          <a:xfrm>
            <a:off x="8321040" y="6675120"/>
            <a:ext cx="301752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 防げない</a:t>
            </a:r>
          </a:p>
        </p:txBody>
      </p:sp>
      <p:sp>
        <p:nvSpPr>
          <p:cNvPr id="38" name="Rectangle 37"/>
          <p:cNvSpPr/>
          <p:nvPr/>
        </p:nvSpPr>
        <p:spPr>
          <a:xfrm>
            <a:off x="11338559" y="6675120"/>
            <a:ext cx="301752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 防げない</a:t>
            </a:r>
          </a:p>
        </p:txBody>
      </p:sp>
      <p:sp>
        <p:nvSpPr>
          <p:cNvPr id="39" name="Rectangle 38"/>
          <p:cNvSpPr/>
          <p:nvPr/>
        </p:nvSpPr>
        <p:spPr>
          <a:xfrm>
            <a:off x="731520" y="7040880"/>
            <a:ext cx="45720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 類似ドメイン防御的登録</a:t>
            </a:r>
          </a:p>
        </p:txBody>
      </p:sp>
      <p:sp>
        <p:nvSpPr>
          <p:cNvPr id="40" name="Rectangle 39"/>
          <p:cNvSpPr/>
          <p:nvPr/>
        </p:nvSpPr>
        <p:spPr>
          <a:xfrm>
            <a:off x="5303520" y="704088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41" name="Rectangle 40"/>
          <p:cNvSpPr/>
          <p:nvPr/>
        </p:nvSpPr>
        <p:spPr>
          <a:xfrm>
            <a:off x="8321040" y="704088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42" name="Rectangle 41"/>
          <p:cNvSpPr/>
          <p:nvPr/>
        </p:nvSpPr>
        <p:spPr>
          <a:xfrm>
            <a:off x="11338559" y="7040880"/>
            <a:ext cx="301752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 防げない</a:t>
            </a:r>
          </a:p>
        </p:txBody>
      </p:sp>
      <p:sp>
        <p:nvSpPr>
          <p:cNvPr id="43" name="Rectangle 42"/>
          <p:cNvSpPr/>
          <p:nvPr/>
        </p:nvSpPr>
        <p:spPr>
          <a:xfrm>
            <a:off x="731520" y="7406640"/>
            <a:ext cx="45720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 NRDブロック＋SPF/DKIM必須化</a:t>
            </a:r>
          </a:p>
        </p:txBody>
      </p:sp>
      <p:sp>
        <p:nvSpPr>
          <p:cNvPr id="44" name="Rectangle 43"/>
          <p:cNvSpPr/>
          <p:nvPr/>
        </p:nvSpPr>
        <p:spPr>
          <a:xfrm>
            <a:off x="5303520" y="740664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45" name="Rectangle 44"/>
          <p:cNvSpPr/>
          <p:nvPr/>
        </p:nvSpPr>
        <p:spPr>
          <a:xfrm>
            <a:off x="8321040" y="740664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46" name="Rectangle 45"/>
          <p:cNvSpPr/>
          <p:nvPr/>
        </p:nvSpPr>
        <p:spPr>
          <a:xfrm>
            <a:off x="11338559" y="740664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47" name="Rectangle 46"/>
          <p:cNvSpPr/>
          <p:nvPr/>
        </p:nvSpPr>
        <p:spPr>
          <a:xfrm>
            <a:off x="731520" y="7772400"/>
            <a:ext cx="45720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800" b="1">
                <a:solidFill>
                  <a:srgbClr val="222222"/>
                </a:solidFill>
                <a:latin typeface="Meiryo"/>
              </a:rPr>
              <a:t>＋ 正規ドメイン公開＋GW制御（全部）</a:t>
            </a:r>
          </a:p>
        </p:txBody>
      </p:sp>
      <p:sp>
        <p:nvSpPr>
          <p:cNvPr id="48" name="Rectangle 47"/>
          <p:cNvSpPr/>
          <p:nvPr/>
        </p:nvSpPr>
        <p:spPr>
          <a:xfrm>
            <a:off x="5303520" y="777240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49" name="Rectangle 48"/>
          <p:cNvSpPr/>
          <p:nvPr/>
        </p:nvSpPr>
        <p:spPr>
          <a:xfrm>
            <a:off x="8321040" y="777240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50" name="Rectangle 49"/>
          <p:cNvSpPr/>
          <p:nvPr/>
        </p:nvSpPr>
        <p:spPr>
          <a:xfrm>
            <a:off x="11338559" y="777240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 防げる</a:t>
            </a:r>
          </a:p>
        </p:txBody>
      </p:sp>
      <p:sp>
        <p:nvSpPr>
          <p:cNvPr id="51" name="Rectangle 50"/>
          <p:cNvSpPr/>
          <p:nvPr/>
        </p:nvSpPr>
        <p:spPr>
          <a:xfrm>
            <a:off x="731520" y="8229600"/>
            <a:ext cx="1362456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全部やれば手順④のメールは顧客に届かない。Kill Chainはここで切れる。顧客の注意力に一切依存しない。</a:t>
            </a:r>
          </a:p>
        </p:txBody>
      </p:sp>
      <p:sp>
        <p:nvSpPr>
          <p:cNvPr id="52" name="Rectangle 51"/>
          <p:cNvSpPr/>
          <p:nvPr/>
        </p:nvSpPr>
        <p:spPr>
          <a:xfrm>
            <a:off x="731520" y="8778240"/>
            <a:ext cx="1362456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Meiryo"/>
              </a:rPr>
              <a:t>技術的にはもう解決できる話。やるかやらないかだけ。</a:t>
            </a:r>
          </a:p>
        </p:txBody>
      </p:sp>
      <p:sp>
        <p:nvSpPr>
          <p:cNvPr id="53" name="TextBox 52"/>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DMARC＋DNSによる技術的遮断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200" b="1">
                <a:solidFill>
                  <a:srgbClr val="8E44AD"/>
                </a:solidFill>
                <a:latin typeface="Meiryo"/>
              </a:rPr>
              <a:t>手順⑤「メールのボタンをクリックして」— 最大の破綻ポイント</a:t>
            </a:r>
          </a:p>
        </p:txBody>
      </p:sp>
      <p:sp>
        <p:nvSpPr>
          <p:cNvPr id="3" name="TextBox 2"/>
          <p:cNvSpPr txBox="1"/>
          <p:nvPr/>
        </p:nvSpPr>
        <p:spPr>
          <a:xfrm>
            <a:off x="0" y="685800"/>
            <a:ext cx="15124176" cy="365760"/>
          </a:xfrm>
          <a:prstGeom prst="rect">
            <a:avLst/>
          </a:prstGeom>
          <a:noFill/>
        </p:spPr>
        <p:txBody>
          <a:bodyPr wrap="square" lIns="50800" rIns="50800" tIns="38100" bIns="38100"/>
          <a:lstStyle/>
          <a:p>
            <a:pPr algn="ctr"/>
            <a:r>
              <a:rPr sz="1200" b="0">
                <a:solidFill>
                  <a:srgbClr val="888888"/>
                </a:solidFill>
                <a:latin typeface="Meiryo"/>
              </a:rPr>
              <a:t>銀行の方針・金融庁の要請・顧客への周知、すべてに反する行為。それでも突破される。</a:t>
            </a:r>
          </a:p>
        </p:txBody>
      </p:sp>
      <p:sp>
        <p:nvSpPr>
          <p:cNvPr id="4" name="Rectangle 3"/>
          <p:cNvSpPr/>
          <p:nvPr/>
        </p:nvSpPr>
        <p:spPr>
          <a:xfrm>
            <a:off x="731520" y="1097280"/>
            <a:ext cx="1362456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金融庁の要請：金融機関が顧客に送信するメールにURLリンクを記載しないこと</a:t>
            </a:r>
          </a:p>
        </p:txBody>
      </p:sp>
      <p:sp>
        <p:nvSpPr>
          <p:cNvPr id="5" name="TextBox 4"/>
          <p:cNvSpPr txBox="1"/>
          <p:nvPr/>
        </p:nvSpPr>
        <p:spPr>
          <a:xfrm>
            <a:off x="731520" y="1627631"/>
            <a:ext cx="13624560" cy="274320"/>
          </a:xfrm>
          <a:prstGeom prst="rect">
            <a:avLst/>
          </a:prstGeom>
          <a:noFill/>
        </p:spPr>
        <p:txBody>
          <a:bodyPr wrap="square" lIns="50800" rIns="50800" tIns="38100" bIns="38100"/>
          <a:lstStyle/>
          <a:p>
            <a:pPr algn="l"/>
            <a:r>
              <a:rPr sz="900" b="0">
                <a:solidFill>
                  <a:srgbClr val="888888"/>
                </a:solidFill>
                <a:latin typeface="Meiryo"/>
              </a:rPr>
              <a:t>→ 多くの銀行が「メール内のリンクはクリックしないでください」と顧客に周知済み</a:t>
            </a:r>
          </a:p>
        </p:txBody>
      </p:sp>
      <p:sp>
        <p:nvSpPr>
          <p:cNvPr id="6" name="Rectangle 5"/>
          <p:cNvSpPr/>
          <p:nvPr/>
        </p:nvSpPr>
        <p:spPr>
          <a:xfrm>
            <a:off x="731520" y="2011680"/>
            <a:ext cx="228600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
            </a:r>
          </a:p>
        </p:txBody>
      </p:sp>
      <p:sp>
        <p:nvSpPr>
          <p:cNvPr id="7" name="Rectangle 6"/>
          <p:cNvSpPr/>
          <p:nvPr/>
        </p:nvSpPr>
        <p:spPr>
          <a:xfrm>
            <a:off x="3017520" y="2011680"/>
            <a:ext cx="548640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銀行の正規誘導</a:t>
            </a:r>
          </a:p>
        </p:txBody>
      </p:sp>
      <p:sp>
        <p:nvSpPr>
          <p:cNvPr id="8" name="Rectangle 7"/>
          <p:cNvSpPr/>
          <p:nvPr/>
        </p:nvSpPr>
        <p:spPr>
          <a:xfrm>
            <a:off x="8503920" y="2011680"/>
            <a:ext cx="585216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この攻撃</a:t>
            </a:r>
          </a:p>
        </p:txBody>
      </p:sp>
      <p:sp>
        <p:nvSpPr>
          <p:cNvPr id="9" name="Rectangle 8"/>
          <p:cNvSpPr/>
          <p:nvPr/>
        </p:nvSpPr>
        <p:spPr>
          <a:xfrm>
            <a:off x="731520" y="2423160"/>
            <a:ext cx="22860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方法</a:t>
            </a:r>
          </a:p>
        </p:txBody>
      </p:sp>
      <p:sp>
        <p:nvSpPr>
          <p:cNvPr id="10" name="Rectangle 9"/>
          <p:cNvSpPr/>
          <p:nvPr/>
        </p:nvSpPr>
        <p:spPr>
          <a:xfrm>
            <a:off x="3017520" y="2423160"/>
            <a:ext cx="54864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ブックマーク・URL直接入力・公式アプリ</a:t>
            </a:r>
          </a:p>
        </p:txBody>
      </p:sp>
      <p:sp>
        <p:nvSpPr>
          <p:cNvPr id="11" name="Rectangle 10"/>
          <p:cNvSpPr/>
          <p:nvPr/>
        </p:nvSpPr>
        <p:spPr>
          <a:xfrm>
            <a:off x="8503920" y="2423160"/>
            <a:ext cx="5852160" cy="45720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C0392B"/>
                </a:solidFill>
                <a:latin typeface="Meiryo"/>
              </a:rPr>
              <a:t>メールのボタンをクリック</a:t>
            </a:r>
          </a:p>
        </p:txBody>
      </p:sp>
      <p:sp>
        <p:nvSpPr>
          <p:cNvPr id="12" name="Rectangle 11"/>
          <p:cNvSpPr/>
          <p:nvPr/>
        </p:nvSpPr>
        <p:spPr>
          <a:xfrm>
            <a:off x="731520" y="2880360"/>
            <a:ext cx="22860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URLの出所</a:t>
            </a:r>
          </a:p>
        </p:txBody>
      </p:sp>
      <p:sp>
        <p:nvSpPr>
          <p:cNvPr id="13" name="Rectangle 12"/>
          <p:cNvSpPr/>
          <p:nvPr/>
        </p:nvSpPr>
        <p:spPr>
          <a:xfrm>
            <a:off x="3017520" y="2880360"/>
            <a:ext cx="54864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顧客が自分で持っている</a:t>
            </a:r>
          </a:p>
        </p:txBody>
      </p:sp>
      <p:sp>
        <p:nvSpPr>
          <p:cNvPr id="14" name="Rectangle 13"/>
          <p:cNvSpPr/>
          <p:nvPr/>
        </p:nvSpPr>
        <p:spPr>
          <a:xfrm>
            <a:off x="8503920" y="2880360"/>
            <a:ext cx="5852160" cy="457200"/>
          </a:xfrm>
          <a:prstGeom prst="rect">
            <a:avLst/>
          </a:prstGeom>
          <a:solidFill>
            <a:srgbClr val="F9F9F9"/>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C0392B"/>
                </a:solidFill>
                <a:latin typeface="Meiryo"/>
              </a:rPr>
              <a:t>犯人が送りつけた</a:t>
            </a:r>
          </a:p>
        </p:txBody>
      </p:sp>
      <p:sp>
        <p:nvSpPr>
          <p:cNvPr id="15" name="Rectangle 14"/>
          <p:cNvSpPr/>
          <p:nvPr/>
        </p:nvSpPr>
        <p:spPr>
          <a:xfrm>
            <a:off x="731520" y="3337560"/>
            <a:ext cx="22860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顧客の行動</a:t>
            </a:r>
          </a:p>
        </p:txBody>
      </p:sp>
      <p:sp>
        <p:nvSpPr>
          <p:cNvPr id="16" name="Rectangle 15"/>
          <p:cNvSpPr/>
          <p:nvPr/>
        </p:nvSpPr>
        <p:spPr>
          <a:xfrm>
            <a:off x="3017520" y="3337560"/>
            <a:ext cx="5486400" cy="45720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能動的（自分でアクセス）</a:t>
            </a:r>
          </a:p>
        </p:txBody>
      </p:sp>
      <p:sp>
        <p:nvSpPr>
          <p:cNvPr id="17" name="Rectangle 16"/>
          <p:cNvSpPr/>
          <p:nvPr/>
        </p:nvSpPr>
        <p:spPr>
          <a:xfrm>
            <a:off x="8503920" y="3337560"/>
            <a:ext cx="5852160" cy="45720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C0392B"/>
                </a:solidFill>
                <a:latin typeface="Meiryo"/>
              </a:rPr>
              <a:t>受動的（指示されてクリック）</a:t>
            </a:r>
          </a:p>
        </p:txBody>
      </p:sp>
      <p:sp>
        <p:nvSpPr>
          <p:cNvPr id="18" name="Rectangle 17"/>
          <p:cNvSpPr/>
          <p:nvPr/>
        </p:nvSpPr>
        <p:spPr>
          <a:xfrm>
            <a:off x="731520" y="3794760"/>
            <a:ext cx="22860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利便性</a:t>
            </a:r>
          </a:p>
        </p:txBody>
      </p:sp>
      <p:sp>
        <p:nvSpPr>
          <p:cNvPr id="19" name="Rectangle 18"/>
          <p:cNvSpPr/>
          <p:nvPr/>
        </p:nvSpPr>
        <p:spPr>
          <a:xfrm>
            <a:off x="3017520" y="3794760"/>
            <a:ext cx="5486400" cy="45720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面倒（ブックマーク探す、URL入力）</a:t>
            </a:r>
          </a:p>
        </p:txBody>
      </p:sp>
      <p:sp>
        <p:nvSpPr>
          <p:cNvPr id="20" name="Rectangle 19"/>
          <p:cNvSpPr/>
          <p:nvPr/>
        </p:nvSpPr>
        <p:spPr>
          <a:xfrm>
            <a:off x="8503920" y="3794760"/>
            <a:ext cx="5852160" cy="457200"/>
          </a:xfrm>
          <a:prstGeom prst="rect">
            <a:avLst/>
          </a:prstGeom>
          <a:solidFill>
            <a:srgbClr val="F9F9F9"/>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C0392B"/>
                </a:solidFill>
                <a:latin typeface="Meiryo"/>
              </a:rPr>
              <a:t>楽（ボタン1つ押すだけ）</a:t>
            </a:r>
          </a:p>
        </p:txBody>
      </p:sp>
      <p:sp>
        <p:nvSpPr>
          <p:cNvPr id="21" name="Rectangle 20"/>
          <p:cNvSpPr/>
          <p:nvPr/>
        </p:nvSpPr>
        <p:spPr>
          <a:xfrm>
            <a:off x="731520" y="4343400"/>
            <a:ext cx="1362456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22" name="TextBox 21"/>
          <p:cNvSpPr txBox="1"/>
          <p:nvPr/>
        </p:nvSpPr>
        <p:spPr>
          <a:xfrm>
            <a:off x="1005840" y="4389120"/>
            <a:ext cx="13075920" cy="777240"/>
          </a:xfrm>
          <a:prstGeom prst="rect">
            <a:avLst/>
          </a:prstGeom>
          <a:noFill/>
        </p:spPr>
        <p:txBody>
          <a:bodyPr wrap="square" lIns="50800" rIns="50800" tIns="38100" bIns="38100"/>
          <a:lstStyle/>
          <a:p>
            <a:pPr algn="l"/>
            <a:r>
              <a:rPr sz="1100" b="1">
                <a:solidFill>
                  <a:srgbClr val="FFFFFF"/>
                </a:solidFill>
                <a:latin typeface="Meiryo"/>
              </a:rPr>
              <a:t>皮肉：犯人のほうが「ユーザー体験が良い」
正規の銀行：「ブックマークからアクセスしてください」（面倒）
犯人：「ボタンをクリックするだけです」（簡単）
→ 焦っている被害者がどちらに従いたくなるかは明白</a:t>
            </a:r>
          </a:p>
        </p:txBody>
      </p:sp>
      <p:sp>
        <p:nvSpPr>
          <p:cNvPr id="23" name="Rectangle 22"/>
          <p:cNvSpPr/>
          <p:nvPr/>
        </p:nvSpPr>
        <p:spPr>
          <a:xfrm>
            <a:off x="731520" y="534924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手順⑤の破綻ポイントまとめ</a:t>
            </a:r>
          </a:p>
        </p:txBody>
      </p:sp>
      <p:sp>
        <p:nvSpPr>
          <p:cNvPr id="24" name="Rectangle 23"/>
          <p:cNvSpPr/>
          <p:nvPr/>
        </p:nvSpPr>
        <p:spPr>
          <a:xfrm>
            <a:off x="731520" y="5715000"/>
            <a:ext cx="36576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銀行の方針</a:t>
            </a:r>
          </a:p>
        </p:txBody>
      </p:sp>
      <p:sp>
        <p:nvSpPr>
          <p:cNvPr id="25" name="Rectangle 24"/>
          <p:cNvSpPr/>
          <p:nvPr/>
        </p:nvSpPr>
        <p:spPr>
          <a:xfrm>
            <a:off x="4389120" y="5715000"/>
            <a:ext cx="996696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メールにURLリンクを載せない</a:t>
            </a:r>
          </a:p>
        </p:txBody>
      </p:sp>
      <p:sp>
        <p:nvSpPr>
          <p:cNvPr id="26" name="Rectangle 25"/>
          <p:cNvSpPr/>
          <p:nvPr/>
        </p:nvSpPr>
        <p:spPr>
          <a:xfrm>
            <a:off x="731520" y="6080760"/>
            <a:ext cx="36576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金融庁の要請</a:t>
            </a:r>
          </a:p>
        </p:txBody>
      </p:sp>
      <p:sp>
        <p:nvSpPr>
          <p:cNvPr id="27" name="Rectangle 26"/>
          <p:cNvSpPr/>
          <p:nvPr/>
        </p:nvSpPr>
        <p:spPr>
          <a:xfrm>
            <a:off x="4389120" y="6080760"/>
            <a:ext cx="996696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金融機関のメールにURL記載禁止</a:t>
            </a:r>
          </a:p>
        </p:txBody>
      </p:sp>
      <p:sp>
        <p:nvSpPr>
          <p:cNvPr id="28" name="Rectangle 27"/>
          <p:cNvSpPr/>
          <p:nvPr/>
        </p:nvSpPr>
        <p:spPr>
          <a:xfrm>
            <a:off x="731520" y="6446520"/>
            <a:ext cx="36576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顧客への周知</a:t>
            </a:r>
          </a:p>
        </p:txBody>
      </p:sp>
      <p:sp>
        <p:nvSpPr>
          <p:cNvPr id="29" name="Rectangle 28"/>
          <p:cNvSpPr/>
          <p:nvPr/>
        </p:nvSpPr>
        <p:spPr>
          <a:xfrm>
            <a:off x="4389120" y="6446520"/>
            <a:ext cx="996696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「メールのリンクをクリックしないで」と案内済み</a:t>
            </a:r>
          </a:p>
        </p:txBody>
      </p:sp>
      <p:sp>
        <p:nvSpPr>
          <p:cNvPr id="30" name="Rectangle 29"/>
          <p:cNvSpPr/>
          <p:nvPr/>
        </p:nvSpPr>
        <p:spPr>
          <a:xfrm>
            <a:off x="731520" y="6812280"/>
            <a:ext cx="365760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それでも突破される理由</a:t>
            </a:r>
          </a:p>
        </p:txBody>
      </p:sp>
      <p:sp>
        <p:nvSpPr>
          <p:cNvPr id="31" name="Rectangle 30"/>
          <p:cNvSpPr/>
          <p:nvPr/>
        </p:nvSpPr>
        <p:spPr>
          <a:xfrm>
            <a:off x="4389120" y="6812280"/>
            <a:ext cx="996696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手順②の恐怖 ＋ 電話でのリアルタイム指示 ＋ 犯人のほうがUXが良い</a:t>
            </a:r>
          </a:p>
        </p:txBody>
      </p:sp>
      <p:sp>
        <p:nvSpPr>
          <p:cNvPr id="32" name="Rectangle 31"/>
          <p:cNvSpPr/>
          <p:nvPr/>
        </p:nvSpPr>
        <p:spPr>
          <a:xfrm>
            <a:off x="731520" y="7223759"/>
            <a:ext cx="1362456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注意喚起・ガイドライン・金融庁の要請 — すべてが「冷静な時の判断力」を前提にしている。この攻撃は、その前提自体を手順②で破壊している。</a:t>
            </a:r>
          </a:p>
        </p:txBody>
      </p:sp>
      <p:sp>
        <p:nvSpPr>
          <p:cNvPr id="33" name="TextBox 32"/>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手順⑤ メールURLと金融庁要請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400" b="1">
                <a:solidFill>
                  <a:srgbClr val="E67E22"/>
                </a:solidFill>
                <a:latin typeface="Meiryo"/>
              </a:rPr>
              <a:t>「ブックマークからアクセスして」は機能しない</a:t>
            </a:r>
          </a:p>
        </p:txBody>
      </p:sp>
      <p:sp>
        <p:nvSpPr>
          <p:cNvPr id="3" name="TextBox 2"/>
          <p:cNvSpPr txBox="1"/>
          <p:nvPr/>
        </p:nvSpPr>
        <p:spPr>
          <a:xfrm>
            <a:off x="0" y="685800"/>
            <a:ext cx="15124176" cy="365760"/>
          </a:xfrm>
          <a:prstGeom prst="rect">
            <a:avLst/>
          </a:prstGeom>
          <a:noFill/>
        </p:spPr>
        <p:txBody>
          <a:bodyPr wrap="square" lIns="50800" rIns="50800" tIns="38100" bIns="38100"/>
          <a:lstStyle/>
          <a:p>
            <a:pPr algn="ctr"/>
            <a:r>
              <a:rPr sz="1200" b="0">
                <a:solidFill>
                  <a:srgbClr val="888888"/>
                </a:solidFill>
                <a:latin typeface="Meiryo"/>
              </a:rPr>
              <a:t>ブックマーク登録を顧客に任せている時点で、対策として成立していない。</a:t>
            </a:r>
          </a:p>
        </p:txBody>
      </p:sp>
      <p:sp>
        <p:nvSpPr>
          <p:cNvPr id="4" name="Rectangle 3"/>
          <p:cNvSpPr/>
          <p:nvPr/>
        </p:nvSpPr>
        <p:spPr>
          <a:xfrm>
            <a:off x="731520" y="1188720"/>
            <a:ext cx="658368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銀行のURL伝達方法（法人IB）</a:t>
            </a:r>
          </a:p>
        </p:txBody>
      </p:sp>
      <p:sp>
        <p:nvSpPr>
          <p:cNvPr id="5" name="Rectangle 4"/>
          <p:cNvSpPr/>
          <p:nvPr/>
        </p:nvSpPr>
        <p:spPr>
          <a:xfrm>
            <a:off x="731520" y="1600200"/>
            <a:ext cx="22860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① 契約時の書面</a:t>
            </a:r>
          </a:p>
        </p:txBody>
      </p:sp>
      <p:sp>
        <p:nvSpPr>
          <p:cNvPr id="6" name="Rectangle 5"/>
          <p:cNvSpPr/>
          <p:nvPr/>
        </p:nvSpPr>
        <p:spPr>
          <a:xfrm>
            <a:off x="3017520" y="1600200"/>
            <a:ext cx="429768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紙にURLが記載されている</a:t>
            </a:r>
          </a:p>
        </p:txBody>
      </p:sp>
      <p:sp>
        <p:nvSpPr>
          <p:cNvPr id="7" name="Rectangle 6"/>
          <p:cNvSpPr/>
          <p:nvPr/>
        </p:nvSpPr>
        <p:spPr>
          <a:xfrm>
            <a:off x="731520" y="2011680"/>
            <a:ext cx="228600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② 銀行の窓口</a:t>
            </a:r>
          </a:p>
        </p:txBody>
      </p:sp>
      <p:sp>
        <p:nvSpPr>
          <p:cNvPr id="8" name="Rectangle 7"/>
          <p:cNvSpPr/>
          <p:nvPr/>
        </p:nvSpPr>
        <p:spPr>
          <a:xfrm>
            <a:off x="3017520" y="2011680"/>
            <a:ext cx="429768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担当者から口頭で案内</a:t>
            </a:r>
          </a:p>
        </p:txBody>
      </p:sp>
      <p:sp>
        <p:nvSpPr>
          <p:cNvPr id="9" name="Rectangle 8"/>
          <p:cNvSpPr/>
          <p:nvPr/>
        </p:nvSpPr>
        <p:spPr>
          <a:xfrm>
            <a:off x="731520" y="2423160"/>
            <a:ext cx="22860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③ 銀行の公式HP</a:t>
            </a:r>
          </a:p>
        </p:txBody>
      </p:sp>
      <p:sp>
        <p:nvSpPr>
          <p:cNvPr id="10" name="Rectangle 9"/>
          <p:cNvSpPr/>
          <p:nvPr/>
        </p:nvSpPr>
        <p:spPr>
          <a:xfrm>
            <a:off x="3017520" y="2423160"/>
            <a:ext cx="429768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検索 → HP → IBログインページ</a:t>
            </a:r>
          </a:p>
        </p:txBody>
      </p:sp>
      <p:sp>
        <p:nvSpPr>
          <p:cNvPr id="11" name="TextBox 10"/>
          <p:cNvSpPr txBox="1"/>
          <p:nvPr/>
        </p:nvSpPr>
        <p:spPr>
          <a:xfrm>
            <a:off x="731520" y="2880360"/>
            <a:ext cx="6583680" cy="274320"/>
          </a:xfrm>
          <a:prstGeom prst="rect">
            <a:avLst/>
          </a:prstGeom>
          <a:noFill/>
        </p:spPr>
        <p:txBody>
          <a:bodyPr wrap="square" lIns="50800" rIns="50800" tIns="38100" bIns="38100"/>
          <a:lstStyle/>
          <a:p>
            <a:pPr algn="l"/>
            <a:r>
              <a:rPr sz="1000" b="1">
                <a:solidFill>
                  <a:srgbClr val="C0392B"/>
                </a:solidFill>
                <a:latin typeface="Meiryo"/>
              </a:rPr>
              <a:t>→ 顧客が自分でブックマーク登録する必要がある</a:t>
            </a:r>
          </a:p>
        </p:txBody>
      </p:sp>
      <p:sp>
        <p:nvSpPr>
          <p:cNvPr id="12" name="Rectangle 11"/>
          <p:cNvSpPr/>
          <p:nvPr/>
        </p:nvSpPr>
        <p:spPr>
          <a:xfrm>
            <a:off x="7772400" y="1188720"/>
            <a:ext cx="640080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銀行の想定 vs 現実</a:t>
            </a:r>
          </a:p>
        </p:txBody>
      </p:sp>
      <p:sp>
        <p:nvSpPr>
          <p:cNvPr id="13" name="Rectangle 12"/>
          <p:cNvSpPr/>
          <p:nvPr/>
        </p:nvSpPr>
        <p:spPr>
          <a:xfrm>
            <a:off x="7772400" y="1600200"/>
            <a:ext cx="292608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契約時の書面を保管</a:t>
            </a:r>
          </a:p>
        </p:txBody>
      </p:sp>
      <p:sp>
        <p:nvSpPr>
          <p:cNvPr id="14" name="Rectangle 13"/>
          <p:cNvSpPr/>
          <p:nvPr/>
        </p:nvSpPr>
        <p:spPr>
          <a:xfrm>
            <a:off x="10698480" y="1600200"/>
            <a:ext cx="3474720" cy="41148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900" b="1">
                <a:solidFill>
                  <a:srgbClr val="C0392B"/>
                </a:solidFill>
                <a:latin typeface="Meiryo"/>
              </a:rPr>
              <a:t>どこにしまったかわからない</a:t>
            </a:r>
          </a:p>
        </p:txBody>
      </p:sp>
      <p:sp>
        <p:nvSpPr>
          <p:cNvPr id="15" name="Rectangle 14"/>
          <p:cNvSpPr/>
          <p:nvPr/>
        </p:nvSpPr>
        <p:spPr>
          <a:xfrm>
            <a:off x="7772400" y="2011680"/>
            <a:ext cx="292608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ブックマークに登録済み</a:t>
            </a:r>
          </a:p>
        </p:txBody>
      </p:sp>
      <p:sp>
        <p:nvSpPr>
          <p:cNvPr id="16" name="Rectangle 15"/>
          <p:cNvSpPr/>
          <p:nvPr/>
        </p:nvSpPr>
        <p:spPr>
          <a:xfrm>
            <a:off x="10698480" y="2011680"/>
            <a:ext cx="3474720" cy="41148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900" b="1">
                <a:solidFill>
                  <a:srgbClr val="C0392B"/>
                </a:solidFill>
                <a:latin typeface="Meiryo"/>
              </a:rPr>
              <a:t>登録していない人が多い</a:t>
            </a:r>
          </a:p>
        </p:txBody>
      </p:sp>
      <p:sp>
        <p:nvSpPr>
          <p:cNvPr id="17" name="Rectangle 16"/>
          <p:cNvSpPr/>
          <p:nvPr/>
        </p:nvSpPr>
        <p:spPr>
          <a:xfrm>
            <a:off x="7772400" y="2423160"/>
            <a:ext cx="292608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毎回ブックマークからアクセス</a:t>
            </a:r>
          </a:p>
        </p:txBody>
      </p:sp>
      <p:sp>
        <p:nvSpPr>
          <p:cNvPr id="18" name="Rectangle 17"/>
          <p:cNvSpPr/>
          <p:nvPr/>
        </p:nvSpPr>
        <p:spPr>
          <a:xfrm>
            <a:off x="10698480" y="2423160"/>
            <a:ext cx="3474720" cy="41148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900" b="1">
                <a:solidFill>
                  <a:srgbClr val="C0392B"/>
                </a:solidFill>
                <a:latin typeface="Meiryo"/>
              </a:rPr>
              <a:t>毎回「BizSTATION」で検索している</a:t>
            </a:r>
          </a:p>
        </p:txBody>
      </p:sp>
      <p:sp>
        <p:nvSpPr>
          <p:cNvPr id="19" name="Rectangle 18"/>
          <p:cNvSpPr/>
          <p:nvPr/>
        </p:nvSpPr>
        <p:spPr>
          <a:xfrm>
            <a:off x="731520" y="3383280"/>
            <a:ext cx="1362456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ブックマーク登録の有無が攻撃成功率を左右する</a:t>
            </a:r>
          </a:p>
        </p:txBody>
      </p:sp>
      <p:sp>
        <p:nvSpPr>
          <p:cNvPr id="20" name="Rectangle 19"/>
          <p:cNvSpPr/>
          <p:nvPr/>
        </p:nvSpPr>
        <p:spPr>
          <a:xfrm>
            <a:off x="731520" y="3840480"/>
            <a:ext cx="658368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ブックマーク登録済みの人（少数）</a:t>
            </a:r>
          </a:p>
        </p:txBody>
      </p:sp>
      <p:sp>
        <p:nvSpPr>
          <p:cNvPr id="21" name="Rectangle 20"/>
          <p:cNvSpPr/>
          <p:nvPr/>
        </p:nvSpPr>
        <p:spPr>
          <a:xfrm>
            <a:off x="731520" y="4206240"/>
            <a:ext cx="6583680" cy="64008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 「自分のブックマークと違うURLだ」と気づける可能性がある
→ でも電話中なので確認しない</a:t>
            </a:r>
          </a:p>
        </p:txBody>
      </p:sp>
      <p:sp>
        <p:nvSpPr>
          <p:cNvPr id="22" name="Rectangle 21"/>
          <p:cNvSpPr/>
          <p:nvPr/>
        </p:nvSpPr>
        <p:spPr>
          <a:xfrm>
            <a:off x="7772400" y="3840480"/>
            <a:ext cx="640080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ブックマーク未登録の人（多数）</a:t>
            </a:r>
          </a:p>
        </p:txBody>
      </p:sp>
      <p:sp>
        <p:nvSpPr>
          <p:cNvPr id="23" name="Rectangle 22"/>
          <p:cNvSpPr/>
          <p:nvPr/>
        </p:nvSpPr>
        <p:spPr>
          <a:xfrm>
            <a:off x="7772400" y="4206240"/>
            <a:ext cx="6400800" cy="64008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 普段から検索やメールリンクでアクセスしている
→ メールのボタンをクリックすることに抵抗がない
→ 攻撃にそのまま乗ってしまう</a:t>
            </a:r>
          </a:p>
        </p:txBody>
      </p:sp>
      <p:sp>
        <p:nvSpPr>
          <p:cNvPr id="24" name="Rectangle 23"/>
          <p:cNvSpPr/>
          <p:nvPr/>
        </p:nvSpPr>
        <p:spPr>
          <a:xfrm>
            <a:off x="731520" y="5074920"/>
            <a:ext cx="1362456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銀行がやるべきだったこと</a:t>
            </a:r>
          </a:p>
        </p:txBody>
      </p:sp>
      <p:sp>
        <p:nvSpPr>
          <p:cNvPr id="25" name="Rectangle 24"/>
          <p:cNvSpPr/>
          <p:nvPr/>
        </p:nvSpPr>
        <p:spPr>
          <a:xfrm>
            <a:off x="731520" y="5486400"/>
            <a:ext cx="5029200" cy="41148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① 契約時にブックマークを設定してあげる</a:t>
            </a:r>
          </a:p>
        </p:txBody>
      </p:sp>
      <p:sp>
        <p:nvSpPr>
          <p:cNvPr id="26" name="Rectangle 25"/>
          <p:cNvSpPr/>
          <p:nvPr/>
        </p:nvSpPr>
        <p:spPr>
          <a:xfrm>
            <a:off x="5760720" y="5486400"/>
            <a:ext cx="859536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窓口対応 or 初期設定ツールで銀行側が登録</a:t>
            </a:r>
          </a:p>
        </p:txBody>
      </p:sp>
      <p:sp>
        <p:nvSpPr>
          <p:cNvPr id="27" name="Rectangle 26"/>
          <p:cNvSpPr/>
          <p:nvPr/>
        </p:nvSpPr>
        <p:spPr>
          <a:xfrm>
            <a:off x="731520" y="5897880"/>
            <a:ext cx="5029200" cy="41148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② 公式アプリでしかアクセスできない仕組み</a:t>
            </a:r>
          </a:p>
        </p:txBody>
      </p:sp>
      <p:sp>
        <p:nvSpPr>
          <p:cNvPr id="28" name="Rectangle 27"/>
          <p:cNvSpPr/>
          <p:nvPr/>
        </p:nvSpPr>
        <p:spPr>
          <a:xfrm>
            <a:off x="5760720" y="5897880"/>
            <a:ext cx="859536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ブラウザ経由のアクセスを廃止</a:t>
            </a:r>
          </a:p>
        </p:txBody>
      </p:sp>
      <p:sp>
        <p:nvSpPr>
          <p:cNvPr id="29" name="Rectangle 28"/>
          <p:cNvSpPr/>
          <p:nvPr/>
        </p:nvSpPr>
        <p:spPr>
          <a:xfrm>
            <a:off x="731520" y="6309360"/>
            <a:ext cx="5029200" cy="41148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③ 専用クライアントに統一</a:t>
            </a:r>
          </a:p>
        </p:txBody>
      </p:sp>
      <p:sp>
        <p:nvSpPr>
          <p:cNvPr id="30" name="Rectangle 29"/>
          <p:cNvSpPr/>
          <p:nvPr/>
        </p:nvSpPr>
        <p:spPr>
          <a:xfrm>
            <a:off x="5760720" y="6309360"/>
            <a:ext cx="859536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ブラウザを使わせないことでフィッシング自体を不可能にする</a:t>
            </a:r>
          </a:p>
        </p:txBody>
      </p:sp>
      <p:sp>
        <p:nvSpPr>
          <p:cNvPr id="31" name="Rectangle 30"/>
          <p:cNvSpPr/>
          <p:nvPr/>
        </p:nvSpPr>
        <p:spPr>
          <a:xfrm>
            <a:off x="731520" y="6766560"/>
            <a:ext cx="1362456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「自分でブックマーク登録してね」では対策にならない — 銀行側がアクセス経路を制御すべき</a:t>
            </a:r>
          </a:p>
        </p:txBody>
      </p:sp>
      <p:sp>
        <p:nvSpPr>
          <p:cNvPr id="32" name="TextBox 31"/>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ブックマーク対策の限界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000" b="1">
                <a:solidFill>
                  <a:srgbClr val="C0392B"/>
                </a:solidFill>
                <a:latin typeface="Meiryo"/>
              </a:rPr>
              <a:t>手順⑥「不明な発行元」— 極めつけの証拠だが、本質的な防壁ではない</a:t>
            </a:r>
          </a:p>
        </p:txBody>
      </p:sp>
      <p:sp>
        <p:nvSpPr>
          <p:cNvPr id="3" name="TextBox 2"/>
          <p:cNvSpPr txBox="1"/>
          <p:nvPr/>
        </p:nvSpPr>
        <p:spPr>
          <a:xfrm>
            <a:off x="0" y="640080"/>
            <a:ext cx="15124176" cy="365760"/>
          </a:xfrm>
          <a:prstGeom prst="rect">
            <a:avLst/>
          </a:prstGeom>
          <a:noFill/>
        </p:spPr>
        <p:txBody>
          <a:bodyPr wrap="square" lIns="50800" rIns="50800" tIns="38100" bIns="38100"/>
          <a:lstStyle/>
          <a:p>
            <a:pPr algn="ctr"/>
            <a:r>
              <a:rPr sz="1100" b="0">
                <a:solidFill>
                  <a:srgbClr val="888888"/>
                </a:solidFill>
                <a:latin typeface="Meiryo"/>
              </a:rPr>
              <a:t>OSが画面に大きく警告。知識不要、誰でも読める。それでも突破され、犯人のレベルアップで消滅する。</a:t>
            </a:r>
          </a:p>
        </p:txBody>
      </p:sp>
      <p:sp>
        <p:nvSpPr>
          <p:cNvPr id="4" name="Rectangle 3"/>
          <p:cNvSpPr/>
          <p:nvPr/>
        </p:nvSpPr>
        <p:spPr>
          <a:xfrm>
            <a:off x="731520" y="105156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正規ソフト vs この攻撃の署名状態</a:t>
            </a:r>
          </a:p>
        </p:txBody>
      </p:sp>
      <p:sp>
        <p:nvSpPr>
          <p:cNvPr id="5" name="Rectangle 4"/>
          <p:cNvSpPr/>
          <p:nvPr/>
        </p:nvSpPr>
        <p:spPr>
          <a:xfrm>
            <a:off x="731520" y="1417319"/>
            <a:ext cx="32004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Rapport（IBM推奨）</a:t>
            </a:r>
          </a:p>
        </p:txBody>
      </p:sp>
      <p:sp>
        <p:nvSpPr>
          <p:cNvPr id="6" name="Rectangle 5"/>
          <p:cNvSpPr/>
          <p:nvPr/>
        </p:nvSpPr>
        <p:spPr>
          <a:xfrm>
            <a:off x="3931920" y="1417319"/>
            <a:ext cx="3657600" cy="41148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7AE60"/>
                </a:solidFill>
                <a:latin typeface="Meiryo"/>
              </a:rPr>
              <a:t>IBM Corporation ✅</a:t>
            </a:r>
          </a:p>
        </p:txBody>
      </p:sp>
      <p:sp>
        <p:nvSpPr>
          <p:cNvPr id="7" name="Rectangle 6"/>
          <p:cNvSpPr/>
          <p:nvPr/>
        </p:nvSpPr>
        <p:spPr>
          <a:xfrm>
            <a:off x="7589520" y="1417319"/>
            <a:ext cx="45720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信頼されたCAで署名済み</a:t>
            </a:r>
          </a:p>
        </p:txBody>
      </p:sp>
      <p:sp>
        <p:nvSpPr>
          <p:cNvPr id="8" name="Rectangle 7"/>
          <p:cNvSpPr/>
          <p:nvPr/>
        </p:nvSpPr>
        <p:spPr>
          <a:xfrm>
            <a:off x="731520" y="1828799"/>
            <a:ext cx="320040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PhishWall（SecureBrain）</a:t>
            </a:r>
          </a:p>
        </p:txBody>
      </p:sp>
      <p:sp>
        <p:nvSpPr>
          <p:cNvPr id="9" name="Rectangle 8"/>
          <p:cNvSpPr/>
          <p:nvPr/>
        </p:nvSpPr>
        <p:spPr>
          <a:xfrm>
            <a:off x="3931920" y="1828799"/>
            <a:ext cx="3657600" cy="41148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7AE60"/>
                </a:solidFill>
                <a:latin typeface="Meiryo"/>
              </a:rPr>
              <a:t>SecureBrain Corporation ✅</a:t>
            </a:r>
          </a:p>
        </p:txBody>
      </p:sp>
      <p:sp>
        <p:nvSpPr>
          <p:cNvPr id="10" name="Rectangle 9"/>
          <p:cNvSpPr/>
          <p:nvPr/>
        </p:nvSpPr>
        <p:spPr>
          <a:xfrm>
            <a:off x="7589520" y="1828799"/>
            <a:ext cx="457200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信頼されたCAで署名済み</a:t>
            </a:r>
          </a:p>
        </p:txBody>
      </p:sp>
      <p:sp>
        <p:nvSpPr>
          <p:cNvPr id="11" name="Rectangle 10"/>
          <p:cNvSpPr/>
          <p:nvPr/>
        </p:nvSpPr>
        <p:spPr>
          <a:xfrm>
            <a:off x="731520" y="2240279"/>
            <a:ext cx="32004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この攻撃のsetup.msi</a:t>
            </a:r>
          </a:p>
        </p:txBody>
      </p:sp>
      <p:sp>
        <p:nvSpPr>
          <p:cNvPr id="12" name="Rectangle 11"/>
          <p:cNvSpPr/>
          <p:nvPr/>
        </p:nvSpPr>
        <p:spPr>
          <a:xfrm>
            <a:off x="3931920" y="2240279"/>
            <a:ext cx="3657600" cy="41148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C0392B"/>
                </a:solidFill>
                <a:latin typeface="Meiryo"/>
              </a:rPr>
              <a:t>不明 ❌</a:t>
            </a:r>
          </a:p>
        </p:txBody>
      </p:sp>
      <p:sp>
        <p:nvSpPr>
          <p:cNvPr id="13" name="Rectangle 12"/>
          <p:cNvSpPr/>
          <p:nvPr/>
        </p:nvSpPr>
        <p:spPr>
          <a:xfrm>
            <a:off x="7589520" y="2240279"/>
            <a:ext cx="45720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署名なし＝誰が作ったか不明</a:t>
            </a:r>
          </a:p>
        </p:txBody>
      </p:sp>
      <p:sp>
        <p:nvSpPr>
          <p:cNvPr id="14" name="Rectangle 13"/>
          <p:cNvSpPr/>
          <p:nvPr/>
        </p:nvSpPr>
        <p:spPr>
          <a:xfrm>
            <a:off x="731520" y="2743200"/>
            <a:ext cx="1362456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なぜ「極めつけ」か — 他の破綻ポイントとの比較</a:t>
            </a:r>
          </a:p>
        </p:txBody>
      </p:sp>
      <p:sp>
        <p:nvSpPr>
          <p:cNvPr id="15" name="Rectangle 14"/>
          <p:cNvSpPr/>
          <p:nvPr/>
        </p:nvSpPr>
        <p:spPr>
          <a:xfrm>
            <a:off x="731520" y="3108960"/>
            <a:ext cx="2743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③ メアドを聞く</a:t>
            </a:r>
          </a:p>
        </p:txBody>
      </p:sp>
      <p:sp>
        <p:nvSpPr>
          <p:cNvPr id="16" name="Rectangle 15"/>
          <p:cNvSpPr/>
          <p:nvPr/>
        </p:nvSpPr>
        <p:spPr>
          <a:xfrm>
            <a:off x="3474720" y="3108960"/>
            <a:ext cx="77724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BizSTATIONの契約プロセスを知っている必要</a:t>
            </a:r>
          </a:p>
        </p:txBody>
      </p:sp>
      <p:sp>
        <p:nvSpPr>
          <p:cNvPr id="17" name="Rectangle 16"/>
          <p:cNvSpPr/>
          <p:nvPr/>
        </p:nvSpPr>
        <p:spPr>
          <a:xfrm>
            <a:off x="11247120" y="3108960"/>
            <a:ext cx="310896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0">
                <a:solidFill>
                  <a:srgbClr val="222222"/>
                </a:solidFill>
                <a:latin typeface="Meiryo"/>
              </a:rPr>
              <a:t>知識が必要</a:t>
            </a:r>
          </a:p>
        </p:txBody>
      </p:sp>
      <p:sp>
        <p:nvSpPr>
          <p:cNvPr id="18" name="Rectangle 17"/>
          <p:cNvSpPr/>
          <p:nvPr/>
        </p:nvSpPr>
        <p:spPr>
          <a:xfrm>
            <a:off x="731520" y="3493008"/>
            <a:ext cx="27432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④ 迷惑フォルダを見て</a:t>
            </a:r>
          </a:p>
        </p:txBody>
      </p:sp>
      <p:sp>
        <p:nvSpPr>
          <p:cNvPr id="19" name="Rectangle 18"/>
          <p:cNvSpPr/>
          <p:nvPr/>
        </p:nvSpPr>
        <p:spPr>
          <a:xfrm>
            <a:off x="3474720" y="3493008"/>
            <a:ext cx="77724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メール認証の仕組みを知っている必要</a:t>
            </a:r>
          </a:p>
        </p:txBody>
      </p:sp>
      <p:sp>
        <p:nvSpPr>
          <p:cNvPr id="20" name="Rectangle 19"/>
          <p:cNvSpPr/>
          <p:nvPr/>
        </p:nvSpPr>
        <p:spPr>
          <a:xfrm>
            <a:off x="11247120" y="3493008"/>
            <a:ext cx="3108960" cy="384048"/>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0">
                <a:solidFill>
                  <a:srgbClr val="222222"/>
                </a:solidFill>
                <a:latin typeface="Meiryo"/>
              </a:rPr>
              <a:t>知識が必要</a:t>
            </a:r>
          </a:p>
        </p:txBody>
      </p:sp>
      <p:sp>
        <p:nvSpPr>
          <p:cNvPr id="21" name="Rectangle 20"/>
          <p:cNvSpPr/>
          <p:nvPr/>
        </p:nvSpPr>
        <p:spPr>
          <a:xfrm>
            <a:off x="731520" y="3877056"/>
            <a:ext cx="2743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⑤ メールにURLリンク</a:t>
            </a:r>
          </a:p>
        </p:txBody>
      </p:sp>
      <p:sp>
        <p:nvSpPr>
          <p:cNvPr id="22" name="Rectangle 21"/>
          <p:cNvSpPr/>
          <p:nvPr/>
        </p:nvSpPr>
        <p:spPr>
          <a:xfrm>
            <a:off x="3474720" y="3877056"/>
            <a:ext cx="77724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金融庁の方針を知っている必要</a:t>
            </a:r>
          </a:p>
        </p:txBody>
      </p:sp>
      <p:sp>
        <p:nvSpPr>
          <p:cNvPr id="23" name="Rectangle 22"/>
          <p:cNvSpPr/>
          <p:nvPr/>
        </p:nvSpPr>
        <p:spPr>
          <a:xfrm>
            <a:off x="11247120" y="3877056"/>
            <a:ext cx="310896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0">
                <a:solidFill>
                  <a:srgbClr val="222222"/>
                </a:solidFill>
                <a:latin typeface="Meiryo"/>
              </a:rPr>
              <a:t>知識が必要</a:t>
            </a:r>
          </a:p>
        </p:txBody>
      </p:sp>
      <p:sp>
        <p:nvSpPr>
          <p:cNvPr id="24" name="Rectangle 23"/>
          <p:cNvSpPr/>
          <p:nvPr/>
        </p:nvSpPr>
        <p:spPr>
          <a:xfrm>
            <a:off x="731520" y="4261104"/>
            <a:ext cx="27432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⑥ 「不明な発行元」</a:t>
            </a:r>
          </a:p>
        </p:txBody>
      </p:sp>
      <p:sp>
        <p:nvSpPr>
          <p:cNvPr id="25" name="Rectangle 24"/>
          <p:cNvSpPr/>
          <p:nvPr/>
        </p:nvSpPr>
        <p:spPr>
          <a:xfrm>
            <a:off x="3474720" y="4261104"/>
            <a:ext cx="77724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画面に書いてある。知識不要。誰でも読める。</a:t>
            </a:r>
          </a:p>
        </p:txBody>
      </p:sp>
      <p:sp>
        <p:nvSpPr>
          <p:cNvPr id="26" name="Rectangle 25"/>
          <p:cNvSpPr/>
          <p:nvPr/>
        </p:nvSpPr>
        <p:spPr>
          <a:xfrm>
            <a:off x="11247120" y="4261104"/>
            <a:ext cx="310896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知識不要 ★</a:t>
            </a:r>
          </a:p>
        </p:txBody>
      </p:sp>
      <p:sp>
        <p:nvSpPr>
          <p:cNvPr id="27" name="Rectangle 26"/>
          <p:cNvSpPr/>
          <p:nvPr/>
        </p:nvSpPr>
        <p:spPr>
          <a:xfrm>
            <a:off x="731520" y="4754880"/>
            <a:ext cx="1362456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しかし犯人がレベルアップすれば「不明な発行元」は消せる</a:t>
            </a:r>
          </a:p>
        </p:txBody>
      </p:sp>
      <p:sp>
        <p:nvSpPr>
          <p:cNvPr id="28" name="Rectangle 27"/>
          <p:cNvSpPr/>
          <p:nvPr/>
        </p:nvSpPr>
        <p:spPr>
          <a:xfrm>
            <a:off x="731520" y="5120640"/>
            <a:ext cx="32004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証明書なし（現状）</a:t>
            </a:r>
          </a:p>
        </p:txBody>
      </p:sp>
      <p:sp>
        <p:nvSpPr>
          <p:cNvPr id="29" name="Rectangle 28"/>
          <p:cNvSpPr/>
          <p:nvPr/>
        </p:nvSpPr>
        <p:spPr>
          <a:xfrm>
            <a:off x="3931920" y="5120640"/>
            <a:ext cx="50292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「不明な発行元」</a:t>
            </a:r>
          </a:p>
        </p:txBody>
      </p:sp>
      <p:sp>
        <p:nvSpPr>
          <p:cNvPr id="30" name="Rectangle 29"/>
          <p:cNvSpPr/>
          <p:nvPr/>
        </p:nvSpPr>
        <p:spPr>
          <a:xfrm>
            <a:off x="8961120" y="5120640"/>
            <a:ext cx="182880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簡単</a:t>
            </a:r>
          </a:p>
        </p:txBody>
      </p:sp>
      <p:sp>
        <p:nvSpPr>
          <p:cNvPr id="31" name="Rectangle 30"/>
          <p:cNvSpPr/>
          <p:nvPr/>
        </p:nvSpPr>
        <p:spPr>
          <a:xfrm>
            <a:off x="731520" y="5486400"/>
            <a:ext cx="32004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自己署名証明書</a:t>
            </a:r>
          </a:p>
        </p:txBody>
      </p:sp>
      <p:sp>
        <p:nvSpPr>
          <p:cNvPr id="32" name="Rectangle 31"/>
          <p:cNvSpPr/>
          <p:nvPr/>
        </p:nvSpPr>
        <p:spPr>
          <a:xfrm>
            <a:off x="3931920" y="5486400"/>
            <a:ext cx="50292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「不明な発行元」のまま</a:t>
            </a:r>
          </a:p>
        </p:txBody>
      </p:sp>
      <p:sp>
        <p:nvSpPr>
          <p:cNvPr id="33" name="Rectangle 32"/>
          <p:cNvSpPr/>
          <p:nvPr/>
        </p:nvSpPr>
        <p:spPr>
          <a:xfrm>
            <a:off x="8961120" y="5486400"/>
            <a:ext cx="182880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簡単</a:t>
            </a:r>
          </a:p>
        </p:txBody>
      </p:sp>
      <p:sp>
        <p:nvSpPr>
          <p:cNvPr id="34" name="Rectangle 33"/>
          <p:cNvSpPr/>
          <p:nvPr/>
        </p:nvSpPr>
        <p:spPr>
          <a:xfrm>
            <a:off x="731520" y="5852160"/>
            <a:ext cx="32004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偽会社名でCA購入</a:t>
            </a:r>
          </a:p>
        </p:txBody>
      </p:sp>
      <p:sp>
        <p:nvSpPr>
          <p:cNvPr id="35" name="Rectangle 34"/>
          <p:cNvSpPr/>
          <p:nvPr/>
        </p:nvSpPr>
        <p:spPr>
          <a:xfrm>
            <a:off x="3931920" y="5852160"/>
            <a:ext cx="50292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「MUFGセキュリティ(株)」等が表示</a:t>
            </a:r>
          </a:p>
        </p:txBody>
      </p:sp>
      <p:sp>
        <p:nvSpPr>
          <p:cNvPr id="36" name="Rectangle 35"/>
          <p:cNvSpPr/>
          <p:nvPr/>
        </p:nvSpPr>
        <p:spPr>
          <a:xfrm>
            <a:off x="8961120" y="5852160"/>
            <a:ext cx="182880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中程度</a:t>
            </a:r>
          </a:p>
        </p:txBody>
      </p:sp>
      <p:sp>
        <p:nvSpPr>
          <p:cNvPr id="37" name="Rectangle 36"/>
          <p:cNvSpPr/>
          <p:nvPr/>
        </p:nvSpPr>
        <p:spPr>
          <a:xfrm>
            <a:off x="731520" y="6217920"/>
            <a:ext cx="32004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正規企業の証明書窃取</a:t>
            </a:r>
          </a:p>
        </p:txBody>
      </p:sp>
      <p:sp>
        <p:nvSpPr>
          <p:cNvPr id="38" name="Rectangle 37"/>
          <p:cNvSpPr/>
          <p:nvPr/>
        </p:nvSpPr>
        <p:spPr>
          <a:xfrm>
            <a:off x="3931920" y="6217920"/>
            <a:ext cx="50292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実在企業名が表示</a:t>
            </a:r>
          </a:p>
        </p:txBody>
      </p:sp>
      <p:sp>
        <p:nvSpPr>
          <p:cNvPr id="39" name="Rectangle 38"/>
          <p:cNvSpPr/>
          <p:nvPr/>
        </p:nvSpPr>
        <p:spPr>
          <a:xfrm>
            <a:off x="8961120" y="6217920"/>
            <a:ext cx="182880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高難度</a:t>
            </a:r>
          </a:p>
        </p:txBody>
      </p:sp>
      <p:sp>
        <p:nvSpPr>
          <p:cNvPr id="40" name="Rectangle 39"/>
          <p:cNvSpPr/>
          <p:nvPr/>
        </p:nvSpPr>
        <p:spPr>
          <a:xfrm>
            <a:off x="731520" y="6583680"/>
            <a:ext cx="32004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EV証明書を偽造取得</a:t>
            </a:r>
          </a:p>
        </p:txBody>
      </p:sp>
      <p:sp>
        <p:nvSpPr>
          <p:cNvPr id="41" name="Rectangle 40"/>
          <p:cNvSpPr/>
          <p:nvPr/>
        </p:nvSpPr>
        <p:spPr>
          <a:xfrm>
            <a:off x="3931920" y="6583680"/>
            <a:ext cx="50292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SmartScreen警告も消える</a:t>
            </a:r>
          </a:p>
        </p:txBody>
      </p:sp>
      <p:sp>
        <p:nvSpPr>
          <p:cNvPr id="42" name="Rectangle 41"/>
          <p:cNvSpPr/>
          <p:nvPr/>
        </p:nvSpPr>
        <p:spPr>
          <a:xfrm>
            <a:off x="8961120" y="6583680"/>
            <a:ext cx="182880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高難度</a:t>
            </a:r>
          </a:p>
        </p:txBody>
      </p:sp>
      <p:sp>
        <p:nvSpPr>
          <p:cNvPr id="43" name="Rectangle 42"/>
          <p:cNvSpPr/>
          <p:nvPr/>
        </p:nvSpPr>
        <p:spPr>
          <a:xfrm>
            <a:off x="731520" y="704088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確実な対策：ホワイトリスト型アプリ制御</a:t>
            </a:r>
          </a:p>
        </p:txBody>
      </p:sp>
      <p:sp>
        <p:nvSpPr>
          <p:cNvPr id="44" name="Rectangle 43"/>
          <p:cNvSpPr/>
          <p:nvPr/>
        </p:nvSpPr>
        <p:spPr>
          <a:xfrm>
            <a:off x="731520" y="7406640"/>
            <a:ext cx="41148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対策</a:t>
            </a:r>
          </a:p>
        </p:txBody>
      </p:sp>
      <p:sp>
        <p:nvSpPr>
          <p:cNvPr id="45" name="Rectangle 44"/>
          <p:cNvSpPr/>
          <p:nvPr/>
        </p:nvSpPr>
        <p:spPr>
          <a:xfrm>
            <a:off x="4846320" y="7406640"/>
            <a:ext cx="30175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未署名</a:t>
            </a:r>
          </a:p>
        </p:txBody>
      </p:sp>
      <p:sp>
        <p:nvSpPr>
          <p:cNvPr id="46" name="Rectangle 45"/>
          <p:cNvSpPr/>
          <p:nvPr/>
        </p:nvSpPr>
        <p:spPr>
          <a:xfrm>
            <a:off x="7863840" y="7406640"/>
            <a:ext cx="30175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偽証明書</a:t>
            </a:r>
          </a:p>
        </p:txBody>
      </p:sp>
      <p:sp>
        <p:nvSpPr>
          <p:cNvPr id="47" name="Rectangle 46"/>
          <p:cNvSpPr/>
          <p:nvPr/>
        </p:nvSpPr>
        <p:spPr>
          <a:xfrm>
            <a:off x="10881359" y="7406640"/>
            <a:ext cx="34747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窃取証明書</a:t>
            </a:r>
          </a:p>
        </p:txBody>
      </p:sp>
      <p:sp>
        <p:nvSpPr>
          <p:cNvPr id="48" name="Rectangle 47"/>
          <p:cNvSpPr/>
          <p:nvPr/>
        </p:nvSpPr>
        <p:spPr>
          <a:xfrm>
            <a:off x="731520" y="7772400"/>
            <a:ext cx="41148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「不明な発行元」に注意</a:t>
            </a:r>
          </a:p>
        </p:txBody>
      </p:sp>
      <p:sp>
        <p:nvSpPr>
          <p:cNvPr id="49" name="Rectangle 48"/>
          <p:cNvSpPr/>
          <p:nvPr/>
        </p:nvSpPr>
        <p:spPr>
          <a:xfrm>
            <a:off x="4846320" y="7772400"/>
            <a:ext cx="301752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気づける</a:t>
            </a:r>
          </a:p>
        </p:txBody>
      </p:sp>
      <p:sp>
        <p:nvSpPr>
          <p:cNvPr id="50" name="Rectangle 49"/>
          <p:cNvSpPr/>
          <p:nvPr/>
        </p:nvSpPr>
        <p:spPr>
          <a:xfrm>
            <a:off x="7863840" y="7772400"/>
            <a:ext cx="301752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突破される</a:t>
            </a:r>
          </a:p>
        </p:txBody>
      </p:sp>
      <p:sp>
        <p:nvSpPr>
          <p:cNvPr id="51" name="Rectangle 50"/>
          <p:cNvSpPr/>
          <p:nvPr/>
        </p:nvSpPr>
        <p:spPr>
          <a:xfrm>
            <a:off x="10881359" y="7772400"/>
            <a:ext cx="3474720" cy="36576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突破される</a:t>
            </a:r>
          </a:p>
        </p:txBody>
      </p:sp>
      <p:sp>
        <p:nvSpPr>
          <p:cNvPr id="52" name="Rectangle 51"/>
          <p:cNvSpPr/>
          <p:nvPr/>
        </p:nvSpPr>
        <p:spPr>
          <a:xfrm>
            <a:off x="731520" y="8138160"/>
            <a:ext cx="41148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AppLocker / WDAC ★</a:t>
            </a:r>
          </a:p>
        </p:txBody>
      </p:sp>
      <p:sp>
        <p:nvSpPr>
          <p:cNvPr id="53" name="Rectangle 52"/>
          <p:cNvSpPr/>
          <p:nvPr/>
        </p:nvSpPr>
        <p:spPr>
          <a:xfrm>
            <a:off x="4846320" y="813816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止まる</a:t>
            </a:r>
          </a:p>
        </p:txBody>
      </p:sp>
      <p:sp>
        <p:nvSpPr>
          <p:cNvPr id="54" name="Rectangle 53"/>
          <p:cNvSpPr/>
          <p:nvPr/>
        </p:nvSpPr>
        <p:spPr>
          <a:xfrm>
            <a:off x="7863840" y="8138160"/>
            <a:ext cx="30175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止まる</a:t>
            </a:r>
          </a:p>
        </p:txBody>
      </p:sp>
      <p:sp>
        <p:nvSpPr>
          <p:cNvPr id="55" name="Rectangle 54"/>
          <p:cNvSpPr/>
          <p:nvPr/>
        </p:nvSpPr>
        <p:spPr>
          <a:xfrm>
            <a:off x="10881359" y="8138160"/>
            <a:ext cx="3474720" cy="36576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27AE60"/>
                </a:solidFill>
                <a:latin typeface="Meiryo"/>
              </a:rPr>
              <a:t>止まる</a:t>
            </a:r>
          </a:p>
        </p:txBody>
      </p:sp>
      <p:sp>
        <p:nvSpPr>
          <p:cNvPr id="56" name="Rectangle 55"/>
          <p:cNvSpPr/>
          <p:nvPr/>
        </p:nvSpPr>
        <p:spPr>
          <a:xfrm>
            <a:off x="731520" y="8641080"/>
            <a:ext cx="1362456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証明書ベースの防御は犯人のレベル次第で突破される。ホワイトリスト型アプリ制御（AppLocker/WDAC）が唯一の確実な対策。</a:t>
            </a:r>
          </a:p>
        </p:txBody>
      </p:sp>
      <p:sp>
        <p:nvSpPr>
          <p:cNvPr id="57" name="TextBox 56"/>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手順⑥「不明な発行元」とアプリ制御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000" b="1">
                <a:solidFill>
                  <a:srgbClr val="27AE60"/>
                </a:solidFill>
                <a:latin typeface="Meiryo"/>
              </a:rPr>
              <a:t>ホワイトリスト型アプリ制御 — Windowsに標準搭載、追加コストゼロ</a:t>
            </a:r>
          </a:p>
        </p:txBody>
      </p:sp>
      <p:sp>
        <p:nvSpPr>
          <p:cNvPr id="3" name="TextBox 2"/>
          <p:cNvSpPr txBox="1"/>
          <p:nvPr/>
        </p:nvSpPr>
        <p:spPr>
          <a:xfrm>
            <a:off x="0" y="640080"/>
            <a:ext cx="15124176" cy="365760"/>
          </a:xfrm>
          <a:prstGeom prst="rect">
            <a:avLst/>
          </a:prstGeom>
          <a:noFill/>
        </p:spPr>
        <p:txBody>
          <a:bodyPr wrap="square" lIns="50800" rIns="50800" tIns="38100" bIns="38100"/>
          <a:lstStyle/>
          <a:p>
            <a:pPr algn="ctr"/>
            <a:r>
              <a:rPr sz="1100" b="0">
                <a:solidFill>
                  <a:srgbClr val="888888"/>
                </a:solidFill>
                <a:latin typeface="Meiryo"/>
              </a:rPr>
              <a:t>DMARCと同じ構図：使えるのに使っていない。設定するだけで手順⑥を確実に止められる。</a:t>
            </a:r>
          </a:p>
        </p:txBody>
      </p:sp>
      <p:sp>
        <p:nvSpPr>
          <p:cNvPr id="4" name="Rectangle 3"/>
          <p:cNvSpPr/>
          <p:nvPr/>
        </p:nvSpPr>
        <p:spPr>
          <a:xfrm>
            <a:off x="731520" y="1051560"/>
            <a:ext cx="658368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ブラックリスト型（従来のアンチウイルス）</a:t>
            </a:r>
          </a:p>
        </p:txBody>
      </p:sp>
      <p:sp>
        <p:nvSpPr>
          <p:cNvPr id="5" name="Rectangle 4"/>
          <p:cNvSpPr/>
          <p:nvPr/>
        </p:nvSpPr>
        <p:spPr>
          <a:xfrm>
            <a:off x="731520" y="1463039"/>
            <a:ext cx="6583680" cy="73152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「既知の悪いもの」をブロック
→ 未知の攻撃は素通り
→ ScreenConnectは正規ツール → ブロックされない</a:t>
            </a:r>
          </a:p>
        </p:txBody>
      </p:sp>
      <p:sp>
        <p:nvSpPr>
          <p:cNvPr id="6" name="Rectangle 5"/>
          <p:cNvSpPr/>
          <p:nvPr/>
        </p:nvSpPr>
        <p:spPr>
          <a:xfrm>
            <a:off x="7772400" y="1051560"/>
            <a:ext cx="640080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ホワイトリスト型（AppLocker / WDAC）</a:t>
            </a:r>
          </a:p>
        </p:txBody>
      </p:sp>
      <p:sp>
        <p:nvSpPr>
          <p:cNvPr id="7" name="Rectangle 6"/>
          <p:cNvSpPr/>
          <p:nvPr/>
        </p:nvSpPr>
        <p:spPr>
          <a:xfrm>
            <a:off x="7772400" y="1463039"/>
            <a:ext cx="6400800" cy="73152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「許可されたものだけ」実行可能
→ 許可リストにないものは全部止まる
→ ScreenConnectが許可リストにない → 実行できない</a:t>
            </a:r>
          </a:p>
        </p:txBody>
      </p:sp>
      <p:sp>
        <p:nvSpPr>
          <p:cNvPr id="8" name="Rectangle 7"/>
          <p:cNvSpPr/>
          <p:nvPr/>
        </p:nvSpPr>
        <p:spPr>
          <a:xfrm>
            <a:off x="731520" y="242316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Windowsに標準搭載されているツール</a:t>
            </a:r>
          </a:p>
        </p:txBody>
      </p:sp>
      <p:sp>
        <p:nvSpPr>
          <p:cNvPr id="9" name="Rectangle 8"/>
          <p:cNvSpPr/>
          <p:nvPr/>
        </p:nvSpPr>
        <p:spPr>
          <a:xfrm>
            <a:off x="731520" y="2788920"/>
            <a:ext cx="18288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ツール</a:t>
            </a:r>
          </a:p>
        </p:txBody>
      </p:sp>
      <p:sp>
        <p:nvSpPr>
          <p:cNvPr id="10" name="Rectangle 9"/>
          <p:cNvSpPr/>
          <p:nvPr/>
        </p:nvSpPr>
        <p:spPr>
          <a:xfrm>
            <a:off x="2560320" y="2788920"/>
            <a:ext cx="16459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提供元</a:t>
            </a:r>
          </a:p>
        </p:txBody>
      </p:sp>
      <p:sp>
        <p:nvSpPr>
          <p:cNvPr id="11" name="Rectangle 10"/>
          <p:cNvSpPr/>
          <p:nvPr/>
        </p:nvSpPr>
        <p:spPr>
          <a:xfrm>
            <a:off x="4206240" y="2788920"/>
            <a:ext cx="34747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対象OS</a:t>
            </a:r>
          </a:p>
        </p:txBody>
      </p:sp>
      <p:sp>
        <p:nvSpPr>
          <p:cNvPr id="12" name="Rectangle 11"/>
          <p:cNvSpPr/>
          <p:nvPr/>
        </p:nvSpPr>
        <p:spPr>
          <a:xfrm>
            <a:off x="7680959" y="2788920"/>
            <a:ext cx="36576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制御範囲</a:t>
            </a:r>
          </a:p>
        </p:txBody>
      </p:sp>
      <p:sp>
        <p:nvSpPr>
          <p:cNvPr id="13" name="Rectangle 12"/>
          <p:cNvSpPr/>
          <p:nvPr/>
        </p:nvSpPr>
        <p:spPr>
          <a:xfrm>
            <a:off x="11338559" y="2788920"/>
            <a:ext cx="301752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設定方法</a:t>
            </a:r>
          </a:p>
        </p:txBody>
      </p:sp>
      <p:sp>
        <p:nvSpPr>
          <p:cNvPr id="14" name="Rectangle 13"/>
          <p:cNvSpPr/>
          <p:nvPr/>
        </p:nvSpPr>
        <p:spPr>
          <a:xfrm>
            <a:off x="731520" y="3154680"/>
            <a:ext cx="18288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AppLocker</a:t>
            </a:r>
          </a:p>
        </p:txBody>
      </p:sp>
      <p:sp>
        <p:nvSpPr>
          <p:cNvPr id="15" name="Rectangle 14"/>
          <p:cNvSpPr/>
          <p:nvPr/>
        </p:nvSpPr>
        <p:spPr>
          <a:xfrm>
            <a:off x="2560320" y="3154680"/>
            <a:ext cx="164592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Microsoft</a:t>
            </a:r>
          </a:p>
        </p:txBody>
      </p:sp>
      <p:sp>
        <p:nvSpPr>
          <p:cNvPr id="16" name="Rectangle 15"/>
          <p:cNvSpPr/>
          <p:nvPr/>
        </p:nvSpPr>
        <p:spPr>
          <a:xfrm>
            <a:off x="4206240" y="3154680"/>
            <a:ext cx="347472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Windows 10/11 Enterprise / Education</a:t>
            </a:r>
          </a:p>
        </p:txBody>
      </p:sp>
      <p:sp>
        <p:nvSpPr>
          <p:cNvPr id="17" name="Rectangle 16"/>
          <p:cNvSpPr/>
          <p:nvPr/>
        </p:nvSpPr>
        <p:spPr>
          <a:xfrm>
            <a:off x="7680959" y="3154680"/>
            <a:ext cx="36576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exe, msi, スクリプト, DLL</a:t>
            </a:r>
          </a:p>
        </p:txBody>
      </p:sp>
      <p:sp>
        <p:nvSpPr>
          <p:cNvPr id="18" name="Rectangle 17"/>
          <p:cNvSpPr/>
          <p:nvPr/>
        </p:nvSpPr>
        <p:spPr>
          <a:xfrm>
            <a:off x="11338559" y="3154680"/>
            <a:ext cx="301752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グループポリシーで設定</a:t>
            </a:r>
          </a:p>
        </p:txBody>
      </p:sp>
      <p:sp>
        <p:nvSpPr>
          <p:cNvPr id="19" name="Rectangle 18"/>
          <p:cNvSpPr/>
          <p:nvPr/>
        </p:nvSpPr>
        <p:spPr>
          <a:xfrm>
            <a:off x="731520" y="3566160"/>
            <a:ext cx="182880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WDAC</a:t>
            </a:r>
          </a:p>
        </p:txBody>
      </p:sp>
      <p:sp>
        <p:nvSpPr>
          <p:cNvPr id="20" name="Rectangle 19"/>
          <p:cNvSpPr/>
          <p:nvPr/>
        </p:nvSpPr>
        <p:spPr>
          <a:xfrm>
            <a:off x="2560320" y="3566160"/>
            <a:ext cx="164592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Microsoft</a:t>
            </a:r>
          </a:p>
        </p:txBody>
      </p:sp>
      <p:sp>
        <p:nvSpPr>
          <p:cNvPr id="21" name="Rectangle 20"/>
          <p:cNvSpPr/>
          <p:nvPr/>
        </p:nvSpPr>
        <p:spPr>
          <a:xfrm>
            <a:off x="4206240" y="3566160"/>
            <a:ext cx="347472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Windows 10/11 全エディション</a:t>
            </a:r>
          </a:p>
        </p:txBody>
      </p:sp>
      <p:sp>
        <p:nvSpPr>
          <p:cNvPr id="22" name="Rectangle 21"/>
          <p:cNvSpPr/>
          <p:nvPr/>
        </p:nvSpPr>
        <p:spPr>
          <a:xfrm>
            <a:off x="7680959" y="3566160"/>
            <a:ext cx="365760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カーネルレベルで制御（より強力）</a:t>
            </a:r>
          </a:p>
        </p:txBody>
      </p:sp>
      <p:sp>
        <p:nvSpPr>
          <p:cNvPr id="23" name="Rectangle 22"/>
          <p:cNvSpPr/>
          <p:nvPr/>
        </p:nvSpPr>
        <p:spPr>
          <a:xfrm>
            <a:off x="11338559" y="3566160"/>
            <a:ext cx="3017520" cy="41148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PowerShell / Intune等</a:t>
            </a:r>
          </a:p>
        </p:txBody>
      </p:sp>
      <p:sp>
        <p:nvSpPr>
          <p:cNvPr id="24" name="Rectangle 23"/>
          <p:cNvSpPr/>
          <p:nvPr/>
        </p:nvSpPr>
        <p:spPr>
          <a:xfrm>
            <a:off x="731520" y="3977640"/>
            <a:ext cx="18288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MDM連携</a:t>
            </a:r>
          </a:p>
        </p:txBody>
      </p:sp>
      <p:sp>
        <p:nvSpPr>
          <p:cNvPr id="25" name="Rectangle 24"/>
          <p:cNvSpPr/>
          <p:nvPr/>
        </p:nvSpPr>
        <p:spPr>
          <a:xfrm>
            <a:off x="2560320" y="3977640"/>
            <a:ext cx="164592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Intune等</a:t>
            </a:r>
          </a:p>
        </p:txBody>
      </p:sp>
      <p:sp>
        <p:nvSpPr>
          <p:cNvPr id="26" name="Rectangle 25"/>
          <p:cNvSpPr/>
          <p:nvPr/>
        </p:nvSpPr>
        <p:spPr>
          <a:xfrm>
            <a:off x="4206240" y="3977640"/>
            <a:ext cx="347472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全エディション（Intune契約時）</a:t>
            </a:r>
          </a:p>
        </p:txBody>
      </p:sp>
      <p:sp>
        <p:nvSpPr>
          <p:cNvPr id="27" name="Rectangle 26"/>
          <p:cNvSpPr/>
          <p:nvPr/>
        </p:nvSpPr>
        <p:spPr>
          <a:xfrm>
            <a:off x="7680959" y="3977640"/>
            <a:ext cx="36576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アプリ配布・制御を一元管理</a:t>
            </a:r>
          </a:p>
        </p:txBody>
      </p:sp>
      <p:sp>
        <p:nvSpPr>
          <p:cNvPr id="28" name="Rectangle 27"/>
          <p:cNvSpPr/>
          <p:nvPr/>
        </p:nvSpPr>
        <p:spPr>
          <a:xfrm>
            <a:off x="11338559" y="3977640"/>
            <a:ext cx="301752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クラウドから配信</a:t>
            </a:r>
          </a:p>
        </p:txBody>
      </p:sp>
      <p:sp>
        <p:nvSpPr>
          <p:cNvPr id="29" name="Rectangle 28"/>
          <p:cNvSpPr/>
          <p:nvPr/>
        </p:nvSpPr>
        <p:spPr>
          <a:xfrm>
            <a:off x="731520" y="4480560"/>
            <a:ext cx="1362456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この攻撃に対する効果</a:t>
            </a:r>
          </a:p>
        </p:txBody>
      </p:sp>
      <p:sp>
        <p:nvSpPr>
          <p:cNvPr id="30" name="Rectangle 29"/>
          <p:cNvSpPr/>
          <p:nvPr/>
        </p:nvSpPr>
        <p:spPr>
          <a:xfrm>
            <a:off x="731520" y="4937760"/>
            <a:ext cx="6583680" cy="3200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AppLocker許可リスト（設定例）</a:t>
            </a:r>
          </a:p>
        </p:txBody>
      </p:sp>
      <p:sp>
        <p:nvSpPr>
          <p:cNvPr id="31" name="Rectangle 30"/>
          <p:cNvSpPr/>
          <p:nvPr/>
        </p:nvSpPr>
        <p:spPr>
          <a:xfrm>
            <a:off x="731520" y="5257800"/>
            <a:ext cx="6583680" cy="27432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7AE60"/>
                </a:solidFill>
                <a:latin typeface="Meiryo"/>
              </a:rPr>
              <a:t>✅ Microsoft Office</a:t>
            </a:r>
          </a:p>
        </p:txBody>
      </p:sp>
      <p:sp>
        <p:nvSpPr>
          <p:cNvPr id="32" name="Rectangle 31"/>
          <p:cNvSpPr/>
          <p:nvPr/>
        </p:nvSpPr>
        <p:spPr>
          <a:xfrm>
            <a:off x="731520" y="5532120"/>
            <a:ext cx="6583680" cy="27432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7AE60"/>
                </a:solidFill>
                <a:latin typeface="Meiryo"/>
              </a:rPr>
              <a:t>✅ 業務アプリA, B, C</a:t>
            </a:r>
          </a:p>
        </p:txBody>
      </p:sp>
      <p:sp>
        <p:nvSpPr>
          <p:cNvPr id="33" name="Rectangle 32"/>
          <p:cNvSpPr/>
          <p:nvPr/>
        </p:nvSpPr>
        <p:spPr>
          <a:xfrm>
            <a:off x="731520" y="5806440"/>
            <a:ext cx="6583680" cy="27432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7AE60"/>
                </a:solidFill>
                <a:latin typeface="Meiryo"/>
              </a:rPr>
              <a:t>✅ Rapport（IBM署名）</a:t>
            </a:r>
          </a:p>
        </p:txBody>
      </p:sp>
      <p:sp>
        <p:nvSpPr>
          <p:cNvPr id="34" name="Rectangle 33"/>
          <p:cNvSpPr/>
          <p:nvPr/>
        </p:nvSpPr>
        <p:spPr>
          <a:xfrm>
            <a:off x="731520" y="6080760"/>
            <a:ext cx="6583680" cy="27432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C0392B"/>
                </a:solidFill>
                <a:latin typeface="Meiryo"/>
              </a:rPr>
              <a:t>❌ それ以外すべて → 実行拒否</a:t>
            </a:r>
          </a:p>
        </p:txBody>
      </p:sp>
      <p:sp>
        <p:nvSpPr>
          <p:cNvPr id="35" name="Rectangle 34"/>
          <p:cNvSpPr/>
          <p:nvPr/>
        </p:nvSpPr>
        <p:spPr>
          <a:xfrm>
            <a:off x="7772400" y="4937760"/>
            <a:ext cx="640080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攻撃時の流れ</a:t>
            </a:r>
          </a:p>
        </p:txBody>
      </p:sp>
      <p:sp>
        <p:nvSpPr>
          <p:cNvPr id="36" name="Rectangle 35"/>
          <p:cNvSpPr/>
          <p:nvPr/>
        </p:nvSpPr>
        <p:spPr>
          <a:xfrm>
            <a:off x="7772400" y="5257800"/>
            <a:ext cx="6400800" cy="320040"/>
          </a:xfrm>
          <a:prstGeom prst="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犯人「実行するをクリックしてください」</a:t>
            </a:r>
          </a:p>
        </p:txBody>
      </p:sp>
      <p:sp>
        <p:nvSpPr>
          <p:cNvPr id="37" name="Rectangle 36"/>
          <p:cNvSpPr/>
          <p:nvPr/>
        </p:nvSpPr>
        <p:spPr>
          <a:xfrm>
            <a:off x="7772400" y="5605272"/>
            <a:ext cx="6400800" cy="320040"/>
          </a:xfrm>
          <a:prstGeom prst="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被害者がクリック</a:t>
            </a:r>
          </a:p>
        </p:txBody>
      </p:sp>
      <p:sp>
        <p:nvSpPr>
          <p:cNvPr id="38" name="Rectangle 37"/>
          <p:cNvSpPr/>
          <p:nvPr/>
        </p:nvSpPr>
        <p:spPr>
          <a:xfrm>
            <a:off x="7772400" y="5952744"/>
            <a:ext cx="6400800" cy="320040"/>
          </a:xfrm>
          <a:prstGeom prst="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FFFFFF"/>
                </a:solidFill>
                <a:latin typeface="Meiryo"/>
              </a:rPr>
              <a:t>OS「このアプリは組織のポリシーにより実行できません」</a:t>
            </a:r>
          </a:p>
        </p:txBody>
      </p:sp>
      <p:sp>
        <p:nvSpPr>
          <p:cNvPr id="39" name="Rectangle 38"/>
          <p:cNvSpPr/>
          <p:nvPr/>
        </p:nvSpPr>
        <p:spPr>
          <a:xfrm>
            <a:off x="7772400" y="6300216"/>
            <a:ext cx="6400800" cy="320040"/>
          </a:xfrm>
          <a:prstGeom prst="rect">
            <a:avLst/>
          </a:prstGeom>
          <a:solidFill>
            <a:srgbClr val="222222"/>
          </a:solidFill>
          <a:ln w="254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FFFFFF"/>
                </a:solidFill>
                <a:latin typeface="Meiryo"/>
              </a:rPr>
              <a:t>犯人が何を言っても突破不可能 ★</a:t>
            </a:r>
          </a:p>
        </p:txBody>
      </p:sp>
      <p:sp>
        <p:nvSpPr>
          <p:cNvPr id="40" name="Rectangle 39"/>
          <p:cNvSpPr/>
          <p:nvPr/>
        </p:nvSpPr>
        <p:spPr>
          <a:xfrm>
            <a:off x="731520" y="6766560"/>
            <a:ext cx="448056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1" name="TextBox 40"/>
          <p:cNvSpPr txBox="1"/>
          <p:nvPr/>
        </p:nvSpPr>
        <p:spPr>
          <a:xfrm>
            <a:off x="914400" y="6812280"/>
            <a:ext cx="4114800" cy="685800"/>
          </a:xfrm>
          <a:prstGeom prst="rect">
            <a:avLst/>
          </a:prstGeom>
          <a:noFill/>
        </p:spPr>
        <p:txBody>
          <a:bodyPr wrap="square" lIns="50800" rIns="50800" tIns="38100" bIns="38100"/>
          <a:lstStyle/>
          <a:p>
            <a:pPr algn="l"/>
            <a:r>
              <a:rPr sz="1200" b="1">
                <a:solidFill>
                  <a:srgbClr val="FFFFFF"/>
                </a:solidFill>
                <a:latin typeface="Meiryo"/>
              </a:rPr>
              <a:t>追加コスト：ゼロ
追加ソフト：不要
必要な作業：ポリシー設定のみ</a:t>
            </a:r>
          </a:p>
        </p:txBody>
      </p:sp>
      <p:sp>
        <p:nvSpPr>
          <p:cNvPr id="42" name="Rectangle 41"/>
          <p:cNvSpPr/>
          <p:nvPr/>
        </p:nvSpPr>
        <p:spPr>
          <a:xfrm>
            <a:off x="5486400" y="6766560"/>
            <a:ext cx="4572000" cy="7772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3" name="TextBox 42"/>
          <p:cNvSpPr txBox="1"/>
          <p:nvPr/>
        </p:nvSpPr>
        <p:spPr>
          <a:xfrm>
            <a:off x="5669280" y="6812280"/>
            <a:ext cx="4206240" cy="685800"/>
          </a:xfrm>
          <a:prstGeom prst="rect">
            <a:avLst/>
          </a:prstGeom>
          <a:noFill/>
        </p:spPr>
        <p:txBody>
          <a:bodyPr wrap="square" lIns="50800" rIns="50800" tIns="38100" bIns="38100"/>
          <a:lstStyle/>
          <a:p>
            <a:pPr algn="l"/>
            <a:r>
              <a:rPr sz="1200" b="1">
                <a:solidFill>
                  <a:srgbClr val="FFFFFF"/>
                </a:solidFill>
                <a:latin typeface="Meiryo"/>
              </a:rPr>
              <a:t>電話で回避できない
管理者権限がないと
ポリシー変更できない</a:t>
            </a:r>
          </a:p>
        </p:txBody>
      </p:sp>
      <p:sp>
        <p:nvSpPr>
          <p:cNvPr id="44" name="Rectangle 43"/>
          <p:cNvSpPr/>
          <p:nvPr/>
        </p:nvSpPr>
        <p:spPr>
          <a:xfrm>
            <a:off x="10332720" y="6766560"/>
            <a:ext cx="4023360" cy="7772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5" name="TextBox 44"/>
          <p:cNvSpPr txBox="1"/>
          <p:nvPr/>
        </p:nvSpPr>
        <p:spPr>
          <a:xfrm>
            <a:off x="10515600" y="6812280"/>
            <a:ext cx="3657600" cy="685800"/>
          </a:xfrm>
          <a:prstGeom prst="rect">
            <a:avLst/>
          </a:prstGeom>
          <a:noFill/>
        </p:spPr>
        <p:txBody>
          <a:bodyPr wrap="square" lIns="50800" rIns="50800" tIns="38100" bIns="38100"/>
          <a:lstStyle/>
          <a:p>
            <a:pPr algn="l"/>
            <a:r>
              <a:rPr sz="1200" b="1">
                <a:solidFill>
                  <a:srgbClr val="FFFFFF"/>
                </a:solidFill>
                <a:latin typeface="Meiryo"/>
              </a:rPr>
              <a:t>DMARCと並ぶ
2つ目の確実な
技術的対策</a:t>
            </a:r>
          </a:p>
        </p:txBody>
      </p:sp>
      <p:sp>
        <p:nvSpPr>
          <p:cNvPr id="46" name="Rectangle 45"/>
          <p:cNvSpPr/>
          <p:nvPr/>
        </p:nvSpPr>
        <p:spPr>
          <a:xfrm>
            <a:off x="731520" y="7772400"/>
            <a:ext cx="1362456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Kill Chainを技術的に切れるポイント：④ DMARC p=reject（メール遮断）＋ ⑥ AppLocker/WDAC（実行阻止）— どちらも標準搭載・追加コストゼロ</a:t>
            </a:r>
          </a:p>
        </p:txBody>
      </p:sp>
      <p:sp>
        <p:nvSpPr>
          <p:cNvPr id="47" name="TextBox 46"/>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ホワイトリスト型アプリ制御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200" b="1">
                <a:solidFill>
                  <a:srgbClr val="C0392B"/>
                </a:solidFill>
                <a:latin typeface="Meiryo"/>
              </a:rPr>
              <a:t>「顧客の問題」にしている限り、この攻撃は止まらない</a:t>
            </a:r>
          </a:p>
        </p:txBody>
      </p:sp>
      <p:sp>
        <p:nvSpPr>
          <p:cNvPr id="3" name="TextBox 2"/>
          <p:cNvSpPr txBox="1"/>
          <p:nvPr/>
        </p:nvSpPr>
        <p:spPr>
          <a:xfrm>
            <a:off x="0" y="640080"/>
            <a:ext cx="15124176" cy="365760"/>
          </a:xfrm>
          <a:prstGeom prst="rect">
            <a:avLst/>
          </a:prstGeom>
          <a:noFill/>
        </p:spPr>
        <p:txBody>
          <a:bodyPr wrap="square" lIns="50800" rIns="50800" tIns="38100" bIns="38100"/>
          <a:lstStyle/>
          <a:p>
            <a:pPr algn="ctr"/>
            <a:r>
              <a:rPr sz="1100" b="0">
                <a:solidFill>
                  <a:srgbClr val="888888"/>
                </a:solidFill>
                <a:latin typeface="Meiryo"/>
              </a:rPr>
              <a:t>全ての対策が「顧客にやってね」で丸投げされている。DMARCも AppLockerも同じ構図。</a:t>
            </a:r>
          </a:p>
        </p:txBody>
      </p:sp>
      <p:sp>
        <p:nvSpPr>
          <p:cNvPr id="4" name="Rectangle 3"/>
          <p:cNvSpPr/>
          <p:nvPr/>
        </p:nvSpPr>
        <p:spPr>
          <a:xfrm>
            <a:off x="731520" y="1051560"/>
            <a:ext cx="13624560" cy="4114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Meiryo"/>
              </a:rPr>
              <a:t>対策の責任はどこにあるか？</a:t>
            </a:r>
          </a:p>
        </p:txBody>
      </p:sp>
      <p:sp>
        <p:nvSpPr>
          <p:cNvPr id="5" name="Rectangle 4"/>
          <p:cNvSpPr/>
          <p:nvPr/>
        </p:nvSpPr>
        <p:spPr>
          <a:xfrm>
            <a:off x="731520" y="1463039"/>
            <a:ext cx="27432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対策</a:t>
            </a:r>
          </a:p>
        </p:txBody>
      </p:sp>
      <p:sp>
        <p:nvSpPr>
          <p:cNvPr id="6" name="Rectangle 5"/>
          <p:cNvSpPr/>
          <p:nvPr/>
        </p:nvSpPr>
        <p:spPr>
          <a:xfrm>
            <a:off x="3474720" y="1463039"/>
            <a:ext cx="27432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設定する場所</a:t>
            </a:r>
          </a:p>
        </p:txBody>
      </p:sp>
      <p:sp>
        <p:nvSpPr>
          <p:cNvPr id="7" name="Rectangle 6"/>
          <p:cNvSpPr/>
          <p:nvPr/>
        </p:nvSpPr>
        <p:spPr>
          <a:xfrm>
            <a:off x="6217920" y="1463039"/>
            <a:ext cx="274320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設定する人</a:t>
            </a:r>
          </a:p>
        </p:txBody>
      </p:sp>
      <p:sp>
        <p:nvSpPr>
          <p:cNvPr id="8" name="Rectangle 7"/>
          <p:cNvSpPr/>
          <p:nvPr/>
        </p:nvSpPr>
        <p:spPr>
          <a:xfrm>
            <a:off x="8961120" y="1463039"/>
            <a:ext cx="5394960" cy="36576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責任</a:t>
            </a:r>
          </a:p>
        </p:txBody>
      </p:sp>
      <p:sp>
        <p:nvSpPr>
          <p:cNvPr id="9" name="Rectangle 8"/>
          <p:cNvSpPr/>
          <p:nvPr/>
        </p:nvSpPr>
        <p:spPr>
          <a:xfrm>
            <a:off x="731520" y="1828800"/>
            <a:ext cx="2743200" cy="411480"/>
          </a:xfrm>
          <a:prstGeom prst="rect">
            <a:avLst/>
          </a:prstGeom>
          <a:solidFill>
            <a:srgbClr val="FFFFFF"/>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DMARC p=reject</a:t>
            </a:r>
          </a:p>
        </p:txBody>
      </p:sp>
      <p:sp>
        <p:nvSpPr>
          <p:cNvPr id="10" name="Rectangle 9"/>
          <p:cNvSpPr/>
          <p:nvPr/>
        </p:nvSpPr>
        <p:spPr>
          <a:xfrm>
            <a:off x="3474720" y="1828800"/>
            <a:ext cx="27432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銀行のメールサーバ</a:t>
            </a:r>
          </a:p>
        </p:txBody>
      </p:sp>
      <p:sp>
        <p:nvSpPr>
          <p:cNvPr id="11" name="Rectangle 10"/>
          <p:cNvSpPr/>
          <p:nvPr/>
        </p:nvSpPr>
        <p:spPr>
          <a:xfrm>
            <a:off x="6217920" y="1828800"/>
            <a:ext cx="27432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銀行のIT部門</a:t>
            </a:r>
          </a:p>
        </p:txBody>
      </p:sp>
      <p:sp>
        <p:nvSpPr>
          <p:cNvPr id="12" name="Rectangle 11"/>
          <p:cNvSpPr/>
          <p:nvPr/>
        </p:nvSpPr>
        <p:spPr>
          <a:xfrm>
            <a:off x="8961120" y="1828800"/>
            <a:ext cx="5394960" cy="411480"/>
          </a:xfrm>
          <a:prstGeom prst="rect">
            <a:avLst/>
          </a:prstGeom>
          <a:solidFill>
            <a:srgbClr val="FFFFFF"/>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100%銀行側の問題。顧客は何もできない。</a:t>
            </a:r>
          </a:p>
        </p:txBody>
      </p:sp>
      <p:sp>
        <p:nvSpPr>
          <p:cNvPr id="13" name="Rectangle 12"/>
          <p:cNvSpPr/>
          <p:nvPr/>
        </p:nvSpPr>
        <p:spPr>
          <a:xfrm>
            <a:off x="731520" y="2240280"/>
            <a:ext cx="2743200" cy="41148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AppLocker/WDAC</a:t>
            </a:r>
          </a:p>
        </p:txBody>
      </p:sp>
      <p:sp>
        <p:nvSpPr>
          <p:cNvPr id="14" name="Rectangle 13"/>
          <p:cNvSpPr/>
          <p:nvPr/>
        </p:nvSpPr>
        <p:spPr>
          <a:xfrm>
            <a:off x="3474720" y="2240280"/>
            <a:ext cx="27432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顧客企業のPC</a:t>
            </a:r>
          </a:p>
        </p:txBody>
      </p:sp>
      <p:sp>
        <p:nvSpPr>
          <p:cNvPr id="15" name="Rectangle 14"/>
          <p:cNvSpPr/>
          <p:nvPr/>
        </p:nvSpPr>
        <p:spPr>
          <a:xfrm>
            <a:off x="6217920" y="2240280"/>
            <a:ext cx="274320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顧客企業のIT部門</a:t>
            </a:r>
          </a:p>
        </p:txBody>
      </p:sp>
      <p:sp>
        <p:nvSpPr>
          <p:cNvPr id="16" name="Rectangle 15"/>
          <p:cNvSpPr/>
          <p:nvPr/>
        </p:nvSpPr>
        <p:spPr>
          <a:xfrm>
            <a:off x="8961120" y="2240280"/>
            <a:ext cx="5394960" cy="41148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顧客企業の問題…に見えるが →</a:t>
            </a:r>
          </a:p>
        </p:txBody>
      </p:sp>
      <p:sp>
        <p:nvSpPr>
          <p:cNvPr id="17" name="Rectangle 16"/>
          <p:cNvSpPr/>
          <p:nvPr/>
        </p:nvSpPr>
        <p:spPr>
          <a:xfrm>
            <a:off x="731520" y="2880360"/>
            <a:ext cx="13624560" cy="411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BizSTATION利用企業のIT体制 — AppLockerを設定できるか？</a:t>
            </a:r>
          </a:p>
        </p:txBody>
      </p:sp>
      <p:sp>
        <p:nvSpPr>
          <p:cNvPr id="18" name="Rectangle 17"/>
          <p:cNvSpPr/>
          <p:nvPr/>
        </p:nvSpPr>
        <p:spPr>
          <a:xfrm>
            <a:off x="731520" y="3291840"/>
            <a:ext cx="2743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大企業</a:t>
            </a:r>
          </a:p>
        </p:txBody>
      </p:sp>
      <p:sp>
        <p:nvSpPr>
          <p:cNvPr id="19" name="Rectangle 18"/>
          <p:cNvSpPr/>
          <p:nvPr/>
        </p:nvSpPr>
        <p:spPr>
          <a:xfrm>
            <a:off x="3474720" y="3291840"/>
            <a:ext cx="36576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情シス部門あり</a:t>
            </a:r>
          </a:p>
        </p:txBody>
      </p:sp>
      <p:sp>
        <p:nvSpPr>
          <p:cNvPr id="20" name="Rectangle 19"/>
          <p:cNvSpPr/>
          <p:nvPr/>
        </p:nvSpPr>
        <p:spPr>
          <a:xfrm>
            <a:off x="7132320" y="3291840"/>
            <a:ext cx="4114800" cy="38404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可能</a:t>
            </a:r>
          </a:p>
        </p:txBody>
      </p:sp>
      <p:sp>
        <p:nvSpPr>
          <p:cNvPr id="21" name="Rectangle 20"/>
          <p:cNvSpPr/>
          <p:nvPr/>
        </p:nvSpPr>
        <p:spPr>
          <a:xfrm>
            <a:off x="731520" y="3675888"/>
            <a:ext cx="27432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中堅企業</a:t>
            </a:r>
          </a:p>
        </p:txBody>
      </p:sp>
      <p:sp>
        <p:nvSpPr>
          <p:cNvPr id="22" name="Rectangle 21"/>
          <p:cNvSpPr/>
          <p:nvPr/>
        </p:nvSpPr>
        <p:spPr>
          <a:xfrm>
            <a:off x="3474720" y="3675888"/>
            <a:ext cx="36576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IT担当が1〜2人</a:t>
            </a:r>
          </a:p>
        </p:txBody>
      </p:sp>
      <p:sp>
        <p:nvSpPr>
          <p:cNvPr id="23" name="Rectangle 22"/>
          <p:cNvSpPr/>
          <p:nvPr/>
        </p:nvSpPr>
        <p:spPr>
          <a:xfrm>
            <a:off x="7132320" y="3675888"/>
            <a:ext cx="411480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厳しい</a:t>
            </a:r>
          </a:p>
        </p:txBody>
      </p:sp>
      <p:sp>
        <p:nvSpPr>
          <p:cNvPr id="24" name="Rectangle 23"/>
          <p:cNvSpPr/>
          <p:nvPr/>
        </p:nvSpPr>
        <p:spPr>
          <a:xfrm>
            <a:off x="731520" y="4059936"/>
            <a:ext cx="27432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中小企業</a:t>
            </a:r>
          </a:p>
        </p:txBody>
      </p:sp>
      <p:sp>
        <p:nvSpPr>
          <p:cNvPr id="25" name="Rectangle 24"/>
          <p:cNvSpPr/>
          <p:nvPr/>
        </p:nvSpPr>
        <p:spPr>
          <a:xfrm>
            <a:off x="3474720" y="4059936"/>
            <a:ext cx="3657600" cy="384048"/>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IT専任者なし</a:t>
            </a:r>
          </a:p>
        </p:txBody>
      </p:sp>
      <p:sp>
        <p:nvSpPr>
          <p:cNvPr id="26" name="Rectangle 25"/>
          <p:cNvSpPr/>
          <p:nvPr/>
        </p:nvSpPr>
        <p:spPr>
          <a:xfrm>
            <a:off x="7132320" y="4059936"/>
            <a:ext cx="411480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無理</a:t>
            </a:r>
          </a:p>
        </p:txBody>
      </p:sp>
      <p:sp>
        <p:nvSpPr>
          <p:cNvPr id="27" name="Rectangle 26"/>
          <p:cNvSpPr/>
          <p:nvPr/>
        </p:nvSpPr>
        <p:spPr>
          <a:xfrm>
            <a:off x="731520" y="4443984"/>
            <a:ext cx="27432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1">
                <a:solidFill>
                  <a:srgbClr val="222222"/>
                </a:solidFill>
                <a:latin typeface="Meiryo"/>
              </a:rPr>
              <a:t>小規模事業者</a:t>
            </a:r>
          </a:p>
        </p:txBody>
      </p:sp>
      <p:sp>
        <p:nvSpPr>
          <p:cNvPr id="28" name="Rectangle 27"/>
          <p:cNvSpPr/>
          <p:nvPr/>
        </p:nvSpPr>
        <p:spPr>
          <a:xfrm>
            <a:off x="3474720" y="4443984"/>
            <a:ext cx="3657600" cy="384048"/>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社長がPC管理</a:t>
            </a:r>
          </a:p>
        </p:txBody>
      </p:sp>
      <p:sp>
        <p:nvSpPr>
          <p:cNvPr id="29" name="Rectangle 28"/>
          <p:cNvSpPr/>
          <p:nvPr/>
        </p:nvSpPr>
        <p:spPr>
          <a:xfrm>
            <a:off x="7132320" y="4443984"/>
            <a:ext cx="411480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論外</a:t>
            </a:r>
          </a:p>
        </p:txBody>
      </p:sp>
      <p:sp>
        <p:nvSpPr>
          <p:cNvPr id="30" name="Rectangle 29"/>
          <p:cNvSpPr/>
          <p:nvPr/>
        </p:nvSpPr>
        <p:spPr>
          <a:xfrm>
            <a:off x="731520" y="4937760"/>
            <a:ext cx="1362456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すべて同じ構図：「顧客にやってね」で丸投げ → 機能しない</a:t>
            </a:r>
          </a:p>
        </p:txBody>
      </p:sp>
      <p:sp>
        <p:nvSpPr>
          <p:cNvPr id="31" name="Rectangle 30"/>
          <p:cNvSpPr/>
          <p:nvPr/>
        </p:nvSpPr>
        <p:spPr>
          <a:xfrm>
            <a:off x="731520" y="5349240"/>
            <a:ext cx="6858000" cy="347472"/>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「メールのリンクをクリックしないで」</a:t>
            </a:r>
          </a:p>
        </p:txBody>
      </p:sp>
      <p:sp>
        <p:nvSpPr>
          <p:cNvPr id="32" name="Rectangle 31"/>
          <p:cNvSpPr/>
          <p:nvPr/>
        </p:nvSpPr>
        <p:spPr>
          <a:xfrm>
            <a:off x="7589520" y="5349240"/>
            <a:ext cx="6766560" cy="347472"/>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顧客任せ → 機能しない</a:t>
            </a:r>
          </a:p>
        </p:txBody>
      </p:sp>
      <p:sp>
        <p:nvSpPr>
          <p:cNvPr id="33" name="Rectangle 32"/>
          <p:cNvSpPr/>
          <p:nvPr/>
        </p:nvSpPr>
        <p:spPr>
          <a:xfrm>
            <a:off x="731520" y="5696712"/>
            <a:ext cx="6858000" cy="347472"/>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「ブックマークからアクセスして」</a:t>
            </a:r>
          </a:p>
        </p:txBody>
      </p:sp>
      <p:sp>
        <p:nvSpPr>
          <p:cNvPr id="34" name="Rectangle 33"/>
          <p:cNvSpPr/>
          <p:nvPr/>
        </p:nvSpPr>
        <p:spPr>
          <a:xfrm>
            <a:off x="7589520" y="5696712"/>
            <a:ext cx="6766560" cy="347472"/>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顧客任せ → 機能しない</a:t>
            </a:r>
          </a:p>
        </p:txBody>
      </p:sp>
      <p:sp>
        <p:nvSpPr>
          <p:cNvPr id="35" name="Rectangle 34"/>
          <p:cNvSpPr/>
          <p:nvPr/>
        </p:nvSpPr>
        <p:spPr>
          <a:xfrm>
            <a:off x="731520" y="6044184"/>
            <a:ext cx="6858000" cy="347472"/>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「不明な発行元に注意して」</a:t>
            </a:r>
          </a:p>
        </p:txBody>
      </p:sp>
      <p:sp>
        <p:nvSpPr>
          <p:cNvPr id="36" name="Rectangle 35"/>
          <p:cNvSpPr/>
          <p:nvPr/>
        </p:nvSpPr>
        <p:spPr>
          <a:xfrm>
            <a:off x="7589520" y="6044184"/>
            <a:ext cx="6766560" cy="347472"/>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顧客任せ → 機能しない</a:t>
            </a:r>
          </a:p>
        </p:txBody>
      </p:sp>
      <p:sp>
        <p:nvSpPr>
          <p:cNvPr id="37" name="Rectangle 36"/>
          <p:cNvSpPr/>
          <p:nvPr/>
        </p:nvSpPr>
        <p:spPr>
          <a:xfrm>
            <a:off x="731520" y="6391656"/>
            <a:ext cx="6858000" cy="347472"/>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「AppLockerを設定してください」</a:t>
            </a:r>
          </a:p>
        </p:txBody>
      </p:sp>
      <p:sp>
        <p:nvSpPr>
          <p:cNvPr id="38" name="Rectangle 37"/>
          <p:cNvSpPr/>
          <p:nvPr/>
        </p:nvSpPr>
        <p:spPr>
          <a:xfrm>
            <a:off x="7589520" y="6391656"/>
            <a:ext cx="6766560" cy="347472"/>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C0392B"/>
                </a:solidFill>
                <a:latin typeface="Meiryo"/>
              </a:rPr>
              <a:t>顧客任せ → 機能しない</a:t>
            </a:r>
          </a:p>
        </p:txBody>
      </p:sp>
      <p:sp>
        <p:nvSpPr>
          <p:cNvPr id="39" name="Rectangle 38"/>
          <p:cNvSpPr/>
          <p:nvPr/>
        </p:nvSpPr>
        <p:spPr>
          <a:xfrm>
            <a:off x="731520" y="6858000"/>
            <a:ext cx="1362456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銀行がやるべきこと</a:t>
            </a:r>
          </a:p>
        </p:txBody>
      </p:sp>
      <p:sp>
        <p:nvSpPr>
          <p:cNvPr id="40" name="Rectangle 39"/>
          <p:cNvSpPr/>
          <p:nvPr/>
        </p:nvSpPr>
        <p:spPr>
          <a:xfrm>
            <a:off x="731520" y="7223760"/>
            <a:ext cx="3200400" cy="36576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DMARC p=reject</a:t>
            </a:r>
          </a:p>
        </p:txBody>
      </p:sp>
      <p:sp>
        <p:nvSpPr>
          <p:cNvPr id="41" name="Rectangle 40"/>
          <p:cNvSpPr/>
          <p:nvPr/>
        </p:nvSpPr>
        <p:spPr>
          <a:xfrm>
            <a:off x="3931920" y="7223760"/>
            <a:ext cx="50292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銀行が自分で設定する</a:t>
            </a:r>
          </a:p>
        </p:txBody>
      </p:sp>
      <p:sp>
        <p:nvSpPr>
          <p:cNvPr id="42" name="Rectangle 41"/>
          <p:cNvSpPr/>
          <p:nvPr/>
        </p:nvSpPr>
        <p:spPr>
          <a:xfrm>
            <a:off x="8961120" y="7223760"/>
            <a:ext cx="5394960" cy="36576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7AE60"/>
                </a:solidFill>
                <a:latin typeface="Meiryo"/>
              </a:rPr>
              <a:t>顧客に求めること：なし</a:t>
            </a:r>
          </a:p>
        </p:txBody>
      </p:sp>
      <p:sp>
        <p:nvSpPr>
          <p:cNvPr id="43" name="Rectangle 42"/>
          <p:cNvSpPr/>
          <p:nvPr/>
        </p:nvSpPr>
        <p:spPr>
          <a:xfrm>
            <a:off x="731520" y="7589520"/>
            <a:ext cx="3200400" cy="36576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AppLocker/WDAC設定支援</a:t>
            </a:r>
          </a:p>
        </p:txBody>
      </p:sp>
      <p:sp>
        <p:nvSpPr>
          <p:cNvPr id="44" name="Rectangle 43"/>
          <p:cNvSpPr/>
          <p:nvPr/>
        </p:nvSpPr>
        <p:spPr>
          <a:xfrm>
            <a:off x="3931920" y="7589520"/>
            <a:ext cx="50292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BizSTATION契約時に設定を支援する</a:t>
            </a:r>
          </a:p>
        </p:txBody>
      </p:sp>
      <p:sp>
        <p:nvSpPr>
          <p:cNvPr id="45" name="Rectangle 44"/>
          <p:cNvSpPr/>
          <p:nvPr/>
        </p:nvSpPr>
        <p:spPr>
          <a:xfrm>
            <a:off x="8961120" y="7589520"/>
            <a:ext cx="5394960" cy="36576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7AE60"/>
                </a:solidFill>
                <a:latin typeface="Meiryo"/>
              </a:rPr>
              <a:t>顧客に求めること：なし</a:t>
            </a:r>
          </a:p>
        </p:txBody>
      </p:sp>
      <p:sp>
        <p:nvSpPr>
          <p:cNvPr id="46" name="Rectangle 45"/>
          <p:cNvSpPr/>
          <p:nvPr/>
        </p:nvSpPr>
        <p:spPr>
          <a:xfrm>
            <a:off x="731520" y="7955280"/>
            <a:ext cx="3200400" cy="36576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初期設定ツール提供</a:t>
            </a:r>
          </a:p>
        </p:txBody>
      </p:sp>
      <p:sp>
        <p:nvSpPr>
          <p:cNvPr id="47" name="Rectangle 46"/>
          <p:cNvSpPr/>
          <p:nvPr/>
        </p:nvSpPr>
        <p:spPr>
          <a:xfrm>
            <a:off x="3931920" y="7955280"/>
            <a:ext cx="5029200" cy="36576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ワンクリックで設定完了するツール</a:t>
            </a:r>
          </a:p>
        </p:txBody>
      </p:sp>
      <p:sp>
        <p:nvSpPr>
          <p:cNvPr id="48" name="Rectangle 47"/>
          <p:cNvSpPr/>
          <p:nvPr/>
        </p:nvSpPr>
        <p:spPr>
          <a:xfrm>
            <a:off x="8961120" y="7955280"/>
            <a:ext cx="5394960" cy="36576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7AE60"/>
                </a:solidFill>
                <a:latin typeface="Meiryo"/>
              </a:rPr>
              <a:t>実行するだけ</a:t>
            </a:r>
          </a:p>
        </p:txBody>
      </p:sp>
      <p:sp>
        <p:nvSpPr>
          <p:cNvPr id="49" name="Rectangle 48"/>
          <p:cNvSpPr/>
          <p:nvPr/>
        </p:nvSpPr>
        <p:spPr>
          <a:xfrm>
            <a:off x="731520" y="8321040"/>
            <a:ext cx="3200400" cy="36576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BizSTATION利用条件に含める</a:t>
            </a:r>
          </a:p>
        </p:txBody>
      </p:sp>
      <p:sp>
        <p:nvSpPr>
          <p:cNvPr id="50" name="Rectangle 49"/>
          <p:cNvSpPr/>
          <p:nvPr/>
        </p:nvSpPr>
        <p:spPr>
          <a:xfrm>
            <a:off x="3931920" y="8321040"/>
            <a:ext cx="5029200" cy="365760"/>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アプリ制御を契約要件にする</a:t>
            </a:r>
          </a:p>
        </p:txBody>
      </p:sp>
      <p:sp>
        <p:nvSpPr>
          <p:cNvPr id="51" name="Rectangle 50"/>
          <p:cNvSpPr/>
          <p:nvPr/>
        </p:nvSpPr>
        <p:spPr>
          <a:xfrm>
            <a:off x="8961120" y="8321040"/>
            <a:ext cx="5394960" cy="365760"/>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7AE60"/>
                </a:solidFill>
                <a:latin typeface="Meiryo"/>
              </a:rPr>
              <a:t>IT業者に設定を依頼</a:t>
            </a:r>
          </a:p>
        </p:txBody>
      </p:sp>
      <p:sp>
        <p:nvSpPr>
          <p:cNvPr id="52" name="TextBox 51"/>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責任の所在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200" b="1">
                <a:solidFill>
                  <a:srgbClr val="C0392B"/>
                </a:solidFill>
                <a:latin typeface="Meiryo"/>
              </a:rPr>
              <a:t>手順⑦ 赤い画面 — PCを封印し、犯人の操作を隠す</a:t>
            </a:r>
          </a:p>
        </p:txBody>
      </p:sp>
      <p:sp>
        <p:nvSpPr>
          <p:cNvPr id="3" name="Rectangle 2"/>
          <p:cNvSpPr/>
          <p:nvPr/>
        </p:nvSpPr>
        <p:spPr>
          <a:xfrm>
            <a:off x="731520" y="777240"/>
            <a:ext cx="13624560"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 b="1">
                <a:solidFill>
                  <a:srgbClr val="FFFFFF"/>
                </a:solidFill>
                <a:latin typeface="Meiryo"/>
              </a:rPr>
              <a:t/>
            </a:r>
          </a:p>
        </p:txBody>
      </p:sp>
      <p:sp>
        <p:nvSpPr>
          <p:cNvPr id="4" name="TextBox 3"/>
          <p:cNvSpPr txBox="1"/>
          <p:nvPr/>
        </p:nvSpPr>
        <p:spPr>
          <a:xfrm>
            <a:off x="1188720" y="868680"/>
            <a:ext cx="12710160" cy="868680"/>
          </a:xfrm>
          <a:prstGeom prst="rect">
            <a:avLst/>
          </a:prstGeom>
          <a:noFill/>
        </p:spPr>
        <p:txBody>
          <a:bodyPr wrap="square" lIns="50800" rIns="50800" tIns="38100" bIns="38100"/>
          <a:lstStyle/>
          <a:p>
            <a:pPr algn="l"/>
            <a:r>
              <a:rPr sz="1100" b="1">
                <a:solidFill>
                  <a:srgbClr val="FFFFFF"/>
                </a:solidFill>
                <a:latin typeface="Meiryo"/>
              </a:rPr>
              <a:t>『Mバンく　現在セキュリティ保護強化に伴うシステム更新ならびに、お客さま情報の確認、更新処理を実施しております。処理完了までの間一時的に画面が遅延または停止する場合がありますが、正常な処理となりますのでそのままお待ちくださいますようお願い申し上げます。』</a:t>
            </a:r>
          </a:p>
        </p:txBody>
      </p:sp>
      <p:sp>
        <p:nvSpPr>
          <p:cNvPr id="5" name="Rectangle 4"/>
          <p:cNvSpPr/>
          <p:nvPr/>
        </p:nvSpPr>
        <p:spPr>
          <a:xfrm>
            <a:off x="731520" y="192024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赤い画面の3つの役割</a:t>
            </a:r>
          </a:p>
        </p:txBody>
      </p:sp>
      <p:sp>
        <p:nvSpPr>
          <p:cNvPr id="6" name="Rectangle 5"/>
          <p:cNvSpPr/>
          <p:nvPr/>
        </p:nvSpPr>
        <p:spPr>
          <a:xfrm>
            <a:off x="731520" y="2286000"/>
            <a:ext cx="36576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① PCを「封印」する</a:t>
            </a:r>
          </a:p>
        </p:txBody>
      </p:sp>
      <p:sp>
        <p:nvSpPr>
          <p:cNvPr id="7" name="Rectangle 6"/>
          <p:cNvSpPr/>
          <p:nvPr/>
        </p:nvSpPr>
        <p:spPr>
          <a:xfrm>
            <a:off x="4389120" y="2286000"/>
            <a:ext cx="9966960" cy="50292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被害者はPCを操作できない。BizSTATIONで自分で確認することも不可能。</a:t>
            </a:r>
          </a:p>
        </p:txBody>
      </p:sp>
      <p:sp>
        <p:nvSpPr>
          <p:cNvPr id="8" name="Rectangle 7"/>
          <p:cNvSpPr/>
          <p:nvPr/>
        </p:nvSpPr>
        <p:spPr>
          <a:xfrm>
            <a:off x="731520" y="2788920"/>
            <a:ext cx="3657600" cy="502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② 犯人の操作を隠す</a:t>
            </a:r>
          </a:p>
        </p:txBody>
      </p:sp>
      <p:sp>
        <p:nvSpPr>
          <p:cNvPr id="9" name="Rectangle 8"/>
          <p:cNvSpPr/>
          <p:nvPr/>
        </p:nvSpPr>
        <p:spPr>
          <a:xfrm>
            <a:off x="4389120" y="2788920"/>
            <a:ext cx="9966960" cy="502920"/>
          </a:xfrm>
          <a:prstGeom prst="rect">
            <a:avLst/>
          </a:prstGeom>
          <a:solidFill>
            <a:srgbClr val="FFFFFF"/>
          </a:solidFill>
          <a:ln w="254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赤い画面の裏でScreenConnect経由のPC操作が進行。被害者には見えない。</a:t>
            </a:r>
          </a:p>
        </p:txBody>
      </p:sp>
      <p:sp>
        <p:nvSpPr>
          <p:cNvPr id="10" name="Rectangle 9"/>
          <p:cNvSpPr/>
          <p:nvPr/>
        </p:nvSpPr>
        <p:spPr>
          <a:xfrm>
            <a:off x="731520" y="3291840"/>
            <a:ext cx="3657600" cy="5029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③ 被害者を「待機」させる</a:t>
            </a:r>
          </a:p>
        </p:txBody>
      </p:sp>
      <p:sp>
        <p:nvSpPr>
          <p:cNvPr id="11" name="Rectangle 10"/>
          <p:cNvSpPr/>
          <p:nvPr/>
        </p:nvSpPr>
        <p:spPr>
          <a:xfrm>
            <a:off x="4389120" y="3291840"/>
            <a:ext cx="9966960" cy="50292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1000" b="0">
                <a:solidFill>
                  <a:srgbClr val="222222"/>
                </a:solidFill>
                <a:latin typeface="Meiryo"/>
              </a:rPr>
              <a:t>「処理完了までお待ちください」→ 異常を見ても「正常」と信じて待つ。</a:t>
            </a:r>
          </a:p>
        </p:txBody>
      </p:sp>
      <p:sp>
        <p:nvSpPr>
          <p:cNvPr id="12" name="Rectangle 11"/>
          <p:cNvSpPr/>
          <p:nvPr/>
        </p:nvSpPr>
        <p:spPr>
          <a:xfrm>
            <a:off x="731520" y="3886200"/>
            <a:ext cx="1362456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 破綻ポイント：銀行のシステム更新で顧客PCの画面が赤くなることはありえない</a:t>
            </a:r>
          </a:p>
        </p:txBody>
      </p:sp>
      <p:sp>
        <p:nvSpPr>
          <p:cNvPr id="13" name="TextBox 12"/>
          <p:cNvSpPr txBox="1"/>
          <p:nvPr/>
        </p:nvSpPr>
        <p:spPr>
          <a:xfrm>
            <a:off x="731520" y="4325112"/>
            <a:ext cx="13624560" cy="274320"/>
          </a:xfrm>
          <a:prstGeom prst="rect">
            <a:avLst/>
          </a:prstGeom>
          <a:noFill/>
        </p:spPr>
        <p:txBody>
          <a:bodyPr wrap="square" lIns="50800" rIns="50800" tIns="38100" bIns="38100"/>
          <a:lstStyle/>
          <a:p>
            <a:pPr algn="l"/>
            <a:r>
              <a:rPr sz="900" b="0">
                <a:solidFill>
                  <a:srgbClr val="888888"/>
                </a:solidFill>
                <a:latin typeface="Meiryo"/>
              </a:rPr>
              <a:t>IBのシステム更新はサーバー側の処理。顧客PCの画面が止まるわけがない。→ 手順②からの信頼の蓄積で気づけない。</a:t>
            </a:r>
          </a:p>
        </p:txBody>
      </p:sp>
      <p:sp>
        <p:nvSpPr>
          <p:cNvPr id="14" name="Rectangle 13"/>
          <p:cNvSpPr/>
          <p:nvPr/>
        </p:nvSpPr>
        <p:spPr>
          <a:xfrm>
            <a:off x="731520" y="4709160"/>
            <a:ext cx="1362456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企業側で検知できるポイント</a:t>
            </a:r>
          </a:p>
        </p:txBody>
      </p:sp>
      <p:sp>
        <p:nvSpPr>
          <p:cNvPr id="15" name="Rectangle 14"/>
          <p:cNvSpPr/>
          <p:nvPr/>
        </p:nvSpPr>
        <p:spPr>
          <a:xfrm>
            <a:off x="731520" y="5074920"/>
            <a:ext cx="6858000" cy="347472"/>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ScreenConnectのプロセス検知</a:t>
            </a:r>
          </a:p>
        </p:txBody>
      </p:sp>
      <p:sp>
        <p:nvSpPr>
          <p:cNvPr id="16" name="Rectangle 15"/>
          <p:cNvSpPr/>
          <p:nvPr/>
        </p:nvSpPr>
        <p:spPr>
          <a:xfrm>
            <a:off x="7589520" y="5074920"/>
            <a:ext cx="6766560" cy="347472"/>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EDRで検知可能</a:t>
            </a:r>
          </a:p>
        </p:txBody>
      </p:sp>
      <p:sp>
        <p:nvSpPr>
          <p:cNvPr id="17" name="Rectangle 16"/>
          <p:cNvSpPr/>
          <p:nvPr/>
        </p:nvSpPr>
        <p:spPr>
          <a:xfrm>
            <a:off x="731520" y="5422392"/>
            <a:ext cx="6858000" cy="347472"/>
          </a:xfrm>
          <a:prstGeom prst="rect">
            <a:avLst/>
          </a:prstGeom>
          <a:solidFill>
            <a:srgbClr val="F9F9F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C2サーバへの不審な通信</a:t>
            </a:r>
          </a:p>
        </p:txBody>
      </p:sp>
      <p:sp>
        <p:nvSpPr>
          <p:cNvPr id="18" name="Rectangle 17"/>
          <p:cNvSpPr/>
          <p:nvPr/>
        </p:nvSpPr>
        <p:spPr>
          <a:xfrm>
            <a:off x="7589520" y="5422392"/>
            <a:ext cx="6766560" cy="347472"/>
          </a:xfrm>
          <a:prstGeom prst="rect">
            <a:avLst/>
          </a:prstGeom>
          <a:solidFill>
            <a:srgbClr val="F9F9F9"/>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NW監視/プロキシで検知可能</a:t>
            </a:r>
          </a:p>
        </p:txBody>
      </p:sp>
      <p:sp>
        <p:nvSpPr>
          <p:cNvPr id="19" name="Rectangle 18"/>
          <p:cNvSpPr/>
          <p:nvPr/>
        </p:nvSpPr>
        <p:spPr>
          <a:xfrm>
            <a:off x="731520" y="5769864"/>
            <a:ext cx="6858000" cy="347472"/>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222222"/>
                </a:solidFill>
                <a:latin typeface="Meiryo"/>
              </a:rPr>
              <a:t>リモートデスクトップ系の異常セッション</a:t>
            </a:r>
          </a:p>
        </p:txBody>
      </p:sp>
      <p:sp>
        <p:nvSpPr>
          <p:cNvPr id="20" name="Rectangle 19"/>
          <p:cNvSpPr/>
          <p:nvPr/>
        </p:nvSpPr>
        <p:spPr>
          <a:xfrm>
            <a:off x="7589520" y="5769864"/>
            <a:ext cx="6766560" cy="347472"/>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SIEMで検知可能</a:t>
            </a:r>
          </a:p>
        </p:txBody>
      </p:sp>
      <p:sp>
        <p:nvSpPr>
          <p:cNvPr id="21" name="Rectangle 20"/>
          <p:cNvSpPr/>
          <p:nvPr/>
        </p:nvSpPr>
        <p:spPr>
          <a:xfrm>
            <a:off x="731520" y="6172200"/>
            <a:ext cx="1362456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同じ構図：EDR/NW監視があれば検知可能 → しかし中小企業にはない → また「顧客の問題」になる</a:t>
            </a:r>
          </a:p>
        </p:txBody>
      </p:sp>
      <p:sp>
        <p:nvSpPr>
          <p:cNvPr id="22" name="TextBox 21"/>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手順⑦ 赤い画面</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0" y="182880"/>
            <a:ext cx="15124176" cy="548640"/>
          </a:xfrm>
          <a:prstGeom prst="rect">
            <a:avLst/>
          </a:prstGeom>
          <a:noFill/>
        </p:spPr>
        <p:txBody>
          <a:bodyPr wrap="square" lIns="50800" rIns="50800" tIns="38100" bIns="38100"/>
          <a:lstStyle/>
          <a:p>
            <a:pPr algn="ctr"/>
            <a:r>
              <a:rPr sz="2000" b="1">
                <a:solidFill>
                  <a:srgbClr val="C0392B"/>
                </a:solidFill>
                <a:latin typeface="Meiryo"/>
              </a:rPr>
              <a:t>手順⑧ デュアルデバイス攻撃 — 会社PCを封じ、個人スマホで認証を奪う</a:t>
            </a:r>
          </a:p>
        </p:txBody>
      </p:sp>
      <p:sp>
        <p:nvSpPr>
          <p:cNvPr id="3" name="Rectangle 2"/>
          <p:cNvSpPr/>
          <p:nvPr/>
        </p:nvSpPr>
        <p:spPr>
          <a:xfrm>
            <a:off x="731520" y="777240"/>
            <a:ext cx="658368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会社PC（封印済み）</a:t>
            </a:r>
          </a:p>
        </p:txBody>
      </p:sp>
      <p:sp>
        <p:nvSpPr>
          <p:cNvPr id="4" name="Rectangle 3"/>
          <p:cNvSpPr/>
          <p:nvPr/>
        </p:nvSpPr>
        <p:spPr>
          <a:xfrm>
            <a:off x="731520" y="1143000"/>
            <a:ext cx="6583680" cy="64008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赤い画面で封印 → 確認手段なし
犯人がScreenConnect経由で操作中
→ BizSTATIONにアクセスし送金準備</a:t>
            </a:r>
          </a:p>
        </p:txBody>
      </p:sp>
      <p:sp>
        <p:nvSpPr>
          <p:cNvPr id="5" name="Rectangle 4"/>
          <p:cNvSpPr/>
          <p:nvPr/>
        </p:nvSpPr>
        <p:spPr>
          <a:xfrm>
            <a:off x="7772400" y="777240"/>
            <a:ext cx="6400800" cy="3657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個人スマホ（標的）</a:t>
            </a:r>
          </a:p>
        </p:txBody>
      </p:sp>
      <p:sp>
        <p:nvSpPr>
          <p:cNvPr id="6" name="Rectangle 5"/>
          <p:cNvSpPr/>
          <p:nvPr/>
        </p:nvSpPr>
        <p:spPr>
          <a:xfrm>
            <a:off x="7772400" y="1143000"/>
            <a:ext cx="6400800" cy="640080"/>
          </a:xfrm>
          <a:prstGeom prst="rect">
            <a:avLst/>
          </a:prstGeom>
          <a:solidFill>
            <a:srgbClr val="F4ECF7"/>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SMS受信 → リンクをクリック
偽の認証画面が表示される
→ 認証情報5要素を入力させられる</a:t>
            </a:r>
          </a:p>
        </p:txBody>
      </p:sp>
      <p:sp>
        <p:nvSpPr>
          <p:cNvPr id="7" name="Rectangle 6"/>
          <p:cNvSpPr/>
          <p:nvPr/>
        </p:nvSpPr>
        <p:spPr>
          <a:xfrm>
            <a:off x="731520" y="196596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なぜ個人スマホに切り替えるのか</a:t>
            </a:r>
          </a:p>
        </p:txBody>
      </p:sp>
      <p:sp>
        <p:nvSpPr>
          <p:cNvPr id="8" name="Rectangle 7"/>
          <p:cNvSpPr/>
          <p:nvPr/>
        </p:nvSpPr>
        <p:spPr>
          <a:xfrm>
            <a:off x="731520" y="2331720"/>
            <a:ext cx="32004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会社PCが使えない</a:t>
            </a:r>
          </a:p>
        </p:txBody>
      </p:sp>
      <p:sp>
        <p:nvSpPr>
          <p:cNvPr id="9" name="Rectangle 8"/>
          <p:cNvSpPr/>
          <p:nvPr/>
        </p:nvSpPr>
        <p:spPr>
          <a:xfrm>
            <a:off x="3931920" y="2331720"/>
            <a:ext cx="1042416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赤い画面で封印済み。犯人が操作中。</a:t>
            </a:r>
          </a:p>
        </p:txBody>
      </p:sp>
      <p:sp>
        <p:nvSpPr>
          <p:cNvPr id="10" name="Rectangle 9"/>
          <p:cNvSpPr/>
          <p:nvPr/>
        </p:nvSpPr>
        <p:spPr>
          <a:xfrm>
            <a:off x="731520" y="2743200"/>
            <a:ext cx="3200400" cy="411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企業セキュリティの回避</a:t>
            </a:r>
          </a:p>
        </p:txBody>
      </p:sp>
      <p:sp>
        <p:nvSpPr>
          <p:cNvPr id="11" name="Rectangle 10"/>
          <p:cNvSpPr/>
          <p:nvPr/>
        </p:nvSpPr>
        <p:spPr>
          <a:xfrm>
            <a:off x="3931920" y="2743200"/>
            <a:ext cx="1042416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会社PCのEDR/プロキシを回避。個人スマホにはない。</a:t>
            </a:r>
          </a:p>
        </p:txBody>
      </p:sp>
      <p:sp>
        <p:nvSpPr>
          <p:cNvPr id="12" name="Rectangle 11"/>
          <p:cNvSpPr/>
          <p:nvPr/>
        </p:nvSpPr>
        <p:spPr>
          <a:xfrm>
            <a:off x="731520" y="3154679"/>
            <a:ext cx="3200400" cy="41148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SMS認証は個人端末が前提</a:t>
            </a:r>
          </a:p>
        </p:txBody>
      </p:sp>
      <p:sp>
        <p:nvSpPr>
          <p:cNvPr id="13" name="Rectangle 12"/>
          <p:cNvSpPr/>
          <p:nvPr/>
        </p:nvSpPr>
        <p:spPr>
          <a:xfrm>
            <a:off x="3931920" y="3154679"/>
            <a:ext cx="1042416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「携帯にSMSが届く」は自然な流れ。</a:t>
            </a:r>
          </a:p>
        </p:txBody>
      </p:sp>
      <p:sp>
        <p:nvSpPr>
          <p:cNvPr id="14" name="Rectangle 13"/>
          <p:cNvSpPr/>
          <p:nvPr/>
        </p:nvSpPr>
        <p:spPr>
          <a:xfrm>
            <a:off x="731520" y="3566160"/>
            <a:ext cx="3200400" cy="41148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900" b="1">
                <a:solidFill>
                  <a:srgbClr val="FFFFFF"/>
                </a:solidFill>
                <a:latin typeface="Meiryo"/>
              </a:rPr>
              <a:t>2デバイス同時制御</a:t>
            </a:r>
          </a:p>
        </p:txBody>
      </p:sp>
      <p:sp>
        <p:nvSpPr>
          <p:cNvPr id="15" name="Rectangle 14"/>
          <p:cNvSpPr/>
          <p:nvPr/>
        </p:nvSpPr>
        <p:spPr>
          <a:xfrm>
            <a:off x="3931920" y="3566160"/>
            <a:ext cx="10424160" cy="411480"/>
          </a:xfrm>
          <a:prstGeom prst="rect">
            <a:avLst/>
          </a:prstGeom>
          <a:solidFill>
            <a:srgbClr val="FFFFFF"/>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PCは遠隔操作、スマホは電話で指示。両方が犯人の支配下。</a:t>
            </a:r>
          </a:p>
        </p:txBody>
      </p:sp>
      <p:sp>
        <p:nvSpPr>
          <p:cNvPr id="16" name="Rectangle 15"/>
          <p:cNvSpPr/>
          <p:nvPr/>
        </p:nvSpPr>
        <p:spPr>
          <a:xfrm>
            <a:off x="731520" y="4069079"/>
            <a:ext cx="1362456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 破綻ポイント：5つの認証情報を一画面で入力させること自体がありえない</a:t>
            </a:r>
          </a:p>
        </p:txBody>
      </p:sp>
      <p:sp>
        <p:nvSpPr>
          <p:cNvPr id="17" name="Rectangle 16"/>
          <p:cNvSpPr/>
          <p:nvPr/>
        </p:nvSpPr>
        <p:spPr>
          <a:xfrm>
            <a:off x="731520" y="4480559"/>
            <a:ext cx="6583680" cy="3200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正規のBizSTATION</a:t>
            </a:r>
          </a:p>
        </p:txBody>
      </p:sp>
      <p:sp>
        <p:nvSpPr>
          <p:cNvPr id="18" name="Rectangle 17"/>
          <p:cNvSpPr/>
          <p:nvPr/>
        </p:nvSpPr>
        <p:spPr>
          <a:xfrm>
            <a:off x="731520" y="4800599"/>
            <a:ext cx="6583680" cy="64008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ステップ1：契約者番号 + 利用者ID → 入力
ステップ2：ログインPW → 入力
ステップ3：取引時にOTP → 入力（段階的）</a:t>
            </a:r>
          </a:p>
        </p:txBody>
      </p:sp>
      <p:sp>
        <p:nvSpPr>
          <p:cNvPr id="19" name="Rectangle 18"/>
          <p:cNvSpPr/>
          <p:nvPr/>
        </p:nvSpPr>
        <p:spPr>
          <a:xfrm>
            <a:off x="7772400" y="4480559"/>
            <a:ext cx="640080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Meiryo"/>
              </a:rPr>
              <a:t>この攻撃</a:t>
            </a:r>
          </a:p>
        </p:txBody>
      </p:sp>
      <p:sp>
        <p:nvSpPr>
          <p:cNvPr id="20" name="Rectangle 19"/>
          <p:cNvSpPr/>
          <p:nvPr/>
        </p:nvSpPr>
        <p:spPr>
          <a:xfrm>
            <a:off x="7772400" y="4800599"/>
            <a:ext cx="6400800" cy="640080"/>
          </a:xfrm>
          <a:prstGeom prst="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1">
                <a:solidFill>
                  <a:srgbClr val="C0392B"/>
                </a:solidFill>
                <a:latin typeface="Meiryo"/>
              </a:rPr>
              <a:t>1画面で全部入力：
契約者番号 / 利用者ID / ログインPW / 取引実行PW / OTP
→ 5要素を一括。正規ではありえない。</a:t>
            </a:r>
          </a:p>
        </p:txBody>
      </p:sp>
      <p:sp>
        <p:nvSpPr>
          <p:cNvPr id="21" name="Rectangle 20"/>
          <p:cNvSpPr/>
          <p:nvPr/>
        </p:nvSpPr>
        <p:spPr>
          <a:xfrm>
            <a:off x="731520" y="5577840"/>
            <a:ext cx="13624560" cy="365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Meiryo"/>
              </a:rPr>
              <a:t>OTPの時間制限が犯人に有利に働く — リアルタイムだから成立する</a:t>
            </a:r>
          </a:p>
        </p:txBody>
      </p:sp>
      <p:sp>
        <p:nvSpPr>
          <p:cNvPr id="22" name="Rectangle 21"/>
          <p:cNvSpPr/>
          <p:nvPr/>
        </p:nvSpPr>
        <p:spPr>
          <a:xfrm>
            <a:off x="731520" y="5943600"/>
            <a:ext cx="13624560" cy="640080"/>
          </a:xfrm>
          <a:prstGeom prst="rect">
            <a:avLst/>
          </a:prstGeom>
          <a:solidFill>
            <a:srgbClr val="FFFFFF"/>
          </a:solidFill>
          <a:ln w="254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63500" rIns="50800" tIns="38100" bIns="38100"/>
          <a:lstStyle/>
          <a:p>
            <a:pPr algn="l"/>
            <a:r>
              <a:rPr sz="900" b="0">
                <a:solidFill>
                  <a:srgbClr val="222222"/>
                </a:solidFill>
                <a:latin typeface="Meiryo"/>
              </a:rPr>
              <a:t>① 犯人：裏でBizSTATIONにアクセス → OTP入力画面まで進む
② 犯人：電話で「OTPを入力してください」→ 被害者がスマホに入力
③ 犯人：入力されたOTP（有効期限30〜60秒）を即座に使用 → 送金実行
→ 電話をつないだままだからリアルタイムにできる</a:t>
            </a:r>
          </a:p>
        </p:txBody>
      </p:sp>
      <p:sp>
        <p:nvSpPr>
          <p:cNvPr id="23" name="Rectangle 22"/>
          <p:cNvSpPr/>
          <p:nvPr/>
        </p:nvSpPr>
        <p:spPr>
          <a:xfrm>
            <a:off x="731520" y="6720840"/>
            <a:ext cx="1362456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Meiryo"/>
              </a:rPr>
              <a:t>同じ構図：個人スマホは企業セキュリティの管轄外 → 「顧客の問題」→ 対策されない</a:t>
            </a:r>
          </a:p>
        </p:txBody>
      </p:sp>
      <p:sp>
        <p:nvSpPr>
          <p:cNvPr id="24" name="TextBox 23"/>
          <p:cNvSpPr txBox="1"/>
          <p:nvPr/>
        </p:nvSpPr>
        <p:spPr>
          <a:xfrm>
            <a:off x="9144000" y="10378440"/>
            <a:ext cx="5943600" cy="228600"/>
          </a:xfrm>
          <a:prstGeom prst="rect">
            <a:avLst/>
          </a:prstGeom>
          <a:noFill/>
        </p:spPr>
        <p:txBody>
          <a:bodyPr wrap="square" lIns="50800" rIns="50800" tIns="38100" bIns="38100"/>
          <a:lstStyle/>
          <a:p>
            <a:pPr algn="r"/>
            <a:r>
              <a:rPr sz="700" b="0">
                <a:solidFill>
                  <a:srgbClr val="888888"/>
                </a:solidFill>
                <a:latin typeface="Meiryo"/>
              </a:rPr>
              <a:t>Fraud Kill Chain — 手順⑧ デュアルデバイス攻撃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