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27AE60"/>
                </a:solidFill>
                <a:latin typeface="Meiryo"/>
              </a:rPr>
              <a:t>ホワイトリスト型アプリ制御 — Windowsに標準搭載、追加コストゼロ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DMARCと同じ構図：使えるのに使っていない。設定するだけで手順⑥を確実に止められる。</a:t>
            </a:r>
          </a:p>
        </p:txBody>
      </p:sp>
      <p:sp>
        <p:nvSpPr>
          <p:cNvPr id="4" name="Rectangle 3"/>
          <p:cNvSpPr/>
          <p:nvPr/>
        </p:nvSpPr>
        <p:spPr>
          <a:xfrm>
            <a:off x="731520" y="1051560"/>
            <a:ext cx="658368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ブラックリスト型（従来のアンチウイルス）</a:t>
            </a:r>
          </a:p>
        </p:txBody>
      </p:sp>
      <p:sp>
        <p:nvSpPr>
          <p:cNvPr id="5" name="Rectangle 4"/>
          <p:cNvSpPr/>
          <p:nvPr/>
        </p:nvSpPr>
        <p:spPr>
          <a:xfrm>
            <a:off x="731520" y="1463039"/>
            <a:ext cx="6583680" cy="7315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「既知の悪いもの」をブロック
→ 未知の攻撃は素通り
→ ScreenConnectは正規ツール → ブロックされない</a:t>
            </a:r>
          </a:p>
        </p:txBody>
      </p:sp>
      <p:sp>
        <p:nvSpPr>
          <p:cNvPr id="6" name="Rectangle 5"/>
          <p:cNvSpPr/>
          <p:nvPr/>
        </p:nvSpPr>
        <p:spPr>
          <a:xfrm>
            <a:off x="7772400" y="105156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ホワイトリスト型（AppLocker / WDAC）</a:t>
            </a:r>
          </a:p>
        </p:txBody>
      </p:sp>
      <p:sp>
        <p:nvSpPr>
          <p:cNvPr id="7" name="Rectangle 6"/>
          <p:cNvSpPr/>
          <p:nvPr/>
        </p:nvSpPr>
        <p:spPr>
          <a:xfrm>
            <a:off x="7772400" y="1463039"/>
            <a:ext cx="6400800" cy="7315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「許可されたものだけ」実行可能
→ 許可リストにないものは全部止まる
→ ScreenConnectが許可リストにない → 実行できない</a:t>
            </a:r>
          </a:p>
        </p:txBody>
      </p:sp>
      <p:sp>
        <p:nvSpPr>
          <p:cNvPr id="8" name="Rectangle 7"/>
          <p:cNvSpPr/>
          <p:nvPr/>
        </p:nvSpPr>
        <p:spPr>
          <a:xfrm>
            <a:off x="731520" y="24231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Windowsに標準搭載されているツール</a:t>
            </a:r>
          </a:p>
        </p:txBody>
      </p:sp>
      <p:sp>
        <p:nvSpPr>
          <p:cNvPr id="9" name="Rectangle 8"/>
          <p:cNvSpPr/>
          <p:nvPr/>
        </p:nvSpPr>
        <p:spPr>
          <a:xfrm>
            <a:off x="731520" y="2788920"/>
            <a:ext cx="1828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ツール</a:t>
            </a:r>
          </a:p>
        </p:txBody>
      </p:sp>
      <p:sp>
        <p:nvSpPr>
          <p:cNvPr id="10" name="Rectangle 9"/>
          <p:cNvSpPr/>
          <p:nvPr/>
        </p:nvSpPr>
        <p:spPr>
          <a:xfrm>
            <a:off x="2560320" y="2788920"/>
            <a:ext cx="16459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提供元</a:t>
            </a:r>
          </a:p>
        </p:txBody>
      </p:sp>
      <p:sp>
        <p:nvSpPr>
          <p:cNvPr id="11" name="Rectangle 10"/>
          <p:cNvSpPr/>
          <p:nvPr/>
        </p:nvSpPr>
        <p:spPr>
          <a:xfrm>
            <a:off x="4206240" y="278892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対象OS</a:t>
            </a:r>
          </a:p>
        </p:txBody>
      </p:sp>
      <p:sp>
        <p:nvSpPr>
          <p:cNvPr id="12" name="Rectangle 11"/>
          <p:cNvSpPr/>
          <p:nvPr/>
        </p:nvSpPr>
        <p:spPr>
          <a:xfrm>
            <a:off x="7680959" y="278892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制御範囲</a:t>
            </a:r>
          </a:p>
        </p:txBody>
      </p:sp>
      <p:sp>
        <p:nvSpPr>
          <p:cNvPr id="13" name="Rectangle 12"/>
          <p:cNvSpPr/>
          <p:nvPr/>
        </p:nvSpPr>
        <p:spPr>
          <a:xfrm>
            <a:off x="11338559" y="278892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設定方法</a:t>
            </a:r>
          </a:p>
        </p:txBody>
      </p:sp>
      <p:sp>
        <p:nvSpPr>
          <p:cNvPr id="14" name="Rectangle 13"/>
          <p:cNvSpPr/>
          <p:nvPr/>
        </p:nvSpPr>
        <p:spPr>
          <a:xfrm>
            <a:off x="731520" y="315468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a:t>
            </a:r>
          </a:p>
        </p:txBody>
      </p:sp>
      <p:sp>
        <p:nvSpPr>
          <p:cNvPr id="15" name="Rectangle 14"/>
          <p:cNvSpPr/>
          <p:nvPr/>
        </p:nvSpPr>
        <p:spPr>
          <a:xfrm>
            <a:off x="2560320" y="315468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16" name="Rectangle 15"/>
          <p:cNvSpPr/>
          <p:nvPr/>
        </p:nvSpPr>
        <p:spPr>
          <a:xfrm>
            <a:off x="4206240" y="315468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Enterprise / Education</a:t>
            </a:r>
          </a:p>
        </p:txBody>
      </p:sp>
      <p:sp>
        <p:nvSpPr>
          <p:cNvPr id="17" name="Rectangle 16"/>
          <p:cNvSpPr/>
          <p:nvPr/>
        </p:nvSpPr>
        <p:spPr>
          <a:xfrm>
            <a:off x="7680959" y="315468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exe, msi, スクリプト, DLL</a:t>
            </a:r>
          </a:p>
        </p:txBody>
      </p:sp>
      <p:sp>
        <p:nvSpPr>
          <p:cNvPr id="18" name="Rectangle 17"/>
          <p:cNvSpPr/>
          <p:nvPr/>
        </p:nvSpPr>
        <p:spPr>
          <a:xfrm>
            <a:off x="11338559" y="315468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グループポリシーで設定</a:t>
            </a:r>
          </a:p>
        </p:txBody>
      </p:sp>
      <p:sp>
        <p:nvSpPr>
          <p:cNvPr id="19" name="Rectangle 18"/>
          <p:cNvSpPr/>
          <p:nvPr/>
        </p:nvSpPr>
        <p:spPr>
          <a:xfrm>
            <a:off x="731520" y="3566160"/>
            <a:ext cx="18288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WDAC</a:t>
            </a:r>
          </a:p>
        </p:txBody>
      </p:sp>
      <p:sp>
        <p:nvSpPr>
          <p:cNvPr id="20" name="Rectangle 19"/>
          <p:cNvSpPr/>
          <p:nvPr/>
        </p:nvSpPr>
        <p:spPr>
          <a:xfrm>
            <a:off x="2560320" y="3566160"/>
            <a:ext cx="16459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21" name="Rectangle 20"/>
          <p:cNvSpPr/>
          <p:nvPr/>
        </p:nvSpPr>
        <p:spPr>
          <a:xfrm>
            <a:off x="4206240" y="3566160"/>
            <a:ext cx="34747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全エディション</a:t>
            </a:r>
          </a:p>
        </p:txBody>
      </p:sp>
      <p:sp>
        <p:nvSpPr>
          <p:cNvPr id="22" name="Rectangle 21"/>
          <p:cNvSpPr/>
          <p:nvPr/>
        </p:nvSpPr>
        <p:spPr>
          <a:xfrm>
            <a:off x="7680959" y="3566160"/>
            <a:ext cx="36576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カーネルレベルで制御（より強力）</a:t>
            </a:r>
          </a:p>
        </p:txBody>
      </p:sp>
      <p:sp>
        <p:nvSpPr>
          <p:cNvPr id="23" name="Rectangle 22"/>
          <p:cNvSpPr/>
          <p:nvPr/>
        </p:nvSpPr>
        <p:spPr>
          <a:xfrm>
            <a:off x="11338559" y="3566160"/>
            <a:ext cx="30175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PowerShell / Intune等</a:t>
            </a:r>
          </a:p>
        </p:txBody>
      </p:sp>
      <p:sp>
        <p:nvSpPr>
          <p:cNvPr id="24" name="Rectangle 23"/>
          <p:cNvSpPr/>
          <p:nvPr/>
        </p:nvSpPr>
        <p:spPr>
          <a:xfrm>
            <a:off x="731520" y="397764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MDM連携</a:t>
            </a:r>
          </a:p>
        </p:txBody>
      </p:sp>
      <p:sp>
        <p:nvSpPr>
          <p:cNvPr id="25" name="Rectangle 24"/>
          <p:cNvSpPr/>
          <p:nvPr/>
        </p:nvSpPr>
        <p:spPr>
          <a:xfrm>
            <a:off x="2560320" y="397764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Intune等</a:t>
            </a:r>
          </a:p>
        </p:txBody>
      </p:sp>
      <p:sp>
        <p:nvSpPr>
          <p:cNvPr id="26" name="Rectangle 25"/>
          <p:cNvSpPr/>
          <p:nvPr/>
        </p:nvSpPr>
        <p:spPr>
          <a:xfrm>
            <a:off x="4206240" y="397764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全エディション（Intune契約時）</a:t>
            </a:r>
          </a:p>
        </p:txBody>
      </p:sp>
      <p:sp>
        <p:nvSpPr>
          <p:cNvPr id="27" name="Rectangle 26"/>
          <p:cNvSpPr/>
          <p:nvPr/>
        </p:nvSpPr>
        <p:spPr>
          <a:xfrm>
            <a:off x="7680959" y="397764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アプリ配布・制御を一元管理</a:t>
            </a:r>
          </a:p>
        </p:txBody>
      </p:sp>
      <p:sp>
        <p:nvSpPr>
          <p:cNvPr id="28" name="Rectangle 27"/>
          <p:cNvSpPr/>
          <p:nvPr/>
        </p:nvSpPr>
        <p:spPr>
          <a:xfrm>
            <a:off x="11338559" y="397764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クラウドから配信</a:t>
            </a:r>
          </a:p>
        </p:txBody>
      </p:sp>
      <p:sp>
        <p:nvSpPr>
          <p:cNvPr id="29" name="Rectangle 28"/>
          <p:cNvSpPr/>
          <p:nvPr/>
        </p:nvSpPr>
        <p:spPr>
          <a:xfrm>
            <a:off x="731520" y="44805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この攻撃に対する効果</a:t>
            </a:r>
          </a:p>
        </p:txBody>
      </p:sp>
      <p:sp>
        <p:nvSpPr>
          <p:cNvPr id="30" name="Rectangle 29"/>
          <p:cNvSpPr/>
          <p:nvPr/>
        </p:nvSpPr>
        <p:spPr>
          <a:xfrm>
            <a:off x="731520" y="4937760"/>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AppLocker許可リスト（設定例）</a:t>
            </a:r>
          </a:p>
        </p:txBody>
      </p:sp>
      <p:sp>
        <p:nvSpPr>
          <p:cNvPr id="31" name="Rectangle 30"/>
          <p:cNvSpPr/>
          <p:nvPr/>
        </p:nvSpPr>
        <p:spPr>
          <a:xfrm>
            <a:off x="731520" y="5257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Microsoft Office</a:t>
            </a:r>
          </a:p>
        </p:txBody>
      </p:sp>
      <p:sp>
        <p:nvSpPr>
          <p:cNvPr id="32" name="Rectangle 31"/>
          <p:cNvSpPr/>
          <p:nvPr/>
        </p:nvSpPr>
        <p:spPr>
          <a:xfrm>
            <a:off x="731520" y="5532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業務アプリA, B, C</a:t>
            </a:r>
          </a:p>
        </p:txBody>
      </p:sp>
      <p:sp>
        <p:nvSpPr>
          <p:cNvPr id="33" name="Rectangle 32"/>
          <p:cNvSpPr/>
          <p:nvPr/>
        </p:nvSpPr>
        <p:spPr>
          <a:xfrm>
            <a:off x="731520" y="5806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Rapport（IBM署名）</a:t>
            </a:r>
          </a:p>
        </p:txBody>
      </p:sp>
      <p:sp>
        <p:nvSpPr>
          <p:cNvPr id="34" name="Rectangle 33"/>
          <p:cNvSpPr/>
          <p:nvPr/>
        </p:nvSpPr>
        <p:spPr>
          <a:xfrm>
            <a:off x="731520" y="6080760"/>
            <a:ext cx="658368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 それ以外すべて → 実行拒否</a:t>
            </a:r>
          </a:p>
        </p:txBody>
      </p:sp>
      <p:sp>
        <p:nvSpPr>
          <p:cNvPr id="35" name="Rectangle 34"/>
          <p:cNvSpPr/>
          <p:nvPr/>
        </p:nvSpPr>
        <p:spPr>
          <a:xfrm>
            <a:off x="7772400" y="493776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攻撃時の流れ</a:t>
            </a:r>
          </a:p>
        </p:txBody>
      </p:sp>
      <p:sp>
        <p:nvSpPr>
          <p:cNvPr id="36" name="Rectangle 35"/>
          <p:cNvSpPr/>
          <p:nvPr/>
        </p:nvSpPr>
        <p:spPr>
          <a:xfrm>
            <a:off x="7772400" y="5257800"/>
            <a:ext cx="640080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犯人「実行するをクリックしてください」</a:t>
            </a:r>
          </a:p>
        </p:txBody>
      </p:sp>
      <p:sp>
        <p:nvSpPr>
          <p:cNvPr id="37" name="Rectangle 36"/>
          <p:cNvSpPr/>
          <p:nvPr/>
        </p:nvSpPr>
        <p:spPr>
          <a:xfrm>
            <a:off x="7772400" y="5605272"/>
            <a:ext cx="64008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被害者がクリック</a:t>
            </a:r>
          </a:p>
        </p:txBody>
      </p:sp>
      <p:sp>
        <p:nvSpPr>
          <p:cNvPr id="38" name="Rectangle 37"/>
          <p:cNvSpPr/>
          <p:nvPr/>
        </p:nvSpPr>
        <p:spPr>
          <a:xfrm>
            <a:off x="7772400" y="5952744"/>
            <a:ext cx="6400800" cy="320040"/>
          </a:xfrm>
          <a:prstGeom prst="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OS「このアプリは組織のポリシーにより実行できません」</a:t>
            </a:r>
          </a:p>
        </p:txBody>
      </p:sp>
      <p:sp>
        <p:nvSpPr>
          <p:cNvPr id="39" name="Rectangle 38"/>
          <p:cNvSpPr/>
          <p:nvPr/>
        </p:nvSpPr>
        <p:spPr>
          <a:xfrm>
            <a:off x="7772400" y="6300216"/>
            <a:ext cx="6400800" cy="320040"/>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犯人が何を言っても突破不可能 ★</a:t>
            </a:r>
          </a:p>
        </p:txBody>
      </p:sp>
      <p:sp>
        <p:nvSpPr>
          <p:cNvPr id="40" name="Rectangle 39"/>
          <p:cNvSpPr/>
          <p:nvPr/>
        </p:nvSpPr>
        <p:spPr>
          <a:xfrm>
            <a:off x="731520" y="6766560"/>
            <a:ext cx="448056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TextBox 40"/>
          <p:cNvSpPr txBox="1"/>
          <p:nvPr/>
        </p:nvSpPr>
        <p:spPr>
          <a:xfrm>
            <a:off x="914400" y="6812280"/>
            <a:ext cx="4114800" cy="685800"/>
          </a:xfrm>
          <a:prstGeom prst="rect">
            <a:avLst/>
          </a:prstGeom>
          <a:noFill/>
        </p:spPr>
        <p:txBody>
          <a:bodyPr wrap="square" lIns="50800" rIns="50800" tIns="38100" bIns="38100"/>
          <a:lstStyle/>
          <a:p>
            <a:pPr algn="l"/>
            <a:r>
              <a:rPr sz="1200" b="1">
                <a:solidFill>
                  <a:srgbClr val="FFFFFF"/>
                </a:solidFill>
                <a:latin typeface="Meiryo"/>
              </a:rPr>
              <a:t>追加コスト：ゼロ
追加ソフト：不要
必要な作業：ポリシー設定のみ</a:t>
            </a:r>
          </a:p>
        </p:txBody>
      </p:sp>
      <p:sp>
        <p:nvSpPr>
          <p:cNvPr id="42" name="Rectangle 41"/>
          <p:cNvSpPr/>
          <p:nvPr/>
        </p:nvSpPr>
        <p:spPr>
          <a:xfrm>
            <a:off x="5486400" y="6766560"/>
            <a:ext cx="4572000" cy="777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TextBox 42"/>
          <p:cNvSpPr txBox="1"/>
          <p:nvPr/>
        </p:nvSpPr>
        <p:spPr>
          <a:xfrm>
            <a:off x="5669280" y="6812280"/>
            <a:ext cx="4206240" cy="685800"/>
          </a:xfrm>
          <a:prstGeom prst="rect">
            <a:avLst/>
          </a:prstGeom>
          <a:noFill/>
        </p:spPr>
        <p:txBody>
          <a:bodyPr wrap="square" lIns="50800" rIns="50800" tIns="38100" bIns="38100"/>
          <a:lstStyle/>
          <a:p>
            <a:pPr algn="l"/>
            <a:r>
              <a:rPr sz="1200" b="1">
                <a:solidFill>
                  <a:srgbClr val="FFFFFF"/>
                </a:solidFill>
                <a:latin typeface="Meiryo"/>
              </a:rPr>
              <a:t>電話で回避できない
管理者権限がないと
ポリシー変更できない</a:t>
            </a:r>
          </a:p>
        </p:txBody>
      </p:sp>
      <p:sp>
        <p:nvSpPr>
          <p:cNvPr id="44" name="Rectangle 43"/>
          <p:cNvSpPr/>
          <p:nvPr/>
        </p:nvSpPr>
        <p:spPr>
          <a:xfrm>
            <a:off x="10332720" y="6766560"/>
            <a:ext cx="4023360" cy="7772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TextBox 44"/>
          <p:cNvSpPr txBox="1"/>
          <p:nvPr/>
        </p:nvSpPr>
        <p:spPr>
          <a:xfrm>
            <a:off x="10515600" y="6812280"/>
            <a:ext cx="3657600" cy="685800"/>
          </a:xfrm>
          <a:prstGeom prst="rect">
            <a:avLst/>
          </a:prstGeom>
          <a:noFill/>
        </p:spPr>
        <p:txBody>
          <a:bodyPr wrap="square" lIns="50800" rIns="50800" tIns="38100" bIns="38100"/>
          <a:lstStyle/>
          <a:p>
            <a:pPr algn="l"/>
            <a:r>
              <a:rPr sz="1200" b="1">
                <a:solidFill>
                  <a:srgbClr val="FFFFFF"/>
                </a:solidFill>
                <a:latin typeface="Meiryo"/>
              </a:rPr>
              <a:t>DMARCと並ぶ
2つ目の確実な
技術的対策</a:t>
            </a:r>
          </a:p>
        </p:txBody>
      </p:sp>
      <p:sp>
        <p:nvSpPr>
          <p:cNvPr id="46" name="Rectangle 45"/>
          <p:cNvSpPr/>
          <p:nvPr/>
        </p:nvSpPr>
        <p:spPr>
          <a:xfrm>
            <a:off x="731520" y="77724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Kill Chainを技術的に切れるポイント：④ DMARC p=reject（メール遮断）＋ ⑥ AppLocker/WDAC（実行阻止）— どちらも標準搭載・追加コストゼロ</a:t>
            </a:r>
          </a:p>
        </p:txBody>
      </p:sp>
      <p:sp>
        <p:nvSpPr>
          <p:cNvPr id="47" name="TextBox 4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ホワイトリスト型アプリ制御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「顧客の問題」にしている限り、この攻撃は止まらない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全ての対策が「顧客にやってね」で丸投げされている。DMARCも AppLockerも同じ構図。</a:t>
            </a:r>
          </a:p>
        </p:txBody>
      </p:sp>
      <p:sp>
        <p:nvSpPr>
          <p:cNvPr id="4" name="Rectangle 3"/>
          <p:cNvSpPr/>
          <p:nvPr/>
        </p:nvSpPr>
        <p:spPr>
          <a:xfrm>
            <a:off x="731520" y="10515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対策の責任はどこにあるか？</a:t>
            </a:r>
          </a:p>
        </p:txBody>
      </p:sp>
      <p:sp>
        <p:nvSpPr>
          <p:cNvPr id="5" name="Rectangle 4"/>
          <p:cNvSpPr/>
          <p:nvPr/>
        </p:nvSpPr>
        <p:spPr>
          <a:xfrm>
            <a:off x="7315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6" name="Rectangle 5"/>
          <p:cNvSpPr/>
          <p:nvPr/>
        </p:nvSpPr>
        <p:spPr>
          <a:xfrm>
            <a:off x="34747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設定する場所</a:t>
            </a:r>
          </a:p>
        </p:txBody>
      </p:sp>
      <p:sp>
        <p:nvSpPr>
          <p:cNvPr id="7" name="Rectangle 6"/>
          <p:cNvSpPr/>
          <p:nvPr/>
        </p:nvSpPr>
        <p:spPr>
          <a:xfrm>
            <a:off x="62179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設定する人</a:t>
            </a:r>
          </a:p>
        </p:txBody>
      </p:sp>
      <p:sp>
        <p:nvSpPr>
          <p:cNvPr id="8" name="Rectangle 7"/>
          <p:cNvSpPr/>
          <p:nvPr/>
        </p:nvSpPr>
        <p:spPr>
          <a:xfrm>
            <a:off x="8961120" y="1463039"/>
            <a:ext cx="53949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責任</a:t>
            </a:r>
          </a:p>
        </p:txBody>
      </p:sp>
      <p:sp>
        <p:nvSpPr>
          <p:cNvPr id="9" name="Rectangle 8"/>
          <p:cNvSpPr/>
          <p:nvPr/>
        </p:nvSpPr>
        <p:spPr>
          <a:xfrm>
            <a:off x="731520" y="1828800"/>
            <a:ext cx="274320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DMARC p=reject</a:t>
            </a:r>
          </a:p>
        </p:txBody>
      </p:sp>
      <p:sp>
        <p:nvSpPr>
          <p:cNvPr id="10" name="Rectangle 9"/>
          <p:cNvSpPr/>
          <p:nvPr/>
        </p:nvSpPr>
        <p:spPr>
          <a:xfrm>
            <a:off x="34747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銀行のメールサーバ</a:t>
            </a:r>
          </a:p>
        </p:txBody>
      </p:sp>
      <p:sp>
        <p:nvSpPr>
          <p:cNvPr id="11" name="Rectangle 10"/>
          <p:cNvSpPr/>
          <p:nvPr/>
        </p:nvSpPr>
        <p:spPr>
          <a:xfrm>
            <a:off x="62179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銀行のIT部門</a:t>
            </a:r>
          </a:p>
        </p:txBody>
      </p:sp>
      <p:sp>
        <p:nvSpPr>
          <p:cNvPr id="12" name="Rectangle 11"/>
          <p:cNvSpPr/>
          <p:nvPr/>
        </p:nvSpPr>
        <p:spPr>
          <a:xfrm>
            <a:off x="8961120" y="1828800"/>
            <a:ext cx="539496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100%銀行側の問題。顧客は何もできない。</a:t>
            </a:r>
          </a:p>
        </p:txBody>
      </p:sp>
      <p:sp>
        <p:nvSpPr>
          <p:cNvPr id="13" name="Rectangle 12"/>
          <p:cNvSpPr/>
          <p:nvPr/>
        </p:nvSpPr>
        <p:spPr>
          <a:xfrm>
            <a:off x="731520" y="2240280"/>
            <a:ext cx="274320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AppLocker/WDAC</a:t>
            </a:r>
          </a:p>
        </p:txBody>
      </p:sp>
      <p:sp>
        <p:nvSpPr>
          <p:cNvPr id="14" name="Rectangle 13"/>
          <p:cNvSpPr/>
          <p:nvPr/>
        </p:nvSpPr>
        <p:spPr>
          <a:xfrm>
            <a:off x="34747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顧客企業のPC</a:t>
            </a:r>
          </a:p>
        </p:txBody>
      </p:sp>
      <p:sp>
        <p:nvSpPr>
          <p:cNvPr id="15" name="Rectangle 14"/>
          <p:cNvSpPr/>
          <p:nvPr/>
        </p:nvSpPr>
        <p:spPr>
          <a:xfrm>
            <a:off x="62179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顧客企業のIT部門</a:t>
            </a:r>
          </a:p>
        </p:txBody>
      </p:sp>
      <p:sp>
        <p:nvSpPr>
          <p:cNvPr id="16" name="Rectangle 15"/>
          <p:cNvSpPr/>
          <p:nvPr/>
        </p:nvSpPr>
        <p:spPr>
          <a:xfrm>
            <a:off x="8961120" y="2240280"/>
            <a:ext cx="539496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顧客企業の問題…に見えるが →</a:t>
            </a:r>
          </a:p>
        </p:txBody>
      </p:sp>
      <p:sp>
        <p:nvSpPr>
          <p:cNvPr id="17" name="Rectangle 16"/>
          <p:cNvSpPr/>
          <p:nvPr/>
        </p:nvSpPr>
        <p:spPr>
          <a:xfrm>
            <a:off x="731520" y="2880360"/>
            <a:ext cx="1362456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BizSTATION利用企業のIT体制 — AppLockerを設定できるか？</a:t>
            </a:r>
          </a:p>
        </p:txBody>
      </p:sp>
      <p:sp>
        <p:nvSpPr>
          <p:cNvPr id="18" name="Rectangle 17"/>
          <p:cNvSpPr/>
          <p:nvPr/>
        </p:nvSpPr>
        <p:spPr>
          <a:xfrm>
            <a:off x="731520" y="329184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19" name="Rectangle 18"/>
          <p:cNvSpPr/>
          <p:nvPr/>
        </p:nvSpPr>
        <p:spPr>
          <a:xfrm>
            <a:off x="3474720" y="3291840"/>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情シス部門あり</a:t>
            </a:r>
          </a:p>
        </p:txBody>
      </p:sp>
      <p:sp>
        <p:nvSpPr>
          <p:cNvPr id="20" name="Rectangle 19"/>
          <p:cNvSpPr/>
          <p:nvPr/>
        </p:nvSpPr>
        <p:spPr>
          <a:xfrm>
            <a:off x="7132320" y="3291840"/>
            <a:ext cx="4114800" cy="3840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可能</a:t>
            </a:r>
          </a:p>
        </p:txBody>
      </p:sp>
      <p:sp>
        <p:nvSpPr>
          <p:cNvPr id="21" name="Rectangle 20"/>
          <p:cNvSpPr/>
          <p:nvPr/>
        </p:nvSpPr>
        <p:spPr>
          <a:xfrm>
            <a:off x="731520" y="367588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中堅企業</a:t>
            </a:r>
          </a:p>
        </p:txBody>
      </p:sp>
      <p:sp>
        <p:nvSpPr>
          <p:cNvPr id="22" name="Rectangle 21"/>
          <p:cNvSpPr/>
          <p:nvPr/>
        </p:nvSpPr>
        <p:spPr>
          <a:xfrm>
            <a:off x="3474720" y="3675888"/>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IT担当が1〜2人</a:t>
            </a:r>
          </a:p>
        </p:txBody>
      </p:sp>
      <p:sp>
        <p:nvSpPr>
          <p:cNvPr id="23" name="Rectangle 22"/>
          <p:cNvSpPr/>
          <p:nvPr/>
        </p:nvSpPr>
        <p:spPr>
          <a:xfrm>
            <a:off x="7132320" y="3675888"/>
            <a:ext cx="4114800" cy="38404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厳しい</a:t>
            </a:r>
          </a:p>
        </p:txBody>
      </p:sp>
      <p:sp>
        <p:nvSpPr>
          <p:cNvPr id="24" name="Rectangle 23"/>
          <p:cNvSpPr/>
          <p:nvPr/>
        </p:nvSpPr>
        <p:spPr>
          <a:xfrm>
            <a:off x="731520" y="405993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25" name="Rectangle 24"/>
          <p:cNvSpPr/>
          <p:nvPr/>
        </p:nvSpPr>
        <p:spPr>
          <a:xfrm>
            <a:off x="3474720" y="4059936"/>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IT専任者なし</a:t>
            </a:r>
          </a:p>
        </p:txBody>
      </p:sp>
      <p:sp>
        <p:nvSpPr>
          <p:cNvPr id="26" name="Rectangle 25"/>
          <p:cNvSpPr/>
          <p:nvPr/>
        </p:nvSpPr>
        <p:spPr>
          <a:xfrm>
            <a:off x="7132320" y="4059936"/>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無理</a:t>
            </a:r>
          </a:p>
        </p:txBody>
      </p:sp>
      <p:sp>
        <p:nvSpPr>
          <p:cNvPr id="27" name="Rectangle 26"/>
          <p:cNvSpPr/>
          <p:nvPr/>
        </p:nvSpPr>
        <p:spPr>
          <a:xfrm>
            <a:off x="731520" y="444398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小規模事業者</a:t>
            </a:r>
          </a:p>
        </p:txBody>
      </p:sp>
      <p:sp>
        <p:nvSpPr>
          <p:cNvPr id="28" name="Rectangle 27"/>
          <p:cNvSpPr/>
          <p:nvPr/>
        </p:nvSpPr>
        <p:spPr>
          <a:xfrm>
            <a:off x="3474720" y="4443984"/>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社長がPC管理</a:t>
            </a:r>
          </a:p>
        </p:txBody>
      </p:sp>
      <p:sp>
        <p:nvSpPr>
          <p:cNvPr id="29" name="Rectangle 28"/>
          <p:cNvSpPr/>
          <p:nvPr/>
        </p:nvSpPr>
        <p:spPr>
          <a:xfrm>
            <a:off x="7132320" y="4443984"/>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論外</a:t>
            </a:r>
          </a:p>
        </p:txBody>
      </p:sp>
      <p:sp>
        <p:nvSpPr>
          <p:cNvPr id="30" name="Rectangle 29"/>
          <p:cNvSpPr/>
          <p:nvPr/>
        </p:nvSpPr>
        <p:spPr>
          <a:xfrm>
            <a:off x="731520" y="49377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すべて同じ構図：「顧客にやってね」で丸投げ → 機能しない</a:t>
            </a:r>
          </a:p>
        </p:txBody>
      </p:sp>
      <p:sp>
        <p:nvSpPr>
          <p:cNvPr id="31" name="Rectangle 30"/>
          <p:cNvSpPr/>
          <p:nvPr/>
        </p:nvSpPr>
        <p:spPr>
          <a:xfrm>
            <a:off x="731520" y="5349240"/>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「メールのリンクをクリックしないで」</a:t>
            </a:r>
          </a:p>
        </p:txBody>
      </p:sp>
      <p:sp>
        <p:nvSpPr>
          <p:cNvPr id="32" name="Rectangle 31"/>
          <p:cNvSpPr/>
          <p:nvPr/>
        </p:nvSpPr>
        <p:spPr>
          <a:xfrm>
            <a:off x="7589520" y="5349240"/>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3" name="Rectangle 32"/>
          <p:cNvSpPr/>
          <p:nvPr/>
        </p:nvSpPr>
        <p:spPr>
          <a:xfrm>
            <a:off x="731520" y="5696712"/>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「ブックマークからアクセスして」</a:t>
            </a:r>
          </a:p>
        </p:txBody>
      </p:sp>
      <p:sp>
        <p:nvSpPr>
          <p:cNvPr id="34" name="Rectangle 33"/>
          <p:cNvSpPr/>
          <p:nvPr/>
        </p:nvSpPr>
        <p:spPr>
          <a:xfrm>
            <a:off x="7589520" y="5696712"/>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5" name="Rectangle 34"/>
          <p:cNvSpPr/>
          <p:nvPr/>
        </p:nvSpPr>
        <p:spPr>
          <a:xfrm>
            <a:off x="731520" y="6044184"/>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「不明な発行元に注意して」</a:t>
            </a:r>
          </a:p>
        </p:txBody>
      </p:sp>
      <p:sp>
        <p:nvSpPr>
          <p:cNvPr id="36" name="Rectangle 35"/>
          <p:cNvSpPr/>
          <p:nvPr/>
        </p:nvSpPr>
        <p:spPr>
          <a:xfrm>
            <a:off x="7589520" y="6044184"/>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7" name="Rectangle 36"/>
          <p:cNvSpPr/>
          <p:nvPr/>
        </p:nvSpPr>
        <p:spPr>
          <a:xfrm>
            <a:off x="731520" y="6391656"/>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「AppLockerを設定してください」</a:t>
            </a:r>
          </a:p>
        </p:txBody>
      </p:sp>
      <p:sp>
        <p:nvSpPr>
          <p:cNvPr id="38" name="Rectangle 37"/>
          <p:cNvSpPr/>
          <p:nvPr/>
        </p:nvSpPr>
        <p:spPr>
          <a:xfrm>
            <a:off x="7589520" y="6391656"/>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9" name="Rectangle 38"/>
          <p:cNvSpPr/>
          <p:nvPr/>
        </p:nvSpPr>
        <p:spPr>
          <a:xfrm>
            <a:off x="731520" y="685800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銀行がやるべきこと</a:t>
            </a:r>
          </a:p>
        </p:txBody>
      </p:sp>
      <p:sp>
        <p:nvSpPr>
          <p:cNvPr id="40" name="Rectangle 39"/>
          <p:cNvSpPr/>
          <p:nvPr/>
        </p:nvSpPr>
        <p:spPr>
          <a:xfrm>
            <a:off x="731520" y="722376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DMARC p=reject</a:t>
            </a:r>
          </a:p>
        </p:txBody>
      </p:sp>
      <p:sp>
        <p:nvSpPr>
          <p:cNvPr id="41" name="Rectangle 40"/>
          <p:cNvSpPr/>
          <p:nvPr/>
        </p:nvSpPr>
        <p:spPr>
          <a:xfrm>
            <a:off x="3931920" y="72237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銀行が自分で設定する</a:t>
            </a:r>
          </a:p>
        </p:txBody>
      </p:sp>
      <p:sp>
        <p:nvSpPr>
          <p:cNvPr id="42" name="Rectangle 41"/>
          <p:cNvSpPr/>
          <p:nvPr/>
        </p:nvSpPr>
        <p:spPr>
          <a:xfrm>
            <a:off x="8961120" y="722376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3" name="Rectangle 42"/>
          <p:cNvSpPr/>
          <p:nvPr/>
        </p:nvSpPr>
        <p:spPr>
          <a:xfrm>
            <a:off x="731520" y="758952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AppLocker/WDAC設定支援</a:t>
            </a:r>
          </a:p>
        </p:txBody>
      </p:sp>
      <p:sp>
        <p:nvSpPr>
          <p:cNvPr id="44" name="Rectangle 43"/>
          <p:cNvSpPr/>
          <p:nvPr/>
        </p:nvSpPr>
        <p:spPr>
          <a:xfrm>
            <a:off x="3931920" y="75895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BizSTATION契約時に設定を支援する</a:t>
            </a:r>
          </a:p>
        </p:txBody>
      </p:sp>
      <p:sp>
        <p:nvSpPr>
          <p:cNvPr id="45" name="Rectangle 44"/>
          <p:cNvSpPr/>
          <p:nvPr/>
        </p:nvSpPr>
        <p:spPr>
          <a:xfrm>
            <a:off x="8961120" y="758952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6" name="Rectangle 45"/>
          <p:cNvSpPr/>
          <p:nvPr/>
        </p:nvSpPr>
        <p:spPr>
          <a:xfrm>
            <a:off x="731520" y="795528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初期設定ツール提供</a:t>
            </a:r>
          </a:p>
        </p:txBody>
      </p:sp>
      <p:sp>
        <p:nvSpPr>
          <p:cNvPr id="47" name="Rectangle 46"/>
          <p:cNvSpPr/>
          <p:nvPr/>
        </p:nvSpPr>
        <p:spPr>
          <a:xfrm>
            <a:off x="3931920" y="79552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ワンクリックで設定完了するツール</a:t>
            </a:r>
          </a:p>
        </p:txBody>
      </p:sp>
      <p:sp>
        <p:nvSpPr>
          <p:cNvPr id="48" name="Rectangle 47"/>
          <p:cNvSpPr/>
          <p:nvPr/>
        </p:nvSpPr>
        <p:spPr>
          <a:xfrm>
            <a:off x="8961120" y="795528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実行するだけ</a:t>
            </a:r>
          </a:p>
        </p:txBody>
      </p:sp>
      <p:sp>
        <p:nvSpPr>
          <p:cNvPr id="49" name="Rectangle 48"/>
          <p:cNvSpPr/>
          <p:nvPr/>
        </p:nvSpPr>
        <p:spPr>
          <a:xfrm>
            <a:off x="731520" y="832104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BizSTATION利用条件に含める</a:t>
            </a:r>
          </a:p>
        </p:txBody>
      </p:sp>
      <p:sp>
        <p:nvSpPr>
          <p:cNvPr id="50" name="Rectangle 49"/>
          <p:cNvSpPr/>
          <p:nvPr/>
        </p:nvSpPr>
        <p:spPr>
          <a:xfrm>
            <a:off x="3931920" y="832104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アプリ制御を契約要件にする</a:t>
            </a:r>
          </a:p>
        </p:txBody>
      </p:sp>
      <p:sp>
        <p:nvSpPr>
          <p:cNvPr id="51" name="Rectangle 50"/>
          <p:cNvSpPr/>
          <p:nvPr/>
        </p:nvSpPr>
        <p:spPr>
          <a:xfrm>
            <a:off x="8961120" y="832104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IT業者に設定を依頼</a:t>
            </a:r>
          </a:p>
        </p:txBody>
      </p:sp>
      <p:sp>
        <p:nvSpPr>
          <p:cNvPr id="52" name="TextBox 5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責任の所在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手順⑦ 赤い画面 — PCを封印し、犯人の操作を隠す</a:t>
            </a:r>
          </a:p>
        </p:txBody>
      </p:sp>
      <p:sp>
        <p:nvSpPr>
          <p:cNvPr id="3" name="Rectangle 2"/>
          <p:cNvSpPr/>
          <p:nvPr/>
        </p:nvSpPr>
        <p:spPr>
          <a:xfrm>
            <a:off x="731520" y="777240"/>
            <a:ext cx="1362456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 name="TextBox 3"/>
          <p:cNvSpPr txBox="1"/>
          <p:nvPr/>
        </p:nvSpPr>
        <p:spPr>
          <a:xfrm>
            <a:off x="1188720" y="868680"/>
            <a:ext cx="12710160" cy="868680"/>
          </a:xfrm>
          <a:prstGeom prst="rect">
            <a:avLst/>
          </a:prstGeom>
          <a:noFill/>
        </p:spPr>
        <p:txBody>
          <a:bodyPr wrap="square" lIns="50800" rIns="50800" tIns="38100" bIns="38100"/>
          <a:lstStyle/>
          <a:p>
            <a:pPr algn="l"/>
            <a:r>
              <a:rPr sz="1100" b="1">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5" name="Rectangle 4"/>
          <p:cNvSpPr/>
          <p:nvPr/>
        </p:nvSpPr>
        <p:spPr>
          <a:xfrm>
            <a:off x="731520" y="1920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赤い画面の3つの役割</a:t>
            </a:r>
          </a:p>
        </p:txBody>
      </p:sp>
      <p:sp>
        <p:nvSpPr>
          <p:cNvPr id="6" name="Rectangle 5"/>
          <p:cNvSpPr/>
          <p:nvPr/>
        </p:nvSpPr>
        <p:spPr>
          <a:xfrm>
            <a:off x="731520" y="2286000"/>
            <a:ext cx="36576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PCを「封印」する</a:t>
            </a:r>
          </a:p>
        </p:txBody>
      </p:sp>
      <p:sp>
        <p:nvSpPr>
          <p:cNvPr id="7" name="Rectangle 6"/>
          <p:cNvSpPr/>
          <p:nvPr/>
        </p:nvSpPr>
        <p:spPr>
          <a:xfrm>
            <a:off x="4389120" y="2286000"/>
            <a:ext cx="9966960" cy="5029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被害者はPCを操作できない。BizSTATIONで自分で確認することも不可能。</a:t>
            </a:r>
          </a:p>
        </p:txBody>
      </p:sp>
      <p:sp>
        <p:nvSpPr>
          <p:cNvPr id="8" name="Rectangle 7"/>
          <p:cNvSpPr/>
          <p:nvPr/>
        </p:nvSpPr>
        <p:spPr>
          <a:xfrm>
            <a:off x="731520" y="2788920"/>
            <a:ext cx="36576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犯人の操作を隠す</a:t>
            </a:r>
          </a:p>
        </p:txBody>
      </p:sp>
      <p:sp>
        <p:nvSpPr>
          <p:cNvPr id="9" name="Rectangle 8"/>
          <p:cNvSpPr/>
          <p:nvPr/>
        </p:nvSpPr>
        <p:spPr>
          <a:xfrm>
            <a:off x="4389120" y="2788920"/>
            <a:ext cx="996696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赤い画面の裏でScreenConnect経由のPC操作が進行。被害者には見えない。</a:t>
            </a:r>
          </a:p>
        </p:txBody>
      </p:sp>
      <p:sp>
        <p:nvSpPr>
          <p:cNvPr id="10" name="Rectangle 9"/>
          <p:cNvSpPr/>
          <p:nvPr/>
        </p:nvSpPr>
        <p:spPr>
          <a:xfrm>
            <a:off x="731520" y="3291840"/>
            <a:ext cx="36576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被害者を「待機」させる</a:t>
            </a:r>
          </a:p>
        </p:txBody>
      </p:sp>
      <p:sp>
        <p:nvSpPr>
          <p:cNvPr id="11" name="Rectangle 10"/>
          <p:cNvSpPr/>
          <p:nvPr/>
        </p:nvSpPr>
        <p:spPr>
          <a:xfrm>
            <a:off x="4389120" y="3291840"/>
            <a:ext cx="996696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「処理完了までお待ちください」→ 異常を見ても「正常」と信じて待つ。</a:t>
            </a:r>
          </a:p>
        </p:txBody>
      </p:sp>
      <p:sp>
        <p:nvSpPr>
          <p:cNvPr id="12" name="Rectangle 11"/>
          <p:cNvSpPr/>
          <p:nvPr/>
        </p:nvSpPr>
        <p:spPr>
          <a:xfrm>
            <a:off x="731520" y="388620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 破綻ポイント：銀行のシステム更新で顧客PCの画面が赤くなることはありえない</a:t>
            </a:r>
          </a:p>
        </p:txBody>
      </p:sp>
      <p:sp>
        <p:nvSpPr>
          <p:cNvPr id="13" name="TextBox 12"/>
          <p:cNvSpPr txBox="1"/>
          <p:nvPr/>
        </p:nvSpPr>
        <p:spPr>
          <a:xfrm>
            <a:off x="731520" y="4325112"/>
            <a:ext cx="13624560" cy="274320"/>
          </a:xfrm>
          <a:prstGeom prst="rect">
            <a:avLst/>
          </a:prstGeom>
          <a:noFill/>
        </p:spPr>
        <p:txBody>
          <a:bodyPr wrap="square" lIns="50800" rIns="50800" tIns="38100" bIns="38100"/>
          <a:lstStyle/>
          <a:p>
            <a:pPr algn="l"/>
            <a:r>
              <a:rPr sz="900" b="0">
                <a:solidFill>
                  <a:srgbClr val="888888"/>
                </a:solidFill>
                <a:latin typeface="Meiryo"/>
              </a:rPr>
              <a:t>IBのシステム更新はサーバー側の処理。顧客PCの画面が止まるわけがない。→ 手順②からの信頼の蓄積で気づけない。</a:t>
            </a:r>
          </a:p>
        </p:txBody>
      </p:sp>
      <p:sp>
        <p:nvSpPr>
          <p:cNvPr id="14" name="Rectangle 13"/>
          <p:cNvSpPr/>
          <p:nvPr/>
        </p:nvSpPr>
        <p:spPr>
          <a:xfrm>
            <a:off x="731520" y="47091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企業側で検知できるポイント</a:t>
            </a:r>
          </a:p>
        </p:txBody>
      </p:sp>
      <p:sp>
        <p:nvSpPr>
          <p:cNvPr id="15" name="Rectangle 14"/>
          <p:cNvSpPr/>
          <p:nvPr/>
        </p:nvSpPr>
        <p:spPr>
          <a:xfrm>
            <a:off x="731520" y="5074920"/>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ScreenConnectのプロセス検知</a:t>
            </a:r>
          </a:p>
        </p:txBody>
      </p:sp>
      <p:sp>
        <p:nvSpPr>
          <p:cNvPr id="16" name="Rectangle 15"/>
          <p:cNvSpPr/>
          <p:nvPr/>
        </p:nvSpPr>
        <p:spPr>
          <a:xfrm>
            <a:off x="7589520" y="5074920"/>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EDRで検知可能</a:t>
            </a:r>
          </a:p>
        </p:txBody>
      </p:sp>
      <p:sp>
        <p:nvSpPr>
          <p:cNvPr id="17" name="Rectangle 16"/>
          <p:cNvSpPr/>
          <p:nvPr/>
        </p:nvSpPr>
        <p:spPr>
          <a:xfrm>
            <a:off x="731520" y="5422392"/>
            <a:ext cx="6858000" cy="347472"/>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C2サーバへの不審な通信</a:t>
            </a:r>
          </a:p>
        </p:txBody>
      </p:sp>
      <p:sp>
        <p:nvSpPr>
          <p:cNvPr id="18" name="Rectangle 17"/>
          <p:cNvSpPr/>
          <p:nvPr/>
        </p:nvSpPr>
        <p:spPr>
          <a:xfrm>
            <a:off x="7589520" y="5422392"/>
            <a:ext cx="6766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NW監視/プロキシで検知可能</a:t>
            </a:r>
          </a:p>
        </p:txBody>
      </p:sp>
      <p:sp>
        <p:nvSpPr>
          <p:cNvPr id="19" name="Rectangle 18"/>
          <p:cNvSpPr/>
          <p:nvPr/>
        </p:nvSpPr>
        <p:spPr>
          <a:xfrm>
            <a:off x="731520" y="5769864"/>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リモートデスクトップ系の異常セッション</a:t>
            </a:r>
          </a:p>
        </p:txBody>
      </p:sp>
      <p:sp>
        <p:nvSpPr>
          <p:cNvPr id="20" name="Rectangle 19"/>
          <p:cNvSpPr/>
          <p:nvPr/>
        </p:nvSpPr>
        <p:spPr>
          <a:xfrm>
            <a:off x="7589520" y="5769864"/>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SIEMで検知可能</a:t>
            </a:r>
          </a:p>
        </p:txBody>
      </p:sp>
      <p:sp>
        <p:nvSpPr>
          <p:cNvPr id="21" name="Rectangle 20"/>
          <p:cNvSpPr/>
          <p:nvPr/>
        </p:nvSpPr>
        <p:spPr>
          <a:xfrm>
            <a:off x="731520" y="617220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同じ構図：EDR/NW監視があれば検知可能 → しかし中小企業にはない → また「顧客の問題」になる</a:t>
            </a:r>
          </a:p>
        </p:txBody>
      </p:sp>
      <p:sp>
        <p:nvSpPr>
          <p:cNvPr id="22" name="TextBox 2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手順⑦ 赤い画面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手順⑧ デュアルデバイス攻撃 — 会社PCを封じ、個人スマホで認証を奪う</a:t>
            </a:r>
          </a:p>
        </p:txBody>
      </p:sp>
      <p:sp>
        <p:nvSpPr>
          <p:cNvPr id="3" name="Rectangle 2"/>
          <p:cNvSpPr/>
          <p:nvPr/>
        </p:nvSpPr>
        <p:spPr>
          <a:xfrm>
            <a:off x="731520" y="777240"/>
            <a:ext cx="658368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会社PC（封印済み）</a:t>
            </a:r>
          </a:p>
        </p:txBody>
      </p:sp>
      <p:sp>
        <p:nvSpPr>
          <p:cNvPr id="4" name="Rectangle 3"/>
          <p:cNvSpPr/>
          <p:nvPr/>
        </p:nvSpPr>
        <p:spPr>
          <a:xfrm>
            <a:off x="731520" y="1143000"/>
            <a:ext cx="658368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 → 確認手段なし
犯人がScreenConnect経由で操作中
→ BizSTATIONにアクセスし送金準備</a:t>
            </a:r>
          </a:p>
        </p:txBody>
      </p:sp>
      <p:sp>
        <p:nvSpPr>
          <p:cNvPr id="5" name="Rectangle 4"/>
          <p:cNvSpPr/>
          <p:nvPr/>
        </p:nvSpPr>
        <p:spPr>
          <a:xfrm>
            <a:off x="7772400" y="777240"/>
            <a:ext cx="6400800" cy="3657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個人スマホ（標的）</a:t>
            </a:r>
          </a:p>
        </p:txBody>
      </p:sp>
      <p:sp>
        <p:nvSpPr>
          <p:cNvPr id="6" name="Rectangle 5"/>
          <p:cNvSpPr/>
          <p:nvPr/>
        </p:nvSpPr>
        <p:spPr>
          <a:xfrm>
            <a:off x="7772400" y="1143000"/>
            <a:ext cx="6400800" cy="64008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SMS受信 → リンクをクリック
偽の認証画面が表示される
→ 認証情報5要素を入力させられる</a:t>
            </a:r>
          </a:p>
        </p:txBody>
      </p:sp>
      <p:sp>
        <p:nvSpPr>
          <p:cNvPr id="7" name="Rectangle 6"/>
          <p:cNvSpPr/>
          <p:nvPr/>
        </p:nvSpPr>
        <p:spPr>
          <a:xfrm>
            <a:off x="731520" y="19659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なぜ個人スマホに切り替えるのか</a:t>
            </a:r>
          </a:p>
        </p:txBody>
      </p:sp>
      <p:sp>
        <p:nvSpPr>
          <p:cNvPr id="8" name="Rectangle 7"/>
          <p:cNvSpPr/>
          <p:nvPr/>
        </p:nvSpPr>
        <p:spPr>
          <a:xfrm>
            <a:off x="731520" y="2331720"/>
            <a:ext cx="32004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会社PCが使えない</a:t>
            </a:r>
          </a:p>
        </p:txBody>
      </p:sp>
      <p:sp>
        <p:nvSpPr>
          <p:cNvPr id="9" name="Rectangle 8"/>
          <p:cNvSpPr/>
          <p:nvPr/>
        </p:nvSpPr>
        <p:spPr>
          <a:xfrm>
            <a:off x="3931920" y="233172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赤い画面で封印済み。犯人が操作中。</a:t>
            </a:r>
          </a:p>
        </p:txBody>
      </p:sp>
      <p:sp>
        <p:nvSpPr>
          <p:cNvPr id="10" name="Rectangle 9"/>
          <p:cNvSpPr/>
          <p:nvPr/>
        </p:nvSpPr>
        <p:spPr>
          <a:xfrm>
            <a:off x="731520" y="2743200"/>
            <a:ext cx="320040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企業セキュリティの回避</a:t>
            </a:r>
          </a:p>
        </p:txBody>
      </p:sp>
      <p:sp>
        <p:nvSpPr>
          <p:cNvPr id="11" name="Rectangle 10"/>
          <p:cNvSpPr/>
          <p:nvPr/>
        </p:nvSpPr>
        <p:spPr>
          <a:xfrm>
            <a:off x="3931920" y="274320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会社PCのEDR/プロキシを回避。個人スマホにはない。</a:t>
            </a:r>
          </a:p>
        </p:txBody>
      </p:sp>
      <p:sp>
        <p:nvSpPr>
          <p:cNvPr id="12" name="Rectangle 11"/>
          <p:cNvSpPr/>
          <p:nvPr/>
        </p:nvSpPr>
        <p:spPr>
          <a:xfrm>
            <a:off x="731520" y="3154679"/>
            <a:ext cx="3200400" cy="41148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SMS認証は個人端末が前提</a:t>
            </a:r>
          </a:p>
        </p:txBody>
      </p:sp>
      <p:sp>
        <p:nvSpPr>
          <p:cNvPr id="13" name="Rectangle 12"/>
          <p:cNvSpPr/>
          <p:nvPr/>
        </p:nvSpPr>
        <p:spPr>
          <a:xfrm>
            <a:off x="3931920" y="3154679"/>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「携帯にSMSが届く」は自然な流れ。</a:t>
            </a:r>
          </a:p>
        </p:txBody>
      </p:sp>
      <p:sp>
        <p:nvSpPr>
          <p:cNvPr id="14" name="Rectangle 13"/>
          <p:cNvSpPr/>
          <p:nvPr/>
        </p:nvSpPr>
        <p:spPr>
          <a:xfrm>
            <a:off x="731520" y="3566160"/>
            <a:ext cx="3200400" cy="41148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2デバイス同時制御</a:t>
            </a:r>
          </a:p>
        </p:txBody>
      </p:sp>
      <p:sp>
        <p:nvSpPr>
          <p:cNvPr id="15" name="Rectangle 14"/>
          <p:cNvSpPr/>
          <p:nvPr/>
        </p:nvSpPr>
        <p:spPr>
          <a:xfrm>
            <a:off x="3931920" y="356616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PCは遠隔操作、スマホは電話で指示。両方が犯人の支配下。</a:t>
            </a:r>
          </a:p>
        </p:txBody>
      </p:sp>
      <p:sp>
        <p:nvSpPr>
          <p:cNvPr id="16" name="Rectangle 15"/>
          <p:cNvSpPr/>
          <p:nvPr/>
        </p:nvSpPr>
        <p:spPr>
          <a:xfrm>
            <a:off x="731520" y="4069079"/>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 破綻ポイント：5つの認証情報を一画面で入力させること自体がありえない</a:t>
            </a:r>
          </a:p>
        </p:txBody>
      </p:sp>
      <p:sp>
        <p:nvSpPr>
          <p:cNvPr id="17" name="Rectangle 16"/>
          <p:cNvSpPr/>
          <p:nvPr/>
        </p:nvSpPr>
        <p:spPr>
          <a:xfrm>
            <a:off x="731520" y="4480559"/>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正規のBizSTATION</a:t>
            </a:r>
          </a:p>
        </p:txBody>
      </p:sp>
      <p:sp>
        <p:nvSpPr>
          <p:cNvPr id="18" name="Rectangle 17"/>
          <p:cNvSpPr/>
          <p:nvPr/>
        </p:nvSpPr>
        <p:spPr>
          <a:xfrm>
            <a:off x="731520" y="4800599"/>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ステップ1：契約者番号 + 利用者ID → 入力
ステップ2：ログインPW → 入力
ステップ3：取引時にOTP → 入力（段階的）</a:t>
            </a:r>
          </a:p>
        </p:txBody>
      </p:sp>
      <p:sp>
        <p:nvSpPr>
          <p:cNvPr id="19" name="Rectangle 18"/>
          <p:cNvSpPr/>
          <p:nvPr/>
        </p:nvSpPr>
        <p:spPr>
          <a:xfrm>
            <a:off x="7772400" y="4480559"/>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20" name="Rectangle 19"/>
          <p:cNvSpPr/>
          <p:nvPr/>
        </p:nvSpPr>
        <p:spPr>
          <a:xfrm>
            <a:off x="7772400" y="4800599"/>
            <a:ext cx="640080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1画面で全部入力：
契約者番号 / 利用者ID / ログインPW / 取引実行PW / OTP
→ 5要素を一括。正規ではありえない。</a:t>
            </a:r>
          </a:p>
        </p:txBody>
      </p:sp>
      <p:sp>
        <p:nvSpPr>
          <p:cNvPr id="21" name="Rectangle 20"/>
          <p:cNvSpPr/>
          <p:nvPr/>
        </p:nvSpPr>
        <p:spPr>
          <a:xfrm>
            <a:off x="731520" y="55778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OTPの時間制限が犯人に有利に働く — リアルタイムだから成立する</a:t>
            </a:r>
          </a:p>
        </p:txBody>
      </p:sp>
      <p:sp>
        <p:nvSpPr>
          <p:cNvPr id="22" name="Rectangle 21"/>
          <p:cNvSpPr/>
          <p:nvPr/>
        </p:nvSpPr>
        <p:spPr>
          <a:xfrm>
            <a:off x="731520" y="5943600"/>
            <a:ext cx="13624560" cy="64008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① 犯人：裏でBizSTATIONにアクセス → OTP入力画面まで進む
② 犯人：電話で「OTPを入力してください」→ 被害者がスマホに入力
③ 犯人：入力されたOTP（有効期限30〜60秒）を即座に使用 → 送金実行
→ 電話をつないだままだからリアルタイムにできる</a:t>
            </a:r>
          </a:p>
        </p:txBody>
      </p:sp>
      <p:sp>
        <p:nvSpPr>
          <p:cNvPr id="23" name="Rectangle 22"/>
          <p:cNvSpPr/>
          <p:nvPr/>
        </p:nvSpPr>
        <p:spPr>
          <a:xfrm>
            <a:off x="731520" y="672084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同じ構図：個人スマホは企業セキュリティの管轄外 → 「顧客の問題」→ 対策されない</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手順⑧ デュアルデバイス攻撃</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手順⑨ 不正送金 — 被害者のPCを経由しIPアドレスを偽装する</a:t>
            </a:r>
          </a:p>
        </p:txBody>
      </p:sp>
      <p:sp>
        <p:nvSpPr>
          <p:cNvPr id="3" name="Rectangle 2"/>
          <p:cNvSpPr/>
          <p:nvPr/>
        </p:nvSpPr>
        <p:spPr>
          <a:xfrm>
            <a:off x="731520" y="777240"/>
            <a:ext cx="658368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犯人のPCからアクセスした場合</a:t>
            </a:r>
          </a:p>
        </p:txBody>
      </p:sp>
      <p:sp>
        <p:nvSpPr>
          <p:cNvPr id="4" name="Rectangle 3"/>
          <p:cNvSpPr/>
          <p:nvPr/>
        </p:nvSpPr>
        <p:spPr>
          <a:xfrm>
            <a:off x="731520" y="1143000"/>
            <a:ext cx="658368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IPアドレスが被害者企業と異なる
→ 銀行側で「いつもと違う場所」と検知される可能性</a:t>
            </a:r>
          </a:p>
        </p:txBody>
      </p:sp>
      <p:sp>
        <p:nvSpPr>
          <p:cNvPr id="5" name="Rectangle 4"/>
          <p:cNvSpPr/>
          <p:nvPr/>
        </p:nvSpPr>
        <p:spPr>
          <a:xfrm>
            <a:off x="7772400" y="777240"/>
            <a:ext cx="640080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被害者のPC経由でアクセスした場合</a:t>
            </a:r>
          </a:p>
        </p:txBody>
      </p:sp>
      <p:sp>
        <p:nvSpPr>
          <p:cNvPr id="6" name="Rectangle 5"/>
          <p:cNvSpPr/>
          <p:nvPr/>
        </p:nvSpPr>
        <p:spPr>
          <a:xfrm>
            <a:off x="7772400" y="1143000"/>
            <a:ext cx="640080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IPアドレスは被害者企業のもの
→ 銀行から見ると「いつもの場所からのアクセス」</a:t>
            </a:r>
          </a:p>
        </p:txBody>
      </p:sp>
      <p:sp>
        <p:nvSpPr>
          <p:cNvPr id="7" name="Rectangle 6"/>
          <p:cNvSpPr/>
          <p:nvPr/>
        </p:nvSpPr>
        <p:spPr>
          <a:xfrm>
            <a:off x="731520" y="1874519"/>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銀行側の振る舞い検知 — すり抜ける項目と検知できる項目</a:t>
            </a:r>
          </a:p>
        </p:txBody>
      </p:sp>
      <p:sp>
        <p:nvSpPr>
          <p:cNvPr id="8" name="Rectangle 7"/>
          <p:cNvSpPr/>
          <p:nvPr/>
        </p:nvSpPr>
        <p:spPr>
          <a:xfrm>
            <a:off x="731520" y="2240279"/>
            <a:ext cx="22860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検知項目</a:t>
            </a:r>
          </a:p>
        </p:txBody>
      </p:sp>
      <p:sp>
        <p:nvSpPr>
          <p:cNvPr id="9" name="Rectangle 8"/>
          <p:cNvSpPr/>
          <p:nvPr/>
        </p:nvSpPr>
        <p:spPr>
          <a:xfrm>
            <a:off x="30175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正常</a:t>
            </a:r>
          </a:p>
        </p:txBody>
      </p:sp>
      <p:sp>
        <p:nvSpPr>
          <p:cNvPr id="10" name="Rectangle 9"/>
          <p:cNvSpPr/>
          <p:nvPr/>
        </p:nvSpPr>
        <p:spPr>
          <a:xfrm>
            <a:off x="5760720" y="2240279"/>
            <a:ext cx="32004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この攻撃</a:t>
            </a:r>
          </a:p>
        </p:txBody>
      </p:sp>
      <p:sp>
        <p:nvSpPr>
          <p:cNvPr id="11" name="Rectangle 10"/>
          <p:cNvSpPr/>
          <p:nvPr/>
        </p:nvSpPr>
        <p:spPr>
          <a:xfrm>
            <a:off x="89611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結果</a:t>
            </a:r>
          </a:p>
        </p:txBody>
      </p:sp>
      <p:sp>
        <p:nvSpPr>
          <p:cNvPr id="12" name="Rectangle 11"/>
          <p:cNvSpPr/>
          <p:nvPr/>
        </p:nvSpPr>
        <p:spPr>
          <a:xfrm>
            <a:off x="11704320" y="2240279"/>
            <a:ext cx="265176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
            </a:r>
          </a:p>
        </p:txBody>
      </p:sp>
      <p:sp>
        <p:nvSpPr>
          <p:cNvPr id="13" name="Rectangle 12"/>
          <p:cNvSpPr/>
          <p:nvPr/>
        </p:nvSpPr>
        <p:spPr>
          <a:xfrm>
            <a:off x="731520" y="258775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IPアドレス</a:t>
            </a:r>
          </a:p>
        </p:txBody>
      </p:sp>
      <p:sp>
        <p:nvSpPr>
          <p:cNvPr id="14" name="Rectangle 13"/>
          <p:cNvSpPr/>
          <p:nvPr/>
        </p:nvSpPr>
        <p:spPr>
          <a:xfrm>
            <a:off x="3017520" y="258775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a:t>
            </a:r>
          </a:p>
        </p:txBody>
      </p:sp>
      <p:sp>
        <p:nvSpPr>
          <p:cNvPr id="15" name="Rectangle 14"/>
          <p:cNvSpPr/>
          <p:nvPr/>
        </p:nvSpPr>
        <p:spPr>
          <a:xfrm>
            <a:off x="5760720" y="258775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いつもの場所（PC経由）</a:t>
            </a:r>
          </a:p>
        </p:txBody>
      </p:sp>
      <p:sp>
        <p:nvSpPr>
          <p:cNvPr id="16" name="Rectangle 15"/>
          <p:cNvSpPr/>
          <p:nvPr/>
        </p:nvSpPr>
        <p:spPr>
          <a:xfrm>
            <a:off x="8961120" y="258775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17" name="Rectangle 16"/>
          <p:cNvSpPr/>
          <p:nvPr/>
        </p:nvSpPr>
        <p:spPr>
          <a:xfrm>
            <a:off x="731520" y="295351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時間帯</a:t>
            </a:r>
          </a:p>
        </p:txBody>
      </p:sp>
      <p:sp>
        <p:nvSpPr>
          <p:cNvPr id="18" name="Rectangle 17"/>
          <p:cNvSpPr/>
          <p:nvPr/>
        </p:nvSpPr>
        <p:spPr>
          <a:xfrm>
            <a:off x="3017520" y="295351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a:t>
            </a:r>
          </a:p>
        </p:txBody>
      </p:sp>
      <p:sp>
        <p:nvSpPr>
          <p:cNvPr id="19" name="Rectangle 18"/>
          <p:cNvSpPr/>
          <p:nvPr/>
        </p:nvSpPr>
        <p:spPr>
          <a:xfrm>
            <a:off x="5760720" y="295351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業務時間内（電話中）</a:t>
            </a:r>
          </a:p>
        </p:txBody>
      </p:sp>
      <p:sp>
        <p:nvSpPr>
          <p:cNvPr id="20" name="Rectangle 19"/>
          <p:cNvSpPr/>
          <p:nvPr/>
        </p:nvSpPr>
        <p:spPr>
          <a:xfrm>
            <a:off x="8961120" y="295351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21" name="Rectangle 20"/>
          <p:cNvSpPr/>
          <p:nvPr/>
        </p:nvSpPr>
        <p:spPr>
          <a:xfrm>
            <a:off x="731520" y="331927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送金先口座</a:t>
            </a:r>
          </a:p>
        </p:txBody>
      </p:sp>
      <p:sp>
        <p:nvSpPr>
          <p:cNvPr id="22" name="Rectangle 21"/>
          <p:cNvSpPr/>
          <p:nvPr/>
        </p:nvSpPr>
        <p:spPr>
          <a:xfrm>
            <a:off x="3017520" y="331927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取引先</a:t>
            </a:r>
          </a:p>
        </p:txBody>
      </p:sp>
      <p:sp>
        <p:nvSpPr>
          <p:cNvPr id="23" name="Rectangle 22"/>
          <p:cNvSpPr/>
          <p:nvPr/>
        </p:nvSpPr>
        <p:spPr>
          <a:xfrm>
            <a:off x="5760720" y="331927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初めての口座</a:t>
            </a:r>
          </a:p>
        </p:txBody>
      </p:sp>
      <p:sp>
        <p:nvSpPr>
          <p:cNvPr id="24" name="Rectangle 23"/>
          <p:cNvSpPr/>
          <p:nvPr/>
        </p:nvSpPr>
        <p:spPr>
          <a:xfrm>
            <a:off x="8961120" y="331927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5" name="Rectangle 24"/>
          <p:cNvSpPr/>
          <p:nvPr/>
        </p:nvSpPr>
        <p:spPr>
          <a:xfrm>
            <a:off x="731520" y="368503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送金金額</a:t>
            </a:r>
          </a:p>
        </p:txBody>
      </p:sp>
      <p:sp>
        <p:nvSpPr>
          <p:cNvPr id="26" name="Rectangle 25"/>
          <p:cNvSpPr/>
          <p:nvPr/>
        </p:nvSpPr>
        <p:spPr>
          <a:xfrm>
            <a:off x="3017520" y="368503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通常範囲</a:t>
            </a:r>
          </a:p>
        </p:txBody>
      </p:sp>
      <p:sp>
        <p:nvSpPr>
          <p:cNvPr id="27" name="Rectangle 26"/>
          <p:cNvSpPr/>
          <p:nvPr/>
        </p:nvSpPr>
        <p:spPr>
          <a:xfrm>
            <a:off x="5760720" y="368503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通常より大きい可能性</a:t>
            </a:r>
          </a:p>
        </p:txBody>
      </p:sp>
      <p:sp>
        <p:nvSpPr>
          <p:cNvPr id="28" name="Rectangle 27"/>
          <p:cNvSpPr/>
          <p:nvPr/>
        </p:nvSpPr>
        <p:spPr>
          <a:xfrm>
            <a:off x="8961120" y="368503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9" name="Rectangle 28"/>
          <p:cNvSpPr/>
          <p:nvPr/>
        </p:nvSpPr>
        <p:spPr>
          <a:xfrm>
            <a:off x="731520" y="4050791"/>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操作速度</a:t>
            </a:r>
          </a:p>
        </p:txBody>
      </p:sp>
      <p:sp>
        <p:nvSpPr>
          <p:cNvPr id="30" name="Rectangle 29"/>
          <p:cNvSpPr/>
          <p:nvPr/>
        </p:nvSpPr>
        <p:spPr>
          <a:xfrm>
            <a:off x="3017520" y="4050791"/>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人間の速度</a:t>
            </a:r>
          </a:p>
        </p:txBody>
      </p:sp>
      <p:sp>
        <p:nvSpPr>
          <p:cNvPr id="31" name="Rectangle 30"/>
          <p:cNvSpPr/>
          <p:nvPr/>
        </p:nvSpPr>
        <p:spPr>
          <a:xfrm>
            <a:off x="5760720" y="405079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異常に速い可能性</a:t>
            </a:r>
          </a:p>
        </p:txBody>
      </p:sp>
      <p:sp>
        <p:nvSpPr>
          <p:cNvPr id="32" name="Rectangle 31"/>
          <p:cNvSpPr/>
          <p:nvPr/>
        </p:nvSpPr>
        <p:spPr>
          <a:xfrm>
            <a:off x="8961120" y="4050791"/>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33" name="Rectangle 32"/>
          <p:cNvSpPr/>
          <p:nvPr/>
        </p:nvSpPr>
        <p:spPr>
          <a:xfrm>
            <a:off x="731520" y="4526279"/>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銀行の追加認証（電話確認）すら機能しない</a:t>
            </a:r>
          </a:p>
        </p:txBody>
      </p:sp>
      <p:sp>
        <p:nvSpPr>
          <p:cNvPr id="34" name="Rectangle 33"/>
          <p:cNvSpPr/>
          <p:nvPr/>
        </p:nvSpPr>
        <p:spPr>
          <a:xfrm>
            <a:off x="731520" y="4892040"/>
            <a:ext cx="13624560" cy="6400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銀行「送金確認のためお電話しました」→ 被害者は犯人との電話がつながったまま → 出られない
仮に出たとしても → 「はい、自分で送金しました」と答える（自分が攻撃されていることに気づいていない）</a:t>
            </a:r>
          </a:p>
        </p:txBody>
      </p:sp>
      <p:sp>
        <p:nvSpPr>
          <p:cNvPr id="35" name="TextBox 3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手順⑨ 不正送金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37160"/>
            <a:ext cx="15124176" cy="457200"/>
          </a:xfrm>
          <a:prstGeom prst="rect">
            <a:avLst/>
          </a:prstGeom>
          <a:noFill/>
        </p:spPr>
        <p:txBody>
          <a:bodyPr wrap="square" lIns="50800" rIns="50800" tIns="38100" bIns="38100"/>
          <a:lstStyle/>
          <a:p>
            <a:pPr algn="ctr"/>
            <a:r>
              <a:rPr sz="2400" b="1">
                <a:solidFill>
                  <a:srgbClr val="C0392B"/>
                </a:solidFill>
                <a:latin typeface="Meiryo"/>
              </a:rPr>
              <a:t>総括：正規の銀行体験を99%再現した攻撃</a:t>
            </a:r>
          </a:p>
        </p:txBody>
      </p:sp>
      <p:sp>
        <p:nvSpPr>
          <p:cNvPr id="3" name="Rectangle 2"/>
          <p:cNvSpPr/>
          <p:nvPr/>
        </p:nvSpPr>
        <p:spPr>
          <a:xfrm>
            <a:off x="731520" y="6400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正規と同じもの（10個）</a:t>
            </a:r>
          </a:p>
        </p:txBody>
      </p:sp>
      <p:sp>
        <p:nvSpPr>
          <p:cNvPr id="4" name="Rectangle 3"/>
          <p:cNvSpPr/>
          <p:nvPr/>
        </p:nvSpPr>
        <p:spPr>
          <a:xfrm>
            <a:off x="731520" y="10058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自動音声の振り分け</a:t>
            </a:r>
          </a:p>
        </p:txBody>
      </p:sp>
      <p:sp>
        <p:nvSpPr>
          <p:cNvPr id="5" name="Rectangle 4"/>
          <p:cNvSpPr/>
          <p:nvPr/>
        </p:nvSpPr>
        <p:spPr>
          <a:xfrm>
            <a:off x="731520" y="12801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担当者との電話対応</a:t>
            </a:r>
          </a:p>
        </p:txBody>
      </p:sp>
      <p:sp>
        <p:nvSpPr>
          <p:cNvPr id="6" name="Rectangle 5"/>
          <p:cNvSpPr/>
          <p:nvPr/>
        </p:nvSpPr>
        <p:spPr>
          <a:xfrm>
            <a:off x="731520" y="15544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「郵送した」「口座制限」のセリフ</a:t>
            </a:r>
          </a:p>
        </p:txBody>
      </p:sp>
      <p:sp>
        <p:nvSpPr>
          <p:cNvPr id="7" name="Rectangle 6"/>
          <p:cNvSpPr/>
          <p:nvPr/>
        </p:nvSpPr>
        <p:spPr>
          <a:xfrm>
            <a:off x="731520" y="1828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メールのデザイン（Bizデザイン）</a:t>
            </a:r>
          </a:p>
        </p:txBody>
      </p:sp>
      <p:sp>
        <p:nvSpPr>
          <p:cNvPr id="8" name="Rectangle 7"/>
          <p:cNvSpPr/>
          <p:nvPr/>
        </p:nvSpPr>
        <p:spPr>
          <a:xfrm>
            <a:off x="731520" y="2103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メールの件名（実在する案内と同じ）</a:t>
            </a:r>
          </a:p>
        </p:txBody>
      </p:sp>
      <p:sp>
        <p:nvSpPr>
          <p:cNvPr id="9" name="Rectangle 8"/>
          <p:cNvSpPr/>
          <p:nvPr/>
        </p:nvSpPr>
        <p:spPr>
          <a:xfrm>
            <a:off x="731520" y="2377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Webページのデザイン</a:t>
            </a:r>
          </a:p>
        </p:txBody>
      </p:sp>
      <p:sp>
        <p:nvSpPr>
          <p:cNvPr id="10" name="Rectangle 9"/>
          <p:cNvSpPr/>
          <p:nvPr/>
        </p:nvSpPr>
        <p:spPr>
          <a:xfrm>
            <a:off x="731520" y="26517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赤い画面の色（ブランドカラー）</a:t>
            </a:r>
          </a:p>
        </p:txBody>
      </p:sp>
      <p:sp>
        <p:nvSpPr>
          <p:cNvPr id="11" name="Rectangle 10"/>
          <p:cNvSpPr/>
          <p:nvPr/>
        </p:nvSpPr>
        <p:spPr>
          <a:xfrm>
            <a:off x="731520" y="29260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赤い画面の文言（銀行の丁寧語）</a:t>
            </a:r>
          </a:p>
        </p:txBody>
      </p:sp>
      <p:sp>
        <p:nvSpPr>
          <p:cNvPr id="12" name="Rectangle 11"/>
          <p:cNvSpPr/>
          <p:nvPr/>
        </p:nvSpPr>
        <p:spPr>
          <a:xfrm>
            <a:off x="731520" y="32004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SMS認証の流れ</a:t>
            </a:r>
          </a:p>
        </p:txBody>
      </p:sp>
      <p:sp>
        <p:nvSpPr>
          <p:cNvPr id="13" name="Rectangle 12"/>
          <p:cNvSpPr/>
          <p:nvPr/>
        </p:nvSpPr>
        <p:spPr>
          <a:xfrm>
            <a:off x="731520" y="34747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セキュリティソフト推奨（Rapportは実在）</a:t>
            </a:r>
          </a:p>
        </p:txBody>
      </p:sp>
      <p:sp>
        <p:nvSpPr>
          <p:cNvPr id="14" name="Rectangle 13"/>
          <p:cNvSpPr/>
          <p:nvPr/>
        </p:nvSpPr>
        <p:spPr>
          <a:xfrm>
            <a:off x="7772400" y="6400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正規と違うもの（6個）</a:t>
            </a:r>
          </a:p>
        </p:txBody>
      </p:sp>
      <p:sp>
        <p:nvSpPr>
          <p:cNvPr id="15" name="Rectangle 14"/>
          <p:cNvSpPr/>
          <p:nvPr/>
        </p:nvSpPr>
        <p:spPr>
          <a:xfrm>
            <a:off x="7772400" y="1005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メアドを聞く</a:t>
            </a:r>
          </a:p>
        </p:txBody>
      </p:sp>
      <p:sp>
        <p:nvSpPr>
          <p:cNvPr id="16" name="Rectangle 15"/>
          <p:cNvSpPr/>
          <p:nvPr/>
        </p:nvSpPr>
        <p:spPr>
          <a:xfrm>
            <a:off x="10698480" y="1005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17" name="Rectangle 16"/>
          <p:cNvSpPr/>
          <p:nvPr/>
        </p:nvSpPr>
        <p:spPr>
          <a:xfrm>
            <a:off x="7772400" y="14630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迷惑フォルダを見て</a:t>
            </a:r>
          </a:p>
        </p:txBody>
      </p:sp>
      <p:sp>
        <p:nvSpPr>
          <p:cNvPr id="18" name="Rectangle 17"/>
          <p:cNvSpPr/>
          <p:nvPr/>
        </p:nvSpPr>
        <p:spPr>
          <a:xfrm>
            <a:off x="10698480" y="14630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正規メールは入らない</a:t>
            </a:r>
          </a:p>
        </p:txBody>
      </p:sp>
      <p:sp>
        <p:nvSpPr>
          <p:cNvPr id="19" name="Rectangle 18"/>
          <p:cNvSpPr/>
          <p:nvPr/>
        </p:nvSpPr>
        <p:spPr>
          <a:xfrm>
            <a:off x="7772400" y="19202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メールにURL</a:t>
            </a:r>
          </a:p>
        </p:txBody>
      </p:sp>
      <p:sp>
        <p:nvSpPr>
          <p:cNvPr id="20" name="Rectangle 19"/>
          <p:cNvSpPr/>
          <p:nvPr/>
        </p:nvSpPr>
        <p:spPr>
          <a:xfrm>
            <a:off x="10698480" y="19202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金融庁が禁止</a:t>
            </a:r>
          </a:p>
        </p:txBody>
      </p:sp>
      <p:sp>
        <p:nvSpPr>
          <p:cNvPr id="21" name="Rectangle 20"/>
          <p:cNvSpPr/>
          <p:nvPr/>
        </p:nvSpPr>
        <p:spPr>
          <a:xfrm>
            <a:off x="7772400" y="23774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不明な発行元でも実行して</a:t>
            </a:r>
          </a:p>
        </p:txBody>
      </p:sp>
      <p:sp>
        <p:nvSpPr>
          <p:cNvPr id="22" name="Rectangle 21"/>
          <p:cNvSpPr/>
          <p:nvPr/>
        </p:nvSpPr>
        <p:spPr>
          <a:xfrm>
            <a:off x="10698480" y="23774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正規ソフトは署名済み</a:t>
            </a:r>
          </a:p>
        </p:txBody>
      </p:sp>
      <p:sp>
        <p:nvSpPr>
          <p:cNvPr id="23" name="Rectangle 22"/>
          <p:cNvSpPr/>
          <p:nvPr/>
        </p:nvSpPr>
        <p:spPr>
          <a:xfrm>
            <a:off x="7772400" y="28346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携帯番号を聞く</a:t>
            </a:r>
          </a:p>
        </p:txBody>
      </p:sp>
      <p:sp>
        <p:nvSpPr>
          <p:cNvPr id="24" name="Rectangle 23"/>
          <p:cNvSpPr/>
          <p:nvPr/>
        </p:nvSpPr>
        <p:spPr>
          <a:xfrm>
            <a:off x="10698480" y="28346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25" name="Rectangle 24"/>
          <p:cNvSpPr/>
          <p:nvPr/>
        </p:nvSpPr>
        <p:spPr>
          <a:xfrm>
            <a:off x="7772400" y="3291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5要素一括入力</a:t>
            </a:r>
          </a:p>
        </p:txBody>
      </p:sp>
      <p:sp>
        <p:nvSpPr>
          <p:cNvPr id="26" name="Rectangle 25"/>
          <p:cNvSpPr/>
          <p:nvPr/>
        </p:nvSpPr>
        <p:spPr>
          <a:xfrm>
            <a:off x="10698480" y="3291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段階的に認証する</a:t>
            </a:r>
          </a:p>
        </p:txBody>
      </p:sp>
      <p:sp>
        <p:nvSpPr>
          <p:cNvPr id="27" name="TextBox 26"/>
          <p:cNvSpPr txBox="1"/>
          <p:nvPr/>
        </p:nvSpPr>
        <p:spPr>
          <a:xfrm>
            <a:off x="7772400" y="3840480"/>
            <a:ext cx="6400800" cy="457200"/>
          </a:xfrm>
          <a:prstGeom prst="rect">
            <a:avLst/>
          </a:prstGeom>
          <a:noFill/>
        </p:spPr>
        <p:txBody>
          <a:bodyPr wrap="square" lIns="50800" rIns="50800" tIns="38100" bIns="38100"/>
          <a:lstStyle/>
          <a:p>
            <a:pPr algn="l"/>
            <a:r>
              <a:rPr sz="900" b="0">
                <a:solidFill>
                  <a:srgbClr val="888888"/>
                </a:solidFill>
                <a:latin typeface="Meiryo"/>
              </a:rPr>
              <a:t>6個全て専門知識がないと気づけない。
唯一「不明な発行元」だけがOSの警告で
気づけるが、犯人のレベルアップで消える。</a:t>
            </a:r>
          </a:p>
        </p:txBody>
      </p:sp>
      <p:sp>
        <p:nvSpPr>
          <p:cNvPr id="28" name="Rectangle 27"/>
          <p:cNvSpPr/>
          <p:nvPr/>
        </p:nvSpPr>
        <p:spPr>
          <a:xfrm>
            <a:off x="731520" y="448056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犯人が言う「銀行が絶対に言わないセリフ」5つ → 全て手順②の恐怖で無効化される</a:t>
            </a:r>
          </a:p>
        </p:txBody>
      </p:sp>
      <p:sp>
        <p:nvSpPr>
          <p:cNvPr id="29" name="Rectangle 28"/>
          <p:cNvSpPr/>
          <p:nvPr/>
        </p:nvSpPr>
        <p:spPr>
          <a:xfrm>
            <a:off x="731520" y="49377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技術的にKill Chainを切れるポイント3つ → 全て既存ツール・追加コストゼロ・顧客に依存しない</a:t>
            </a:r>
          </a:p>
        </p:txBody>
      </p:sp>
      <p:sp>
        <p:nvSpPr>
          <p:cNvPr id="30" name="Rectangle 29"/>
          <p:cNvSpPr/>
          <p:nvPr/>
        </p:nvSpPr>
        <p:spPr>
          <a:xfrm>
            <a:off x="731520" y="530352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DMARC p=reject</a:t>
            </a:r>
          </a:p>
        </p:txBody>
      </p:sp>
      <p:sp>
        <p:nvSpPr>
          <p:cNvPr id="31" name="Rectangle 30"/>
          <p:cNvSpPr/>
          <p:nvPr/>
        </p:nvSpPr>
        <p:spPr>
          <a:xfrm>
            <a:off x="4389120" y="530352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メール遮断（銀行側で完結）</a:t>
            </a:r>
          </a:p>
        </p:txBody>
      </p:sp>
      <p:sp>
        <p:nvSpPr>
          <p:cNvPr id="32" name="Rectangle 31"/>
          <p:cNvSpPr/>
          <p:nvPr/>
        </p:nvSpPr>
        <p:spPr>
          <a:xfrm>
            <a:off x="731520" y="562356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AppLocker/WDAC</a:t>
            </a:r>
          </a:p>
        </p:txBody>
      </p:sp>
      <p:sp>
        <p:nvSpPr>
          <p:cNvPr id="33" name="Rectangle 32"/>
          <p:cNvSpPr/>
          <p:nvPr/>
        </p:nvSpPr>
        <p:spPr>
          <a:xfrm>
            <a:off x="4389120" y="562356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msi実行阻止（Windows標準搭載）</a:t>
            </a:r>
          </a:p>
        </p:txBody>
      </p:sp>
      <p:sp>
        <p:nvSpPr>
          <p:cNvPr id="34" name="Rectangle 33"/>
          <p:cNvSpPr/>
          <p:nvPr/>
        </p:nvSpPr>
        <p:spPr>
          <a:xfrm>
            <a:off x="731520" y="594360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⑦⑨ EDR/振る舞い検知</a:t>
            </a:r>
          </a:p>
        </p:txBody>
      </p:sp>
      <p:sp>
        <p:nvSpPr>
          <p:cNvPr id="35" name="Rectangle 34"/>
          <p:cNvSpPr/>
          <p:nvPr/>
        </p:nvSpPr>
        <p:spPr>
          <a:xfrm>
            <a:off x="4389120" y="594360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ScreenConnect通信＋異常送金検知</a:t>
            </a:r>
          </a:p>
        </p:txBody>
      </p:sp>
      <p:sp>
        <p:nvSpPr>
          <p:cNvPr id="36" name="Rectangle 35"/>
          <p:cNvSpPr/>
          <p:nvPr/>
        </p:nvSpPr>
        <p:spPr>
          <a:xfrm>
            <a:off x="731520" y="63550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全ての対策が「顧客にやってね」で丸投げされ、機能していない</a:t>
            </a:r>
          </a:p>
        </p:txBody>
      </p:sp>
      <p:sp>
        <p:nvSpPr>
          <p:cNvPr id="37" name="Rectangle 36"/>
          <p:cNvSpPr/>
          <p:nvPr/>
        </p:nvSpPr>
        <p:spPr>
          <a:xfrm>
            <a:off x="731520" y="6812280"/>
            <a:ext cx="13624560" cy="5486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TextBox 37"/>
          <p:cNvSpPr txBox="1"/>
          <p:nvPr/>
        </p:nvSpPr>
        <p:spPr>
          <a:xfrm>
            <a:off x="1005840" y="6839712"/>
            <a:ext cx="13075920" cy="502920"/>
          </a:xfrm>
          <a:prstGeom prst="rect">
            <a:avLst/>
          </a:prstGeom>
          <a:noFill/>
        </p:spPr>
        <p:txBody>
          <a:bodyPr wrap="square" lIns="50800" rIns="50800" tIns="38100" bIns="38100"/>
          <a:lstStyle/>
          <a:p>
            <a:pPr algn="ctr"/>
            <a:r>
              <a:rPr sz="1300" b="1">
                <a:solidFill>
                  <a:srgbClr val="FFFFFF"/>
                </a:solidFill>
                <a:latin typeface="Meiryo"/>
              </a:rPr>
              <a:t>最終結論：この攻撃が成立している根本原因は、犯人の巧みさではなく
「既にある対策を設定していない」「全てを顧客の問題にしている」こと。
銀行側が技術的対策を実装すれば、この攻撃は成立しなくなる。</a:t>
            </a:r>
          </a:p>
        </p:txBody>
      </p:sp>
      <p:sp>
        <p:nvSpPr>
          <p:cNvPr id="39" name="TextBox 38"/>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総括</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真のターゲット：ワンオペの零細企業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「承認実行権限を持っている方は1を」— 犯人は最初からワンオペの社長を狙い撃ちしている。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企業規模別の送金フロー — チェック機能の有無</a:t>
            </a:r>
          </a:p>
        </p:txBody>
      </p:sp>
      <p:sp>
        <p:nvSpPr>
          <p:cNvPr id="5" name="Rectangle 4"/>
          <p:cNvSpPr/>
          <p:nvPr/>
        </p:nvSpPr>
        <p:spPr>
          <a:xfrm>
            <a:off x="731520" y="1417319"/>
            <a:ext cx="182880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6" name="Rectangle 5"/>
          <p:cNvSpPr/>
          <p:nvPr/>
        </p:nvSpPr>
        <p:spPr>
          <a:xfrm>
            <a:off x="2560320" y="1417319"/>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担当者が作成 → 上長が承認 → 別の承認者が実行</a:t>
            </a:r>
          </a:p>
        </p:txBody>
      </p:sp>
      <p:sp>
        <p:nvSpPr>
          <p:cNvPr id="7" name="Rectangle 6"/>
          <p:cNvSpPr/>
          <p:nvPr/>
        </p:nvSpPr>
        <p:spPr>
          <a:xfrm>
            <a:off x="7589520" y="1417319"/>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3人が関与</a:t>
            </a:r>
          </a:p>
        </p:txBody>
      </p:sp>
      <p:sp>
        <p:nvSpPr>
          <p:cNvPr id="8" name="Rectangle 7"/>
          <p:cNvSpPr/>
          <p:nvPr/>
        </p:nvSpPr>
        <p:spPr>
          <a:xfrm>
            <a:off x="9875520" y="1417319"/>
            <a:ext cx="448056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1人が騙されても止まる</a:t>
            </a:r>
          </a:p>
        </p:txBody>
      </p:sp>
      <p:sp>
        <p:nvSpPr>
          <p:cNvPr id="9" name="Rectangle 8"/>
          <p:cNvSpPr/>
          <p:nvPr/>
        </p:nvSpPr>
        <p:spPr>
          <a:xfrm>
            <a:off x="731520" y="1874519"/>
            <a:ext cx="18288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10" name="Rectangle 9"/>
          <p:cNvSpPr/>
          <p:nvPr/>
        </p:nvSpPr>
        <p:spPr>
          <a:xfrm>
            <a:off x="2560320" y="1874519"/>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担当者が作成 → 上長が承認</a:t>
            </a:r>
          </a:p>
        </p:txBody>
      </p:sp>
      <p:sp>
        <p:nvSpPr>
          <p:cNvPr id="11" name="Rectangle 10"/>
          <p:cNvSpPr/>
          <p:nvPr/>
        </p:nvSpPr>
        <p:spPr>
          <a:xfrm>
            <a:off x="7589520" y="1874519"/>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2人が関与</a:t>
            </a:r>
          </a:p>
        </p:txBody>
      </p:sp>
      <p:sp>
        <p:nvSpPr>
          <p:cNvPr id="12" name="Rectangle 11"/>
          <p:cNvSpPr/>
          <p:nvPr/>
        </p:nvSpPr>
        <p:spPr>
          <a:xfrm>
            <a:off x="9875520" y="1874519"/>
            <a:ext cx="448056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まだチェック機能がある</a:t>
            </a:r>
          </a:p>
        </p:txBody>
      </p:sp>
      <p:sp>
        <p:nvSpPr>
          <p:cNvPr id="13" name="Rectangle 12"/>
          <p:cNvSpPr/>
          <p:nvPr/>
        </p:nvSpPr>
        <p:spPr>
          <a:xfrm>
            <a:off x="731520" y="2331720"/>
            <a:ext cx="182880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零細企業</a:t>
            </a:r>
          </a:p>
        </p:txBody>
      </p:sp>
      <p:sp>
        <p:nvSpPr>
          <p:cNvPr id="14" name="Rectangle 13"/>
          <p:cNvSpPr/>
          <p:nvPr/>
        </p:nvSpPr>
        <p:spPr>
          <a:xfrm>
            <a:off x="2560320" y="233172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社長が作成 → 社長が承認 → 社長が実行</a:t>
            </a:r>
          </a:p>
        </p:txBody>
      </p:sp>
      <p:sp>
        <p:nvSpPr>
          <p:cNvPr id="15" name="Rectangle 14"/>
          <p:cNvSpPr/>
          <p:nvPr/>
        </p:nvSpPr>
        <p:spPr>
          <a:xfrm>
            <a:off x="7589520" y="233172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1人（ワンオペ）</a:t>
            </a:r>
          </a:p>
        </p:txBody>
      </p:sp>
      <p:sp>
        <p:nvSpPr>
          <p:cNvPr id="16" name="Rectangle 15"/>
          <p:cNvSpPr/>
          <p:nvPr/>
        </p:nvSpPr>
        <p:spPr>
          <a:xfrm>
            <a:off x="9875520" y="2331720"/>
            <a:ext cx="448056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チェック機能ゼロ</a:t>
            </a:r>
          </a:p>
        </p:txBody>
      </p:sp>
      <p:sp>
        <p:nvSpPr>
          <p:cNvPr id="17" name="Rectangle 16"/>
          <p:cNvSpPr/>
          <p:nvPr/>
        </p:nvSpPr>
        <p:spPr>
          <a:xfrm>
            <a:off x="731520" y="288036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ワンオペだと全ての防御ポイントが消滅する</a:t>
            </a:r>
          </a:p>
        </p:txBody>
      </p:sp>
      <p:sp>
        <p:nvSpPr>
          <p:cNvPr id="18" name="Rectangle 17"/>
          <p:cNvSpPr/>
          <p:nvPr/>
        </p:nvSpPr>
        <p:spPr>
          <a:xfrm>
            <a:off x="731520" y="3246120"/>
            <a:ext cx="32004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防御ポイント</a:t>
            </a:r>
          </a:p>
        </p:txBody>
      </p:sp>
      <p:sp>
        <p:nvSpPr>
          <p:cNvPr id="19" name="Rectangle 18"/>
          <p:cNvSpPr/>
          <p:nvPr/>
        </p:nvSpPr>
        <p:spPr>
          <a:xfrm>
            <a:off x="3931920" y="3246120"/>
            <a:ext cx="475488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複数人体制</a:t>
            </a:r>
          </a:p>
        </p:txBody>
      </p:sp>
      <p:sp>
        <p:nvSpPr>
          <p:cNvPr id="20" name="Rectangle 19"/>
          <p:cNvSpPr/>
          <p:nvPr/>
        </p:nvSpPr>
        <p:spPr>
          <a:xfrm>
            <a:off x="8686800" y="3246120"/>
            <a:ext cx="566928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ワンオペ</a:t>
            </a:r>
          </a:p>
        </p:txBody>
      </p:sp>
      <p:sp>
        <p:nvSpPr>
          <p:cNvPr id="21" name="Rectangle 20"/>
          <p:cNvSpPr/>
          <p:nvPr/>
        </p:nvSpPr>
        <p:spPr>
          <a:xfrm>
            <a:off x="731520" y="359359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「メアド教えて」に違和感</a:t>
            </a:r>
          </a:p>
        </p:txBody>
      </p:sp>
      <p:sp>
        <p:nvSpPr>
          <p:cNvPr id="22" name="Rectangle 21"/>
          <p:cNvSpPr/>
          <p:nvPr/>
        </p:nvSpPr>
        <p:spPr>
          <a:xfrm>
            <a:off x="3931920" y="3593591"/>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同僚に相談できる</a:t>
            </a:r>
          </a:p>
        </p:txBody>
      </p:sp>
      <p:sp>
        <p:nvSpPr>
          <p:cNvPr id="23" name="Rectangle 22"/>
          <p:cNvSpPr/>
          <p:nvPr/>
        </p:nvSpPr>
        <p:spPr>
          <a:xfrm>
            <a:off x="8686800" y="3593591"/>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相談相手がいない</a:t>
            </a:r>
          </a:p>
        </p:txBody>
      </p:sp>
      <p:sp>
        <p:nvSpPr>
          <p:cNvPr id="24" name="Rectangle 23"/>
          <p:cNvSpPr/>
          <p:nvPr/>
        </p:nvSpPr>
        <p:spPr>
          <a:xfrm>
            <a:off x="731520" y="395935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不明な発行元の警告</a:t>
            </a:r>
          </a:p>
        </p:txBody>
      </p:sp>
      <p:sp>
        <p:nvSpPr>
          <p:cNvPr id="25" name="Rectangle 24"/>
          <p:cNvSpPr/>
          <p:nvPr/>
        </p:nvSpPr>
        <p:spPr>
          <a:xfrm>
            <a:off x="3931920" y="3959352"/>
            <a:ext cx="475488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IT担当に確認できる</a:t>
            </a:r>
          </a:p>
        </p:txBody>
      </p:sp>
      <p:sp>
        <p:nvSpPr>
          <p:cNvPr id="26" name="Rectangle 25"/>
          <p:cNvSpPr/>
          <p:nvPr/>
        </p:nvSpPr>
        <p:spPr>
          <a:xfrm>
            <a:off x="8686800" y="395935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IT担当がいない</a:t>
            </a:r>
          </a:p>
        </p:txBody>
      </p:sp>
      <p:sp>
        <p:nvSpPr>
          <p:cNvPr id="27" name="Rectangle 26"/>
          <p:cNvSpPr/>
          <p:nvPr/>
        </p:nvSpPr>
        <p:spPr>
          <a:xfrm>
            <a:off x="731520" y="432511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送金の承認</a:t>
            </a:r>
          </a:p>
        </p:txBody>
      </p:sp>
      <p:sp>
        <p:nvSpPr>
          <p:cNvPr id="28" name="Rectangle 27"/>
          <p:cNvSpPr/>
          <p:nvPr/>
        </p:nvSpPr>
        <p:spPr>
          <a:xfrm>
            <a:off x="3931920" y="4325112"/>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別の承認者が止める</a:t>
            </a:r>
          </a:p>
        </p:txBody>
      </p:sp>
      <p:sp>
        <p:nvSpPr>
          <p:cNvPr id="29" name="Rectangle 28"/>
          <p:cNvSpPr/>
          <p:nvPr/>
        </p:nvSpPr>
        <p:spPr>
          <a:xfrm>
            <a:off x="8686800" y="432511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自分で承認してしまう</a:t>
            </a:r>
          </a:p>
        </p:txBody>
      </p:sp>
      <p:sp>
        <p:nvSpPr>
          <p:cNvPr id="30" name="Rectangle 29"/>
          <p:cNvSpPr/>
          <p:nvPr/>
        </p:nvSpPr>
        <p:spPr>
          <a:xfrm>
            <a:off x="731520" y="469087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電話中に確認</a:t>
            </a:r>
          </a:p>
        </p:txBody>
      </p:sp>
      <p:sp>
        <p:nvSpPr>
          <p:cNvPr id="31" name="Rectangle 30"/>
          <p:cNvSpPr/>
          <p:nvPr/>
        </p:nvSpPr>
        <p:spPr>
          <a:xfrm>
            <a:off x="3931920" y="4690872"/>
            <a:ext cx="475488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他の人が銀行に電話できる</a:t>
            </a:r>
          </a:p>
        </p:txBody>
      </p:sp>
      <p:sp>
        <p:nvSpPr>
          <p:cNvPr id="32" name="Rectangle 31"/>
          <p:cNvSpPr/>
          <p:nvPr/>
        </p:nvSpPr>
        <p:spPr>
          <a:xfrm>
            <a:off x="8686800" y="4690872"/>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自分しかいない</a:t>
            </a:r>
          </a:p>
        </p:txBody>
      </p:sp>
      <p:sp>
        <p:nvSpPr>
          <p:cNvPr id="33" name="Rectangle 32"/>
          <p:cNvSpPr/>
          <p:nvPr/>
        </p:nvSpPr>
        <p:spPr>
          <a:xfrm>
            <a:off x="731520" y="505663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事後の発覚</a:t>
            </a:r>
          </a:p>
        </p:txBody>
      </p:sp>
      <p:sp>
        <p:nvSpPr>
          <p:cNvPr id="34" name="Rectangle 33"/>
          <p:cNvSpPr/>
          <p:nvPr/>
        </p:nvSpPr>
        <p:spPr>
          <a:xfrm>
            <a:off x="3931920" y="5056631"/>
            <a:ext cx="475488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経理が不審な送金に気づく</a:t>
            </a:r>
          </a:p>
        </p:txBody>
      </p:sp>
      <p:sp>
        <p:nvSpPr>
          <p:cNvPr id="35" name="Rectangle 34"/>
          <p:cNvSpPr/>
          <p:nvPr/>
        </p:nvSpPr>
        <p:spPr>
          <a:xfrm>
            <a:off x="8686800" y="5056631"/>
            <a:ext cx="566928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自分が経理</a:t>
            </a:r>
          </a:p>
        </p:txBody>
      </p:sp>
      <p:sp>
        <p:nvSpPr>
          <p:cNvPr id="36" name="Rectangle 35"/>
          <p:cNvSpPr/>
          <p:nvPr/>
        </p:nvSpPr>
        <p:spPr>
          <a:xfrm>
            <a:off x="731520" y="553212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犯人の攻撃設計は最初からワンオペ零細企業を想定している</a:t>
            </a:r>
          </a:p>
        </p:txBody>
      </p:sp>
      <p:sp>
        <p:nvSpPr>
          <p:cNvPr id="37" name="Rectangle 36"/>
          <p:cNvSpPr/>
          <p:nvPr/>
        </p:nvSpPr>
        <p:spPr>
          <a:xfrm>
            <a:off x="731520" y="5897880"/>
            <a:ext cx="4572000" cy="347472"/>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「承認実行権限を持っている方」</a:t>
            </a:r>
          </a:p>
        </p:txBody>
      </p:sp>
      <p:sp>
        <p:nvSpPr>
          <p:cNvPr id="38" name="Rectangle 37"/>
          <p:cNvSpPr/>
          <p:nvPr/>
        </p:nvSpPr>
        <p:spPr>
          <a:xfrm>
            <a:off x="5303520" y="5897880"/>
            <a:ext cx="9052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ワンオペの社長を自動選別</a:t>
            </a:r>
          </a:p>
        </p:txBody>
      </p:sp>
      <p:sp>
        <p:nvSpPr>
          <p:cNvPr id="39" name="Rectangle 38"/>
          <p:cNvSpPr/>
          <p:nvPr/>
        </p:nvSpPr>
        <p:spPr>
          <a:xfrm>
            <a:off x="731520" y="6245352"/>
            <a:ext cx="4572000" cy="347472"/>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電話をつないだまま</a:t>
            </a:r>
          </a:p>
        </p:txBody>
      </p:sp>
      <p:sp>
        <p:nvSpPr>
          <p:cNvPr id="40" name="Rectangle 39"/>
          <p:cNvSpPr/>
          <p:nvPr/>
        </p:nvSpPr>
        <p:spPr>
          <a:xfrm>
            <a:off x="5303520" y="6245352"/>
            <a:ext cx="9052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相談相手がいない状況を利用</a:t>
            </a:r>
          </a:p>
        </p:txBody>
      </p:sp>
      <p:sp>
        <p:nvSpPr>
          <p:cNvPr id="41" name="Rectangle 40"/>
          <p:cNvSpPr/>
          <p:nvPr/>
        </p:nvSpPr>
        <p:spPr>
          <a:xfrm>
            <a:off x="731520" y="6592824"/>
            <a:ext cx="4572000" cy="347472"/>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幅広に架電</a:t>
            </a:r>
          </a:p>
        </p:txBody>
      </p:sp>
      <p:sp>
        <p:nvSpPr>
          <p:cNvPr id="42" name="Rectangle 41"/>
          <p:cNvSpPr/>
          <p:nvPr/>
        </p:nvSpPr>
        <p:spPr>
          <a:xfrm>
            <a:off x="5303520" y="6592824"/>
            <a:ext cx="9052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零細企業の数は圧倒的に多い</a:t>
            </a:r>
          </a:p>
        </p:txBody>
      </p:sp>
      <p:sp>
        <p:nvSpPr>
          <p:cNvPr id="43" name="Rectangle 42"/>
          <p:cNvSpPr/>
          <p:nvPr/>
        </p:nvSpPr>
        <p:spPr>
          <a:xfrm>
            <a:off x="731520" y="6940296"/>
            <a:ext cx="4572000" cy="347472"/>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1件数百万〜数千万円</a:t>
            </a:r>
          </a:p>
        </p:txBody>
      </p:sp>
      <p:sp>
        <p:nvSpPr>
          <p:cNvPr id="44" name="Rectangle 43"/>
          <p:cNvSpPr/>
          <p:nvPr/>
        </p:nvSpPr>
        <p:spPr>
          <a:xfrm>
            <a:off x="5303520" y="6940296"/>
            <a:ext cx="9052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零細でも十分なリターン</a:t>
            </a:r>
          </a:p>
        </p:txBody>
      </p:sp>
      <p:sp>
        <p:nvSpPr>
          <p:cNvPr id="45" name="Rectangle 44"/>
          <p:cNvSpPr/>
          <p:nvPr/>
        </p:nvSpPr>
        <p:spPr>
          <a:xfrm>
            <a:off x="731520" y="73152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零細企業は「セキュリティ体制なし＋ワンオペ＋相談相手なし＋承認チェックなし」
— 犯人にとって最も効率の良いターゲット。銀行側の技術的対策なしでは守れない。</a:t>
            </a:r>
          </a:p>
        </p:txBody>
      </p:sp>
      <p:sp>
        <p:nvSpPr>
          <p:cNvPr id="46" name="TextBox 4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零細企業ワンオペの脆弱性</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週次でシナリオ更新 — 注意喚起は構造的に追いつけない</a:t>
            </a:r>
          </a:p>
        </p:txBody>
      </p:sp>
      <p:sp>
        <p:nvSpPr>
          <p:cNvPr id="3" name="Rectangle 2"/>
          <p:cNvSpPr/>
          <p:nvPr/>
        </p:nvSpPr>
        <p:spPr>
          <a:xfrm>
            <a:off x="731520" y="777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犯人は組織的にPDCAを回している</a:t>
            </a:r>
          </a:p>
        </p:txBody>
      </p:sp>
      <p:sp>
        <p:nvSpPr>
          <p:cNvPr id="4" name="Rectangle 3"/>
          <p:cNvSpPr/>
          <p:nvPr/>
        </p:nvSpPr>
        <p:spPr>
          <a:xfrm>
            <a:off x="731520" y="1143000"/>
            <a:ext cx="1828800" cy="45720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Plan</a:t>
            </a:r>
          </a:p>
        </p:txBody>
      </p:sp>
      <p:sp>
        <p:nvSpPr>
          <p:cNvPr id="5" name="Rectangle 4"/>
          <p:cNvSpPr/>
          <p:nvPr/>
        </p:nvSpPr>
        <p:spPr>
          <a:xfrm>
            <a:off x="2560320" y="11430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新しいシナリオを設計</a:t>
            </a:r>
          </a:p>
        </p:txBody>
      </p:sp>
      <p:sp>
        <p:nvSpPr>
          <p:cNvPr id="6" name="Rectangle 5"/>
          <p:cNvSpPr/>
          <p:nvPr/>
        </p:nvSpPr>
        <p:spPr>
          <a:xfrm>
            <a:off x="8046720" y="11430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先週の失敗を改善</a:t>
            </a:r>
          </a:p>
        </p:txBody>
      </p:sp>
      <p:sp>
        <p:nvSpPr>
          <p:cNvPr id="7" name="Rectangle 6"/>
          <p:cNvSpPr/>
          <p:nvPr/>
        </p:nvSpPr>
        <p:spPr>
          <a:xfrm>
            <a:off x="731520" y="1600200"/>
            <a:ext cx="18288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Do</a:t>
            </a:r>
          </a:p>
        </p:txBody>
      </p:sp>
      <p:sp>
        <p:nvSpPr>
          <p:cNvPr id="8" name="Rectangle 7"/>
          <p:cNvSpPr/>
          <p:nvPr/>
        </p:nvSpPr>
        <p:spPr>
          <a:xfrm>
            <a:off x="2560320" y="16002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大量架電で実行</a:t>
            </a:r>
          </a:p>
        </p:txBody>
      </p:sp>
      <p:sp>
        <p:nvSpPr>
          <p:cNvPr id="9" name="Rectangle 8"/>
          <p:cNvSpPr/>
          <p:nvPr/>
        </p:nvSpPr>
        <p:spPr>
          <a:xfrm>
            <a:off x="8046720" y="16002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零細企業を含め幅広に</a:t>
            </a:r>
          </a:p>
        </p:txBody>
      </p:sp>
      <p:sp>
        <p:nvSpPr>
          <p:cNvPr id="10" name="Rectangle 9"/>
          <p:cNvSpPr/>
          <p:nvPr/>
        </p:nvSpPr>
        <p:spPr>
          <a:xfrm>
            <a:off x="731520" y="2057400"/>
            <a:ext cx="18288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Check</a:t>
            </a:r>
          </a:p>
        </p:txBody>
      </p:sp>
      <p:sp>
        <p:nvSpPr>
          <p:cNvPr id="11" name="Rectangle 10"/>
          <p:cNvSpPr/>
          <p:nvPr/>
        </p:nvSpPr>
        <p:spPr>
          <a:xfrm>
            <a:off x="2560320" y="20574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成功率・失敗ポイントを分析</a:t>
            </a:r>
          </a:p>
        </p:txBody>
      </p:sp>
      <p:sp>
        <p:nvSpPr>
          <p:cNvPr id="12" name="Rectangle 11"/>
          <p:cNvSpPr/>
          <p:nvPr/>
        </p:nvSpPr>
        <p:spPr>
          <a:xfrm>
            <a:off x="8046720" y="20574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どの手順で止まったか</a:t>
            </a:r>
          </a:p>
        </p:txBody>
      </p:sp>
      <p:sp>
        <p:nvSpPr>
          <p:cNvPr id="13" name="Rectangle 12"/>
          <p:cNvSpPr/>
          <p:nvPr/>
        </p:nvSpPr>
        <p:spPr>
          <a:xfrm>
            <a:off x="731520" y="2514600"/>
            <a:ext cx="182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Act</a:t>
            </a:r>
          </a:p>
        </p:txBody>
      </p:sp>
      <p:sp>
        <p:nvSpPr>
          <p:cNvPr id="14" name="Rectangle 13"/>
          <p:cNvSpPr/>
          <p:nvPr/>
        </p:nvSpPr>
        <p:spPr>
          <a:xfrm>
            <a:off x="2560320" y="251460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翌週シナリオを改善</a:t>
            </a:r>
          </a:p>
        </p:txBody>
      </p:sp>
      <p:sp>
        <p:nvSpPr>
          <p:cNvPr id="15" name="Rectangle 14"/>
          <p:cNvSpPr/>
          <p:nvPr/>
        </p:nvSpPr>
        <p:spPr>
          <a:xfrm>
            <a:off x="8046720" y="2514600"/>
            <a:ext cx="630936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破綻ポイントを潰す</a:t>
            </a:r>
          </a:p>
        </p:txBody>
      </p:sp>
      <p:sp>
        <p:nvSpPr>
          <p:cNvPr id="16" name="Rectangle 15"/>
          <p:cNvSpPr/>
          <p:nvPr/>
        </p:nvSpPr>
        <p:spPr>
          <a:xfrm>
            <a:off x="731520" y="306324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シナリオ改善の例 — 破綻ポイントを毎週潰していく</a:t>
            </a:r>
          </a:p>
        </p:txBody>
      </p:sp>
      <p:sp>
        <p:nvSpPr>
          <p:cNvPr id="17" name="Rectangle 16"/>
          <p:cNvSpPr/>
          <p:nvPr/>
        </p:nvSpPr>
        <p:spPr>
          <a:xfrm>
            <a:off x="731520" y="3429000"/>
            <a:ext cx="5029200" cy="36576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「メアドを聞いたら怪しまれた」</a:t>
            </a:r>
          </a:p>
        </p:txBody>
      </p:sp>
      <p:sp>
        <p:nvSpPr>
          <p:cNvPr id="18" name="Rectangle 17"/>
          <p:cNvSpPr/>
          <p:nvPr/>
        </p:nvSpPr>
        <p:spPr>
          <a:xfrm>
            <a:off x="5760720" y="3429000"/>
            <a:ext cx="85953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翌週は別の聞き方にする / 入手済みルートを優先</a:t>
            </a:r>
          </a:p>
        </p:txBody>
      </p:sp>
      <p:sp>
        <p:nvSpPr>
          <p:cNvPr id="19" name="Rectangle 18"/>
          <p:cNvSpPr/>
          <p:nvPr/>
        </p:nvSpPr>
        <p:spPr>
          <a:xfrm>
            <a:off x="731520" y="3794760"/>
            <a:ext cx="5029200" cy="365760"/>
          </a:xfrm>
          <a:prstGeom prst="rect">
            <a:avLst/>
          </a:prstGeom>
          <a:solidFill>
            <a:srgbClr val="F9F9F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「不明な発行元で止まった」</a:t>
            </a:r>
          </a:p>
        </p:txBody>
      </p:sp>
      <p:sp>
        <p:nvSpPr>
          <p:cNvPr id="20" name="Rectangle 19"/>
          <p:cNvSpPr/>
          <p:nvPr/>
        </p:nvSpPr>
        <p:spPr>
          <a:xfrm>
            <a:off x="5760720" y="3794760"/>
            <a:ext cx="85953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翌週は証明書を用意する</a:t>
            </a:r>
          </a:p>
        </p:txBody>
      </p:sp>
      <p:sp>
        <p:nvSpPr>
          <p:cNvPr id="21" name="Rectangle 20"/>
          <p:cNvSpPr/>
          <p:nvPr/>
        </p:nvSpPr>
        <p:spPr>
          <a:xfrm>
            <a:off x="731520" y="4160520"/>
            <a:ext cx="5029200" cy="36576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「迷惑フォルダで止まった」</a:t>
            </a:r>
          </a:p>
        </p:txBody>
      </p:sp>
      <p:sp>
        <p:nvSpPr>
          <p:cNvPr id="22" name="Rectangle 21"/>
          <p:cNvSpPr/>
          <p:nvPr/>
        </p:nvSpPr>
        <p:spPr>
          <a:xfrm>
            <a:off x="5760720" y="4160520"/>
            <a:ext cx="85953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翌週はトーク改善する</a:t>
            </a:r>
          </a:p>
        </p:txBody>
      </p:sp>
      <p:sp>
        <p:nvSpPr>
          <p:cNvPr id="23" name="Rectangle 22"/>
          <p:cNvSpPr/>
          <p:nvPr/>
        </p:nvSpPr>
        <p:spPr>
          <a:xfrm>
            <a:off x="731520" y="4526280"/>
            <a:ext cx="5029200" cy="365760"/>
          </a:xfrm>
          <a:prstGeom prst="rect">
            <a:avLst/>
          </a:prstGeom>
          <a:solidFill>
            <a:srgbClr val="F9F9F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「赤い画面で不審がられた」</a:t>
            </a:r>
          </a:p>
        </p:txBody>
      </p:sp>
      <p:sp>
        <p:nvSpPr>
          <p:cNvPr id="24" name="Rectangle 23"/>
          <p:cNvSpPr/>
          <p:nvPr/>
        </p:nvSpPr>
        <p:spPr>
          <a:xfrm>
            <a:off x="5760720" y="4526280"/>
            <a:ext cx="85953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翌週は画面デザインを変える</a:t>
            </a:r>
          </a:p>
        </p:txBody>
      </p:sp>
      <p:sp>
        <p:nvSpPr>
          <p:cNvPr id="25" name="Rectangle 24"/>
          <p:cNvSpPr/>
          <p:nvPr/>
        </p:nvSpPr>
        <p:spPr>
          <a:xfrm>
            <a:off x="731520" y="50292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 vs シナリオ更新のスピード — 非対称性</a:t>
            </a:r>
          </a:p>
        </p:txBody>
      </p:sp>
      <p:sp>
        <p:nvSpPr>
          <p:cNvPr id="26" name="Rectangle 25"/>
          <p:cNvSpPr/>
          <p:nvPr/>
        </p:nvSpPr>
        <p:spPr>
          <a:xfrm>
            <a:off x="731520" y="5440680"/>
            <a:ext cx="6583680" cy="32004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222222"/>
                </a:solidFill>
                <a:latin typeface="Meiryo"/>
              </a:rPr>
              <a:t>銀行側の注意喚起</a:t>
            </a:r>
          </a:p>
        </p:txBody>
      </p:sp>
      <p:sp>
        <p:nvSpPr>
          <p:cNvPr id="27" name="Rectangle 26"/>
          <p:cNvSpPr/>
          <p:nvPr/>
        </p:nvSpPr>
        <p:spPr>
          <a:xfrm>
            <a:off x="731520" y="5760720"/>
            <a:ext cx="6583680" cy="54864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作成 → 社内審査 → 顧客に配信
→ 数週間〜数ヶ月</a:t>
            </a:r>
          </a:p>
        </p:txBody>
      </p:sp>
      <p:sp>
        <p:nvSpPr>
          <p:cNvPr id="28" name="Rectangle 27"/>
          <p:cNvSpPr/>
          <p:nvPr/>
        </p:nvSpPr>
        <p:spPr>
          <a:xfrm>
            <a:off x="7772400" y="544068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犯人のシナリオ更新</a:t>
            </a:r>
          </a:p>
        </p:txBody>
      </p:sp>
      <p:sp>
        <p:nvSpPr>
          <p:cNvPr id="29" name="Rectangle 28"/>
          <p:cNvSpPr/>
          <p:nvPr/>
        </p:nvSpPr>
        <p:spPr>
          <a:xfrm>
            <a:off x="7772400" y="5760720"/>
            <a:ext cx="6400800" cy="5486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先週の結果を分析 → シナリオ修正 → 翌週実行
→ 1週間</a:t>
            </a:r>
          </a:p>
        </p:txBody>
      </p:sp>
      <p:sp>
        <p:nvSpPr>
          <p:cNvPr id="30" name="Rectangle 29"/>
          <p:cNvSpPr/>
          <p:nvPr/>
        </p:nvSpPr>
        <p:spPr>
          <a:xfrm>
            <a:off x="731520" y="64008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銀行が1つのパターンに対応する間に、犯人は4〜8回シナリオを更新している</a:t>
            </a:r>
          </a:p>
        </p:txBody>
      </p:sp>
      <p:sp>
        <p:nvSpPr>
          <p:cNvPr id="31" name="Rectangle 30"/>
          <p:cNvSpPr/>
          <p:nvPr/>
        </p:nvSpPr>
        <p:spPr>
          <a:xfrm>
            <a:off x="731520" y="6949440"/>
            <a:ext cx="658368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シナリオに依存する防御 = 追いつけない</a:t>
            </a:r>
          </a:p>
        </p:txBody>
      </p:sp>
      <p:sp>
        <p:nvSpPr>
          <p:cNvPr id="32" name="Rectangle 31"/>
          <p:cNvSpPr/>
          <p:nvPr/>
        </p:nvSpPr>
        <p:spPr>
          <a:xfrm>
            <a:off x="7772400" y="6949440"/>
            <a:ext cx="640080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シナリオに依存しない防御 = 常に有効</a:t>
            </a:r>
          </a:p>
        </p:txBody>
      </p:sp>
      <p:sp>
        <p:nvSpPr>
          <p:cNvPr id="33" name="Rectangle 32"/>
          <p:cNvSpPr/>
          <p:nvPr/>
        </p:nvSpPr>
        <p:spPr>
          <a:xfrm>
            <a:off x="731520" y="7269480"/>
            <a:ext cx="6583680" cy="59436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C0392B"/>
                </a:solidFill>
                <a:latin typeface="Meiryo"/>
              </a:rPr>
              <a:t>❌ 注意喚起
❌ パターンマッチ
❌ セキュリティ教育</a:t>
            </a:r>
          </a:p>
        </p:txBody>
      </p:sp>
      <p:sp>
        <p:nvSpPr>
          <p:cNvPr id="34" name="Rectangle 33"/>
          <p:cNvSpPr/>
          <p:nvPr/>
        </p:nvSpPr>
        <p:spPr>
          <a:xfrm>
            <a:off x="7772400" y="7269480"/>
            <a:ext cx="6400800" cy="5943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DMARC p=reject → シナリオが何であれ偽メールは届かない
✅ AppLocker → シナリオが何であれ未許可アプリは実行できない
✅ 技術的対策だけが「シナリオに依存しない防御」</a:t>
            </a:r>
          </a:p>
        </p:txBody>
      </p:sp>
      <p:sp>
        <p:nvSpPr>
          <p:cNvPr id="35" name="TextBox 3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週次シナリオ更新と防御の非対称性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