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5124176"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91440"/>
            <a:ext cx="15124176" cy="457200"/>
          </a:xfrm>
          <a:prstGeom prst="rect">
            <a:avLst/>
          </a:prstGeom>
          <a:noFill/>
        </p:spPr>
        <p:txBody>
          <a:bodyPr wrap="square" lIns="50800" rIns="50800" tIns="38100" bIns="38100"/>
          <a:lstStyle/>
          <a:p>
            <a:pPr algn="ctr"/>
            <a:r>
              <a:rPr sz="2000" b="1">
                <a:solidFill>
                  <a:srgbClr val="222222"/>
                </a:solidFill>
                <a:latin typeface="Meiryo"/>
              </a:rPr>
              <a:t>Fraud Kill Chain（不正送金キルチェーン）</a:t>
            </a:r>
          </a:p>
        </p:txBody>
      </p:sp>
      <p:sp>
        <p:nvSpPr>
          <p:cNvPr id="3" name="TextBox 2"/>
          <p:cNvSpPr txBox="1"/>
          <p:nvPr/>
        </p:nvSpPr>
        <p:spPr>
          <a:xfrm>
            <a:off x="0" y="502920"/>
            <a:ext cx="15124176" cy="274320"/>
          </a:xfrm>
          <a:prstGeom prst="rect">
            <a:avLst/>
          </a:prstGeom>
          <a:noFill/>
        </p:spPr>
        <p:txBody>
          <a:bodyPr wrap="square" lIns="50800" rIns="50800" tIns="38100" bIns="38100"/>
          <a:lstStyle/>
          <a:p>
            <a:pPr algn="ctr"/>
            <a:r>
              <a:rPr sz="1000" b="0">
                <a:solidFill>
                  <a:srgbClr val="888888"/>
                </a:solidFill>
                <a:latin typeface="Meiryo"/>
              </a:rPr>
              <a:t>シート名「不審な電話手口」 ― 犯人サイド × 被害企業サイド スイムレーン図</a:t>
            </a:r>
          </a:p>
        </p:txBody>
      </p:sp>
      <p:sp>
        <p:nvSpPr>
          <p:cNvPr id="4" name="Rectangle 3"/>
          <p:cNvSpPr/>
          <p:nvPr/>
        </p:nvSpPr>
        <p:spPr>
          <a:xfrm>
            <a:off x="457200" y="804672"/>
            <a:ext cx="292608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対象：法人向けIB（BizSTATION）</a:t>
            </a:r>
          </a:p>
        </p:txBody>
      </p:sp>
      <p:sp>
        <p:nvSpPr>
          <p:cNvPr id="5" name="Rectangle 4"/>
          <p:cNvSpPr/>
          <p:nvPr/>
        </p:nvSpPr>
        <p:spPr>
          <a:xfrm>
            <a:off x="3520440" y="804672"/>
            <a:ext cx="6217920" cy="2743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犯人はBizSTATIONの認証フロー（契約者番号→利用者ID→ログインPW→取引実行PW→OTP）を完全に把握</a:t>
            </a:r>
          </a:p>
        </p:txBody>
      </p:sp>
      <p:sp>
        <p:nvSpPr>
          <p:cNvPr id="6" name="Rectangle 5"/>
          <p:cNvSpPr/>
          <p:nvPr/>
        </p:nvSpPr>
        <p:spPr>
          <a:xfrm>
            <a:off x="9875520" y="804672"/>
            <a:ext cx="4754880" cy="2743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法人IBは送金限度額が高く、1件で数千万〜数億円の被害リスク</a:t>
            </a:r>
          </a:p>
        </p:txBody>
      </p:sp>
      <p:sp>
        <p:nvSpPr>
          <p:cNvPr id="7" name="Rectangle 6"/>
          <p:cNvSpPr/>
          <p:nvPr/>
        </p:nvSpPr>
        <p:spPr>
          <a:xfrm>
            <a:off x="1225296" y="1143000"/>
            <a:ext cx="5248656" cy="3200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犯人サイド</a:t>
            </a:r>
          </a:p>
        </p:txBody>
      </p:sp>
      <p:sp>
        <p:nvSpPr>
          <p:cNvPr id="8" name="Rectangle 7"/>
          <p:cNvSpPr/>
          <p:nvPr/>
        </p:nvSpPr>
        <p:spPr>
          <a:xfrm>
            <a:off x="6510528" y="1143000"/>
            <a:ext cx="7891272"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被害企業サイド</a:t>
            </a:r>
          </a:p>
        </p:txBody>
      </p:sp>
      <p:sp>
        <p:nvSpPr>
          <p:cNvPr id="9" name="Rectangle 8"/>
          <p:cNvSpPr/>
          <p:nvPr/>
        </p:nvSpPr>
        <p:spPr>
          <a:xfrm>
            <a:off x="182880" y="1499616"/>
            <a:ext cx="10058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フェーズ</a:t>
            </a:r>
          </a:p>
        </p:txBody>
      </p:sp>
      <p:sp>
        <p:nvSpPr>
          <p:cNvPr id="10" name="Rectangle 9"/>
          <p:cNvSpPr/>
          <p:nvPr/>
        </p:nvSpPr>
        <p:spPr>
          <a:xfrm>
            <a:off x="1225296"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情報・インフラ</a:t>
            </a:r>
          </a:p>
        </p:txBody>
      </p:sp>
      <p:sp>
        <p:nvSpPr>
          <p:cNvPr id="11" name="Rectangle 10"/>
          <p:cNvSpPr/>
          <p:nvPr/>
        </p:nvSpPr>
        <p:spPr>
          <a:xfrm>
            <a:off x="3867912"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架電</a:t>
            </a:r>
          </a:p>
        </p:txBody>
      </p:sp>
      <p:sp>
        <p:nvSpPr>
          <p:cNvPr id="12" name="Rectangle 11"/>
          <p:cNvSpPr/>
          <p:nvPr/>
        </p:nvSpPr>
        <p:spPr>
          <a:xfrm>
            <a:off x="6510528"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受電</a:t>
            </a:r>
          </a:p>
        </p:txBody>
      </p:sp>
      <p:sp>
        <p:nvSpPr>
          <p:cNvPr id="13" name="Rectangle 12"/>
          <p:cNvSpPr/>
          <p:nvPr/>
        </p:nvSpPr>
        <p:spPr>
          <a:xfrm>
            <a:off x="9153144"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会社のPC</a:t>
            </a:r>
          </a:p>
        </p:txBody>
      </p:sp>
      <p:sp>
        <p:nvSpPr>
          <p:cNvPr id="14" name="Rectangle 13"/>
          <p:cNvSpPr/>
          <p:nvPr/>
        </p:nvSpPr>
        <p:spPr>
          <a:xfrm>
            <a:off x="11795760"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個人スマホ</a:t>
            </a:r>
          </a:p>
        </p:txBody>
      </p:sp>
      <p:sp>
        <p:nvSpPr>
          <p:cNvPr id="15" name="Rectangle 14"/>
          <p:cNvSpPr/>
          <p:nvPr/>
        </p:nvSpPr>
        <p:spPr>
          <a:xfrm>
            <a:off x="182880" y="1371600"/>
            <a:ext cx="1005840" cy="8686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① 犯行準備
（偵察など）</a:t>
            </a:r>
          </a:p>
        </p:txBody>
      </p:sp>
      <p:sp>
        <p:nvSpPr>
          <p:cNvPr id="16" name="Rectangle 15"/>
          <p:cNvSpPr/>
          <p:nvPr/>
        </p:nvSpPr>
        <p:spPr>
          <a:xfrm>
            <a:off x="182880" y="2276856"/>
            <a:ext cx="1005840" cy="9601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② 被害者への
接触</a:t>
            </a:r>
          </a:p>
        </p:txBody>
      </p:sp>
      <p:sp>
        <p:nvSpPr>
          <p:cNvPr id="17" name="Rectangle 16"/>
          <p:cNvSpPr/>
          <p:nvPr/>
        </p:nvSpPr>
        <p:spPr>
          <a:xfrm>
            <a:off x="182880" y="3273552"/>
            <a:ext cx="1005840" cy="26060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③ 心理的操作</a:t>
            </a:r>
          </a:p>
        </p:txBody>
      </p:sp>
      <p:sp>
        <p:nvSpPr>
          <p:cNvPr id="18" name="Rectangle 17"/>
          <p:cNvSpPr/>
          <p:nvPr/>
        </p:nvSpPr>
        <p:spPr>
          <a:xfrm>
            <a:off x="182880" y="5916168"/>
            <a:ext cx="1005840" cy="22402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④ システムや
機能の侵害</a:t>
            </a:r>
          </a:p>
        </p:txBody>
      </p:sp>
      <p:sp>
        <p:nvSpPr>
          <p:cNvPr id="19" name="Rectangle 18"/>
          <p:cNvSpPr/>
          <p:nvPr/>
        </p:nvSpPr>
        <p:spPr>
          <a:xfrm>
            <a:off x="182880" y="8193024"/>
            <a:ext cx="1005840" cy="2286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⑤ 侵害に使用
する認証情報</a:t>
            </a:r>
          </a:p>
        </p:txBody>
      </p:sp>
      <p:sp>
        <p:nvSpPr>
          <p:cNvPr id="20" name="Rectangle 19"/>
          <p:cNvSpPr/>
          <p:nvPr/>
        </p:nvSpPr>
        <p:spPr>
          <a:xfrm>
            <a:off x="182880" y="10515600"/>
            <a:ext cx="10058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⑥ 収益化
／マネロン</a:t>
            </a:r>
          </a:p>
        </p:txBody>
      </p:sp>
      <p:sp>
        <p:nvSpPr>
          <p:cNvPr id="21" name="Rectangle 20"/>
          <p:cNvSpPr/>
          <p:nvPr/>
        </p:nvSpPr>
        <p:spPr>
          <a:xfrm>
            <a:off x="1225296"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Rectangle 21"/>
          <p:cNvSpPr/>
          <p:nvPr/>
        </p:nvSpPr>
        <p:spPr>
          <a:xfrm>
            <a:off x="3867912"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3" name="Rectangle 22"/>
          <p:cNvSpPr/>
          <p:nvPr/>
        </p:nvSpPr>
        <p:spPr>
          <a:xfrm>
            <a:off x="6510528"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4" name="Rectangle 23"/>
          <p:cNvSpPr/>
          <p:nvPr/>
        </p:nvSpPr>
        <p:spPr>
          <a:xfrm>
            <a:off x="9153144"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5" name="Rectangle 24"/>
          <p:cNvSpPr/>
          <p:nvPr/>
        </p:nvSpPr>
        <p:spPr>
          <a:xfrm>
            <a:off x="11795760"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6" name="Rectangle 25"/>
          <p:cNvSpPr/>
          <p:nvPr/>
        </p:nvSpPr>
        <p:spPr>
          <a:xfrm>
            <a:off x="1225296"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7" name="Rectangle 26"/>
          <p:cNvSpPr/>
          <p:nvPr/>
        </p:nvSpPr>
        <p:spPr>
          <a:xfrm>
            <a:off x="3867912"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8" name="Rectangle 27"/>
          <p:cNvSpPr/>
          <p:nvPr/>
        </p:nvSpPr>
        <p:spPr>
          <a:xfrm>
            <a:off x="6510528"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9" name="Rectangle 28"/>
          <p:cNvSpPr/>
          <p:nvPr/>
        </p:nvSpPr>
        <p:spPr>
          <a:xfrm>
            <a:off x="9153144"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0" name="Rectangle 29"/>
          <p:cNvSpPr/>
          <p:nvPr/>
        </p:nvSpPr>
        <p:spPr>
          <a:xfrm>
            <a:off x="11795760"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1" name="Rectangle 30"/>
          <p:cNvSpPr/>
          <p:nvPr/>
        </p:nvSpPr>
        <p:spPr>
          <a:xfrm>
            <a:off x="1225296"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2" name="Rectangle 31"/>
          <p:cNvSpPr/>
          <p:nvPr/>
        </p:nvSpPr>
        <p:spPr>
          <a:xfrm>
            <a:off x="3867912"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3" name="Rectangle 32"/>
          <p:cNvSpPr/>
          <p:nvPr/>
        </p:nvSpPr>
        <p:spPr>
          <a:xfrm>
            <a:off x="6510528"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4" name="Rectangle 33"/>
          <p:cNvSpPr/>
          <p:nvPr/>
        </p:nvSpPr>
        <p:spPr>
          <a:xfrm>
            <a:off x="9153144"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5" name="Rectangle 34"/>
          <p:cNvSpPr/>
          <p:nvPr/>
        </p:nvSpPr>
        <p:spPr>
          <a:xfrm>
            <a:off x="11795760"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6" name="Rectangle 35"/>
          <p:cNvSpPr/>
          <p:nvPr/>
        </p:nvSpPr>
        <p:spPr>
          <a:xfrm>
            <a:off x="1225296"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7" name="Rectangle 36"/>
          <p:cNvSpPr/>
          <p:nvPr/>
        </p:nvSpPr>
        <p:spPr>
          <a:xfrm>
            <a:off x="3867912"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8" name="Rectangle 37"/>
          <p:cNvSpPr/>
          <p:nvPr/>
        </p:nvSpPr>
        <p:spPr>
          <a:xfrm>
            <a:off x="6510528"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9" name="Rectangle 38"/>
          <p:cNvSpPr/>
          <p:nvPr/>
        </p:nvSpPr>
        <p:spPr>
          <a:xfrm>
            <a:off x="9153144"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0" name="Rectangle 39"/>
          <p:cNvSpPr/>
          <p:nvPr/>
        </p:nvSpPr>
        <p:spPr>
          <a:xfrm>
            <a:off x="11795760"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1" name="Rectangle 40"/>
          <p:cNvSpPr/>
          <p:nvPr/>
        </p:nvSpPr>
        <p:spPr>
          <a:xfrm>
            <a:off x="1225296"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2" name="Rectangle 41"/>
          <p:cNvSpPr/>
          <p:nvPr/>
        </p:nvSpPr>
        <p:spPr>
          <a:xfrm>
            <a:off x="3867912"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3" name="Rectangle 42"/>
          <p:cNvSpPr/>
          <p:nvPr/>
        </p:nvSpPr>
        <p:spPr>
          <a:xfrm>
            <a:off x="6510528"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4" name="Rectangle 43"/>
          <p:cNvSpPr/>
          <p:nvPr/>
        </p:nvSpPr>
        <p:spPr>
          <a:xfrm>
            <a:off x="9153144"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5" name="Rectangle 44"/>
          <p:cNvSpPr/>
          <p:nvPr/>
        </p:nvSpPr>
        <p:spPr>
          <a:xfrm>
            <a:off x="11795760"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6" name="Rectangle 45"/>
          <p:cNvSpPr/>
          <p:nvPr/>
        </p:nvSpPr>
        <p:spPr>
          <a:xfrm>
            <a:off x="1225296"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7" name="Rectangle 46"/>
          <p:cNvSpPr/>
          <p:nvPr/>
        </p:nvSpPr>
        <p:spPr>
          <a:xfrm>
            <a:off x="3867912"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8" name="Rectangle 47"/>
          <p:cNvSpPr/>
          <p:nvPr/>
        </p:nvSpPr>
        <p:spPr>
          <a:xfrm>
            <a:off x="6510528"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9" name="Rectangle 48"/>
          <p:cNvSpPr/>
          <p:nvPr/>
        </p:nvSpPr>
        <p:spPr>
          <a:xfrm>
            <a:off x="9153144"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0" name="Rectangle 49"/>
          <p:cNvSpPr/>
          <p:nvPr/>
        </p:nvSpPr>
        <p:spPr>
          <a:xfrm>
            <a:off x="11795760"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1" name="Rectangle 50"/>
          <p:cNvSpPr/>
          <p:nvPr/>
        </p:nvSpPr>
        <p:spPr>
          <a:xfrm>
            <a:off x="1316736" y="1508760"/>
            <a:ext cx="2423160" cy="5029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電話番号・メールアドレスを取得</a:t>
            </a:r>
          </a:p>
        </p:txBody>
      </p:sp>
      <p:sp>
        <p:nvSpPr>
          <p:cNvPr id="52" name="Rectangle 51"/>
          <p:cNvSpPr/>
          <p:nvPr/>
        </p:nvSpPr>
        <p:spPr>
          <a:xfrm>
            <a:off x="3959352" y="1508760"/>
            <a:ext cx="2423160" cy="32004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事前調査</a:t>
            </a:r>
          </a:p>
        </p:txBody>
      </p:sp>
      <p:sp>
        <p:nvSpPr>
          <p:cNvPr id="53" name="TextBox 52"/>
          <p:cNvSpPr txBox="1"/>
          <p:nvPr/>
        </p:nvSpPr>
        <p:spPr>
          <a:xfrm>
            <a:off x="3959352" y="1874519"/>
            <a:ext cx="2423160" cy="274320"/>
          </a:xfrm>
          <a:prstGeom prst="rect">
            <a:avLst/>
          </a:prstGeom>
          <a:noFill/>
        </p:spPr>
        <p:txBody>
          <a:bodyPr wrap="square" lIns="50800" rIns="50800" tIns="38100" bIns="38100"/>
          <a:lstStyle/>
          <a:p>
            <a:pPr algn="l"/>
            <a:r>
              <a:rPr sz="700" b="0">
                <a:solidFill>
                  <a:srgbClr val="888888"/>
                </a:solidFill>
                <a:latin typeface="Meiryo"/>
              </a:rPr>
              <a:t>※幅広に架電している印象</a:t>
            </a:r>
          </a:p>
        </p:txBody>
      </p:sp>
      <p:sp>
        <p:nvSpPr>
          <p:cNvPr id="54" name="Rectangle 53"/>
          <p:cNvSpPr/>
          <p:nvPr/>
        </p:nvSpPr>
        <p:spPr>
          <a:xfrm>
            <a:off x="3959352" y="2350008"/>
            <a:ext cx="2423160" cy="777240"/>
          </a:xfrm>
          <a:prstGeom prst="rect">
            <a:avLst/>
          </a:prstGeom>
          <a:solidFill>
            <a:srgbClr val="EAF2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【自動音声】
「こちらはMバンく BizSTATION法人窓口です。BizSTATIONを利用している方は1を押してください。承認実行権限を持っている方は1を押してください」</a:t>
            </a:r>
          </a:p>
        </p:txBody>
      </p:sp>
      <p:sp>
        <p:nvSpPr>
          <p:cNvPr id="55" name="Rectangle 54"/>
          <p:cNvSpPr/>
          <p:nvPr/>
        </p:nvSpPr>
        <p:spPr>
          <a:xfrm>
            <a:off x="6601968" y="235000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「1」押下</a:t>
            </a:r>
          </a:p>
        </p:txBody>
      </p:sp>
      <p:sp>
        <p:nvSpPr>
          <p:cNvPr id="56" name="TextBox 55"/>
          <p:cNvSpPr txBox="1"/>
          <p:nvPr/>
        </p:nvSpPr>
        <p:spPr>
          <a:xfrm>
            <a:off x="6601968" y="2734056"/>
            <a:ext cx="2423160" cy="502920"/>
          </a:xfrm>
          <a:prstGeom prst="rect">
            <a:avLst/>
          </a:prstGeom>
          <a:noFill/>
        </p:spPr>
        <p:txBody>
          <a:bodyPr wrap="square" lIns="50800" rIns="50800" tIns="38100" bIns="38100"/>
          <a:lstStyle/>
          <a:p>
            <a:pPr algn="l"/>
            <a:r>
              <a:rPr sz="600" b="0">
                <a:solidFill>
                  <a:srgbClr val="888888"/>
                </a:solidFill>
                <a:latin typeface="Meiryo"/>
              </a:rPr>
              <a:t>※「1」以外を押下した人は、法人ダイレクトオフィス（コールセンター）の電話番号を案内される</a:t>
            </a:r>
          </a:p>
        </p:txBody>
      </p:sp>
      <p:sp>
        <p:nvSpPr>
          <p:cNvPr id="57" name="Rectangle 56"/>
          <p:cNvSpPr/>
          <p:nvPr/>
        </p:nvSpPr>
        <p:spPr>
          <a:xfrm>
            <a:off x="3959352" y="3319272"/>
            <a:ext cx="2423160" cy="6400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「パソコン環境の更新が必要。現在口座の利用制限をしています。手続きを郵送していますが、届いてますか。更新されていないので電話しました」</a:t>
            </a:r>
          </a:p>
        </p:txBody>
      </p:sp>
      <p:sp>
        <p:nvSpPr>
          <p:cNvPr id="58" name="TextBox 57"/>
          <p:cNvSpPr txBox="1"/>
          <p:nvPr/>
        </p:nvSpPr>
        <p:spPr>
          <a:xfrm>
            <a:off x="3959352" y="3986784"/>
            <a:ext cx="2423160" cy="182880"/>
          </a:xfrm>
          <a:prstGeom prst="rect">
            <a:avLst/>
          </a:prstGeom>
          <a:noFill/>
        </p:spPr>
        <p:txBody>
          <a:bodyPr wrap="square" lIns="50800" rIns="50800" tIns="38100" bIns="38100"/>
          <a:lstStyle/>
          <a:p>
            <a:pPr algn="l"/>
            <a:r>
              <a:rPr sz="600" b="0">
                <a:solidFill>
                  <a:srgbClr val="888888"/>
                </a:solidFill>
                <a:latin typeface="Meiryo"/>
              </a:rPr>
              <a:t>※複数の誘導方法あり</a:t>
            </a:r>
          </a:p>
        </p:txBody>
      </p:sp>
      <p:sp>
        <p:nvSpPr>
          <p:cNvPr id="59" name="TextBox 58"/>
          <p:cNvSpPr txBox="1"/>
          <p:nvPr/>
        </p:nvSpPr>
        <p:spPr>
          <a:xfrm>
            <a:off x="3959352" y="4096512"/>
            <a:ext cx="2423160" cy="182880"/>
          </a:xfrm>
          <a:prstGeom prst="rect">
            <a:avLst/>
          </a:prstGeom>
          <a:noFill/>
        </p:spPr>
        <p:txBody>
          <a:bodyPr wrap="square" lIns="50800" rIns="50800" tIns="38100" bIns="38100"/>
          <a:lstStyle/>
          <a:p>
            <a:pPr algn="l"/>
            <a:r>
              <a:rPr sz="600" b="1">
                <a:solidFill>
                  <a:srgbClr val="C0392B"/>
                </a:solidFill>
                <a:latin typeface="Meiryo"/>
              </a:rPr>
              <a:t>※AI音声または有人対応（法人高額案件のため両方の可能性あり）</a:t>
            </a:r>
          </a:p>
        </p:txBody>
      </p:sp>
      <p:sp>
        <p:nvSpPr>
          <p:cNvPr id="60" name="Rectangle 59"/>
          <p:cNvSpPr/>
          <p:nvPr/>
        </p:nvSpPr>
        <p:spPr>
          <a:xfrm>
            <a:off x="3959352" y="4206240"/>
            <a:ext cx="2423160" cy="201168"/>
          </a:xfrm>
          <a:prstGeom prst="rect">
            <a:avLst/>
          </a:prstGeom>
          <a:solidFill>
            <a:srgbClr val="222222"/>
          </a:solidFill>
          <a:ln w="25400">
            <a:solidFill>
              <a:srgbClr val="2222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1">
                <a:solidFill>
                  <a:srgbClr val="FFFFFF"/>
                </a:solidFill>
                <a:latin typeface="Meiryo"/>
              </a:rPr>
              <a:t>🔑 攻撃の鍵：「口座制限」で恐怖→以降の判断力を奪う</a:t>
            </a:r>
          </a:p>
        </p:txBody>
      </p:sp>
      <p:sp>
        <p:nvSpPr>
          <p:cNvPr id="61" name="Diamond 60"/>
          <p:cNvSpPr/>
          <p:nvPr/>
        </p:nvSpPr>
        <p:spPr>
          <a:xfrm>
            <a:off x="4507992" y="4443984"/>
            <a:ext cx="1280160" cy="457200"/>
          </a:xfrm>
          <a:prstGeom prst="diamond">
            <a:avLst/>
          </a:prstGeom>
          <a:solidFill>
            <a:srgbClr val="FFF3CD"/>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r>
              <a:rPr sz="700" b="1">
                <a:latin typeface="Meiryo"/>
              </a:rPr>
              <a:t>メアド
入手済／未済？</a:t>
            </a:r>
          </a:p>
        </p:txBody>
      </p:sp>
      <p:sp>
        <p:nvSpPr>
          <p:cNvPr id="62" name="Rectangle 61"/>
          <p:cNvSpPr/>
          <p:nvPr/>
        </p:nvSpPr>
        <p:spPr>
          <a:xfrm>
            <a:off x="3959352" y="4937760"/>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【未済の場合】
「手続きをメールで案内するので、メールアドレスを教えてください」</a:t>
            </a:r>
          </a:p>
        </p:txBody>
      </p:sp>
      <p:sp>
        <p:nvSpPr>
          <p:cNvPr id="63" name="Rectangle 62"/>
          <p:cNvSpPr/>
          <p:nvPr/>
        </p:nvSpPr>
        <p:spPr>
          <a:xfrm>
            <a:off x="3959352" y="532180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 破綻ポイント：BizSTATION契約時にメアド登録済み。銀行が聞く必要はない→手順②の恐怖で気づけない</a:t>
            </a:r>
          </a:p>
        </p:txBody>
      </p:sp>
      <p:sp>
        <p:nvSpPr>
          <p:cNvPr id="64" name="Rectangle 63"/>
          <p:cNvSpPr/>
          <p:nvPr/>
        </p:nvSpPr>
        <p:spPr>
          <a:xfrm>
            <a:off x="3959352" y="5614416"/>
            <a:ext cx="2423160" cy="201168"/>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メール送付</a:t>
            </a:r>
          </a:p>
        </p:txBody>
      </p:sp>
      <p:sp>
        <p:nvSpPr>
          <p:cNvPr id="65" name="Rectangle 64"/>
          <p:cNvSpPr/>
          <p:nvPr/>
        </p:nvSpPr>
        <p:spPr>
          <a:xfrm>
            <a:off x="3959352" y="5833872"/>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件名①「【重要】BizSTATIONお客さま情報更新のお知らせ」</a:t>
            </a:r>
          </a:p>
        </p:txBody>
      </p:sp>
      <p:sp>
        <p:nvSpPr>
          <p:cNvPr id="66" name="Rectangle 65"/>
          <p:cNvSpPr/>
          <p:nvPr/>
        </p:nvSpPr>
        <p:spPr>
          <a:xfrm>
            <a:off x="3959352" y="5989320"/>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件名②「【Mバンく】IB安全利用案内（Rapport推奨）」</a:t>
            </a:r>
          </a:p>
        </p:txBody>
      </p:sp>
      <p:sp>
        <p:nvSpPr>
          <p:cNvPr id="67" name="Rectangle 66"/>
          <p:cNvSpPr/>
          <p:nvPr/>
        </p:nvSpPr>
        <p:spPr>
          <a:xfrm>
            <a:off x="6601968" y="4937760"/>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メールアドレスを伝える</a:t>
            </a:r>
          </a:p>
        </p:txBody>
      </p:sp>
      <p:sp>
        <p:nvSpPr>
          <p:cNvPr id="68" name="Rectangle 67"/>
          <p:cNvSpPr/>
          <p:nvPr/>
        </p:nvSpPr>
        <p:spPr>
          <a:xfrm>
            <a:off x="9244584" y="5614416"/>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メール受信
（Bizデザインのメール）</a:t>
            </a:r>
          </a:p>
        </p:txBody>
      </p:sp>
      <p:sp>
        <p:nvSpPr>
          <p:cNvPr id="69" name="Rectangle 68"/>
          <p:cNvSpPr/>
          <p:nvPr/>
        </p:nvSpPr>
        <p:spPr>
          <a:xfrm>
            <a:off x="3959352" y="5961888"/>
            <a:ext cx="2423160" cy="45720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「セキュリティ強化のためソフトインストールが必要です。メールのボタンをクリックしてください」</a:t>
            </a:r>
          </a:p>
        </p:txBody>
      </p:sp>
      <p:sp>
        <p:nvSpPr>
          <p:cNvPr id="70" name="Rectangle 69"/>
          <p:cNvSpPr/>
          <p:nvPr/>
        </p:nvSpPr>
        <p:spPr>
          <a:xfrm>
            <a:off x="3959352" y="646480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「セットアップをクリックしてください」</a:t>
            </a:r>
          </a:p>
        </p:txBody>
      </p:sp>
      <p:sp>
        <p:nvSpPr>
          <p:cNvPr id="71" name="Rectangle 70"/>
          <p:cNvSpPr/>
          <p:nvPr/>
        </p:nvSpPr>
        <p:spPr>
          <a:xfrm>
            <a:off x="3959352" y="678484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「実行するをクリックしてください」</a:t>
            </a:r>
          </a:p>
        </p:txBody>
      </p:sp>
      <p:sp>
        <p:nvSpPr>
          <p:cNvPr id="72" name="Rectangle 71"/>
          <p:cNvSpPr/>
          <p:nvPr/>
        </p:nvSpPr>
        <p:spPr>
          <a:xfrm>
            <a:off x="9244584" y="596188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クリック → ブラウザ表示
（Bizデザイン重要なお知らせ画面）</a:t>
            </a:r>
          </a:p>
        </p:txBody>
      </p:sp>
      <p:sp>
        <p:nvSpPr>
          <p:cNvPr id="73" name="Rectangle 72"/>
          <p:cNvSpPr/>
          <p:nvPr/>
        </p:nvSpPr>
        <p:spPr>
          <a:xfrm>
            <a:off x="9244584" y="6327648"/>
            <a:ext cx="2423160" cy="32004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【DL】リモートツールのセットアップファイル setup.msi がダウンロードされる</a:t>
            </a:r>
          </a:p>
        </p:txBody>
      </p:sp>
      <p:sp>
        <p:nvSpPr>
          <p:cNvPr id="74" name="Rectangle 73"/>
          <p:cNvSpPr/>
          <p:nvPr/>
        </p:nvSpPr>
        <p:spPr>
          <a:xfrm>
            <a:off x="9244584" y="6693408"/>
            <a:ext cx="2423160" cy="36576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【実行】msiファイル実行 → ポップアップ「実行する/実行しない」
※「不明な発行元」と表示</a:t>
            </a:r>
          </a:p>
        </p:txBody>
      </p:sp>
      <p:sp>
        <p:nvSpPr>
          <p:cNvPr id="75" name="Rectangle 74"/>
          <p:cNvSpPr/>
          <p:nvPr/>
        </p:nvSpPr>
        <p:spPr>
          <a:xfrm>
            <a:off x="9244584" y="710488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【インストール】ScreenConnect（リモートツール）がインストールされる</a:t>
            </a:r>
          </a:p>
        </p:txBody>
      </p:sp>
      <p:sp>
        <p:nvSpPr>
          <p:cNvPr id="76" name="Rectangle 75"/>
          <p:cNvSpPr/>
          <p:nvPr/>
        </p:nvSpPr>
        <p:spPr>
          <a:xfrm>
            <a:off x="9244584" y="7424928"/>
            <a:ext cx="2423160" cy="77724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FFFFFF"/>
                </a:solidFill>
                <a:latin typeface="Meiryo"/>
              </a:rPr>
              <a:t>『Mバンく　現在セキュリティ保護強化に伴うシステム更新ならびに、お客さま情報の確認、更新処理を実施しております。処理完了までの間一時的に画面が遅延または停止する場合がありますが、正常な処理となりますのでそのままお待ちくださいますようお願い申し上げます。』</a:t>
            </a:r>
          </a:p>
        </p:txBody>
      </p:sp>
      <p:sp>
        <p:nvSpPr>
          <p:cNvPr id="77" name="Rectangle 76"/>
          <p:cNvSpPr/>
          <p:nvPr/>
        </p:nvSpPr>
        <p:spPr>
          <a:xfrm>
            <a:off x="3959352" y="8238744"/>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「手続きを進めるにはSMS認証が必要なため、お客さまの携帯電話の番号を教えてください」</a:t>
            </a:r>
          </a:p>
        </p:txBody>
      </p:sp>
      <p:sp>
        <p:nvSpPr>
          <p:cNvPr id="78" name="Rectangle 77"/>
          <p:cNvSpPr/>
          <p:nvPr/>
        </p:nvSpPr>
        <p:spPr>
          <a:xfrm>
            <a:off x="3959352" y="8650224"/>
            <a:ext cx="2423160" cy="201168"/>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【SMS送付】</a:t>
            </a:r>
          </a:p>
        </p:txBody>
      </p:sp>
      <p:sp>
        <p:nvSpPr>
          <p:cNvPr id="79" name="Rectangle 78"/>
          <p:cNvSpPr/>
          <p:nvPr/>
        </p:nvSpPr>
        <p:spPr>
          <a:xfrm>
            <a:off x="3959352" y="8906256"/>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「認証画面を表示するためリンクをクリックしてください」</a:t>
            </a:r>
          </a:p>
        </p:txBody>
      </p:sp>
      <p:sp>
        <p:nvSpPr>
          <p:cNvPr id="80" name="Rectangle 79"/>
          <p:cNvSpPr/>
          <p:nvPr/>
        </p:nvSpPr>
        <p:spPr>
          <a:xfrm>
            <a:off x="3959352" y="9226296"/>
            <a:ext cx="2423160" cy="4114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「認証のため契約者番号、利用者ID、ログインPW、取引実行PW、OTPを入力してください」</a:t>
            </a:r>
          </a:p>
        </p:txBody>
      </p:sp>
      <p:sp>
        <p:nvSpPr>
          <p:cNvPr id="81" name="Rectangle 80"/>
          <p:cNvSpPr/>
          <p:nvPr/>
        </p:nvSpPr>
        <p:spPr>
          <a:xfrm>
            <a:off x="3959352" y="9701784"/>
            <a:ext cx="2423160" cy="4114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【犯人ブラウザ】赤い画面の裏でBizにアクセス、窃取したOTPを入力</a:t>
            </a:r>
          </a:p>
        </p:txBody>
      </p:sp>
      <p:sp>
        <p:nvSpPr>
          <p:cNvPr id="82" name="Rectangle 81"/>
          <p:cNvSpPr/>
          <p:nvPr/>
        </p:nvSpPr>
        <p:spPr>
          <a:xfrm>
            <a:off x="6601968" y="8238744"/>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電話番号を伝える</a:t>
            </a:r>
          </a:p>
        </p:txBody>
      </p:sp>
      <p:sp>
        <p:nvSpPr>
          <p:cNvPr id="83" name="Rectangle 82"/>
          <p:cNvSpPr/>
          <p:nvPr/>
        </p:nvSpPr>
        <p:spPr>
          <a:xfrm>
            <a:off x="11887200" y="8650224"/>
            <a:ext cx="2423160" cy="274320"/>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SMS受信 → リンクをクリック</a:t>
            </a:r>
          </a:p>
        </p:txBody>
      </p:sp>
      <p:sp>
        <p:nvSpPr>
          <p:cNvPr id="84" name="Rectangle 83"/>
          <p:cNvSpPr/>
          <p:nvPr/>
        </p:nvSpPr>
        <p:spPr>
          <a:xfrm>
            <a:off x="11887200" y="8997696"/>
            <a:ext cx="242316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開いた画面に認証情報を入力
・契約者番号
・利用者ID
・ログインPW
・取引実行PW
・OTP</a:t>
            </a:r>
          </a:p>
        </p:txBody>
      </p:sp>
      <p:sp>
        <p:nvSpPr>
          <p:cNvPr id="85" name="Rectangle 84"/>
          <p:cNvSpPr/>
          <p:nvPr/>
        </p:nvSpPr>
        <p:spPr>
          <a:xfrm>
            <a:off x="3959352" y="10588752"/>
            <a:ext cx="2423160" cy="41148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400" b="1">
                <a:solidFill>
                  <a:srgbClr val="FFFFFF"/>
                </a:solidFill>
                <a:latin typeface="Meiryo"/>
              </a:rPr>
              <a:t>不正送金</a:t>
            </a:r>
          </a:p>
        </p:txBody>
      </p:sp>
      <p:sp>
        <p:nvSpPr>
          <p:cNvPr id="86" name="TextBox 8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不審な電話手口 ｜ A3横印刷対応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C0392B"/>
                </a:solidFill>
                <a:latin typeface="Meiryo"/>
              </a:rPr>
              <a:t>なぜ見破れないのか — 銀行の正規フローとの類似性</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銀行自身が顧客を「自動音声の指示に従う」行動パターンに教育してきた結果、この攻撃が成立している。</a:t>
            </a:r>
          </a:p>
        </p:txBody>
      </p:sp>
      <p:sp>
        <p:nvSpPr>
          <p:cNvPr id="4" name="Rectangle 3"/>
          <p:cNvSpPr/>
          <p:nvPr/>
        </p:nvSpPr>
        <p:spPr>
          <a:xfrm>
            <a:off x="13716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銀行の正規フロー</a:t>
            </a:r>
          </a:p>
        </p:txBody>
      </p:sp>
      <p:sp>
        <p:nvSpPr>
          <p:cNvPr id="5" name="Rectangle 4"/>
          <p:cNvSpPr/>
          <p:nvPr/>
        </p:nvSpPr>
        <p:spPr>
          <a:xfrm>
            <a:off x="54864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この攻撃の手口</a:t>
            </a:r>
          </a:p>
        </p:txBody>
      </p:sp>
      <p:sp>
        <p:nvSpPr>
          <p:cNvPr id="6" name="Rectangle 5"/>
          <p:cNvSpPr/>
          <p:nvPr/>
        </p:nvSpPr>
        <p:spPr>
          <a:xfrm>
            <a:off x="96012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顧客の体験</a:t>
            </a:r>
          </a:p>
        </p:txBody>
      </p:sp>
      <p:sp>
        <p:nvSpPr>
          <p:cNvPr id="7" name="Rectangle 6"/>
          <p:cNvSpPr/>
          <p:nvPr/>
        </p:nvSpPr>
        <p:spPr>
          <a:xfrm>
            <a:off x="13716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自動音声で用件を振り分け</a:t>
            </a:r>
          </a:p>
        </p:txBody>
      </p:sp>
      <p:sp>
        <p:nvSpPr>
          <p:cNvPr id="8" name="Rectangle 7"/>
          <p:cNvSpPr/>
          <p:nvPr/>
        </p:nvSpPr>
        <p:spPr>
          <a:xfrm>
            <a:off x="54864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自動音声で権限者を選別</a:t>
            </a:r>
          </a:p>
        </p:txBody>
      </p:sp>
      <p:sp>
        <p:nvSpPr>
          <p:cNvPr id="9" name="Rectangle 8"/>
          <p:cNvSpPr/>
          <p:nvPr/>
        </p:nvSpPr>
        <p:spPr>
          <a:xfrm>
            <a:off x="9601200" y="196596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0" name="Rectangle 9"/>
          <p:cNvSpPr/>
          <p:nvPr/>
        </p:nvSpPr>
        <p:spPr>
          <a:xfrm>
            <a:off x="13716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番号を押して選択</a:t>
            </a:r>
          </a:p>
        </p:txBody>
      </p:sp>
      <p:sp>
        <p:nvSpPr>
          <p:cNvPr id="11" name="Rectangle 10"/>
          <p:cNvSpPr/>
          <p:nvPr/>
        </p:nvSpPr>
        <p:spPr>
          <a:xfrm>
            <a:off x="54864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「1」を押す</a:t>
            </a:r>
          </a:p>
        </p:txBody>
      </p:sp>
      <p:sp>
        <p:nvSpPr>
          <p:cNvPr id="12" name="Rectangle 11"/>
          <p:cNvSpPr/>
          <p:nvPr/>
        </p:nvSpPr>
        <p:spPr>
          <a:xfrm>
            <a:off x="9601200" y="246888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3" name="Rectangle 12"/>
          <p:cNvSpPr/>
          <p:nvPr/>
        </p:nvSpPr>
        <p:spPr>
          <a:xfrm>
            <a:off x="13716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担当者と話す</a:t>
            </a:r>
          </a:p>
        </p:txBody>
      </p:sp>
      <p:sp>
        <p:nvSpPr>
          <p:cNvPr id="14" name="Rectangle 13"/>
          <p:cNvSpPr/>
          <p:nvPr/>
        </p:nvSpPr>
        <p:spPr>
          <a:xfrm>
            <a:off x="54864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犯人（AI音声/有人）と話す</a:t>
            </a:r>
          </a:p>
        </p:txBody>
      </p:sp>
      <p:sp>
        <p:nvSpPr>
          <p:cNvPr id="15" name="Rectangle 14"/>
          <p:cNvSpPr/>
          <p:nvPr/>
        </p:nvSpPr>
        <p:spPr>
          <a:xfrm>
            <a:off x="9601200" y="297180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6" name="Rectangle 15"/>
          <p:cNvSpPr/>
          <p:nvPr/>
        </p:nvSpPr>
        <p:spPr>
          <a:xfrm>
            <a:off x="13716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指示に従って手続き</a:t>
            </a:r>
          </a:p>
        </p:txBody>
      </p:sp>
      <p:sp>
        <p:nvSpPr>
          <p:cNvPr id="17" name="Rectangle 16"/>
          <p:cNvSpPr/>
          <p:nvPr/>
        </p:nvSpPr>
        <p:spPr>
          <a:xfrm>
            <a:off x="54864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指示に従ってインストール</a:t>
            </a:r>
          </a:p>
        </p:txBody>
      </p:sp>
      <p:sp>
        <p:nvSpPr>
          <p:cNvPr id="18" name="Rectangle 17"/>
          <p:cNvSpPr/>
          <p:nvPr/>
        </p:nvSpPr>
        <p:spPr>
          <a:xfrm>
            <a:off x="9601200" y="347472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9" name="Rectangle 18"/>
          <p:cNvSpPr/>
          <p:nvPr/>
        </p:nvSpPr>
        <p:spPr>
          <a:xfrm>
            <a:off x="13716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本人確認で情報を伝える</a:t>
            </a:r>
          </a:p>
        </p:txBody>
      </p:sp>
      <p:sp>
        <p:nvSpPr>
          <p:cNvPr id="20" name="Rectangle 19"/>
          <p:cNvSpPr/>
          <p:nvPr/>
        </p:nvSpPr>
        <p:spPr>
          <a:xfrm>
            <a:off x="54864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認証情報をすべて入力</a:t>
            </a:r>
          </a:p>
        </p:txBody>
      </p:sp>
      <p:sp>
        <p:nvSpPr>
          <p:cNvPr id="21" name="Rectangle 20"/>
          <p:cNvSpPr/>
          <p:nvPr/>
        </p:nvSpPr>
        <p:spPr>
          <a:xfrm>
            <a:off x="9601200" y="3977639"/>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22" name="Rectangle 21"/>
          <p:cNvSpPr/>
          <p:nvPr/>
        </p:nvSpPr>
        <p:spPr>
          <a:xfrm>
            <a:off x="1371600" y="475488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600" b="1">
                <a:solidFill>
                  <a:srgbClr val="FFFFFF"/>
                </a:solidFill>
                <a:latin typeface="Meiryo"/>
              </a:rPr>
              <a:t>構造的問題：正規と詐欺の区別が顧客側ではほぼ不可能</a:t>
            </a:r>
          </a:p>
        </p:txBody>
      </p:sp>
      <p:sp>
        <p:nvSpPr>
          <p:cNvPr id="23" name="TextBox 22"/>
          <p:cNvSpPr txBox="1"/>
          <p:nvPr/>
        </p:nvSpPr>
        <p:spPr>
          <a:xfrm>
            <a:off x="1371600" y="5486400"/>
            <a:ext cx="12344400" cy="1645920"/>
          </a:xfrm>
          <a:prstGeom prst="rect">
            <a:avLst/>
          </a:prstGeom>
          <a:noFill/>
        </p:spPr>
        <p:txBody>
          <a:bodyPr wrap="square" lIns="50800" rIns="50800" tIns="38100" bIns="38100"/>
          <a:lstStyle/>
          <a:p>
            <a:pPr algn="l"/>
            <a:r>
              <a:rPr sz="1300" b="0">
                <a:solidFill>
                  <a:srgbClr val="222222"/>
                </a:solidFill>
                <a:latin typeface="Meiryo"/>
              </a:rPr>
              <a:t>銀行側が取るべき対策：
① 架電を原則廃止し「銀行からは電話しません」と宣言する
② やむを得ない架電は事前にIB画面やアプリで通知してから行う
③「電話でソフトインストールを指示することはない」を明示する（現状周知不足）</a:t>
            </a:r>
          </a:p>
        </p:txBody>
      </p:sp>
      <p:sp>
        <p:nvSpPr>
          <p:cNvPr id="24" name="TextBox 23"/>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銀行の正規フローとの類似性</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E67E22"/>
                </a:solidFill>
                <a:latin typeface="Meiryo"/>
              </a:rPr>
              <a:t>手順②の心理操作 — どう答えても犯人のシナリオに乗る設計</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4つのセリフそれぞれに明確な狙いがあり、被害者の心理的退路を塞いでいる。</a:t>
            </a:r>
          </a:p>
        </p:txBody>
      </p:sp>
      <p:sp>
        <p:nvSpPr>
          <p:cNvPr id="4" name="Rectangle 3"/>
          <p:cNvSpPr/>
          <p:nvPr/>
        </p:nvSpPr>
        <p:spPr>
          <a:xfrm>
            <a:off x="1371600" y="1371600"/>
            <a:ext cx="4114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セリフ</a:t>
            </a:r>
          </a:p>
        </p:txBody>
      </p:sp>
      <p:sp>
        <p:nvSpPr>
          <p:cNvPr id="5" name="Rectangle 4"/>
          <p:cNvSpPr/>
          <p:nvPr/>
        </p:nvSpPr>
        <p:spPr>
          <a:xfrm>
            <a:off x="5486400" y="1371600"/>
            <a:ext cx="1828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狙い</a:t>
            </a:r>
          </a:p>
        </p:txBody>
      </p:sp>
      <p:sp>
        <p:nvSpPr>
          <p:cNvPr id="6" name="Rectangle 5"/>
          <p:cNvSpPr/>
          <p:nvPr/>
        </p:nvSpPr>
        <p:spPr>
          <a:xfrm>
            <a:off x="7315200" y="1371600"/>
            <a:ext cx="6400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効果</a:t>
            </a:r>
          </a:p>
        </p:txBody>
      </p:sp>
      <p:sp>
        <p:nvSpPr>
          <p:cNvPr id="7" name="Rectangle 6"/>
          <p:cNvSpPr/>
          <p:nvPr/>
        </p:nvSpPr>
        <p:spPr>
          <a:xfrm>
            <a:off x="1371600" y="196596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「パソコン環境の更新が必要」</a:t>
            </a:r>
          </a:p>
        </p:txBody>
      </p:sp>
      <p:sp>
        <p:nvSpPr>
          <p:cNvPr id="8" name="Rectangle 7"/>
          <p:cNvSpPr/>
          <p:nvPr/>
        </p:nvSpPr>
        <p:spPr>
          <a:xfrm>
            <a:off x="5486400" y="1965960"/>
            <a:ext cx="1828800" cy="59436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伏線</a:t>
            </a:r>
          </a:p>
        </p:txBody>
      </p:sp>
      <p:sp>
        <p:nvSpPr>
          <p:cNvPr id="9" name="Rectangle 8"/>
          <p:cNvSpPr/>
          <p:nvPr/>
        </p:nvSpPr>
        <p:spPr>
          <a:xfrm>
            <a:off x="7315200" y="196596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後のソフトインストール（手順⑤⑥）を自然に受け入れさせる</a:t>
            </a:r>
          </a:p>
        </p:txBody>
      </p:sp>
      <p:sp>
        <p:nvSpPr>
          <p:cNvPr id="10" name="Rectangle 9"/>
          <p:cNvSpPr/>
          <p:nvPr/>
        </p:nvSpPr>
        <p:spPr>
          <a:xfrm>
            <a:off x="1371600" y="2560320"/>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「口座の利用制限をしています」</a:t>
            </a:r>
          </a:p>
        </p:txBody>
      </p:sp>
      <p:sp>
        <p:nvSpPr>
          <p:cNvPr id="11" name="Rectangle 10"/>
          <p:cNvSpPr/>
          <p:nvPr/>
        </p:nvSpPr>
        <p:spPr>
          <a:xfrm>
            <a:off x="5486400" y="2560320"/>
            <a:ext cx="1828800" cy="5943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恐怖</a:t>
            </a:r>
          </a:p>
        </p:txBody>
      </p:sp>
      <p:sp>
        <p:nvSpPr>
          <p:cNvPr id="12" name="Rectangle 11"/>
          <p:cNvSpPr/>
          <p:nvPr/>
        </p:nvSpPr>
        <p:spPr>
          <a:xfrm>
            <a:off x="7315200" y="2560320"/>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「今すぐ対応しなきゃ」と焦らせ、冷静な判断を奪う</a:t>
            </a:r>
          </a:p>
        </p:txBody>
      </p:sp>
      <p:sp>
        <p:nvSpPr>
          <p:cNvPr id="13" name="Rectangle 12"/>
          <p:cNvSpPr/>
          <p:nvPr/>
        </p:nvSpPr>
        <p:spPr>
          <a:xfrm>
            <a:off x="1371600" y="315468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「手続きを郵送しましたが、届いてますか」</a:t>
            </a:r>
          </a:p>
        </p:txBody>
      </p:sp>
      <p:sp>
        <p:nvSpPr>
          <p:cNvPr id="14" name="Rectangle 13"/>
          <p:cNvSpPr/>
          <p:nvPr/>
        </p:nvSpPr>
        <p:spPr>
          <a:xfrm>
            <a:off x="5486400" y="3154680"/>
            <a:ext cx="1828800" cy="5943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負い目</a:t>
            </a:r>
          </a:p>
        </p:txBody>
      </p:sp>
      <p:sp>
        <p:nvSpPr>
          <p:cNvPr id="15" name="Rectangle 14"/>
          <p:cNvSpPr/>
          <p:nvPr/>
        </p:nvSpPr>
        <p:spPr>
          <a:xfrm>
            <a:off x="7315200" y="315468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被害者に「自分が見落とした」と思わせ、指示に従いやすくする</a:t>
            </a:r>
          </a:p>
        </p:txBody>
      </p:sp>
      <p:sp>
        <p:nvSpPr>
          <p:cNvPr id="16" name="Rectangle 15"/>
          <p:cNvSpPr/>
          <p:nvPr/>
        </p:nvSpPr>
        <p:spPr>
          <a:xfrm>
            <a:off x="1371600" y="3749039"/>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「更新されていないので電話しました」</a:t>
            </a:r>
          </a:p>
        </p:txBody>
      </p:sp>
      <p:sp>
        <p:nvSpPr>
          <p:cNvPr id="17" name="Rectangle 16"/>
          <p:cNvSpPr/>
          <p:nvPr/>
        </p:nvSpPr>
        <p:spPr>
          <a:xfrm>
            <a:off x="5486400" y="3749039"/>
            <a:ext cx="1828800" cy="5943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正当化</a:t>
            </a:r>
          </a:p>
        </p:txBody>
      </p:sp>
      <p:sp>
        <p:nvSpPr>
          <p:cNvPr id="18" name="Rectangle 17"/>
          <p:cNvSpPr/>
          <p:nvPr/>
        </p:nvSpPr>
        <p:spPr>
          <a:xfrm>
            <a:off x="7315200" y="3749039"/>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架電がフォローアップに見え、銀行の丁寧な対応と錯覚させる</a:t>
            </a:r>
          </a:p>
        </p:txBody>
      </p:sp>
      <p:sp>
        <p:nvSpPr>
          <p:cNvPr id="19" name="Rectangle 18"/>
          <p:cNvSpPr/>
          <p:nvPr/>
        </p:nvSpPr>
        <p:spPr>
          <a:xfrm>
            <a:off x="1371600" y="4617720"/>
            <a:ext cx="12344400" cy="4114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300" b="1">
                <a:solidFill>
                  <a:srgbClr val="222222"/>
                </a:solidFill>
                <a:latin typeface="Meiryo"/>
              </a:rPr>
              <a:t>「届いてますか？」への回答パターン</a:t>
            </a:r>
          </a:p>
        </p:txBody>
      </p:sp>
      <p:sp>
        <p:nvSpPr>
          <p:cNvPr id="20" name="Rectangle 19"/>
          <p:cNvSpPr/>
          <p:nvPr/>
        </p:nvSpPr>
        <p:spPr>
          <a:xfrm>
            <a:off x="1371600" y="5074920"/>
            <a:ext cx="594360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「届いてない」（大多数）
→「届いていないなら仕方ない、電話で手続きしましょう」</a:t>
            </a:r>
          </a:p>
        </p:txBody>
      </p:sp>
      <p:sp>
        <p:nvSpPr>
          <p:cNvPr id="21" name="Rectangle 20"/>
          <p:cNvSpPr/>
          <p:nvPr/>
        </p:nvSpPr>
        <p:spPr>
          <a:xfrm>
            <a:off x="7406640" y="5074920"/>
            <a:ext cx="13716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2" name="Rectangle 21"/>
          <p:cNvSpPr/>
          <p:nvPr/>
        </p:nvSpPr>
        <p:spPr>
          <a:xfrm>
            <a:off x="8961120" y="5074920"/>
            <a:ext cx="347472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「届いてる」（稀）
→「では確認しながら進めましょう」</a:t>
            </a:r>
          </a:p>
        </p:txBody>
      </p:sp>
      <p:sp>
        <p:nvSpPr>
          <p:cNvPr id="23" name="Rectangle 22"/>
          <p:cNvSpPr/>
          <p:nvPr/>
        </p:nvSpPr>
        <p:spPr>
          <a:xfrm>
            <a:off x="12527280" y="5074920"/>
            <a:ext cx="11887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4" name="Rectangle 23"/>
          <p:cNvSpPr/>
          <p:nvPr/>
        </p:nvSpPr>
        <p:spPr>
          <a:xfrm>
            <a:off x="1371600" y="571500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500" b="1">
                <a:solidFill>
                  <a:srgbClr val="FFFFFF"/>
                </a:solidFill>
                <a:latin typeface="Meiryo"/>
              </a:rPr>
              <a:t>どう答えても犯人のシナリオから逸脱できない — 顧客には見破れない</a:t>
            </a:r>
          </a:p>
        </p:txBody>
      </p:sp>
      <p:sp>
        <p:nvSpPr>
          <p:cNvPr id="25" name="TextBox 24"/>
          <p:cNvSpPr txBox="1"/>
          <p:nvPr/>
        </p:nvSpPr>
        <p:spPr>
          <a:xfrm>
            <a:off x="1371600" y="6355079"/>
            <a:ext cx="12344400" cy="548640"/>
          </a:xfrm>
          <a:prstGeom prst="rect">
            <a:avLst/>
          </a:prstGeom>
          <a:noFill/>
        </p:spPr>
        <p:txBody>
          <a:bodyPr wrap="square" lIns="50800" rIns="50800" tIns="38100" bIns="38100"/>
          <a:lstStyle/>
          <a:p>
            <a:pPr algn="l"/>
            <a:r>
              <a:rPr sz="1200" b="0">
                <a:solidFill>
                  <a:srgbClr val="222222"/>
                </a:solidFill>
                <a:latin typeface="Meiryo"/>
              </a:rPr>
              <a:t>これも銀行が日常的に行う「書類を郵送しました → 届きましたか → 未対応なのでお電話」と同一パターンであり、顧客には見破れない</a:t>
            </a:r>
          </a:p>
        </p:txBody>
      </p:sp>
      <p:sp>
        <p:nvSpPr>
          <p:cNvPr id="26" name="TextBox 2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手順②の心理操作テクニック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顧客はこの攻撃を見破れるか？</a:t>
            </a:r>
          </a:p>
        </p:txBody>
      </p:sp>
      <p:sp>
        <p:nvSpPr>
          <p:cNvPr id="3" name="Rectangle 2"/>
          <p:cNvSpPr/>
          <p:nvPr/>
        </p:nvSpPr>
        <p:spPr>
          <a:xfrm>
            <a:off x="731520" y="914400"/>
            <a:ext cx="9144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手順</a:t>
            </a:r>
          </a:p>
        </p:txBody>
      </p:sp>
      <p:sp>
        <p:nvSpPr>
          <p:cNvPr id="4" name="Rectangle 3"/>
          <p:cNvSpPr/>
          <p:nvPr/>
        </p:nvSpPr>
        <p:spPr>
          <a:xfrm>
            <a:off x="1645920" y="914400"/>
            <a:ext cx="34747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内容</a:t>
            </a:r>
          </a:p>
        </p:txBody>
      </p:sp>
      <p:sp>
        <p:nvSpPr>
          <p:cNvPr id="5" name="Rectangle 4"/>
          <p:cNvSpPr/>
          <p:nvPr/>
        </p:nvSpPr>
        <p:spPr>
          <a:xfrm>
            <a:off x="5120640" y="914400"/>
            <a:ext cx="16459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見破れるか</a:t>
            </a:r>
          </a:p>
        </p:txBody>
      </p:sp>
      <p:sp>
        <p:nvSpPr>
          <p:cNvPr id="6" name="Rectangle 5"/>
          <p:cNvSpPr/>
          <p:nvPr/>
        </p:nvSpPr>
        <p:spPr>
          <a:xfrm>
            <a:off x="6766559" y="914400"/>
            <a:ext cx="59436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理由</a:t>
            </a:r>
          </a:p>
        </p:txBody>
      </p:sp>
      <p:sp>
        <p:nvSpPr>
          <p:cNvPr id="7" name="Rectangle 6"/>
          <p:cNvSpPr/>
          <p:nvPr/>
        </p:nvSpPr>
        <p:spPr>
          <a:xfrm>
            <a:off x="731520" y="13716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①</a:t>
            </a:r>
          </a:p>
        </p:txBody>
      </p:sp>
      <p:sp>
        <p:nvSpPr>
          <p:cNvPr id="8" name="Rectangle 7"/>
          <p:cNvSpPr/>
          <p:nvPr/>
        </p:nvSpPr>
        <p:spPr>
          <a:xfrm>
            <a:off x="1645920" y="13716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自動音声「1を押してください」</a:t>
            </a:r>
          </a:p>
        </p:txBody>
      </p:sp>
      <p:sp>
        <p:nvSpPr>
          <p:cNvPr id="9" name="Rectangle 8"/>
          <p:cNvSpPr/>
          <p:nvPr/>
        </p:nvSpPr>
        <p:spPr>
          <a:xfrm>
            <a:off x="5120640" y="13716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0" name="Rectangle 9"/>
          <p:cNvSpPr/>
          <p:nvPr/>
        </p:nvSpPr>
        <p:spPr>
          <a:xfrm>
            <a:off x="6766559" y="13716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銀行も同じことをする</a:t>
            </a:r>
          </a:p>
        </p:txBody>
      </p:sp>
      <p:sp>
        <p:nvSpPr>
          <p:cNvPr id="11" name="Rectangle 10"/>
          <p:cNvSpPr/>
          <p:nvPr/>
        </p:nvSpPr>
        <p:spPr>
          <a:xfrm>
            <a:off x="731520" y="18288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②</a:t>
            </a:r>
          </a:p>
        </p:txBody>
      </p:sp>
      <p:sp>
        <p:nvSpPr>
          <p:cNvPr id="12" name="Rectangle 11"/>
          <p:cNvSpPr/>
          <p:nvPr/>
        </p:nvSpPr>
        <p:spPr>
          <a:xfrm>
            <a:off x="1645920" y="18288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「口座制限中、郵送したが届いてますか」</a:t>
            </a:r>
          </a:p>
        </p:txBody>
      </p:sp>
      <p:sp>
        <p:nvSpPr>
          <p:cNvPr id="13" name="Rectangle 12"/>
          <p:cNvSpPr/>
          <p:nvPr/>
        </p:nvSpPr>
        <p:spPr>
          <a:xfrm>
            <a:off x="5120640" y="18288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4" name="Rectangle 13"/>
          <p:cNvSpPr/>
          <p:nvPr/>
        </p:nvSpPr>
        <p:spPr>
          <a:xfrm>
            <a:off x="6766559" y="18288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銀行も同じことを言う</a:t>
            </a:r>
          </a:p>
        </p:txBody>
      </p:sp>
      <p:sp>
        <p:nvSpPr>
          <p:cNvPr id="15" name="Rectangle 14"/>
          <p:cNvSpPr/>
          <p:nvPr/>
        </p:nvSpPr>
        <p:spPr>
          <a:xfrm>
            <a:off x="731520" y="22860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③</a:t>
            </a:r>
          </a:p>
        </p:txBody>
      </p:sp>
      <p:sp>
        <p:nvSpPr>
          <p:cNvPr id="16" name="Rectangle 15"/>
          <p:cNvSpPr/>
          <p:nvPr/>
        </p:nvSpPr>
        <p:spPr>
          <a:xfrm>
            <a:off x="1645920" y="22860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「メールで案内します」メアド聞き出し</a:t>
            </a:r>
          </a:p>
        </p:txBody>
      </p:sp>
      <p:sp>
        <p:nvSpPr>
          <p:cNvPr id="17" name="Rectangle 16"/>
          <p:cNvSpPr/>
          <p:nvPr/>
        </p:nvSpPr>
        <p:spPr>
          <a:xfrm>
            <a:off x="5120640" y="22860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ほぼ不可能</a:t>
            </a:r>
          </a:p>
        </p:txBody>
      </p:sp>
      <p:sp>
        <p:nvSpPr>
          <p:cNvPr id="18" name="Rectangle 17"/>
          <p:cNvSpPr/>
          <p:nvPr/>
        </p:nvSpPr>
        <p:spPr>
          <a:xfrm>
            <a:off x="6766559" y="22860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銀行も確認することがある</a:t>
            </a:r>
          </a:p>
        </p:txBody>
      </p:sp>
      <p:sp>
        <p:nvSpPr>
          <p:cNvPr id="19" name="Rectangle 18"/>
          <p:cNvSpPr/>
          <p:nvPr/>
        </p:nvSpPr>
        <p:spPr>
          <a:xfrm>
            <a:off x="731520" y="27432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④</a:t>
            </a:r>
          </a:p>
        </p:txBody>
      </p:sp>
      <p:sp>
        <p:nvSpPr>
          <p:cNvPr id="20" name="Rectangle 19"/>
          <p:cNvSpPr/>
          <p:nvPr/>
        </p:nvSpPr>
        <p:spPr>
          <a:xfrm>
            <a:off x="1645920" y="27432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Bizデザインの偽メール送付</a:t>
            </a:r>
          </a:p>
        </p:txBody>
      </p:sp>
      <p:sp>
        <p:nvSpPr>
          <p:cNvPr id="21" name="Rectangle 20"/>
          <p:cNvSpPr/>
          <p:nvPr/>
        </p:nvSpPr>
        <p:spPr>
          <a:xfrm>
            <a:off x="5120640" y="27432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22" name="Rectangle 21"/>
          <p:cNvSpPr/>
          <p:nvPr/>
        </p:nvSpPr>
        <p:spPr>
          <a:xfrm>
            <a:off x="6766559" y="27432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精巧に模倣されている</a:t>
            </a:r>
          </a:p>
        </p:txBody>
      </p:sp>
      <p:sp>
        <p:nvSpPr>
          <p:cNvPr id="23" name="Rectangle 22"/>
          <p:cNvSpPr/>
          <p:nvPr/>
        </p:nvSpPr>
        <p:spPr>
          <a:xfrm>
            <a:off x="731520" y="32004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⑤</a:t>
            </a:r>
          </a:p>
        </p:txBody>
      </p:sp>
      <p:sp>
        <p:nvSpPr>
          <p:cNvPr id="24" name="Rectangle 23"/>
          <p:cNvSpPr/>
          <p:nvPr/>
        </p:nvSpPr>
        <p:spPr>
          <a:xfrm>
            <a:off x="1645920" y="32004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「ソフトをインストールしてください」</a:t>
            </a:r>
          </a:p>
        </p:txBody>
      </p:sp>
      <p:sp>
        <p:nvSpPr>
          <p:cNvPr id="25" name="Rectangle 24"/>
          <p:cNvSpPr/>
          <p:nvPr/>
        </p:nvSpPr>
        <p:spPr>
          <a:xfrm>
            <a:off x="5120640" y="3200400"/>
            <a:ext cx="164592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唯一のチャンス</a:t>
            </a:r>
          </a:p>
        </p:txBody>
      </p:sp>
      <p:sp>
        <p:nvSpPr>
          <p:cNvPr id="26" name="Rectangle 25"/>
          <p:cNvSpPr/>
          <p:nvPr/>
        </p:nvSpPr>
        <p:spPr>
          <a:xfrm>
            <a:off x="6766559" y="32004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ただし既に心理的に従う状態</a:t>
            </a:r>
          </a:p>
        </p:txBody>
      </p:sp>
      <p:sp>
        <p:nvSpPr>
          <p:cNvPr id="27" name="Rectangle 26"/>
          <p:cNvSpPr/>
          <p:nvPr/>
        </p:nvSpPr>
        <p:spPr>
          <a:xfrm>
            <a:off x="731520" y="36576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⑥</a:t>
            </a:r>
          </a:p>
        </p:txBody>
      </p:sp>
      <p:sp>
        <p:nvSpPr>
          <p:cNvPr id="28" name="Rectangle 27"/>
          <p:cNvSpPr/>
          <p:nvPr/>
        </p:nvSpPr>
        <p:spPr>
          <a:xfrm>
            <a:off x="1645920" y="36576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msi実行「不明な発行元」の警告</a:t>
            </a:r>
          </a:p>
        </p:txBody>
      </p:sp>
      <p:sp>
        <p:nvSpPr>
          <p:cNvPr id="29" name="Rectangle 28"/>
          <p:cNvSpPr/>
          <p:nvPr/>
        </p:nvSpPr>
        <p:spPr>
          <a:xfrm>
            <a:off x="5120640" y="36576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技術的には可能</a:t>
            </a:r>
          </a:p>
        </p:txBody>
      </p:sp>
      <p:sp>
        <p:nvSpPr>
          <p:cNvPr id="30" name="Rectangle 29"/>
          <p:cNvSpPr/>
          <p:nvPr/>
        </p:nvSpPr>
        <p:spPr>
          <a:xfrm>
            <a:off x="6766559" y="36576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電話で「実行して」と言われ突破される</a:t>
            </a:r>
          </a:p>
        </p:txBody>
      </p:sp>
      <p:sp>
        <p:nvSpPr>
          <p:cNvPr id="31" name="Rectangle 30"/>
          <p:cNvSpPr/>
          <p:nvPr/>
        </p:nvSpPr>
        <p:spPr>
          <a:xfrm>
            <a:off x="731520" y="41148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⑦</a:t>
            </a:r>
          </a:p>
        </p:txBody>
      </p:sp>
      <p:sp>
        <p:nvSpPr>
          <p:cNvPr id="32" name="Rectangle 31"/>
          <p:cNvSpPr/>
          <p:nvPr/>
        </p:nvSpPr>
        <p:spPr>
          <a:xfrm>
            <a:off x="1645920" y="41148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赤い画面「お待ちください」</a:t>
            </a:r>
          </a:p>
        </p:txBody>
      </p:sp>
      <p:sp>
        <p:nvSpPr>
          <p:cNvPr id="33" name="Rectangle 32"/>
          <p:cNvSpPr/>
          <p:nvPr/>
        </p:nvSpPr>
        <p:spPr>
          <a:xfrm>
            <a:off x="5120640" y="41148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34" name="Rectangle 33"/>
          <p:cNvSpPr/>
          <p:nvPr/>
        </p:nvSpPr>
        <p:spPr>
          <a:xfrm>
            <a:off x="6766559" y="41148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もう完全に信用している</a:t>
            </a:r>
          </a:p>
        </p:txBody>
      </p:sp>
      <p:sp>
        <p:nvSpPr>
          <p:cNvPr id="35" name="Rectangle 34"/>
          <p:cNvSpPr/>
          <p:nvPr/>
        </p:nvSpPr>
        <p:spPr>
          <a:xfrm>
            <a:off x="731520" y="45720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⑧</a:t>
            </a:r>
          </a:p>
        </p:txBody>
      </p:sp>
      <p:sp>
        <p:nvSpPr>
          <p:cNvPr id="36" name="Rectangle 35"/>
          <p:cNvSpPr/>
          <p:nvPr/>
        </p:nvSpPr>
        <p:spPr>
          <a:xfrm>
            <a:off x="1645920" y="45720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認証情報5要素を一画面で入力</a:t>
            </a:r>
          </a:p>
        </p:txBody>
      </p:sp>
      <p:sp>
        <p:nvSpPr>
          <p:cNvPr id="37" name="Rectangle 36"/>
          <p:cNvSpPr/>
          <p:nvPr/>
        </p:nvSpPr>
        <p:spPr>
          <a:xfrm>
            <a:off x="5120640" y="45720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本来は異常</a:t>
            </a:r>
          </a:p>
        </p:txBody>
      </p:sp>
      <p:sp>
        <p:nvSpPr>
          <p:cNvPr id="38" name="Rectangle 37"/>
          <p:cNvSpPr/>
          <p:nvPr/>
        </p:nvSpPr>
        <p:spPr>
          <a:xfrm>
            <a:off x="6766559" y="45720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焦りと電話指示で気づく余裕がない</a:t>
            </a:r>
          </a:p>
        </p:txBody>
      </p:sp>
      <p:sp>
        <p:nvSpPr>
          <p:cNvPr id="39" name="Rectangle 38"/>
          <p:cNvSpPr/>
          <p:nvPr/>
        </p:nvSpPr>
        <p:spPr>
          <a:xfrm>
            <a:off x="731520" y="5257800"/>
            <a:ext cx="119786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唯一の見破りポイント（手順⑤⑥）に到達した時点で、冷静に判断できる心理状態ではない</a:t>
            </a:r>
          </a:p>
        </p:txBody>
      </p:sp>
      <p:sp>
        <p:nvSpPr>
          <p:cNvPr id="40" name="Rectangle 39"/>
          <p:cNvSpPr/>
          <p:nvPr/>
        </p:nvSpPr>
        <p:spPr>
          <a:xfrm>
            <a:off x="731520" y="5943600"/>
            <a:ext cx="585216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222222"/>
                </a:solidFill>
                <a:latin typeface="Meiryo"/>
              </a:rPr>
              <a:t>顧客側（ほぼ無力）</a:t>
            </a:r>
          </a:p>
        </p:txBody>
      </p:sp>
      <p:sp>
        <p:nvSpPr>
          <p:cNvPr id="41" name="Rectangle 40"/>
          <p:cNvSpPr/>
          <p:nvPr/>
        </p:nvSpPr>
        <p:spPr>
          <a:xfrm>
            <a:off x="731520" y="6309360"/>
            <a:ext cx="585216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888888"/>
                </a:solidFill>
                <a:latin typeface="Meiryo"/>
              </a:rPr>
              <a:t>「気をつける」「注意喚起」では構造的に防げない</a:t>
            </a:r>
          </a:p>
        </p:txBody>
      </p:sp>
      <p:sp>
        <p:nvSpPr>
          <p:cNvPr id="42" name="Rectangle 41"/>
          <p:cNvSpPr/>
          <p:nvPr/>
        </p:nvSpPr>
        <p:spPr>
          <a:xfrm>
            <a:off x="6858000" y="5943600"/>
            <a:ext cx="58521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銀行/企業側（ここでしか止められない）</a:t>
            </a:r>
          </a:p>
        </p:txBody>
      </p:sp>
      <p:sp>
        <p:nvSpPr>
          <p:cNvPr id="43" name="Rectangle 42"/>
          <p:cNvSpPr/>
          <p:nvPr/>
        </p:nvSpPr>
        <p:spPr>
          <a:xfrm>
            <a:off x="6858000" y="6309360"/>
            <a:ext cx="5852160" cy="146304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ScreenConnectの通信をNWで検知
② 送金時の振る舞い検知（時間帯、金額、送金先）
③ 架電を廃止し「電話では手続きしない」と宣言
④ リモートツール実行をEDRでブロック
⑤ SMS認証のリンク先ドメインをホワイトリスト化</a:t>
            </a:r>
          </a:p>
        </p:txBody>
      </p:sp>
      <p:sp>
        <p:nvSpPr>
          <p:cNvPr id="44" name="Rectangle 43"/>
          <p:cNvSpPr/>
          <p:nvPr/>
        </p:nvSpPr>
        <p:spPr>
          <a:xfrm>
            <a:off x="731520" y="7955279"/>
            <a:ext cx="1197864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結論：「顧客が気をつければ防げる」は幻想 — 銀行側のシステム対策でしか止められない</a:t>
            </a:r>
          </a:p>
        </p:txBody>
      </p:sp>
      <p:sp>
        <p:nvSpPr>
          <p:cNvPr id="45" name="TextBox 44"/>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顧客は見破れるか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1本の電話 — つないだまま全手順を完了させる</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この攻撃は「9つの手順」ではなく、1本の電話の中で起きる1つの連続した攻撃である。</a:t>
            </a:r>
          </a:p>
        </p:txBody>
      </p:sp>
      <p:sp>
        <p:nvSpPr>
          <p:cNvPr id="4" name="Rectangle 3"/>
          <p:cNvSpPr/>
          <p:nvPr/>
        </p:nvSpPr>
        <p:spPr>
          <a:xfrm>
            <a:off x="914400" y="118872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自動音声で架電</a:t>
            </a:r>
          </a:p>
        </p:txBody>
      </p:sp>
      <p:sp>
        <p:nvSpPr>
          <p:cNvPr id="5" name="Rectangle 4"/>
          <p:cNvSpPr/>
          <p:nvPr/>
        </p:nvSpPr>
        <p:spPr>
          <a:xfrm>
            <a:off x="914400" y="160020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②  心理操作（口座制限中）</a:t>
            </a:r>
          </a:p>
        </p:txBody>
      </p:sp>
      <p:sp>
        <p:nvSpPr>
          <p:cNvPr id="6" name="Rectangle 5"/>
          <p:cNvSpPr/>
          <p:nvPr/>
        </p:nvSpPr>
        <p:spPr>
          <a:xfrm>
            <a:off x="914400" y="201168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③  メアド聞き出し＋メール送付</a:t>
            </a:r>
          </a:p>
        </p:txBody>
      </p:sp>
      <p:sp>
        <p:nvSpPr>
          <p:cNvPr id="7" name="Rectangle 6"/>
          <p:cNvSpPr/>
          <p:nvPr/>
        </p:nvSpPr>
        <p:spPr>
          <a:xfrm>
            <a:off x="914400" y="242316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④  「メールを開いてください」</a:t>
            </a:r>
          </a:p>
        </p:txBody>
      </p:sp>
      <p:sp>
        <p:nvSpPr>
          <p:cNvPr id="8" name="Rectangle 7"/>
          <p:cNvSpPr/>
          <p:nvPr/>
        </p:nvSpPr>
        <p:spPr>
          <a:xfrm>
            <a:off x="914400" y="283463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⑤  「インストールしてください」</a:t>
            </a:r>
          </a:p>
        </p:txBody>
      </p:sp>
      <p:sp>
        <p:nvSpPr>
          <p:cNvPr id="9" name="Rectangle 8"/>
          <p:cNvSpPr/>
          <p:nvPr/>
        </p:nvSpPr>
        <p:spPr>
          <a:xfrm>
            <a:off x="914400" y="324612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⑥  「実行してください」</a:t>
            </a:r>
          </a:p>
        </p:txBody>
      </p:sp>
      <p:sp>
        <p:nvSpPr>
          <p:cNvPr id="10" name="Rectangle 9"/>
          <p:cNvSpPr/>
          <p:nvPr/>
        </p:nvSpPr>
        <p:spPr>
          <a:xfrm>
            <a:off x="914400" y="365760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⑦  赤い画面表示</a:t>
            </a:r>
          </a:p>
        </p:txBody>
      </p:sp>
      <p:sp>
        <p:nvSpPr>
          <p:cNvPr id="11" name="Rectangle 10"/>
          <p:cNvSpPr/>
          <p:nvPr/>
        </p:nvSpPr>
        <p:spPr>
          <a:xfrm>
            <a:off x="914400" y="406907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⑧  「携帯番号を教えて」</a:t>
            </a:r>
          </a:p>
        </p:txBody>
      </p:sp>
      <p:sp>
        <p:nvSpPr>
          <p:cNvPr id="12" name="Rectangle 11"/>
          <p:cNvSpPr/>
          <p:nvPr/>
        </p:nvSpPr>
        <p:spPr>
          <a:xfrm>
            <a:off x="914400" y="448055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⑨  「認証情報を入力して」</a:t>
            </a:r>
          </a:p>
        </p:txBody>
      </p:sp>
      <p:sp>
        <p:nvSpPr>
          <p:cNvPr id="13" name="Rectangle 12"/>
          <p:cNvSpPr/>
          <p:nvPr/>
        </p:nvSpPr>
        <p:spPr>
          <a:xfrm>
            <a:off x="914400" y="4892040"/>
            <a:ext cx="502920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100" b="1">
                <a:solidFill>
                  <a:srgbClr val="FFFFFF"/>
                </a:solidFill>
                <a:latin typeface="Meiryo"/>
              </a:rPr>
              <a:t>  不正送金</a:t>
            </a:r>
          </a:p>
        </p:txBody>
      </p:sp>
      <p:sp>
        <p:nvSpPr>
          <p:cNvPr id="14" name="Rectangle 13"/>
          <p:cNvSpPr/>
          <p:nvPr/>
        </p:nvSpPr>
        <p:spPr>
          <a:xfrm>
            <a:off x="6126480" y="1188720"/>
            <a:ext cx="457200" cy="408736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15" name="TextBox 14"/>
          <p:cNvSpPr txBox="1"/>
          <p:nvPr/>
        </p:nvSpPr>
        <p:spPr>
          <a:xfrm>
            <a:off x="6035040" y="1280160"/>
            <a:ext cx="640080" cy="274320"/>
          </a:xfrm>
          <a:prstGeom prst="rect">
            <a:avLst/>
          </a:prstGeom>
          <a:noFill/>
        </p:spPr>
        <p:txBody>
          <a:bodyPr wrap="square" lIns="50800" rIns="50800" tIns="38100" bIns="38100"/>
          <a:lstStyle/>
          <a:p>
            <a:pPr algn="ctr"/>
            <a:r>
              <a:rPr sz="800" b="1">
                <a:solidFill>
                  <a:srgbClr val="FFFFFF"/>
                </a:solidFill>
                <a:latin typeface="Meiryo"/>
              </a:rPr>
              <a:t>電話接続</a:t>
            </a:r>
          </a:p>
        </p:txBody>
      </p:sp>
      <p:sp>
        <p:nvSpPr>
          <p:cNvPr id="16" name="TextBox 15"/>
          <p:cNvSpPr txBox="1"/>
          <p:nvPr/>
        </p:nvSpPr>
        <p:spPr>
          <a:xfrm>
            <a:off x="5852160" y="2823667"/>
            <a:ext cx="1005840" cy="457200"/>
          </a:xfrm>
          <a:prstGeom prst="rect">
            <a:avLst/>
          </a:prstGeom>
          <a:noFill/>
        </p:spPr>
        <p:txBody>
          <a:bodyPr wrap="square" lIns="50800" rIns="50800" tIns="38100" bIns="38100"/>
          <a:lstStyle/>
          <a:p>
            <a:pPr algn="ctr"/>
            <a:r>
              <a:rPr sz="900" b="1">
                <a:solidFill>
                  <a:srgbClr val="FFFFFF"/>
                </a:solidFill>
                <a:latin typeface="Meiryo"/>
              </a:rPr>
              <a:t>ずっと
電話が
つながっている</a:t>
            </a:r>
          </a:p>
        </p:txBody>
      </p:sp>
      <p:sp>
        <p:nvSpPr>
          <p:cNvPr id="17" name="Rectangle 16"/>
          <p:cNvSpPr/>
          <p:nvPr/>
        </p:nvSpPr>
        <p:spPr>
          <a:xfrm>
            <a:off x="7315200" y="1188720"/>
            <a:ext cx="68580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電話をつないだままにする5つの効果</a:t>
            </a:r>
          </a:p>
        </p:txBody>
      </p:sp>
      <p:sp>
        <p:nvSpPr>
          <p:cNvPr id="18" name="Rectangle 17"/>
          <p:cNvSpPr/>
          <p:nvPr/>
        </p:nvSpPr>
        <p:spPr>
          <a:xfrm>
            <a:off x="7315200" y="1691640"/>
            <a:ext cx="22860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考える隙を与えない</a:t>
            </a:r>
          </a:p>
        </p:txBody>
      </p:sp>
      <p:sp>
        <p:nvSpPr>
          <p:cNvPr id="19" name="Rectangle 18"/>
          <p:cNvSpPr/>
          <p:nvPr/>
        </p:nvSpPr>
        <p:spPr>
          <a:xfrm>
            <a:off x="9601200" y="169164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電話を切ったら冷静になる。切らせない</a:t>
            </a:r>
          </a:p>
        </p:txBody>
      </p:sp>
      <p:sp>
        <p:nvSpPr>
          <p:cNvPr id="20" name="Rectangle 19"/>
          <p:cNvSpPr/>
          <p:nvPr/>
        </p:nvSpPr>
        <p:spPr>
          <a:xfrm>
            <a:off x="7315200" y="2194560"/>
            <a:ext cx="2286000" cy="5029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リアルタイム制御</a:t>
            </a:r>
          </a:p>
        </p:txBody>
      </p:sp>
      <p:sp>
        <p:nvSpPr>
          <p:cNvPr id="21" name="Rectangle 20"/>
          <p:cNvSpPr/>
          <p:nvPr/>
        </p:nvSpPr>
        <p:spPr>
          <a:xfrm>
            <a:off x="9601200" y="2194560"/>
            <a:ext cx="4572000" cy="50292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被害者の画面状況に合わせて次の指示を出せる</a:t>
            </a:r>
          </a:p>
        </p:txBody>
      </p:sp>
      <p:sp>
        <p:nvSpPr>
          <p:cNvPr id="22" name="Rectangle 21"/>
          <p:cNvSpPr/>
          <p:nvPr/>
        </p:nvSpPr>
        <p:spPr>
          <a:xfrm>
            <a:off x="7315200" y="2697480"/>
            <a:ext cx="2286000" cy="50292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離脱防止</a:t>
            </a:r>
          </a:p>
        </p:txBody>
      </p:sp>
      <p:sp>
        <p:nvSpPr>
          <p:cNvPr id="23" name="Rectangle 22"/>
          <p:cNvSpPr/>
          <p:nvPr/>
        </p:nvSpPr>
        <p:spPr>
          <a:xfrm>
            <a:off x="9601200" y="269748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「このままお待ちください」で引き留められる</a:t>
            </a:r>
          </a:p>
        </p:txBody>
      </p:sp>
      <p:sp>
        <p:nvSpPr>
          <p:cNvPr id="24" name="Rectangle 23"/>
          <p:cNvSpPr/>
          <p:nvPr/>
        </p:nvSpPr>
        <p:spPr>
          <a:xfrm>
            <a:off x="7315200" y="3200400"/>
            <a:ext cx="2286000" cy="50292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第三者への相談を防ぐ</a:t>
            </a:r>
          </a:p>
        </p:txBody>
      </p:sp>
      <p:sp>
        <p:nvSpPr>
          <p:cNvPr id="25" name="Rectangle 24"/>
          <p:cNvSpPr/>
          <p:nvPr/>
        </p:nvSpPr>
        <p:spPr>
          <a:xfrm>
            <a:off x="9601200" y="3200400"/>
            <a:ext cx="4572000" cy="50292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電話中なので同僚や家族に相談できない</a:t>
            </a:r>
          </a:p>
        </p:txBody>
      </p:sp>
      <p:sp>
        <p:nvSpPr>
          <p:cNvPr id="26" name="Rectangle 25"/>
          <p:cNvSpPr/>
          <p:nvPr/>
        </p:nvSpPr>
        <p:spPr>
          <a:xfrm>
            <a:off x="7315200" y="3703320"/>
            <a:ext cx="2286000" cy="5029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信頼の維持</a:t>
            </a:r>
          </a:p>
        </p:txBody>
      </p:sp>
      <p:sp>
        <p:nvSpPr>
          <p:cNvPr id="27" name="Rectangle 26"/>
          <p:cNvSpPr/>
          <p:nvPr/>
        </p:nvSpPr>
        <p:spPr>
          <a:xfrm>
            <a:off x="9601200" y="370332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銀行員が丁寧に付き添ってくれている感覚</a:t>
            </a:r>
          </a:p>
        </p:txBody>
      </p:sp>
      <p:sp>
        <p:nvSpPr>
          <p:cNvPr id="28" name="Rectangle 27"/>
          <p:cNvSpPr/>
          <p:nvPr/>
        </p:nvSpPr>
        <p:spPr>
          <a:xfrm>
            <a:off x="7315200" y="4434840"/>
            <a:ext cx="685800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もし電話が切れたら（攻撃失敗）</a:t>
            </a:r>
          </a:p>
        </p:txBody>
      </p:sp>
      <p:sp>
        <p:nvSpPr>
          <p:cNvPr id="29" name="Rectangle 28"/>
          <p:cNvSpPr/>
          <p:nvPr/>
        </p:nvSpPr>
        <p:spPr>
          <a:xfrm>
            <a:off x="7315200" y="4800600"/>
            <a:ext cx="6858000" cy="8229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「本当に銀行からの電話だったのか？」と疑問に思う
→ 銀行の公式番号にかけ直す
→ 同僚や上司に相談する
→ ネットで調べる</a:t>
            </a:r>
          </a:p>
        </p:txBody>
      </p:sp>
      <p:sp>
        <p:nvSpPr>
          <p:cNvPr id="30" name="Rectangle 29"/>
          <p:cNvSpPr/>
          <p:nvPr/>
        </p:nvSpPr>
        <p:spPr>
          <a:xfrm>
            <a:off x="914400" y="580644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被害者の体験：「銀行の担当者に電話で付き添ってもらいながら手続きをした」— それが攻撃だったとは気づかない</a:t>
            </a:r>
          </a:p>
        </p:txBody>
      </p:sp>
      <p:sp>
        <p:nvSpPr>
          <p:cNvPr id="31" name="TextBox 30"/>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1本の電話の構造</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C0392B"/>
                </a:solidFill>
                <a:latin typeface="Meiryo"/>
              </a:rPr>
              <a:t>手順④ フィッシングメール — セキュリティ対策も電話1本で無力化</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電話で予告してからメールを送る。通常のフィッシングとは根本的に異なる構造。</a:t>
            </a:r>
          </a:p>
        </p:txBody>
      </p:sp>
      <p:sp>
        <p:nvSpPr>
          <p:cNvPr id="4" name="Rectangle 3"/>
          <p:cNvSpPr/>
          <p:nvPr/>
        </p:nvSpPr>
        <p:spPr>
          <a:xfrm>
            <a:off x="914400" y="1188720"/>
            <a:ext cx="6400800" cy="41148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通常のフィッシング</a:t>
            </a:r>
          </a:p>
        </p:txBody>
      </p:sp>
      <p:sp>
        <p:nvSpPr>
          <p:cNvPr id="5" name="Rectangle 4"/>
          <p:cNvSpPr/>
          <p:nvPr/>
        </p:nvSpPr>
        <p:spPr>
          <a:xfrm>
            <a:off x="914400" y="1645920"/>
            <a:ext cx="6400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0">
                <a:solidFill>
                  <a:srgbClr val="222222"/>
                </a:solidFill>
                <a:latin typeface="Meiryo"/>
              </a:rPr>
              <a:t>メールが突然届く</a:t>
            </a:r>
          </a:p>
        </p:txBody>
      </p:sp>
      <p:sp>
        <p:nvSpPr>
          <p:cNvPr id="6" name="Rectangle 5"/>
          <p:cNvSpPr/>
          <p:nvPr/>
        </p:nvSpPr>
        <p:spPr>
          <a:xfrm>
            <a:off x="2286000" y="2103120"/>
            <a:ext cx="365760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a:t>
            </a:r>
          </a:p>
        </p:txBody>
      </p:sp>
      <p:sp>
        <p:nvSpPr>
          <p:cNvPr id="7" name="Rectangle 6"/>
          <p:cNvSpPr/>
          <p:nvPr/>
        </p:nvSpPr>
        <p:spPr>
          <a:xfrm>
            <a:off x="914400" y="2514600"/>
            <a:ext cx="6400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0">
                <a:solidFill>
                  <a:srgbClr val="222222"/>
                </a:solidFill>
                <a:latin typeface="Meiryo"/>
              </a:rPr>
              <a:t>「怪しいかも？」と思う余地あり</a:t>
            </a:r>
          </a:p>
        </p:txBody>
      </p:sp>
      <p:sp>
        <p:nvSpPr>
          <p:cNvPr id="8" name="Rectangle 7"/>
          <p:cNvSpPr/>
          <p:nvPr/>
        </p:nvSpPr>
        <p:spPr>
          <a:xfrm>
            <a:off x="2286000" y="2971800"/>
            <a:ext cx="365760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a:t>
            </a:r>
          </a:p>
        </p:txBody>
      </p:sp>
      <p:sp>
        <p:nvSpPr>
          <p:cNvPr id="9" name="Rectangle 8"/>
          <p:cNvSpPr/>
          <p:nvPr/>
        </p:nvSpPr>
        <p:spPr>
          <a:xfrm>
            <a:off x="914400" y="3383280"/>
            <a:ext cx="6400800" cy="4114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迷惑メールフィルタが防いでくれる可能性あり</a:t>
            </a:r>
          </a:p>
        </p:txBody>
      </p:sp>
      <p:sp>
        <p:nvSpPr>
          <p:cNvPr id="10" name="Rectangle 9"/>
          <p:cNvSpPr/>
          <p:nvPr/>
        </p:nvSpPr>
        <p:spPr>
          <a:xfrm>
            <a:off x="7772400" y="1188720"/>
            <a:ext cx="64008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この攻撃</a:t>
            </a:r>
          </a:p>
        </p:txBody>
      </p:sp>
      <p:sp>
        <p:nvSpPr>
          <p:cNvPr id="11" name="Rectangle 10"/>
          <p:cNvSpPr/>
          <p:nvPr/>
        </p:nvSpPr>
        <p:spPr>
          <a:xfrm>
            <a:off x="7772400" y="1645920"/>
            <a:ext cx="64008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1">
                <a:solidFill>
                  <a:srgbClr val="222222"/>
                </a:solidFill>
                <a:latin typeface="Meiryo"/>
              </a:rPr>
              <a:t>電話で「今からメール送ります」と予告</a:t>
            </a:r>
          </a:p>
        </p:txBody>
      </p:sp>
      <p:sp>
        <p:nvSpPr>
          <p:cNvPr id="12" name="Rectangle 11"/>
          <p:cNvSpPr/>
          <p:nvPr/>
        </p:nvSpPr>
        <p:spPr>
          <a:xfrm>
            <a:off x="9144000" y="2103120"/>
            <a:ext cx="36576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a:t>
            </a:r>
          </a:p>
        </p:txBody>
      </p:sp>
      <p:sp>
        <p:nvSpPr>
          <p:cNvPr id="13" name="Rectangle 12"/>
          <p:cNvSpPr/>
          <p:nvPr/>
        </p:nvSpPr>
        <p:spPr>
          <a:xfrm>
            <a:off x="7772400" y="2514600"/>
            <a:ext cx="64008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1">
                <a:solidFill>
                  <a:srgbClr val="222222"/>
                </a:solidFill>
                <a:latin typeface="Meiryo"/>
              </a:rPr>
              <a:t>メール到着 →「本物だ」と確信（予告通り来たから）</a:t>
            </a:r>
          </a:p>
        </p:txBody>
      </p:sp>
      <p:sp>
        <p:nvSpPr>
          <p:cNvPr id="14" name="Rectangle 13"/>
          <p:cNvSpPr/>
          <p:nvPr/>
        </p:nvSpPr>
        <p:spPr>
          <a:xfrm>
            <a:off x="9144000" y="2971800"/>
            <a:ext cx="36576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a:t>
            </a:r>
          </a:p>
        </p:txBody>
      </p:sp>
      <p:sp>
        <p:nvSpPr>
          <p:cNvPr id="15" name="Rectangle 14"/>
          <p:cNvSpPr/>
          <p:nvPr/>
        </p:nvSpPr>
        <p:spPr>
          <a:xfrm>
            <a:off x="7772400" y="3383280"/>
            <a:ext cx="64008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電話 × メールの二重チャネルが相互に信頼性を補強</a:t>
            </a:r>
          </a:p>
        </p:txBody>
      </p:sp>
      <p:sp>
        <p:nvSpPr>
          <p:cNvPr id="16" name="Rectangle 15"/>
          <p:cNvSpPr/>
          <p:nvPr/>
        </p:nvSpPr>
        <p:spPr>
          <a:xfrm>
            <a:off x="914400" y="411480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偽メールは正規フォルダに入らない（SPF/DKIM/DMARC不通過）→ ほぼ確実に迷惑フォルダ行き</a:t>
            </a:r>
          </a:p>
        </p:txBody>
      </p:sp>
      <p:sp>
        <p:nvSpPr>
          <p:cNvPr id="17" name="Rectangle 16"/>
          <p:cNvSpPr/>
          <p:nvPr/>
        </p:nvSpPr>
        <p:spPr>
          <a:xfrm>
            <a:off x="914400" y="4663440"/>
            <a:ext cx="3017520" cy="50292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1">
                <a:solidFill>
                  <a:srgbClr val="222222"/>
                </a:solidFill>
                <a:latin typeface="Meiryo"/>
              </a:rPr>
              <a:t>メールが迷惑フォルダへ</a:t>
            </a:r>
          </a:p>
        </p:txBody>
      </p:sp>
      <p:sp>
        <p:nvSpPr>
          <p:cNvPr id="18" name="TextBox 17"/>
          <p:cNvSpPr txBox="1"/>
          <p:nvPr/>
        </p:nvSpPr>
        <p:spPr>
          <a:xfrm>
            <a:off x="3977639"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19" name="Rectangle 18"/>
          <p:cNvSpPr/>
          <p:nvPr/>
        </p:nvSpPr>
        <p:spPr>
          <a:xfrm>
            <a:off x="4389120" y="4663440"/>
            <a:ext cx="3017520" cy="50292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0">
                <a:solidFill>
                  <a:srgbClr val="222222"/>
                </a:solidFill>
                <a:latin typeface="Meiryo"/>
              </a:rPr>
              <a:t>被害者「メール来てません」</a:t>
            </a:r>
          </a:p>
        </p:txBody>
      </p:sp>
      <p:sp>
        <p:nvSpPr>
          <p:cNvPr id="20" name="TextBox 19"/>
          <p:cNvSpPr txBox="1"/>
          <p:nvPr/>
        </p:nvSpPr>
        <p:spPr>
          <a:xfrm>
            <a:off x="7452360"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21" name="Rectangle 20"/>
          <p:cNvSpPr/>
          <p:nvPr/>
        </p:nvSpPr>
        <p:spPr>
          <a:xfrm>
            <a:off x="7863840" y="4663440"/>
            <a:ext cx="3200400" cy="5029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0">
                <a:solidFill>
                  <a:srgbClr val="222222"/>
                </a:solidFill>
                <a:latin typeface="Meiryo"/>
              </a:rPr>
              <a:t>犯人「迷惑メールフォルダを
確認してください」</a:t>
            </a:r>
          </a:p>
        </p:txBody>
      </p:sp>
      <p:sp>
        <p:nvSpPr>
          <p:cNvPr id="22" name="TextBox 21"/>
          <p:cNvSpPr txBox="1"/>
          <p:nvPr/>
        </p:nvSpPr>
        <p:spPr>
          <a:xfrm>
            <a:off x="11109960"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23" name="Rectangle 22"/>
          <p:cNvSpPr/>
          <p:nvPr/>
        </p:nvSpPr>
        <p:spPr>
          <a:xfrm>
            <a:off x="11521440" y="4663440"/>
            <a:ext cx="2651760" cy="5029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1">
                <a:solidFill>
                  <a:srgbClr val="222222"/>
                </a:solidFill>
                <a:latin typeface="Meiryo"/>
              </a:rPr>
              <a:t>被害者が自ら発見
→ 攻撃続行</a:t>
            </a:r>
          </a:p>
        </p:txBody>
      </p:sp>
      <p:sp>
        <p:nvSpPr>
          <p:cNvPr id="24" name="Rectangle 23"/>
          <p:cNvSpPr/>
          <p:nvPr/>
        </p:nvSpPr>
        <p:spPr>
          <a:xfrm>
            <a:off x="914400" y="5303520"/>
            <a:ext cx="132588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 破綻ポイント：「迷惑フォルダを確認して」＝ 銀行が絶対に言わないセリフ ＝ 100%詐欺</a:t>
            </a:r>
          </a:p>
        </p:txBody>
      </p:sp>
      <p:sp>
        <p:nvSpPr>
          <p:cNvPr id="25" name="Rectangle 24"/>
          <p:cNvSpPr/>
          <p:nvPr/>
        </p:nvSpPr>
        <p:spPr>
          <a:xfrm>
            <a:off x="914400" y="5852160"/>
            <a:ext cx="13258800" cy="6400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222222"/>
                </a:solidFill>
                <a:latin typeface="Meiryo"/>
              </a:rPr>
              <a:t/>
            </a:r>
          </a:p>
        </p:txBody>
      </p:sp>
      <p:sp>
        <p:nvSpPr>
          <p:cNvPr id="26" name="TextBox 25"/>
          <p:cNvSpPr txBox="1"/>
          <p:nvPr/>
        </p:nvSpPr>
        <p:spPr>
          <a:xfrm>
            <a:off x="1097280" y="5879592"/>
            <a:ext cx="12801600" cy="594360"/>
          </a:xfrm>
          <a:prstGeom prst="rect">
            <a:avLst/>
          </a:prstGeom>
          <a:noFill/>
        </p:spPr>
        <p:txBody>
          <a:bodyPr wrap="square" lIns="50800" rIns="50800" tIns="38100" bIns="38100"/>
          <a:lstStyle/>
          <a:p>
            <a:pPr algn="l"/>
            <a:r>
              <a:rPr sz="1100" b="0">
                <a:solidFill>
                  <a:srgbClr val="222222"/>
                </a:solidFill>
                <a:latin typeface="Meiryo"/>
              </a:rPr>
              <a:t>しかし気づけない。さらに悪いことに、迷惑フォルダに入っていたことが手順②の話を補強してしまう
「重要なメールがフィルタに引っかかっていた → だから口座更新の案内に気づけなかったんだ」
→ 被害者はますます犯人の話を信じる</a:t>
            </a:r>
          </a:p>
        </p:txBody>
      </p:sp>
      <p:sp>
        <p:nvSpPr>
          <p:cNvPr id="27" name="Rectangle 26"/>
          <p:cNvSpPr/>
          <p:nvPr/>
        </p:nvSpPr>
        <p:spPr>
          <a:xfrm>
            <a:off x="914400" y="667512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手順②の恐怖が全ての破綻ポイント（③メアド、④迷惑フォルダ）を無効化している</a:t>
            </a:r>
          </a:p>
        </p:txBody>
      </p:sp>
      <p:sp>
        <p:nvSpPr>
          <p:cNvPr id="28" name="TextBox 27"/>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手順④ フィッシングメールと迷惑メールフィルタ回避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27AE60"/>
                </a:solidFill>
                <a:latin typeface="Meiryo"/>
              </a:rPr>
              <a:t>技術的対策：DMARC＋DNSで手順④を確実に遮断できる</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顧客の注意力に一切依存せず、銀行側の設定だけでKill Chainを切れる。技術的にはもう解決できる話。</a:t>
            </a:r>
          </a:p>
        </p:txBody>
      </p:sp>
      <p:sp>
        <p:nvSpPr>
          <p:cNvPr id="4" name="Rectangle 3"/>
          <p:cNvSpPr/>
          <p:nvPr/>
        </p:nvSpPr>
        <p:spPr>
          <a:xfrm>
            <a:off x="731520" y="118872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DMARCポリシーの違い — p=reject で正規ドメイン詐称を完全遮断</a:t>
            </a:r>
          </a:p>
        </p:txBody>
      </p:sp>
      <p:sp>
        <p:nvSpPr>
          <p:cNvPr id="5" name="Rectangle 4"/>
          <p:cNvSpPr/>
          <p:nvPr/>
        </p:nvSpPr>
        <p:spPr>
          <a:xfrm>
            <a:off x="731520" y="1600200"/>
            <a:ext cx="3200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p=none（監視のみ）</a:t>
            </a:r>
          </a:p>
        </p:txBody>
      </p:sp>
      <p:sp>
        <p:nvSpPr>
          <p:cNvPr id="6" name="Rectangle 5"/>
          <p:cNvSpPr/>
          <p:nvPr/>
        </p:nvSpPr>
        <p:spPr>
          <a:xfrm>
            <a:off x="3931920" y="1600200"/>
            <a:ext cx="50292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偽メールが普通に届く</a:t>
            </a:r>
          </a:p>
        </p:txBody>
      </p:sp>
      <p:sp>
        <p:nvSpPr>
          <p:cNvPr id="7" name="Rectangle 6"/>
          <p:cNvSpPr/>
          <p:nvPr/>
        </p:nvSpPr>
        <p:spPr>
          <a:xfrm>
            <a:off x="8961120" y="1600200"/>
            <a:ext cx="3200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攻撃成立</a:t>
            </a:r>
          </a:p>
        </p:txBody>
      </p:sp>
      <p:sp>
        <p:nvSpPr>
          <p:cNvPr id="8" name="Rectangle 7"/>
          <p:cNvSpPr/>
          <p:nvPr/>
        </p:nvSpPr>
        <p:spPr>
          <a:xfrm>
            <a:off x="731520" y="2057400"/>
            <a:ext cx="32004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p=quarantine（隔離）</a:t>
            </a:r>
          </a:p>
        </p:txBody>
      </p:sp>
      <p:sp>
        <p:nvSpPr>
          <p:cNvPr id="9" name="Rectangle 8"/>
          <p:cNvSpPr/>
          <p:nvPr/>
        </p:nvSpPr>
        <p:spPr>
          <a:xfrm>
            <a:off x="3931920" y="2057400"/>
            <a:ext cx="50292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迷惑フォルダに入る</a:t>
            </a:r>
          </a:p>
        </p:txBody>
      </p:sp>
      <p:sp>
        <p:nvSpPr>
          <p:cNvPr id="10" name="Rectangle 9"/>
          <p:cNvSpPr/>
          <p:nvPr/>
        </p:nvSpPr>
        <p:spPr>
          <a:xfrm>
            <a:off x="8961120" y="2057400"/>
            <a:ext cx="320040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電話で突破される</a:t>
            </a:r>
          </a:p>
        </p:txBody>
      </p:sp>
      <p:sp>
        <p:nvSpPr>
          <p:cNvPr id="11" name="Rectangle 10"/>
          <p:cNvSpPr/>
          <p:nvPr/>
        </p:nvSpPr>
        <p:spPr>
          <a:xfrm>
            <a:off x="731520" y="2514600"/>
            <a:ext cx="3200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p=reject（拒否）★</a:t>
            </a:r>
          </a:p>
        </p:txBody>
      </p:sp>
      <p:sp>
        <p:nvSpPr>
          <p:cNvPr id="12" name="Rectangle 11"/>
          <p:cNvSpPr/>
          <p:nvPr/>
        </p:nvSpPr>
        <p:spPr>
          <a:xfrm>
            <a:off x="3931920" y="2514600"/>
            <a:ext cx="50292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メールサーバが受信拒否。配信されない。</a:t>
            </a:r>
          </a:p>
        </p:txBody>
      </p:sp>
      <p:sp>
        <p:nvSpPr>
          <p:cNvPr id="13" name="Rectangle 12"/>
          <p:cNvSpPr/>
          <p:nvPr/>
        </p:nvSpPr>
        <p:spPr>
          <a:xfrm>
            <a:off x="8961120" y="2514600"/>
            <a:ext cx="320040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攻撃が止まる</a:t>
            </a:r>
          </a:p>
        </p:txBody>
      </p:sp>
      <p:sp>
        <p:nvSpPr>
          <p:cNvPr id="14" name="Rectangle 13"/>
          <p:cNvSpPr/>
          <p:nvPr/>
        </p:nvSpPr>
        <p:spPr>
          <a:xfrm>
            <a:off x="731520" y="310896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類似ドメインも含めた包括的DNS対策</a:t>
            </a:r>
          </a:p>
        </p:txBody>
      </p:sp>
      <p:sp>
        <p:nvSpPr>
          <p:cNvPr id="15" name="Rectangle 14"/>
          <p:cNvSpPr/>
          <p:nvPr/>
        </p:nvSpPr>
        <p:spPr>
          <a:xfrm>
            <a:off x="731520" y="3566160"/>
            <a:ext cx="36576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対策</a:t>
            </a:r>
          </a:p>
        </p:txBody>
      </p:sp>
      <p:sp>
        <p:nvSpPr>
          <p:cNvPr id="16" name="Rectangle 15"/>
          <p:cNvSpPr/>
          <p:nvPr/>
        </p:nvSpPr>
        <p:spPr>
          <a:xfrm>
            <a:off x="4389120" y="3566160"/>
            <a:ext cx="59436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内容</a:t>
            </a:r>
          </a:p>
        </p:txBody>
      </p:sp>
      <p:sp>
        <p:nvSpPr>
          <p:cNvPr id="17" name="Rectangle 16"/>
          <p:cNvSpPr/>
          <p:nvPr/>
        </p:nvSpPr>
        <p:spPr>
          <a:xfrm>
            <a:off x="10332720" y="3566160"/>
            <a:ext cx="402336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効果</a:t>
            </a:r>
          </a:p>
        </p:txBody>
      </p:sp>
      <p:sp>
        <p:nvSpPr>
          <p:cNvPr id="18" name="Rectangle 17"/>
          <p:cNvSpPr/>
          <p:nvPr/>
        </p:nvSpPr>
        <p:spPr>
          <a:xfrm>
            <a:off x="731520" y="3931920"/>
            <a:ext cx="3657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① 類似ドメインの防御的登録</a:t>
            </a:r>
          </a:p>
        </p:txBody>
      </p:sp>
      <p:sp>
        <p:nvSpPr>
          <p:cNvPr id="19" name="Rectangle 18"/>
          <p:cNvSpPr/>
          <p:nvPr/>
        </p:nvSpPr>
        <p:spPr>
          <a:xfrm>
            <a:off x="4389120" y="3931920"/>
            <a:ext cx="5943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mufg-security.com, bizstation-update.jp 等を銀行が先に取得</a:t>
            </a:r>
          </a:p>
        </p:txBody>
      </p:sp>
      <p:sp>
        <p:nvSpPr>
          <p:cNvPr id="20" name="Rectangle 19"/>
          <p:cNvSpPr/>
          <p:nvPr/>
        </p:nvSpPr>
        <p:spPr>
          <a:xfrm>
            <a:off x="10332720" y="3931920"/>
            <a:ext cx="4023360" cy="45720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犯人が使えるドメインを潰す</a:t>
            </a:r>
          </a:p>
        </p:txBody>
      </p:sp>
      <p:sp>
        <p:nvSpPr>
          <p:cNvPr id="21" name="Rectangle 20"/>
          <p:cNvSpPr/>
          <p:nvPr/>
        </p:nvSpPr>
        <p:spPr>
          <a:xfrm>
            <a:off x="731520" y="4389120"/>
            <a:ext cx="3657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② 新規登録ドメイン（NRD）ブロック</a:t>
            </a:r>
          </a:p>
        </p:txBody>
      </p:sp>
      <p:sp>
        <p:nvSpPr>
          <p:cNvPr id="22" name="Rectangle 21"/>
          <p:cNvSpPr/>
          <p:nvPr/>
        </p:nvSpPr>
        <p:spPr>
          <a:xfrm>
            <a:off x="4389120" y="4389120"/>
            <a:ext cx="5943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登録から日が浅いドメインを受信側で高リスク判定・ブロック</a:t>
            </a:r>
          </a:p>
        </p:txBody>
      </p:sp>
      <p:sp>
        <p:nvSpPr>
          <p:cNvPr id="23" name="Rectangle 22"/>
          <p:cNvSpPr/>
          <p:nvPr/>
        </p:nvSpPr>
        <p:spPr>
          <a:xfrm>
            <a:off x="10332720" y="4389120"/>
            <a:ext cx="4023360" cy="45720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犯人が新ドメインを取得しても即座に使えない</a:t>
            </a:r>
          </a:p>
        </p:txBody>
      </p:sp>
      <p:sp>
        <p:nvSpPr>
          <p:cNvPr id="24" name="Rectangle 23"/>
          <p:cNvSpPr/>
          <p:nvPr/>
        </p:nvSpPr>
        <p:spPr>
          <a:xfrm>
            <a:off x="731520" y="4846320"/>
            <a:ext cx="3657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③ 正規送信ドメインの公開＋GW制御</a:t>
            </a:r>
          </a:p>
        </p:txBody>
      </p:sp>
      <p:sp>
        <p:nvSpPr>
          <p:cNvPr id="25" name="Rectangle 24"/>
          <p:cNvSpPr/>
          <p:nvPr/>
        </p:nvSpPr>
        <p:spPr>
          <a:xfrm>
            <a:off x="4389120" y="4846320"/>
            <a:ext cx="5943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銀行が「当行のメールは @mufg.jp, @bk.mufg.co.jp のみ」と宣言</a:t>
            </a:r>
          </a:p>
        </p:txBody>
      </p:sp>
      <p:sp>
        <p:nvSpPr>
          <p:cNvPr id="26" name="Rectangle 25"/>
          <p:cNvSpPr/>
          <p:nvPr/>
        </p:nvSpPr>
        <p:spPr>
          <a:xfrm>
            <a:off x="10332720" y="4846320"/>
            <a:ext cx="4023360" cy="45720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企業のメールGWで上記以外を自動ブロック</a:t>
            </a:r>
          </a:p>
        </p:txBody>
      </p:sp>
      <p:sp>
        <p:nvSpPr>
          <p:cNvPr id="27" name="Rectangle 26"/>
          <p:cNvSpPr/>
          <p:nvPr/>
        </p:nvSpPr>
        <p:spPr>
          <a:xfrm>
            <a:off x="731520" y="5303520"/>
            <a:ext cx="3657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④ SPF/DKIM未設定ドメインの拒否</a:t>
            </a:r>
          </a:p>
        </p:txBody>
      </p:sp>
      <p:sp>
        <p:nvSpPr>
          <p:cNvPr id="28" name="Rectangle 27"/>
          <p:cNvSpPr/>
          <p:nvPr/>
        </p:nvSpPr>
        <p:spPr>
          <a:xfrm>
            <a:off x="4389120" y="5303520"/>
            <a:ext cx="5943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受信側で認証未設定のドメインからのメールを拒否</a:t>
            </a:r>
          </a:p>
        </p:txBody>
      </p:sp>
      <p:sp>
        <p:nvSpPr>
          <p:cNvPr id="29" name="Rectangle 28"/>
          <p:cNvSpPr/>
          <p:nvPr/>
        </p:nvSpPr>
        <p:spPr>
          <a:xfrm>
            <a:off x="10332720" y="5303520"/>
            <a:ext cx="4023360" cy="45720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犯人の急造ドメインは認証が通らない</a:t>
            </a:r>
          </a:p>
        </p:txBody>
      </p:sp>
      <p:sp>
        <p:nvSpPr>
          <p:cNvPr id="30" name="Rectangle 29"/>
          <p:cNvSpPr/>
          <p:nvPr/>
        </p:nvSpPr>
        <p:spPr>
          <a:xfrm>
            <a:off x="731520" y="594360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対策カバレッジ</a:t>
            </a:r>
          </a:p>
        </p:txBody>
      </p:sp>
      <p:sp>
        <p:nvSpPr>
          <p:cNvPr id="31" name="Rectangle 30"/>
          <p:cNvSpPr/>
          <p:nvPr/>
        </p:nvSpPr>
        <p:spPr>
          <a:xfrm>
            <a:off x="731520" y="6309360"/>
            <a:ext cx="45720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対策</a:t>
            </a:r>
          </a:p>
        </p:txBody>
      </p:sp>
      <p:sp>
        <p:nvSpPr>
          <p:cNvPr id="32" name="Rectangle 31"/>
          <p:cNvSpPr/>
          <p:nvPr/>
        </p:nvSpPr>
        <p:spPr>
          <a:xfrm>
            <a:off x="5303520"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正規ドメイン詐称</a:t>
            </a:r>
          </a:p>
        </p:txBody>
      </p:sp>
      <p:sp>
        <p:nvSpPr>
          <p:cNvPr id="33" name="Rectangle 32"/>
          <p:cNvSpPr/>
          <p:nvPr/>
        </p:nvSpPr>
        <p:spPr>
          <a:xfrm>
            <a:off x="8321040"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類似ドメイン</a:t>
            </a:r>
          </a:p>
        </p:txBody>
      </p:sp>
      <p:sp>
        <p:nvSpPr>
          <p:cNvPr id="34" name="Rectangle 33"/>
          <p:cNvSpPr/>
          <p:nvPr/>
        </p:nvSpPr>
        <p:spPr>
          <a:xfrm>
            <a:off x="11338559"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新規ドメイン</a:t>
            </a:r>
          </a:p>
        </p:txBody>
      </p:sp>
      <p:sp>
        <p:nvSpPr>
          <p:cNvPr id="35" name="Rectangle 34"/>
          <p:cNvSpPr/>
          <p:nvPr/>
        </p:nvSpPr>
        <p:spPr>
          <a:xfrm>
            <a:off x="731520" y="6675120"/>
            <a:ext cx="4572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DMARC p=reject のみ</a:t>
            </a:r>
          </a:p>
        </p:txBody>
      </p:sp>
      <p:sp>
        <p:nvSpPr>
          <p:cNvPr id="36" name="Rectangle 35"/>
          <p:cNvSpPr/>
          <p:nvPr/>
        </p:nvSpPr>
        <p:spPr>
          <a:xfrm>
            <a:off x="5303520" y="667512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37" name="Rectangle 36"/>
          <p:cNvSpPr/>
          <p:nvPr/>
        </p:nvSpPr>
        <p:spPr>
          <a:xfrm>
            <a:off x="8321040" y="667512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38" name="Rectangle 37"/>
          <p:cNvSpPr/>
          <p:nvPr/>
        </p:nvSpPr>
        <p:spPr>
          <a:xfrm>
            <a:off x="11338559" y="667512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39" name="Rectangle 38"/>
          <p:cNvSpPr/>
          <p:nvPr/>
        </p:nvSpPr>
        <p:spPr>
          <a:xfrm>
            <a:off x="731520" y="7040880"/>
            <a:ext cx="45720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類似ドメイン防御的登録</a:t>
            </a:r>
          </a:p>
        </p:txBody>
      </p:sp>
      <p:sp>
        <p:nvSpPr>
          <p:cNvPr id="40" name="Rectangle 39"/>
          <p:cNvSpPr/>
          <p:nvPr/>
        </p:nvSpPr>
        <p:spPr>
          <a:xfrm>
            <a:off x="5303520" y="704088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1" name="Rectangle 40"/>
          <p:cNvSpPr/>
          <p:nvPr/>
        </p:nvSpPr>
        <p:spPr>
          <a:xfrm>
            <a:off x="8321040" y="704088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2" name="Rectangle 41"/>
          <p:cNvSpPr/>
          <p:nvPr/>
        </p:nvSpPr>
        <p:spPr>
          <a:xfrm>
            <a:off x="11338559" y="704088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43" name="Rectangle 42"/>
          <p:cNvSpPr/>
          <p:nvPr/>
        </p:nvSpPr>
        <p:spPr>
          <a:xfrm>
            <a:off x="731520" y="7406640"/>
            <a:ext cx="4572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NRDブロック＋SPF/DKIM必須化</a:t>
            </a:r>
          </a:p>
        </p:txBody>
      </p:sp>
      <p:sp>
        <p:nvSpPr>
          <p:cNvPr id="44" name="Rectangle 43"/>
          <p:cNvSpPr/>
          <p:nvPr/>
        </p:nvSpPr>
        <p:spPr>
          <a:xfrm>
            <a:off x="5303520"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5" name="Rectangle 44"/>
          <p:cNvSpPr/>
          <p:nvPr/>
        </p:nvSpPr>
        <p:spPr>
          <a:xfrm>
            <a:off x="8321040"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6" name="Rectangle 45"/>
          <p:cNvSpPr/>
          <p:nvPr/>
        </p:nvSpPr>
        <p:spPr>
          <a:xfrm>
            <a:off x="11338559"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7" name="Rectangle 46"/>
          <p:cNvSpPr/>
          <p:nvPr/>
        </p:nvSpPr>
        <p:spPr>
          <a:xfrm>
            <a:off x="731520" y="7772400"/>
            <a:ext cx="45720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正規ドメイン公開＋GW制御（全部）</a:t>
            </a:r>
          </a:p>
        </p:txBody>
      </p:sp>
      <p:sp>
        <p:nvSpPr>
          <p:cNvPr id="48" name="Rectangle 47"/>
          <p:cNvSpPr/>
          <p:nvPr/>
        </p:nvSpPr>
        <p:spPr>
          <a:xfrm>
            <a:off x="5303520"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9" name="Rectangle 48"/>
          <p:cNvSpPr/>
          <p:nvPr/>
        </p:nvSpPr>
        <p:spPr>
          <a:xfrm>
            <a:off x="8321040"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50" name="Rectangle 49"/>
          <p:cNvSpPr/>
          <p:nvPr/>
        </p:nvSpPr>
        <p:spPr>
          <a:xfrm>
            <a:off x="11338559"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51" name="Rectangle 50"/>
          <p:cNvSpPr/>
          <p:nvPr/>
        </p:nvSpPr>
        <p:spPr>
          <a:xfrm>
            <a:off x="731520" y="8229600"/>
            <a:ext cx="13624560" cy="5029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全部やれば手順④のメールは顧客に届かない。Kill Chainはここで切れる。顧客の注意力に一切依存しない。</a:t>
            </a:r>
          </a:p>
        </p:txBody>
      </p:sp>
      <p:sp>
        <p:nvSpPr>
          <p:cNvPr id="52" name="Rectangle 51"/>
          <p:cNvSpPr/>
          <p:nvPr/>
        </p:nvSpPr>
        <p:spPr>
          <a:xfrm>
            <a:off x="731520" y="877824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技術的にはもう解決できる話。やるかやらないかだけ。</a:t>
            </a:r>
          </a:p>
        </p:txBody>
      </p:sp>
      <p:sp>
        <p:nvSpPr>
          <p:cNvPr id="53" name="TextBox 52"/>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DMARC＋DNSによる技術的遮断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8E44AD"/>
                </a:solidFill>
                <a:latin typeface="Meiryo"/>
              </a:rPr>
              <a:t>手順⑤「メールのボタンをクリックして」— 最大の破綻ポイント</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銀行の方針・金融庁の要請・顧客への周知、すべてに反する行為。それでも突破される。</a:t>
            </a:r>
          </a:p>
        </p:txBody>
      </p:sp>
      <p:sp>
        <p:nvSpPr>
          <p:cNvPr id="4" name="Rectangle 3"/>
          <p:cNvSpPr/>
          <p:nvPr/>
        </p:nvSpPr>
        <p:spPr>
          <a:xfrm>
            <a:off x="731520" y="1097280"/>
            <a:ext cx="1362456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金融庁の要請：金融機関が顧客に送信するメールにURLリンクを記載しないこと</a:t>
            </a:r>
          </a:p>
        </p:txBody>
      </p:sp>
      <p:sp>
        <p:nvSpPr>
          <p:cNvPr id="5" name="TextBox 4"/>
          <p:cNvSpPr txBox="1"/>
          <p:nvPr/>
        </p:nvSpPr>
        <p:spPr>
          <a:xfrm>
            <a:off x="731520" y="1627631"/>
            <a:ext cx="13624560" cy="274320"/>
          </a:xfrm>
          <a:prstGeom prst="rect">
            <a:avLst/>
          </a:prstGeom>
          <a:noFill/>
        </p:spPr>
        <p:txBody>
          <a:bodyPr wrap="square" lIns="50800" rIns="50800" tIns="38100" bIns="38100"/>
          <a:lstStyle/>
          <a:p>
            <a:pPr algn="l"/>
            <a:r>
              <a:rPr sz="900" b="0">
                <a:solidFill>
                  <a:srgbClr val="888888"/>
                </a:solidFill>
                <a:latin typeface="Meiryo"/>
              </a:rPr>
              <a:t>→ 多くの銀行が「メール内のリンクはクリックしないでください」と顧客に周知済み</a:t>
            </a:r>
          </a:p>
        </p:txBody>
      </p:sp>
      <p:sp>
        <p:nvSpPr>
          <p:cNvPr id="6" name="Rectangle 5"/>
          <p:cNvSpPr/>
          <p:nvPr/>
        </p:nvSpPr>
        <p:spPr>
          <a:xfrm>
            <a:off x="731520" y="2011680"/>
            <a:ext cx="228600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a:r>
          </a:p>
        </p:txBody>
      </p:sp>
      <p:sp>
        <p:nvSpPr>
          <p:cNvPr id="7" name="Rectangle 6"/>
          <p:cNvSpPr/>
          <p:nvPr/>
        </p:nvSpPr>
        <p:spPr>
          <a:xfrm>
            <a:off x="3017520" y="2011680"/>
            <a:ext cx="548640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銀行の正規誘導</a:t>
            </a:r>
          </a:p>
        </p:txBody>
      </p:sp>
      <p:sp>
        <p:nvSpPr>
          <p:cNvPr id="8" name="Rectangle 7"/>
          <p:cNvSpPr/>
          <p:nvPr/>
        </p:nvSpPr>
        <p:spPr>
          <a:xfrm>
            <a:off x="8503920" y="2011680"/>
            <a:ext cx="58521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この攻撃</a:t>
            </a:r>
          </a:p>
        </p:txBody>
      </p:sp>
      <p:sp>
        <p:nvSpPr>
          <p:cNvPr id="9" name="Rectangle 8"/>
          <p:cNvSpPr/>
          <p:nvPr/>
        </p:nvSpPr>
        <p:spPr>
          <a:xfrm>
            <a:off x="731520" y="2423160"/>
            <a:ext cx="22860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方法</a:t>
            </a:r>
          </a:p>
        </p:txBody>
      </p:sp>
      <p:sp>
        <p:nvSpPr>
          <p:cNvPr id="10" name="Rectangle 9"/>
          <p:cNvSpPr/>
          <p:nvPr/>
        </p:nvSpPr>
        <p:spPr>
          <a:xfrm>
            <a:off x="3017520" y="2423160"/>
            <a:ext cx="5486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ブックマーク・URL直接入力・公式アプリ</a:t>
            </a:r>
          </a:p>
        </p:txBody>
      </p:sp>
      <p:sp>
        <p:nvSpPr>
          <p:cNvPr id="11" name="Rectangle 10"/>
          <p:cNvSpPr/>
          <p:nvPr/>
        </p:nvSpPr>
        <p:spPr>
          <a:xfrm>
            <a:off x="8503920" y="2423160"/>
            <a:ext cx="5852160" cy="45720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メールのボタンをクリック</a:t>
            </a:r>
          </a:p>
        </p:txBody>
      </p:sp>
      <p:sp>
        <p:nvSpPr>
          <p:cNvPr id="12" name="Rectangle 11"/>
          <p:cNvSpPr/>
          <p:nvPr/>
        </p:nvSpPr>
        <p:spPr>
          <a:xfrm>
            <a:off x="731520" y="2880360"/>
            <a:ext cx="22860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URLの出所</a:t>
            </a:r>
          </a:p>
        </p:txBody>
      </p:sp>
      <p:sp>
        <p:nvSpPr>
          <p:cNvPr id="13" name="Rectangle 12"/>
          <p:cNvSpPr/>
          <p:nvPr/>
        </p:nvSpPr>
        <p:spPr>
          <a:xfrm>
            <a:off x="3017520" y="2880360"/>
            <a:ext cx="54864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顧客が自分で持っている</a:t>
            </a:r>
          </a:p>
        </p:txBody>
      </p:sp>
      <p:sp>
        <p:nvSpPr>
          <p:cNvPr id="14" name="Rectangle 13"/>
          <p:cNvSpPr/>
          <p:nvPr/>
        </p:nvSpPr>
        <p:spPr>
          <a:xfrm>
            <a:off x="8503920" y="2880360"/>
            <a:ext cx="5852160" cy="457200"/>
          </a:xfrm>
          <a:prstGeom prst="rect">
            <a:avLst/>
          </a:prstGeom>
          <a:solidFill>
            <a:srgbClr val="F9F9F9"/>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犯人が送りつけた</a:t>
            </a:r>
          </a:p>
        </p:txBody>
      </p:sp>
      <p:sp>
        <p:nvSpPr>
          <p:cNvPr id="15" name="Rectangle 14"/>
          <p:cNvSpPr/>
          <p:nvPr/>
        </p:nvSpPr>
        <p:spPr>
          <a:xfrm>
            <a:off x="731520" y="3337560"/>
            <a:ext cx="22860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顧客の行動</a:t>
            </a:r>
          </a:p>
        </p:txBody>
      </p:sp>
      <p:sp>
        <p:nvSpPr>
          <p:cNvPr id="16" name="Rectangle 15"/>
          <p:cNvSpPr/>
          <p:nvPr/>
        </p:nvSpPr>
        <p:spPr>
          <a:xfrm>
            <a:off x="3017520" y="3337560"/>
            <a:ext cx="5486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能動的（自分でアクセス）</a:t>
            </a:r>
          </a:p>
        </p:txBody>
      </p:sp>
      <p:sp>
        <p:nvSpPr>
          <p:cNvPr id="17" name="Rectangle 16"/>
          <p:cNvSpPr/>
          <p:nvPr/>
        </p:nvSpPr>
        <p:spPr>
          <a:xfrm>
            <a:off x="8503920" y="3337560"/>
            <a:ext cx="5852160" cy="45720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受動的（指示されてクリック）</a:t>
            </a:r>
          </a:p>
        </p:txBody>
      </p:sp>
      <p:sp>
        <p:nvSpPr>
          <p:cNvPr id="18" name="Rectangle 17"/>
          <p:cNvSpPr/>
          <p:nvPr/>
        </p:nvSpPr>
        <p:spPr>
          <a:xfrm>
            <a:off x="731520" y="3794760"/>
            <a:ext cx="22860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利便性</a:t>
            </a:r>
          </a:p>
        </p:txBody>
      </p:sp>
      <p:sp>
        <p:nvSpPr>
          <p:cNvPr id="19" name="Rectangle 18"/>
          <p:cNvSpPr/>
          <p:nvPr/>
        </p:nvSpPr>
        <p:spPr>
          <a:xfrm>
            <a:off x="3017520" y="3794760"/>
            <a:ext cx="54864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面倒（ブックマーク探す、URL入力）</a:t>
            </a:r>
          </a:p>
        </p:txBody>
      </p:sp>
      <p:sp>
        <p:nvSpPr>
          <p:cNvPr id="20" name="Rectangle 19"/>
          <p:cNvSpPr/>
          <p:nvPr/>
        </p:nvSpPr>
        <p:spPr>
          <a:xfrm>
            <a:off x="8503920" y="3794760"/>
            <a:ext cx="5852160" cy="457200"/>
          </a:xfrm>
          <a:prstGeom prst="rect">
            <a:avLst/>
          </a:prstGeom>
          <a:solidFill>
            <a:srgbClr val="F9F9F9"/>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楽（ボタン1つ押すだけ）</a:t>
            </a:r>
          </a:p>
        </p:txBody>
      </p:sp>
      <p:sp>
        <p:nvSpPr>
          <p:cNvPr id="21" name="Rectangle 20"/>
          <p:cNvSpPr/>
          <p:nvPr/>
        </p:nvSpPr>
        <p:spPr>
          <a:xfrm>
            <a:off x="731520" y="4343400"/>
            <a:ext cx="13624560" cy="8229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TextBox 21"/>
          <p:cNvSpPr txBox="1"/>
          <p:nvPr/>
        </p:nvSpPr>
        <p:spPr>
          <a:xfrm>
            <a:off x="1005840" y="4389120"/>
            <a:ext cx="13075920" cy="777240"/>
          </a:xfrm>
          <a:prstGeom prst="rect">
            <a:avLst/>
          </a:prstGeom>
          <a:noFill/>
        </p:spPr>
        <p:txBody>
          <a:bodyPr wrap="square" lIns="50800" rIns="50800" tIns="38100" bIns="38100"/>
          <a:lstStyle/>
          <a:p>
            <a:pPr algn="l"/>
            <a:r>
              <a:rPr sz="1100" b="1">
                <a:solidFill>
                  <a:srgbClr val="FFFFFF"/>
                </a:solidFill>
                <a:latin typeface="Meiryo"/>
              </a:rPr>
              <a:t>皮肉：犯人のほうが「ユーザー体験が良い」
正規の銀行：「ブックマークからアクセスしてください」（面倒）
犯人：「ボタンをクリックするだけです」（簡単）
→ 焦っている被害者がどちらに従いたくなるかは明白</a:t>
            </a:r>
          </a:p>
        </p:txBody>
      </p:sp>
      <p:sp>
        <p:nvSpPr>
          <p:cNvPr id="23" name="Rectangle 22"/>
          <p:cNvSpPr/>
          <p:nvPr/>
        </p:nvSpPr>
        <p:spPr>
          <a:xfrm>
            <a:off x="731520" y="534924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手順⑤の破綻ポイントまとめ</a:t>
            </a:r>
          </a:p>
        </p:txBody>
      </p:sp>
      <p:sp>
        <p:nvSpPr>
          <p:cNvPr id="24" name="Rectangle 23"/>
          <p:cNvSpPr/>
          <p:nvPr/>
        </p:nvSpPr>
        <p:spPr>
          <a:xfrm>
            <a:off x="731520" y="5715000"/>
            <a:ext cx="36576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銀行の方針</a:t>
            </a:r>
          </a:p>
        </p:txBody>
      </p:sp>
      <p:sp>
        <p:nvSpPr>
          <p:cNvPr id="25" name="Rectangle 24"/>
          <p:cNvSpPr/>
          <p:nvPr/>
        </p:nvSpPr>
        <p:spPr>
          <a:xfrm>
            <a:off x="4389120" y="5715000"/>
            <a:ext cx="996696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メールにURLリンクを載せない</a:t>
            </a:r>
          </a:p>
        </p:txBody>
      </p:sp>
      <p:sp>
        <p:nvSpPr>
          <p:cNvPr id="26" name="Rectangle 25"/>
          <p:cNvSpPr/>
          <p:nvPr/>
        </p:nvSpPr>
        <p:spPr>
          <a:xfrm>
            <a:off x="731520" y="6080760"/>
            <a:ext cx="36576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金融庁の要請</a:t>
            </a:r>
          </a:p>
        </p:txBody>
      </p:sp>
      <p:sp>
        <p:nvSpPr>
          <p:cNvPr id="27" name="Rectangle 26"/>
          <p:cNvSpPr/>
          <p:nvPr/>
        </p:nvSpPr>
        <p:spPr>
          <a:xfrm>
            <a:off x="4389120" y="6080760"/>
            <a:ext cx="996696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金融機関のメールにURL記載禁止</a:t>
            </a:r>
          </a:p>
        </p:txBody>
      </p:sp>
      <p:sp>
        <p:nvSpPr>
          <p:cNvPr id="28" name="Rectangle 27"/>
          <p:cNvSpPr/>
          <p:nvPr/>
        </p:nvSpPr>
        <p:spPr>
          <a:xfrm>
            <a:off x="731520" y="6446520"/>
            <a:ext cx="36576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顧客への周知</a:t>
            </a:r>
          </a:p>
        </p:txBody>
      </p:sp>
      <p:sp>
        <p:nvSpPr>
          <p:cNvPr id="29" name="Rectangle 28"/>
          <p:cNvSpPr/>
          <p:nvPr/>
        </p:nvSpPr>
        <p:spPr>
          <a:xfrm>
            <a:off x="4389120" y="6446520"/>
            <a:ext cx="996696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「メールのリンクをクリックしないで」と案内済み</a:t>
            </a:r>
          </a:p>
        </p:txBody>
      </p:sp>
      <p:sp>
        <p:nvSpPr>
          <p:cNvPr id="30" name="Rectangle 29"/>
          <p:cNvSpPr/>
          <p:nvPr/>
        </p:nvSpPr>
        <p:spPr>
          <a:xfrm>
            <a:off x="731520" y="6812280"/>
            <a:ext cx="36576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それでも突破される理由</a:t>
            </a:r>
          </a:p>
        </p:txBody>
      </p:sp>
      <p:sp>
        <p:nvSpPr>
          <p:cNvPr id="31" name="Rectangle 30"/>
          <p:cNvSpPr/>
          <p:nvPr/>
        </p:nvSpPr>
        <p:spPr>
          <a:xfrm>
            <a:off x="4389120" y="6812280"/>
            <a:ext cx="99669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手順②の恐怖 ＋ 電話でのリアルタイム指示 ＋ 犯人のほうがUXが良い</a:t>
            </a:r>
          </a:p>
        </p:txBody>
      </p:sp>
      <p:sp>
        <p:nvSpPr>
          <p:cNvPr id="32" name="Rectangle 31"/>
          <p:cNvSpPr/>
          <p:nvPr/>
        </p:nvSpPr>
        <p:spPr>
          <a:xfrm>
            <a:off x="731520" y="7223759"/>
            <a:ext cx="1362456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注意喚起・ガイドライン・金融庁の要請 — すべてが「冷静な時の判断力」を前提にしている。この攻撃は、その前提自体を手順②で破壊している。</a:t>
            </a:r>
          </a:p>
        </p:txBody>
      </p:sp>
      <p:sp>
        <p:nvSpPr>
          <p:cNvPr id="33" name="TextBox 32"/>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手順⑤ メールURLと金融庁要請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E67E22"/>
                </a:solidFill>
                <a:latin typeface="Meiryo"/>
              </a:rPr>
              <a:t>「ブックマークからアクセスして」は機能しない</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ブックマーク登録を顧客に任せている時点で、対策として成立していない。</a:t>
            </a:r>
          </a:p>
        </p:txBody>
      </p:sp>
      <p:sp>
        <p:nvSpPr>
          <p:cNvPr id="4" name="Rectangle 3"/>
          <p:cNvSpPr/>
          <p:nvPr/>
        </p:nvSpPr>
        <p:spPr>
          <a:xfrm>
            <a:off x="731520" y="1188720"/>
            <a:ext cx="658368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銀行のURL伝達方法（法人IB）</a:t>
            </a:r>
          </a:p>
        </p:txBody>
      </p:sp>
      <p:sp>
        <p:nvSpPr>
          <p:cNvPr id="5" name="Rectangle 4"/>
          <p:cNvSpPr/>
          <p:nvPr/>
        </p:nvSpPr>
        <p:spPr>
          <a:xfrm>
            <a:off x="731520" y="1600200"/>
            <a:ext cx="22860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① 契約時の書面</a:t>
            </a:r>
          </a:p>
        </p:txBody>
      </p:sp>
      <p:sp>
        <p:nvSpPr>
          <p:cNvPr id="6" name="Rectangle 5"/>
          <p:cNvSpPr/>
          <p:nvPr/>
        </p:nvSpPr>
        <p:spPr>
          <a:xfrm>
            <a:off x="3017520" y="1600200"/>
            <a:ext cx="42976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紙にURLが記載されている</a:t>
            </a:r>
          </a:p>
        </p:txBody>
      </p:sp>
      <p:sp>
        <p:nvSpPr>
          <p:cNvPr id="7" name="Rectangle 6"/>
          <p:cNvSpPr/>
          <p:nvPr/>
        </p:nvSpPr>
        <p:spPr>
          <a:xfrm>
            <a:off x="731520" y="2011680"/>
            <a:ext cx="22860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② 銀行の窓口</a:t>
            </a:r>
          </a:p>
        </p:txBody>
      </p:sp>
      <p:sp>
        <p:nvSpPr>
          <p:cNvPr id="8" name="Rectangle 7"/>
          <p:cNvSpPr/>
          <p:nvPr/>
        </p:nvSpPr>
        <p:spPr>
          <a:xfrm>
            <a:off x="3017520" y="2011680"/>
            <a:ext cx="429768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担当者から口頭で案内</a:t>
            </a:r>
          </a:p>
        </p:txBody>
      </p:sp>
      <p:sp>
        <p:nvSpPr>
          <p:cNvPr id="9" name="Rectangle 8"/>
          <p:cNvSpPr/>
          <p:nvPr/>
        </p:nvSpPr>
        <p:spPr>
          <a:xfrm>
            <a:off x="731520" y="2423160"/>
            <a:ext cx="22860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③ 銀行の公式HP</a:t>
            </a:r>
          </a:p>
        </p:txBody>
      </p:sp>
      <p:sp>
        <p:nvSpPr>
          <p:cNvPr id="10" name="Rectangle 9"/>
          <p:cNvSpPr/>
          <p:nvPr/>
        </p:nvSpPr>
        <p:spPr>
          <a:xfrm>
            <a:off x="3017520" y="2423160"/>
            <a:ext cx="42976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検索 → HP → IBログインページ</a:t>
            </a:r>
          </a:p>
        </p:txBody>
      </p:sp>
      <p:sp>
        <p:nvSpPr>
          <p:cNvPr id="11" name="TextBox 10"/>
          <p:cNvSpPr txBox="1"/>
          <p:nvPr/>
        </p:nvSpPr>
        <p:spPr>
          <a:xfrm>
            <a:off x="731520" y="2880360"/>
            <a:ext cx="6583680" cy="274320"/>
          </a:xfrm>
          <a:prstGeom prst="rect">
            <a:avLst/>
          </a:prstGeom>
          <a:noFill/>
        </p:spPr>
        <p:txBody>
          <a:bodyPr wrap="square" lIns="50800" rIns="50800" tIns="38100" bIns="38100"/>
          <a:lstStyle/>
          <a:p>
            <a:pPr algn="l"/>
            <a:r>
              <a:rPr sz="1000" b="1">
                <a:solidFill>
                  <a:srgbClr val="C0392B"/>
                </a:solidFill>
                <a:latin typeface="Meiryo"/>
              </a:rPr>
              <a:t>→ 顧客が自分でブックマーク登録する必要がある</a:t>
            </a:r>
          </a:p>
        </p:txBody>
      </p:sp>
      <p:sp>
        <p:nvSpPr>
          <p:cNvPr id="12" name="Rectangle 11"/>
          <p:cNvSpPr/>
          <p:nvPr/>
        </p:nvSpPr>
        <p:spPr>
          <a:xfrm>
            <a:off x="7772400" y="1188720"/>
            <a:ext cx="640080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銀行の想定 vs 現実</a:t>
            </a:r>
          </a:p>
        </p:txBody>
      </p:sp>
      <p:sp>
        <p:nvSpPr>
          <p:cNvPr id="13" name="Rectangle 12"/>
          <p:cNvSpPr/>
          <p:nvPr/>
        </p:nvSpPr>
        <p:spPr>
          <a:xfrm>
            <a:off x="7772400" y="1600200"/>
            <a:ext cx="29260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契約時の書面を保管</a:t>
            </a:r>
          </a:p>
        </p:txBody>
      </p:sp>
      <p:sp>
        <p:nvSpPr>
          <p:cNvPr id="14" name="Rectangle 13"/>
          <p:cNvSpPr/>
          <p:nvPr/>
        </p:nvSpPr>
        <p:spPr>
          <a:xfrm>
            <a:off x="10698480" y="1600200"/>
            <a:ext cx="3474720" cy="41148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どこにしまったかわからない</a:t>
            </a:r>
          </a:p>
        </p:txBody>
      </p:sp>
      <p:sp>
        <p:nvSpPr>
          <p:cNvPr id="15" name="Rectangle 14"/>
          <p:cNvSpPr/>
          <p:nvPr/>
        </p:nvSpPr>
        <p:spPr>
          <a:xfrm>
            <a:off x="7772400" y="2011680"/>
            <a:ext cx="29260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ブックマークに登録済み</a:t>
            </a:r>
          </a:p>
        </p:txBody>
      </p:sp>
      <p:sp>
        <p:nvSpPr>
          <p:cNvPr id="16" name="Rectangle 15"/>
          <p:cNvSpPr/>
          <p:nvPr/>
        </p:nvSpPr>
        <p:spPr>
          <a:xfrm>
            <a:off x="10698480" y="2011680"/>
            <a:ext cx="3474720" cy="41148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登録していない人が多い</a:t>
            </a:r>
          </a:p>
        </p:txBody>
      </p:sp>
      <p:sp>
        <p:nvSpPr>
          <p:cNvPr id="17" name="Rectangle 16"/>
          <p:cNvSpPr/>
          <p:nvPr/>
        </p:nvSpPr>
        <p:spPr>
          <a:xfrm>
            <a:off x="7772400" y="2423160"/>
            <a:ext cx="29260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毎回ブックマークからアクセス</a:t>
            </a:r>
          </a:p>
        </p:txBody>
      </p:sp>
      <p:sp>
        <p:nvSpPr>
          <p:cNvPr id="18" name="Rectangle 17"/>
          <p:cNvSpPr/>
          <p:nvPr/>
        </p:nvSpPr>
        <p:spPr>
          <a:xfrm>
            <a:off x="10698480" y="2423160"/>
            <a:ext cx="3474720" cy="41148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毎回「BizSTATION」で検索している</a:t>
            </a:r>
          </a:p>
        </p:txBody>
      </p:sp>
      <p:sp>
        <p:nvSpPr>
          <p:cNvPr id="19" name="Rectangle 18"/>
          <p:cNvSpPr/>
          <p:nvPr/>
        </p:nvSpPr>
        <p:spPr>
          <a:xfrm>
            <a:off x="731520" y="338328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ブックマーク登録の有無が攻撃成功率を左右する</a:t>
            </a:r>
          </a:p>
        </p:txBody>
      </p:sp>
      <p:sp>
        <p:nvSpPr>
          <p:cNvPr id="20" name="Rectangle 19"/>
          <p:cNvSpPr/>
          <p:nvPr/>
        </p:nvSpPr>
        <p:spPr>
          <a:xfrm>
            <a:off x="731520" y="3840480"/>
            <a:ext cx="658368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ブックマーク登録済みの人（少数）</a:t>
            </a:r>
          </a:p>
        </p:txBody>
      </p:sp>
      <p:sp>
        <p:nvSpPr>
          <p:cNvPr id="21" name="Rectangle 20"/>
          <p:cNvSpPr/>
          <p:nvPr/>
        </p:nvSpPr>
        <p:spPr>
          <a:xfrm>
            <a:off x="731520" y="4206240"/>
            <a:ext cx="6583680" cy="6400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「自分のブックマークと違うURLだ」と気づける可能性がある
→ でも電話中なので確認しない</a:t>
            </a:r>
          </a:p>
        </p:txBody>
      </p:sp>
      <p:sp>
        <p:nvSpPr>
          <p:cNvPr id="22" name="Rectangle 21"/>
          <p:cNvSpPr/>
          <p:nvPr/>
        </p:nvSpPr>
        <p:spPr>
          <a:xfrm>
            <a:off x="7772400" y="3840480"/>
            <a:ext cx="64008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ブックマーク未登録の人（多数）</a:t>
            </a:r>
          </a:p>
        </p:txBody>
      </p:sp>
      <p:sp>
        <p:nvSpPr>
          <p:cNvPr id="23" name="Rectangle 22"/>
          <p:cNvSpPr/>
          <p:nvPr/>
        </p:nvSpPr>
        <p:spPr>
          <a:xfrm>
            <a:off x="7772400" y="4206240"/>
            <a:ext cx="6400800" cy="6400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普段から検索やメールリンクでアクセスしている
→ メールのボタンをクリックすることに抵抗がない
→ 攻撃にそのまま乗ってしまう</a:t>
            </a:r>
          </a:p>
        </p:txBody>
      </p:sp>
      <p:sp>
        <p:nvSpPr>
          <p:cNvPr id="24" name="Rectangle 23"/>
          <p:cNvSpPr/>
          <p:nvPr/>
        </p:nvSpPr>
        <p:spPr>
          <a:xfrm>
            <a:off x="731520" y="5074920"/>
            <a:ext cx="13624560" cy="4114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銀行がやるべきだったこと</a:t>
            </a:r>
          </a:p>
        </p:txBody>
      </p:sp>
      <p:sp>
        <p:nvSpPr>
          <p:cNvPr id="25" name="Rectangle 24"/>
          <p:cNvSpPr/>
          <p:nvPr/>
        </p:nvSpPr>
        <p:spPr>
          <a:xfrm>
            <a:off x="731520" y="5486400"/>
            <a:ext cx="5029200" cy="4114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① 契約時にブックマークを設定してあげる</a:t>
            </a:r>
          </a:p>
        </p:txBody>
      </p:sp>
      <p:sp>
        <p:nvSpPr>
          <p:cNvPr id="26" name="Rectangle 25"/>
          <p:cNvSpPr/>
          <p:nvPr/>
        </p:nvSpPr>
        <p:spPr>
          <a:xfrm>
            <a:off x="5760720" y="5486400"/>
            <a:ext cx="859536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窓口対応 or 初期設定ツールで銀行側が登録</a:t>
            </a:r>
          </a:p>
        </p:txBody>
      </p:sp>
      <p:sp>
        <p:nvSpPr>
          <p:cNvPr id="27" name="Rectangle 26"/>
          <p:cNvSpPr/>
          <p:nvPr/>
        </p:nvSpPr>
        <p:spPr>
          <a:xfrm>
            <a:off x="731520" y="5897880"/>
            <a:ext cx="5029200" cy="41148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② 公式アプリでしかアクセスできない仕組み</a:t>
            </a:r>
          </a:p>
        </p:txBody>
      </p:sp>
      <p:sp>
        <p:nvSpPr>
          <p:cNvPr id="28" name="Rectangle 27"/>
          <p:cNvSpPr/>
          <p:nvPr/>
        </p:nvSpPr>
        <p:spPr>
          <a:xfrm>
            <a:off x="5760720" y="5897880"/>
            <a:ext cx="859536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ブラウザ経由のアクセスを廃止</a:t>
            </a:r>
          </a:p>
        </p:txBody>
      </p:sp>
      <p:sp>
        <p:nvSpPr>
          <p:cNvPr id="29" name="Rectangle 28"/>
          <p:cNvSpPr/>
          <p:nvPr/>
        </p:nvSpPr>
        <p:spPr>
          <a:xfrm>
            <a:off x="731520" y="6309360"/>
            <a:ext cx="5029200" cy="4114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③ 専用クライアントに統一</a:t>
            </a:r>
          </a:p>
        </p:txBody>
      </p:sp>
      <p:sp>
        <p:nvSpPr>
          <p:cNvPr id="30" name="Rectangle 29"/>
          <p:cNvSpPr/>
          <p:nvPr/>
        </p:nvSpPr>
        <p:spPr>
          <a:xfrm>
            <a:off x="5760720" y="6309360"/>
            <a:ext cx="859536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ブラウザを使わせないことでフィッシング自体を不可能にする</a:t>
            </a:r>
          </a:p>
        </p:txBody>
      </p:sp>
      <p:sp>
        <p:nvSpPr>
          <p:cNvPr id="31" name="Rectangle 30"/>
          <p:cNvSpPr/>
          <p:nvPr/>
        </p:nvSpPr>
        <p:spPr>
          <a:xfrm>
            <a:off x="731520" y="6766560"/>
            <a:ext cx="1362456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「自分でブックマーク登録してね」では対策にならない — 銀行側がアクセス経路を制御すべき</a:t>
            </a:r>
          </a:p>
        </p:txBody>
      </p:sp>
      <p:sp>
        <p:nvSpPr>
          <p:cNvPr id="32" name="TextBox 31"/>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ブックマーク対策の限界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000" b="1">
                <a:solidFill>
                  <a:srgbClr val="C0392B"/>
                </a:solidFill>
                <a:latin typeface="Meiryo"/>
              </a:rPr>
              <a:t>手順⑥「不明な発行元」— 極めつけの証拠だが、本質的な防壁ではない</a:t>
            </a:r>
          </a:p>
        </p:txBody>
      </p:sp>
      <p:sp>
        <p:nvSpPr>
          <p:cNvPr id="3" name="TextBox 2"/>
          <p:cNvSpPr txBox="1"/>
          <p:nvPr/>
        </p:nvSpPr>
        <p:spPr>
          <a:xfrm>
            <a:off x="0" y="640080"/>
            <a:ext cx="15124176" cy="365760"/>
          </a:xfrm>
          <a:prstGeom prst="rect">
            <a:avLst/>
          </a:prstGeom>
          <a:noFill/>
        </p:spPr>
        <p:txBody>
          <a:bodyPr wrap="square" lIns="50800" rIns="50800" tIns="38100" bIns="38100"/>
          <a:lstStyle/>
          <a:p>
            <a:pPr algn="ctr"/>
            <a:r>
              <a:rPr sz="1100" b="0">
                <a:solidFill>
                  <a:srgbClr val="888888"/>
                </a:solidFill>
                <a:latin typeface="Meiryo"/>
              </a:rPr>
              <a:t>OSが画面に大きく警告。知識不要、誰でも読める。それでも突破され、犯人のレベルアップで消滅する。</a:t>
            </a:r>
          </a:p>
        </p:txBody>
      </p:sp>
      <p:sp>
        <p:nvSpPr>
          <p:cNvPr id="4" name="Rectangle 3"/>
          <p:cNvSpPr/>
          <p:nvPr/>
        </p:nvSpPr>
        <p:spPr>
          <a:xfrm>
            <a:off x="731520" y="105156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正規ソフト vs この攻撃の署名状態</a:t>
            </a:r>
          </a:p>
        </p:txBody>
      </p:sp>
      <p:sp>
        <p:nvSpPr>
          <p:cNvPr id="5" name="Rectangle 4"/>
          <p:cNvSpPr/>
          <p:nvPr/>
        </p:nvSpPr>
        <p:spPr>
          <a:xfrm>
            <a:off x="731520" y="1417319"/>
            <a:ext cx="32004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Rapport（IBM推奨）</a:t>
            </a:r>
          </a:p>
        </p:txBody>
      </p:sp>
      <p:sp>
        <p:nvSpPr>
          <p:cNvPr id="6" name="Rectangle 5"/>
          <p:cNvSpPr/>
          <p:nvPr/>
        </p:nvSpPr>
        <p:spPr>
          <a:xfrm>
            <a:off x="3931920" y="1417319"/>
            <a:ext cx="3657600" cy="4114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7AE60"/>
                </a:solidFill>
                <a:latin typeface="Meiryo"/>
              </a:rPr>
              <a:t>IBM Corporation ✅</a:t>
            </a:r>
          </a:p>
        </p:txBody>
      </p:sp>
      <p:sp>
        <p:nvSpPr>
          <p:cNvPr id="7" name="Rectangle 6"/>
          <p:cNvSpPr/>
          <p:nvPr/>
        </p:nvSpPr>
        <p:spPr>
          <a:xfrm>
            <a:off x="7589520" y="1417319"/>
            <a:ext cx="45720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信頼されたCAで署名済み</a:t>
            </a:r>
          </a:p>
        </p:txBody>
      </p:sp>
      <p:sp>
        <p:nvSpPr>
          <p:cNvPr id="8" name="Rectangle 7"/>
          <p:cNvSpPr/>
          <p:nvPr/>
        </p:nvSpPr>
        <p:spPr>
          <a:xfrm>
            <a:off x="731520" y="1828799"/>
            <a:ext cx="32004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PhishWall（SecureBrain）</a:t>
            </a:r>
          </a:p>
        </p:txBody>
      </p:sp>
      <p:sp>
        <p:nvSpPr>
          <p:cNvPr id="9" name="Rectangle 8"/>
          <p:cNvSpPr/>
          <p:nvPr/>
        </p:nvSpPr>
        <p:spPr>
          <a:xfrm>
            <a:off x="3931920" y="1828799"/>
            <a:ext cx="3657600" cy="41148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7AE60"/>
                </a:solidFill>
                <a:latin typeface="Meiryo"/>
              </a:rPr>
              <a:t>SecureBrain Corporation ✅</a:t>
            </a:r>
          </a:p>
        </p:txBody>
      </p:sp>
      <p:sp>
        <p:nvSpPr>
          <p:cNvPr id="10" name="Rectangle 9"/>
          <p:cNvSpPr/>
          <p:nvPr/>
        </p:nvSpPr>
        <p:spPr>
          <a:xfrm>
            <a:off x="7589520" y="1828799"/>
            <a:ext cx="45720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信頼されたCAで署名済み</a:t>
            </a:r>
          </a:p>
        </p:txBody>
      </p:sp>
      <p:sp>
        <p:nvSpPr>
          <p:cNvPr id="11" name="Rectangle 10"/>
          <p:cNvSpPr/>
          <p:nvPr/>
        </p:nvSpPr>
        <p:spPr>
          <a:xfrm>
            <a:off x="731520" y="2240279"/>
            <a:ext cx="32004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この攻撃のsetup.msi</a:t>
            </a:r>
          </a:p>
        </p:txBody>
      </p:sp>
      <p:sp>
        <p:nvSpPr>
          <p:cNvPr id="12" name="Rectangle 11"/>
          <p:cNvSpPr/>
          <p:nvPr/>
        </p:nvSpPr>
        <p:spPr>
          <a:xfrm>
            <a:off x="3931920" y="2240279"/>
            <a:ext cx="36576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不明 ❌</a:t>
            </a:r>
          </a:p>
        </p:txBody>
      </p:sp>
      <p:sp>
        <p:nvSpPr>
          <p:cNvPr id="13" name="Rectangle 12"/>
          <p:cNvSpPr/>
          <p:nvPr/>
        </p:nvSpPr>
        <p:spPr>
          <a:xfrm>
            <a:off x="7589520" y="2240279"/>
            <a:ext cx="45720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署名なし＝誰が作ったか不明</a:t>
            </a:r>
          </a:p>
        </p:txBody>
      </p:sp>
      <p:sp>
        <p:nvSpPr>
          <p:cNvPr id="14" name="Rectangle 13"/>
          <p:cNvSpPr/>
          <p:nvPr/>
        </p:nvSpPr>
        <p:spPr>
          <a:xfrm>
            <a:off x="731520" y="2743200"/>
            <a:ext cx="136245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なぜ「極めつけ」か — 他の破綻ポイントとの比較</a:t>
            </a:r>
          </a:p>
        </p:txBody>
      </p:sp>
      <p:sp>
        <p:nvSpPr>
          <p:cNvPr id="15" name="Rectangle 14"/>
          <p:cNvSpPr/>
          <p:nvPr/>
        </p:nvSpPr>
        <p:spPr>
          <a:xfrm>
            <a:off x="731520" y="3108960"/>
            <a:ext cx="2743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③ メアドを聞く</a:t>
            </a:r>
          </a:p>
        </p:txBody>
      </p:sp>
      <p:sp>
        <p:nvSpPr>
          <p:cNvPr id="16" name="Rectangle 15"/>
          <p:cNvSpPr/>
          <p:nvPr/>
        </p:nvSpPr>
        <p:spPr>
          <a:xfrm>
            <a:off x="3474720" y="3108960"/>
            <a:ext cx="77724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BizSTATIONの契約プロセスを知っている必要</a:t>
            </a:r>
          </a:p>
        </p:txBody>
      </p:sp>
      <p:sp>
        <p:nvSpPr>
          <p:cNvPr id="17" name="Rectangle 16"/>
          <p:cNvSpPr/>
          <p:nvPr/>
        </p:nvSpPr>
        <p:spPr>
          <a:xfrm>
            <a:off x="11247120" y="3108960"/>
            <a:ext cx="310896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0">
                <a:solidFill>
                  <a:srgbClr val="222222"/>
                </a:solidFill>
                <a:latin typeface="Meiryo"/>
              </a:rPr>
              <a:t>知識が必要</a:t>
            </a:r>
          </a:p>
        </p:txBody>
      </p:sp>
      <p:sp>
        <p:nvSpPr>
          <p:cNvPr id="18" name="Rectangle 17"/>
          <p:cNvSpPr/>
          <p:nvPr/>
        </p:nvSpPr>
        <p:spPr>
          <a:xfrm>
            <a:off x="731520" y="3493008"/>
            <a:ext cx="27432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④ 迷惑フォルダを見て</a:t>
            </a:r>
          </a:p>
        </p:txBody>
      </p:sp>
      <p:sp>
        <p:nvSpPr>
          <p:cNvPr id="19" name="Rectangle 18"/>
          <p:cNvSpPr/>
          <p:nvPr/>
        </p:nvSpPr>
        <p:spPr>
          <a:xfrm>
            <a:off x="3474720" y="3493008"/>
            <a:ext cx="77724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メール認証の仕組みを知っている必要</a:t>
            </a:r>
          </a:p>
        </p:txBody>
      </p:sp>
      <p:sp>
        <p:nvSpPr>
          <p:cNvPr id="20" name="Rectangle 19"/>
          <p:cNvSpPr/>
          <p:nvPr/>
        </p:nvSpPr>
        <p:spPr>
          <a:xfrm>
            <a:off x="11247120" y="3493008"/>
            <a:ext cx="3108960" cy="384048"/>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0">
                <a:solidFill>
                  <a:srgbClr val="222222"/>
                </a:solidFill>
                <a:latin typeface="Meiryo"/>
              </a:rPr>
              <a:t>知識が必要</a:t>
            </a:r>
          </a:p>
        </p:txBody>
      </p:sp>
      <p:sp>
        <p:nvSpPr>
          <p:cNvPr id="21" name="Rectangle 20"/>
          <p:cNvSpPr/>
          <p:nvPr/>
        </p:nvSpPr>
        <p:spPr>
          <a:xfrm>
            <a:off x="731520" y="3877056"/>
            <a:ext cx="2743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⑤ メールにURLリンク</a:t>
            </a:r>
          </a:p>
        </p:txBody>
      </p:sp>
      <p:sp>
        <p:nvSpPr>
          <p:cNvPr id="22" name="Rectangle 21"/>
          <p:cNvSpPr/>
          <p:nvPr/>
        </p:nvSpPr>
        <p:spPr>
          <a:xfrm>
            <a:off x="3474720" y="3877056"/>
            <a:ext cx="77724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金融庁の方針を知っている必要</a:t>
            </a:r>
          </a:p>
        </p:txBody>
      </p:sp>
      <p:sp>
        <p:nvSpPr>
          <p:cNvPr id="23" name="Rectangle 22"/>
          <p:cNvSpPr/>
          <p:nvPr/>
        </p:nvSpPr>
        <p:spPr>
          <a:xfrm>
            <a:off x="11247120" y="3877056"/>
            <a:ext cx="310896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0">
                <a:solidFill>
                  <a:srgbClr val="222222"/>
                </a:solidFill>
                <a:latin typeface="Meiryo"/>
              </a:rPr>
              <a:t>知識が必要</a:t>
            </a:r>
          </a:p>
        </p:txBody>
      </p:sp>
      <p:sp>
        <p:nvSpPr>
          <p:cNvPr id="24" name="Rectangle 23"/>
          <p:cNvSpPr/>
          <p:nvPr/>
        </p:nvSpPr>
        <p:spPr>
          <a:xfrm>
            <a:off x="731520" y="4261104"/>
            <a:ext cx="27432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⑥ 「不明な発行元」</a:t>
            </a:r>
          </a:p>
        </p:txBody>
      </p:sp>
      <p:sp>
        <p:nvSpPr>
          <p:cNvPr id="25" name="Rectangle 24"/>
          <p:cNvSpPr/>
          <p:nvPr/>
        </p:nvSpPr>
        <p:spPr>
          <a:xfrm>
            <a:off x="3474720" y="4261104"/>
            <a:ext cx="77724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画面に書いてある。知識不要。誰でも読める。</a:t>
            </a:r>
          </a:p>
        </p:txBody>
      </p:sp>
      <p:sp>
        <p:nvSpPr>
          <p:cNvPr id="26" name="Rectangle 25"/>
          <p:cNvSpPr/>
          <p:nvPr/>
        </p:nvSpPr>
        <p:spPr>
          <a:xfrm>
            <a:off x="11247120" y="4261104"/>
            <a:ext cx="310896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知識不要 ★</a:t>
            </a:r>
          </a:p>
        </p:txBody>
      </p:sp>
      <p:sp>
        <p:nvSpPr>
          <p:cNvPr id="27" name="Rectangle 26"/>
          <p:cNvSpPr/>
          <p:nvPr/>
        </p:nvSpPr>
        <p:spPr>
          <a:xfrm>
            <a:off x="731520" y="4754880"/>
            <a:ext cx="1362456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しかし犯人がレベルアップすれば「不明な発行元」は消せる</a:t>
            </a:r>
          </a:p>
        </p:txBody>
      </p:sp>
      <p:sp>
        <p:nvSpPr>
          <p:cNvPr id="28" name="Rectangle 27"/>
          <p:cNvSpPr/>
          <p:nvPr/>
        </p:nvSpPr>
        <p:spPr>
          <a:xfrm>
            <a:off x="731520" y="5120640"/>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証明書なし（現状）</a:t>
            </a:r>
          </a:p>
        </p:txBody>
      </p:sp>
      <p:sp>
        <p:nvSpPr>
          <p:cNvPr id="29" name="Rectangle 28"/>
          <p:cNvSpPr/>
          <p:nvPr/>
        </p:nvSpPr>
        <p:spPr>
          <a:xfrm>
            <a:off x="3931920" y="5120640"/>
            <a:ext cx="5029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「不明な発行元」</a:t>
            </a:r>
          </a:p>
        </p:txBody>
      </p:sp>
      <p:sp>
        <p:nvSpPr>
          <p:cNvPr id="30" name="Rectangle 29"/>
          <p:cNvSpPr/>
          <p:nvPr/>
        </p:nvSpPr>
        <p:spPr>
          <a:xfrm>
            <a:off x="8961120" y="5120640"/>
            <a:ext cx="18288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簡単</a:t>
            </a:r>
          </a:p>
        </p:txBody>
      </p:sp>
      <p:sp>
        <p:nvSpPr>
          <p:cNvPr id="31" name="Rectangle 30"/>
          <p:cNvSpPr/>
          <p:nvPr/>
        </p:nvSpPr>
        <p:spPr>
          <a:xfrm>
            <a:off x="731520" y="5486400"/>
            <a:ext cx="32004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自己署名証明書</a:t>
            </a:r>
          </a:p>
        </p:txBody>
      </p:sp>
      <p:sp>
        <p:nvSpPr>
          <p:cNvPr id="32" name="Rectangle 31"/>
          <p:cNvSpPr/>
          <p:nvPr/>
        </p:nvSpPr>
        <p:spPr>
          <a:xfrm>
            <a:off x="3931920" y="5486400"/>
            <a:ext cx="50292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「不明な発行元」のまま</a:t>
            </a:r>
          </a:p>
        </p:txBody>
      </p:sp>
      <p:sp>
        <p:nvSpPr>
          <p:cNvPr id="33" name="Rectangle 32"/>
          <p:cNvSpPr/>
          <p:nvPr/>
        </p:nvSpPr>
        <p:spPr>
          <a:xfrm>
            <a:off x="8961120" y="5486400"/>
            <a:ext cx="18288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簡単</a:t>
            </a:r>
          </a:p>
        </p:txBody>
      </p:sp>
      <p:sp>
        <p:nvSpPr>
          <p:cNvPr id="34" name="Rectangle 33"/>
          <p:cNvSpPr/>
          <p:nvPr/>
        </p:nvSpPr>
        <p:spPr>
          <a:xfrm>
            <a:off x="731520" y="5852160"/>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偽会社名でCA購入</a:t>
            </a:r>
          </a:p>
        </p:txBody>
      </p:sp>
      <p:sp>
        <p:nvSpPr>
          <p:cNvPr id="35" name="Rectangle 34"/>
          <p:cNvSpPr/>
          <p:nvPr/>
        </p:nvSpPr>
        <p:spPr>
          <a:xfrm>
            <a:off x="3931920" y="5852160"/>
            <a:ext cx="5029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「MUFGセキュリティ(株)」等が表示</a:t>
            </a:r>
          </a:p>
        </p:txBody>
      </p:sp>
      <p:sp>
        <p:nvSpPr>
          <p:cNvPr id="36" name="Rectangle 35"/>
          <p:cNvSpPr/>
          <p:nvPr/>
        </p:nvSpPr>
        <p:spPr>
          <a:xfrm>
            <a:off x="8961120" y="5852160"/>
            <a:ext cx="182880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中程度</a:t>
            </a:r>
          </a:p>
        </p:txBody>
      </p:sp>
      <p:sp>
        <p:nvSpPr>
          <p:cNvPr id="37" name="Rectangle 36"/>
          <p:cNvSpPr/>
          <p:nvPr/>
        </p:nvSpPr>
        <p:spPr>
          <a:xfrm>
            <a:off x="731520" y="6217920"/>
            <a:ext cx="32004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正規企業の証明書窃取</a:t>
            </a:r>
          </a:p>
        </p:txBody>
      </p:sp>
      <p:sp>
        <p:nvSpPr>
          <p:cNvPr id="38" name="Rectangle 37"/>
          <p:cNvSpPr/>
          <p:nvPr/>
        </p:nvSpPr>
        <p:spPr>
          <a:xfrm>
            <a:off x="3931920" y="6217920"/>
            <a:ext cx="50292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実在企業名が表示</a:t>
            </a:r>
          </a:p>
        </p:txBody>
      </p:sp>
      <p:sp>
        <p:nvSpPr>
          <p:cNvPr id="39" name="Rectangle 38"/>
          <p:cNvSpPr/>
          <p:nvPr/>
        </p:nvSpPr>
        <p:spPr>
          <a:xfrm>
            <a:off x="8961120" y="6217920"/>
            <a:ext cx="182880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高難度</a:t>
            </a:r>
          </a:p>
        </p:txBody>
      </p:sp>
      <p:sp>
        <p:nvSpPr>
          <p:cNvPr id="40" name="Rectangle 39"/>
          <p:cNvSpPr/>
          <p:nvPr/>
        </p:nvSpPr>
        <p:spPr>
          <a:xfrm>
            <a:off x="731520" y="6583680"/>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EV証明書を偽造取得</a:t>
            </a:r>
          </a:p>
        </p:txBody>
      </p:sp>
      <p:sp>
        <p:nvSpPr>
          <p:cNvPr id="41" name="Rectangle 40"/>
          <p:cNvSpPr/>
          <p:nvPr/>
        </p:nvSpPr>
        <p:spPr>
          <a:xfrm>
            <a:off x="3931920" y="6583680"/>
            <a:ext cx="5029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SmartScreen警告も消える</a:t>
            </a:r>
          </a:p>
        </p:txBody>
      </p:sp>
      <p:sp>
        <p:nvSpPr>
          <p:cNvPr id="42" name="Rectangle 41"/>
          <p:cNvSpPr/>
          <p:nvPr/>
        </p:nvSpPr>
        <p:spPr>
          <a:xfrm>
            <a:off x="8961120" y="6583680"/>
            <a:ext cx="18288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高難度</a:t>
            </a:r>
          </a:p>
        </p:txBody>
      </p:sp>
      <p:sp>
        <p:nvSpPr>
          <p:cNvPr id="43" name="Rectangle 42"/>
          <p:cNvSpPr/>
          <p:nvPr/>
        </p:nvSpPr>
        <p:spPr>
          <a:xfrm>
            <a:off x="731520" y="704088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確実な対策：ホワイトリスト型アプリ制御</a:t>
            </a:r>
          </a:p>
        </p:txBody>
      </p:sp>
      <p:sp>
        <p:nvSpPr>
          <p:cNvPr id="44" name="Rectangle 43"/>
          <p:cNvSpPr/>
          <p:nvPr/>
        </p:nvSpPr>
        <p:spPr>
          <a:xfrm>
            <a:off x="731520" y="7406640"/>
            <a:ext cx="41148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対策</a:t>
            </a:r>
          </a:p>
        </p:txBody>
      </p:sp>
      <p:sp>
        <p:nvSpPr>
          <p:cNvPr id="45" name="Rectangle 44"/>
          <p:cNvSpPr/>
          <p:nvPr/>
        </p:nvSpPr>
        <p:spPr>
          <a:xfrm>
            <a:off x="4846320" y="740664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未署名</a:t>
            </a:r>
          </a:p>
        </p:txBody>
      </p:sp>
      <p:sp>
        <p:nvSpPr>
          <p:cNvPr id="46" name="Rectangle 45"/>
          <p:cNvSpPr/>
          <p:nvPr/>
        </p:nvSpPr>
        <p:spPr>
          <a:xfrm>
            <a:off x="7863840" y="740664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偽証明書</a:t>
            </a:r>
          </a:p>
        </p:txBody>
      </p:sp>
      <p:sp>
        <p:nvSpPr>
          <p:cNvPr id="47" name="Rectangle 46"/>
          <p:cNvSpPr/>
          <p:nvPr/>
        </p:nvSpPr>
        <p:spPr>
          <a:xfrm>
            <a:off x="10881359" y="7406640"/>
            <a:ext cx="34747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窃取証明書</a:t>
            </a:r>
          </a:p>
        </p:txBody>
      </p:sp>
      <p:sp>
        <p:nvSpPr>
          <p:cNvPr id="48" name="Rectangle 47"/>
          <p:cNvSpPr/>
          <p:nvPr/>
        </p:nvSpPr>
        <p:spPr>
          <a:xfrm>
            <a:off x="731520" y="7772400"/>
            <a:ext cx="41148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「不明な発行元」に注意</a:t>
            </a:r>
          </a:p>
        </p:txBody>
      </p:sp>
      <p:sp>
        <p:nvSpPr>
          <p:cNvPr id="49" name="Rectangle 48"/>
          <p:cNvSpPr/>
          <p:nvPr/>
        </p:nvSpPr>
        <p:spPr>
          <a:xfrm>
            <a:off x="4846320" y="777240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気づける</a:t>
            </a:r>
          </a:p>
        </p:txBody>
      </p:sp>
      <p:sp>
        <p:nvSpPr>
          <p:cNvPr id="50" name="Rectangle 49"/>
          <p:cNvSpPr/>
          <p:nvPr/>
        </p:nvSpPr>
        <p:spPr>
          <a:xfrm>
            <a:off x="7863840" y="777240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突破される</a:t>
            </a:r>
          </a:p>
        </p:txBody>
      </p:sp>
      <p:sp>
        <p:nvSpPr>
          <p:cNvPr id="51" name="Rectangle 50"/>
          <p:cNvSpPr/>
          <p:nvPr/>
        </p:nvSpPr>
        <p:spPr>
          <a:xfrm>
            <a:off x="10881359" y="7772400"/>
            <a:ext cx="34747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突破される</a:t>
            </a:r>
          </a:p>
        </p:txBody>
      </p:sp>
      <p:sp>
        <p:nvSpPr>
          <p:cNvPr id="52" name="Rectangle 51"/>
          <p:cNvSpPr/>
          <p:nvPr/>
        </p:nvSpPr>
        <p:spPr>
          <a:xfrm>
            <a:off x="731520" y="8138160"/>
            <a:ext cx="41148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AppLocker / WDAC ★</a:t>
            </a:r>
          </a:p>
        </p:txBody>
      </p:sp>
      <p:sp>
        <p:nvSpPr>
          <p:cNvPr id="53" name="Rectangle 52"/>
          <p:cNvSpPr/>
          <p:nvPr/>
        </p:nvSpPr>
        <p:spPr>
          <a:xfrm>
            <a:off x="4846320" y="813816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止まる</a:t>
            </a:r>
          </a:p>
        </p:txBody>
      </p:sp>
      <p:sp>
        <p:nvSpPr>
          <p:cNvPr id="54" name="Rectangle 53"/>
          <p:cNvSpPr/>
          <p:nvPr/>
        </p:nvSpPr>
        <p:spPr>
          <a:xfrm>
            <a:off x="7863840" y="813816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止まる</a:t>
            </a:r>
          </a:p>
        </p:txBody>
      </p:sp>
      <p:sp>
        <p:nvSpPr>
          <p:cNvPr id="55" name="Rectangle 54"/>
          <p:cNvSpPr/>
          <p:nvPr/>
        </p:nvSpPr>
        <p:spPr>
          <a:xfrm>
            <a:off x="10881359" y="8138160"/>
            <a:ext cx="34747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止まる</a:t>
            </a:r>
          </a:p>
        </p:txBody>
      </p:sp>
      <p:sp>
        <p:nvSpPr>
          <p:cNvPr id="56" name="Rectangle 55"/>
          <p:cNvSpPr/>
          <p:nvPr/>
        </p:nvSpPr>
        <p:spPr>
          <a:xfrm>
            <a:off x="731520" y="8641080"/>
            <a:ext cx="1362456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証明書ベースの防御は犯人のレベル次第で突破される。ホワイトリスト型アプリ制御（AppLocker/WDAC）が唯一の確実な対策。</a:t>
            </a:r>
          </a:p>
        </p:txBody>
      </p:sp>
      <p:sp>
        <p:nvSpPr>
          <p:cNvPr id="57" name="TextBox 56"/>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手順⑥「不明な発行元」とアプリ制御</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000" b="1">
                <a:solidFill>
                  <a:srgbClr val="27AE60"/>
                </a:solidFill>
                <a:latin typeface="Meiryo"/>
              </a:rPr>
              <a:t>ホワイトリスト型アプリ制御 — Windowsに標準搭載、追加コストゼロ</a:t>
            </a:r>
          </a:p>
        </p:txBody>
      </p:sp>
      <p:sp>
        <p:nvSpPr>
          <p:cNvPr id="3" name="TextBox 2"/>
          <p:cNvSpPr txBox="1"/>
          <p:nvPr/>
        </p:nvSpPr>
        <p:spPr>
          <a:xfrm>
            <a:off x="0" y="640080"/>
            <a:ext cx="15124176" cy="365760"/>
          </a:xfrm>
          <a:prstGeom prst="rect">
            <a:avLst/>
          </a:prstGeom>
          <a:noFill/>
        </p:spPr>
        <p:txBody>
          <a:bodyPr wrap="square" lIns="50800" rIns="50800" tIns="38100" bIns="38100"/>
          <a:lstStyle/>
          <a:p>
            <a:pPr algn="ctr"/>
            <a:r>
              <a:rPr sz="1100" b="0">
                <a:solidFill>
                  <a:srgbClr val="888888"/>
                </a:solidFill>
                <a:latin typeface="Meiryo"/>
              </a:rPr>
              <a:t>DMARCと同じ構図：使えるのに使っていない。設定するだけで手順⑥を確実に止められる。</a:t>
            </a:r>
          </a:p>
        </p:txBody>
      </p:sp>
      <p:sp>
        <p:nvSpPr>
          <p:cNvPr id="4" name="Rectangle 3"/>
          <p:cNvSpPr/>
          <p:nvPr/>
        </p:nvSpPr>
        <p:spPr>
          <a:xfrm>
            <a:off x="731520" y="1051560"/>
            <a:ext cx="658368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ブラックリスト型（従来のアンチウイルス）</a:t>
            </a:r>
          </a:p>
        </p:txBody>
      </p:sp>
      <p:sp>
        <p:nvSpPr>
          <p:cNvPr id="5" name="Rectangle 4"/>
          <p:cNvSpPr/>
          <p:nvPr/>
        </p:nvSpPr>
        <p:spPr>
          <a:xfrm>
            <a:off x="731520" y="1463039"/>
            <a:ext cx="6583680" cy="73152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「既知の悪いもの」をブロック
→ 未知の攻撃は素通り
→ ScreenConnectは正規ツール → ブロックされない</a:t>
            </a:r>
          </a:p>
        </p:txBody>
      </p:sp>
      <p:sp>
        <p:nvSpPr>
          <p:cNvPr id="6" name="Rectangle 5"/>
          <p:cNvSpPr/>
          <p:nvPr/>
        </p:nvSpPr>
        <p:spPr>
          <a:xfrm>
            <a:off x="7772400" y="1051560"/>
            <a:ext cx="6400800" cy="4114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ホワイトリスト型（AppLocker / WDAC）</a:t>
            </a:r>
          </a:p>
        </p:txBody>
      </p:sp>
      <p:sp>
        <p:nvSpPr>
          <p:cNvPr id="7" name="Rectangle 6"/>
          <p:cNvSpPr/>
          <p:nvPr/>
        </p:nvSpPr>
        <p:spPr>
          <a:xfrm>
            <a:off x="7772400" y="1463039"/>
            <a:ext cx="6400800" cy="73152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「許可されたものだけ」実行可能
→ 許可リストにないものは全部止まる
→ ScreenConnectが許可リストにない → 実行できない</a:t>
            </a:r>
          </a:p>
        </p:txBody>
      </p:sp>
      <p:sp>
        <p:nvSpPr>
          <p:cNvPr id="8" name="Rectangle 7"/>
          <p:cNvSpPr/>
          <p:nvPr/>
        </p:nvSpPr>
        <p:spPr>
          <a:xfrm>
            <a:off x="731520" y="242316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Windowsに標準搭載されているツール</a:t>
            </a:r>
          </a:p>
        </p:txBody>
      </p:sp>
      <p:sp>
        <p:nvSpPr>
          <p:cNvPr id="9" name="Rectangle 8"/>
          <p:cNvSpPr/>
          <p:nvPr/>
        </p:nvSpPr>
        <p:spPr>
          <a:xfrm>
            <a:off x="731520" y="2788920"/>
            <a:ext cx="18288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ツール</a:t>
            </a:r>
          </a:p>
        </p:txBody>
      </p:sp>
      <p:sp>
        <p:nvSpPr>
          <p:cNvPr id="10" name="Rectangle 9"/>
          <p:cNvSpPr/>
          <p:nvPr/>
        </p:nvSpPr>
        <p:spPr>
          <a:xfrm>
            <a:off x="2560320" y="2788920"/>
            <a:ext cx="16459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提供元</a:t>
            </a:r>
          </a:p>
        </p:txBody>
      </p:sp>
      <p:sp>
        <p:nvSpPr>
          <p:cNvPr id="11" name="Rectangle 10"/>
          <p:cNvSpPr/>
          <p:nvPr/>
        </p:nvSpPr>
        <p:spPr>
          <a:xfrm>
            <a:off x="4206240" y="2788920"/>
            <a:ext cx="34747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対象OS</a:t>
            </a:r>
          </a:p>
        </p:txBody>
      </p:sp>
      <p:sp>
        <p:nvSpPr>
          <p:cNvPr id="12" name="Rectangle 11"/>
          <p:cNvSpPr/>
          <p:nvPr/>
        </p:nvSpPr>
        <p:spPr>
          <a:xfrm>
            <a:off x="7680959" y="2788920"/>
            <a:ext cx="36576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制御範囲</a:t>
            </a:r>
          </a:p>
        </p:txBody>
      </p:sp>
      <p:sp>
        <p:nvSpPr>
          <p:cNvPr id="13" name="Rectangle 12"/>
          <p:cNvSpPr/>
          <p:nvPr/>
        </p:nvSpPr>
        <p:spPr>
          <a:xfrm>
            <a:off x="11338559" y="278892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設定方法</a:t>
            </a:r>
          </a:p>
        </p:txBody>
      </p:sp>
      <p:sp>
        <p:nvSpPr>
          <p:cNvPr id="14" name="Rectangle 13"/>
          <p:cNvSpPr/>
          <p:nvPr/>
        </p:nvSpPr>
        <p:spPr>
          <a:xfrm>
            <a:off x="731520" y="3154680"/>
            <a:ext cx="1828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AppLocker</a:t>
            </a:r>
          </a:p>
        </p:txBody>
      </p:sp>
      <p:sp>
        <p:nvSpPr>
          <p:cNvPr id="15" name="Rectangle 14"/>
          <p:cNvSpPr/>
          <p:nvPr/>
        </p:nvSpPr>
        <p:spPr>
          <a:xfrm>
            <a:off x="2560320" y="3154680"/>
            <a:ext cx="16459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Microsoft</a:t>
            </a:r>
          </a:p>
        </p:txBody>
      </p:sp>
      <p:sp>
        <p:nvSpPr>
          <p:cNvPr id="16" name="Rectangle 15"/>
          <p:cNvSpPr/>
          <p:nvPr/>
        </p:nvSpPr>
        <p:spPr>
          <a:xfrm>
            <a:off x="4206240" y="3154680"/>
            <a:ext cx="34747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Windows 10/11 Enterprise / Education</a:t>
            </a:r>
          </a:p>
        </p:txBody>
      </p:sp>
      <p:sp>
        <p:nvSpPr>
          <p:cNvPr id="17" name="Rectangle 16"/>
          <p:cNvSpPr/>
          <p:nvPr/>
        </p:nvSpPr>
        <p:spPr>
          <a:xfrm>
            <a:off x="7680959" y="3154680"/>
            <a:ext cx="36576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exe, msi, スクリプト, DLL</a:t>
            </a:r>
          </a:p>
        </p:txBody>
      </p:sp>
      <p:sp>
        <p:nvSpPr>
          <p:cNvPr id="18" name="Rectangle 17"/>
          <p:cNvSpPr/>
          <p:nvPr/>
        </p:nvSpPr>
        <p:spPr>
          <a:xfrm>
            <a:off x="11338559" y="3154680"/>
            <a:ext cx="30175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グループポリシーで設定</a:t>
            </a:r>
          </a:p>
        </p:txBody>
      </p:sp>
      <p:sp>
        <p:nvSpPr>
          <p:cNvPr id="19" name="Rectangle 18"/>
          <p:cNvSpPr/>
          <p:nvPr/>
        </p:nvSpPr>
        <p:spPr>
          <a:xfrm>
            <a:off x="731520" y="3566160"/>
            <a:ext cx="18288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WDAC</a:t>
            </a:r>
          </a:p>
        </p:txBody>
      </p:sp>
      <p:sp>
        <p:nvSpPr>
          <p:cNvPr id="20" name="Rectangle 19"/>
          <p:cNvSpPr/>
          <p:nvPr/>
        </p:nvSpPr>
        <p:spPr>
          <a:xfrm>
            <a:off x="2560320" y="3566160"/>
            <a:ext cx="164592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Microsoft</a:t>
            </a:r>
          </a:p>
        </p:txBody>
      </p:sp>
      <p:sp>
        <p:nvSpPr>
          <p:cNvPr id="21" name="Rectangle 20"/>
          <p:cNvSpPr/>
          <p:nvPr/>
        </p:nvSpPr>
        <p:spPr>
          <a:xfrm>
            <a:off x="4206240" y="3566160"/>
            <a:ext cx="347472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Windows 10/11 全エディション</a:t>
            </a:r>
          </a:p>
        </p:txBody>
      </p:sp>
      <p:sp>
        <p:nvSpPr>
          <p:cNvPr id="22" name="Rectangle 21"/>
          <p:cNvSpPr/>
          <p:nvPr/>
        </p:nvSpPr>
        <p:spPr>
          <a:xfrm>
            <a:off x="7680959" y="3566160"/>
            <a:ext cx="36576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カーネルレベルで制御（より強力）</a:t>
            </a:r>
          </a:p>
        </p:txBody>
      </p:sp>
      <p:sp>
        <p:nvSpPr>
          <p:cNvPr id="23" name="Rectangle 22"/>
          <p:cNvSpPr/>
          <p:nvPr/>
        </p:nvSpPr>
        <p:spPr>
          <a:xfrm>
            <a:off x="11338559" y="3566160"/>
            <a:ext cx="301752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PowerShell / Intune等</a:t>
            </a:r>
          </a:p>
        </p:txBody>
      </p:sp>
      <p:sp>
        <p:nvSpPr>
          <p:cNvPr id="24" name="Rectangle 23"/>
          <p:cNvSpPr/>
          <p:nvPr/>
        </p:nvSpPr>
        <p:spPr>
          <a:xfrm>
            <a:off x="731520" y="3977640"/>
            <a:ext cx="1828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MDM連携</a:t>
            </a:r>
          </a:p>
        </p:txBody>
      </p:sp>
      <p:sp>
        <p:nvSpPr>
          <p:cNvPr id="25" name="Rectangle 24"/>
          <p:cNvSpPr/>
          <p:nvPr/>
        </p:nvSpPr>
        <p:spPr>
          <a:xfrm>
            <a:off x="2560320" y="3977640"/>
            <a:ext cx="16459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Intune等</a:t>
            </a:r>
          </a:p>
        </p:txBody>
      </p:sp>
      <p:sp>
        <p:nvSpPr>
          <p:cNvPr id="26" name="Rectangle 25"/>
          <p:cNvSpPr/>
          <p:nvPr/>
        </p:nvSpPr>
        <p:spPr>
          <a:xfrm>
            <a:off x="4206240" y="3977640"/>
            <a:ext cx="34747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全エディション（Intune契約時）</a:t>
            </a:r>
          </a:p>
        </p:txBody>
      </p:sp>
      <p:sp>
        <p:nvSpPr>
          <p:cNvPr id="27" name="Rectangle 26"/>
          <p:cNvSpPr/>
          <p:nvPr/>
        </p:nvSpPr>
        <p:spPr>
          <a:xfrm>
            <a:off x="7680959" y="3977640"/>
            <a:ext cx="36576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アプリ配布・制御を一元管理</a:t>
            </a:r>
          </a:p>
        </p:txBody>
      </p:sp>
      <p:sp>
        <p:nvSpPr>
          <p:cNvPr id="28" name="Rectangle 27"/>
          <p:cNvSpPr/>
          <p:nvPr/>
        </p:nvSpPr>
        <p:spPr>
          <a:xfrm>
            <a:off x="11338559" y="3977640"/>
            <a:ext cx="30175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クラウドから配信</a:t>
            </a:r>
          </a:p>
        </p:txBody>
      </p:sp>
      <p:sp>
        <p:nvSpPr>
          <p:cNvPr id="29" name="Rectangle 28"/>
          <p:cNvSpPr/>
          <p:nvPr/>
        </p:nvSpPr>
        <p:spPr>
          <a:xfrm>
            <a:off x="731520" y="4480560"/>
            <a:ext cx="1362456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この攻撃に対する効果</a:t>
            </a:r>
          </a:p>
        </p:txBody>
      </p:sp>
      <p:sp>
        <p:nvSpPr>
          <p:cNvPr id="30" name="Rectangle 29"/>
          <p:cNvSpPr/>
          <p:nvPr/>
        </p:nvSpPr>
        <p:spPr>
          <a:xfrm>
            <a:off x="731520" y="4937760"/>
            <a:ext cx="6583680" cy="3200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AppLocker許可リスト（設定例）</a:t>
            </a:r>
          </a:p>
        </p:txBody>
      </p:sp>
      <p:sp>
        <p:nvSpPr>
          <p:cNvPr id="31" name="Rectangle 30"/>
          <p:cNvSpPr/>
          <p:nvPr/>
        </p:nvSpPr>
        <p:spPr>
          <a:xfrm>
            <a:off x="731520" y="525780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7AE60"/>
                </a:solidFill>
                <a:latin typeface="Meiryo"/>
              </a:rPr>
              <a:t>✅ Microsoft Office</a:t>
            </a:r>
          </a:p>
        </p:txBody>
      </p:sp>
      <p:sp>
        <p:nvSpPr>
          <p:cNvPr id="32" name="Rectangle 31"/>
          <p:cNvSpPr/>
          <p:nvPr/>
        </p:nvSpPr>
        <p:spPr>
          <a:xfrm>
            <a:off x="731520" y="553212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7AE60"/>
                </a:solidFill>
                <a:latin typeface="Meiryo"/>
              </a:rPr>
              <a:t>✅ 業務アプリA, B, C</a:t>
            </a:r>
          </a:p>
        </p:txBody>
      </p:sp>
      <p:sp>
        <p:nvSpPr>
          <p:cNvPr id="33" name="Rectangle 32"/>
          <p:cNvSpPr/>
          <p:nvPr/>
        </p:nvSpPr>
        <p:spPr>
          <a:xfrm>
            <a:off x="731520" y="580644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7AE60"/>
                </a:solidFill>
                <a:latin typeface="Meiryo"/>
              </a:rPr>
              <a:t>✅ Rapport（IBM署名）</a:t>
            </a:r>
          </a:p>
        </p:txBody>
      </p:sp>
      <p:sp>
        <p:nvSpPr>
          <p:cNvPr id="34" name="Rectangle 33"/>
          <p:cNvSpPr/>
          <p:nvPr/>
        </p:nvSpPr>
        <p:spPr>
          <a:xfrm>
            <a:off x="731520" y="6080760"/>
            <a:ext cx="658368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C0392B"/>
                </a:solidFill>
                <a:latin typeface="Meiryo"/>
              </a:rPr>
              <a:t>❌ それ以外すべて → 実行拒否</a:t>
            </a:r>
          </a:p>
        </p:txBody>
      </p:sp>
      <p:sp>
        <p:nvSpPr>
          <p:cNvPr id="35" name="Rectangle 34"/>
          <p:cNvSpPr/>
          <p:nvPr/>
        </p:nvSpPr>
        <p:spPr>
          <a:xfrm>
            <a:off x="7772400" y="4937760"/>
            <a:ext cx="6400800" cy="3200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攻撃時の流れ</a:t>
            </a:r>
          </a:p>
        </p:txBody>
      </p:sp>
      <p:sp>
        <p:nvSpPr>
          <p:cNvPr id="36" name="Rectangle 35"/>
          <p:cNvSpPr/>
          <p:nvPr/>
        </p:nvSpPr>
        <p:spPr>
          <a:xfrm>
            <a:off x="7772400" y="5257800"/>
            <a:ext cx="6400800" cy="32004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犯人「実行するをクリックしてください」</a:t>
            </a:r>
          </a:p>
        </p:txBody>
      </p:sp>
      <p:sp>
        <p:nvSpPr>
          <p:cNvPr id="37" name="Rectangle 36"/>
          <p:cNvSpPr/>
          <p:nvPr/>
        </p:nvSpPr>
        <p:spPr>
          <a:xfrm>
            <a:off x="7772400" y="5605272"/>
            <a:ext cx="640080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被害者がクリック</a:t>
            </a:r>
          </a:p>
        </p:txBody>
      </p:sp>
      <p:sp>
        <p:nvSpPr>
          <p:cNvPr id="38" name="Rectangle 37"/>
          <p:cNvSpPr/>
          <p:nvPr/>
        </p:nvSpPr>
        <p:spPr>
          <a:xfrm>
            <a:off x="7772400" y="5952744"/>
            <a:ext cx="6400800" cy="320040"/>
          </a:xfrm>
          <a:prstGeom prst="rect">
            <a:avLst/>
          </a:prstGeom>
          <a:solidFill>
            <a:srgbClr val="27AE6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FFFFFF"/>
                </a:solidFill>
                <a:latin typeface="Meiryo"/>
              </a:rPr>
              <a:t>OS「このアプリは組織のポリシーにより実行できません」</a:t>
            </a:r>
          </a:p>
        </p:txBody>
      </p:sp>
      <p:sp>
        <p:nvSpPr>
          <p:cNvPr id="39" name="Rectangle 38"/>
          <p:cNvSpPr/>
          <p:nvPr/>
        </p:nvSpPr>
        <p:spPr>
          <a:xfrm>
            <a:off x="7772400" y="6300216"/>
            <a:ext cx="6400800" cy="320040"/>
          </a:xfrm>
          <a:prstGeom prst="rect">
            <a:avLst/>
          </a:prstGeom>
          <a:solidFill>
            <a:srgbClr val="222222"/>
          </a:solidFill>
          <a:ln w="25400">
            <a:solidFill>
              <a:srgbClr val="2222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FFFFFF"/>
                </a:solidFill>
                <a:latin typeface="Meiryo"/>
              </a:rPr>
              <a:t>犯人が何を言っても突破不可能 ★</a:t>
            </a:r>
          </a:p>
        </p:txBody>
      </p:sp>
      <p:sp>
        <p:nvSpPr>
          <p:cNvPr id="40" name="Rectangle 39"/>
          <p:cNvSpPr/>
          <p:nvPr/>
        </p:nvSpPr>
        <p:spPr>
          <a:xfrm>
            <a:off x="731520" y="6766560"/>
            <a:ext cx="4480560" cy="7772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1" name="TextBox 40"/>
          <p:cNvSpPr txBox="1"/>
          <p:nvPr/>
        </p:nvSpPr>
        <p:spPr>
          <a:xfrm>
            <a:off x="914400" y="6812280"/>
            <a:ext cx="4114800" cy="685800"/>
          </a:xfrm>
          <a:prstGeom prst="rect">
            <a:avLst/>
          </a:prstGeom>
          <a:noFill/>
        </p:spPr>
        <p:txBody>
          <a:bodyPr wrap="square" lIns="50800" rIns="50800" tIns="38100" bIns="38100"/>
          <a:lstStyle/>
          <a:p>
            <a:pPr algn="l"/>
            <a:r>
              <a:rPr sz="1200" b="1">
                <a:solidFill>
                  <a:srgbClr val="FFFFFF"/>
                </a:solidFill>
                <a:latin typeface="Meiryo"/>
              </a:rPr>
              <a:t>追加コスト：ゼロ
追加ソフト：不要
必要な作業：ポリシー設定のみ</a:t>
            </a:r>
          </a:p>
        </p:txBody>
      </p:sp>
      <p:sp>
        <p:nvSpPr>
          <p:cNvPr id="42" name="Rectangle 41"/>
          <p:cNvSpPr/>
          <p:nvPr/>
        </p:nvSpPr>
        <p:spPr>
          <a:xfrm>
            <a:off x="5486400" y="6766560"/>
            <a:ext cx="4572000" cy="7772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3" name="TextBox 42"/>
          <p:cNvSpPr txBox="1"/>
          <p:nvPr/>
        </p:nvSpPr>
        <p:spPr>
          <a:xfrm>
            <a:off x="5669280" y="6812280"/>
            <a:ext cx="4206240" cy="685800"/>
          </a:xfrm>
          <a:prstGeom prst="rect">
            <a:avLst/>
          </a:prstGeom>
          <a:noFill/>
        </p:spPr>
        <p:txBody>
          <a:bodyPr wrap="square" lIns="50800" rIns="50800" tIns="38100" bIns="38100"/>
          <a:lstStyle/>
          <a:p>
            <a:pPr algn="l"/>
            <a:r>
              <a:rPr sz="1200" b="1">
                <a:solidFill>
                  <a:srgbClr val="FFFFFF"/>
                </a:solidFill>
                <a:latin typeface="Meiryo"/>
              </a:rPr>
              <a:t>電話で回避できない
管理者権限がないと
ポリシー変更できない</a:t>
            </a:r>
          </a:p>
        </p:txBody>
      </p:sp>
      <p:sp>
        <p:nvSpPr>
          <p:cNvPr id="44" name="Rectangle 43"/>
          <p:cNvSpPr/>
          <p:nvPr/>
        </p:nvSpPr>
        <p:spPr>
          <a:xfrm>
            <a:off x="10332720" y="6766560"/>
            <a:ext cx="4023360" cy="7772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5" name="TextBox 44"/>
          <p:cNvSpPr txBox="1"/>
          <p:nvPr/>
        </p:nvSpPr>
        <p:spPr>
          <a:xfrm>
            <a:off x="10515600" y="6812280"/>
            <a:ext cx="3657600" cy="685800"/>
          </a:xfrm>
          <a:prstGeom prst="rect">
            <a:avLst/>
          </a:prstGeom>
          <a:noFill/>
        </p:spPr>
        <p:txBody>
          <a:bodyPr wrap="square" lIns="50800" rIns="50800" tIns="38100" bIns="38100"/>
          <a:lstStyle/>
          <a:p>
            <a:pPr algn="l"/>
            <a:r>
              <a:rPr sz="1200" b="1">
                <a:solidFill>
                  <a:srgbClr val="FFFFFF"/>
                </a:solidFill>
                <a:latin typeface="Meiryo"/>
              </a:rPr>
              <a:t>DMARCと並ぶ
2つ目の確実な
技術的対策</a:t>
            </a:r>
          </a:p>
        </p:txBody>
      </p:sp>
      <p:sp>
        <p:nvSpPr>
          <p:cNvPr id="46" name="Rectangle 45"/>
          <p:cNvSpPr/>
          <p:nvPr/>
        </p:nvSpPr>
        <p:spPr>
          <a:xfrm>
            <a:off x="731520" y="7772400"/>
            <a:ext cx="1362456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Kill Chainを技術的に切れるポイント：④ DMARC p=reject（メール遮断）＋ ⑥ AppLocker/WDAC（実行阻止）— どちらも標準搭載・追加コストゼロ</a:t>
            </a:r>
          </a:p>
        </p:txBody>
      </p:sp>
      <p:sp>
        <p:nvSpPr>
          <p:cNvPr id="47" name="TextBox 46"/>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ホワイトリスト型アプリ制御</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C0392B"/>
                </a:solidFill>
                <a:latin typeface="Meiryo"/>
              </a:rPr>
              <a:t>「顧客の問題」にしている限り、この攻撃は止まらない</a:t>
            </a:r>
          </a:p>
        </p:txBody>
      </p:sp>
      <p:sp>
        <p:nvSpPr>
          <p:cNvPr id="3" name="TextBox 2"/>
          <p:cNvSpPr txBox="1"/>
          <p:nvPr/>
        </p:nvSpPr>
        <p:spPr>
          <a:xfrm>
            <a:off x="0" y="640080"/>
            <a:ext cx="15124176" cy="365760"/>
          </a:xfrm>
          <a:prstGeom prst="rect">
            <a:avLst/>
          </a:prstGeom>
          <a:noFill/>
        </p:spPr>
        <p:txBody>
          <a:bodyPr wrap="square" lIns="50800" rIns="50800" tIns="38100" bIns="38100"/>
          <a:lstStyle/>
          <a:p>
            <a:pPr algn="ctr"/>
            <a:r>
              <a:rPr sz="1100" b="0">
                <a:solidFill>
                  <a:srgbClr val="888888"/>
                </a:solidFill>
                <a:latin typeface="Meiryo"/>
              </a:rPr>
              <a:t>全ての対策が「顧客にやってね」で丸投げされている。DMARCも AppLockerも同じ構図。</a:t>
            </a:r>
          </a:p>
        </p:txBody>
      </p:sp>
      <p:sp>
        <p:nvSpPr>
          <p:cNvPr id="4" name="Rectangle 3"/>
          <p:cNvSpPr/>
          <p:nvPr/>
        </p:nvSpPr>
        <p:spPr>
          <a:xfrm>
            <a:off x="731520" y="105156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対策の責任はどこにあるか？</a:t>
            </a:r>
          </a:p>
        </p:txBody>
      </p:sp>
      <p:sp>
        <p:nvSpPr>
          <p:cNvPr id="5" name="Rectangle 4"/>
          <p:cNvSpPr/>
          <p:nvPr/>
        </p:nvSpPr>
        <p:spPr>
          <a:xfrm>
            <a:off x="731520" y="1463039"/>
            <a:ext cx="27432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対策</a:t>
            </a:r>
          </a:p>
        </p:txBody>
      </p:sp>
      <p:sp>
        <p:nvSpPr>
          <p:cNvPr id="6" name="Rectangle 5"/>
          <p:cNvSpPr/>
          <p:nvPr/>
        </p:nvSpPr>
        <p:spPr>
          <a:xfrm>
            <a:off x="3474720" y="1463039"/>
            <a:ext cx="27432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設定する場所</a:t>
            </a:r>
          </a:p>
        </p:txBody>
      </p:sp>
      <p:sp>
        <p:nvSpPr>
          <p:cNvPr id="7" name="Rectangle 6"/>
          <p:cNvSpPr/>
          <p:nvPr/>
        </p:nvSpPr>
        <p:spPr>
          <a:xfrm>
            <a:off x="6217920" y="1463039"/>
            <a:ext cx="27432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設定する人</a:t>
            </a:r>
          </a:p>
        </p:txBody>
      </p:sp>
      <p:sp>
        <p:nvSpPr>
          <p:cNvPr id="8" name="Rectangle 7"/>
          <p:cNvSpPr/>
          <p:nvPr/>
        </p:nvSpPr>
        <p:spPr>
          <a:xfrm>
            <a:off x="8961120" y="1463039"/>
            <a:ext cx="539496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責任</a:t>
            </a:r>
          </a:p>
        </p:txBody>
      </p:sp>
      <p:sp>
        <p:nvSpPr>
          <p:cNvPr id="9" name="Rectangle 8"/>
          <p:cNvSpPr/>
          <p:nvPr/>
        </p:nvSpPr>
        <p:spPr>
          <a:xfrm>
            <a:off x="731520" y="1828800"/>
            <a:ext cx="2743200" cy="411480"/>
          </a:xfrm>
          <a:prstGeom prst="rect">
            <a:avLst/>
          </a:prstGeom>
          <a:solidFill>
            <a:srgbClr val="FFFF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DMARC p=reject</a:t>
            </a:r>
          </a:p>
        </p:txBody>
      </p:sp>
      <p:sp>
        <p:nvSpPr>
          <p:cNvPr id="10" name="Rectangle 9"/>
          <p:cNvSpPr/>
          <p:nvPr/>
        </p:nvSpPr>
        <p:spPr>
          <a:xfrm>
            <a:off x="3474720" y="1828800"/>
            <a:ext cx="27432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銀行のメールサーバ</a:t>
            </a:r>
          </a:p>
        </p:txBody>
      </p:sp>
      <p:sp>
        <p:nvSpPr>
          <p:cNvPr id="11" name="Rectangle 10"/>
          <p:cNvSpPr/>
          <p:nvPr/>
        </p:nvSpPr>
        <p:spPr>
          <a:xfrm>
            <a:off x="6217920" y="1828800"/>
            <a:ext cx="27432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銀行のIT部門</a:t>
            </a:r>
          </a:p>
        </p:txBody>
      </p:sp>
      <p:sp>
        <p:nvSpPr>
          <p:cNvPr id="12" name="Rectangle 11"/>
          <p:cNvSpPr/>
          <p:nvPr/>
        </p:nvSpPr>
        <p:spPr>
          <a:xfrm>
            <a:off x="8961120" y="1828800"/>
            <a:ext cx="5394960" cy="411480"/>
          </a:xfrm>
          <a:prstGeom prst="rect">
            <a:avLst/>
          </a:prstGeom>
          <a:solidFill>
            <a:srgbClr val="FFFF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100%銀行側の問題。顧客は何もできない。</a:t>
            </a:r>
          </a:p>
        </p:txBody>
      </p:sp>
      <p:sp>
        <p:nvSpPr>
          <p:cNvPr id="13" name="Rectangle 12"/>
          <p:cNvSpPr/>
          <p:nvPr/>
        </p:nvSpPr>
        <p:spPr>
          <a:xfrm>
            <a:off x="731520" y="2240280"/>
            <a:ext cx="2743200" cy="41148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AppLocker/WDAC</a:t>
            </a:r>
          </a:p>
        </p:txBody>
      </p:sp>
      <p:sp>
        <p:nvSpPr>
          <p:cNvPr id="14" name="Rectangle 13"/>
          <p:cNvSpPr/>
          <p:nvPr/>
        </p:nvSpPr>
        <p:spPr>
          <a:xfrm>
            <a:off x="3474720" y="2240280"/>
            <a:ext cx="27432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顧客企業のPC</a:t>
            </a:r>
          </a:p>
        </p:txBody>
      </p:sp>
      <p:sp>
        <p:nvSpPr>
          <p:cNvPr id="15" name="Rectangle 14"/>
          <p:cNvSpPr/>
          <p:nvPr/>
        </p:nvSpPr>
        <p:spPr>
          <a:xfrm>
            <a:off x="6217920" y="2240280"/>
            <a:ext cx="27432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顧客企業のIT部門</a:t>
            </a:r>
          </a:p>
        </p:txBody>
      </p:sp>
      <p:sp>
        <p:nvSpPr>
          <p:cNvPr id="16" name="Rectangle 15"/>
          <p:cNvSpPr/>
          <p:nvPr/>
        </p:nvSpPr>
        <p:spPr>
          <a:xfrm>
            <a:off x="8961120" y="2240280"/>
            <a:ext cx="5394960" cy="41148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顧客企業の問題…に見えるが →</a:t>
            </a:r>
          </a:p>
        </p:txBody>
      </p:sp>
      <p:sp>
        <p:nvSpPr>
          <p:cNvPr id="17" name="Rectangle 16"/>
          <p:cNvSpPr/>
          <p:nvPr/>
        </p:nvSpPr>
        <p:spPr>
          <a:xfrm>
            <a:off x="731520" y="2880360"/>
            <a:ext cx="13624560" cy="41148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BizSTATION利用企業のIT体制 — AppLockerを設定できるか？</a:t>
            </a:r>
          </a:p>
        </p:txBody>
      </p:sp>
      <p:sp>
        <p:nvSpPr>
          <p:cNvPr id="18" name="Rectangle 17"/>
          <p:cNvSpPr/>
          <p:nvPr/>
        </p:nvSpPr>
        <p:spPr>
          <a:xfrm>
            <a:off x="731520" y="3291840"/>
            <a:ext cx="2743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大企業</a:t>
            </a:r>
          </a:p>
        </p:txBody>
      </p:sp>
      <p:sp>
        <p:nvSpPr>
          <p:cNvPr id="19" name="Rectangle 18"/>
          <p:cNvSpPr/>
          <p:nvPr/>
        </p:nvSpPr>
        <p:spPr>
          <a:xfrm>
            <a:off x="3474720" y="3291840"/>
            <a:ext cx="36576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情シス部門あり</a:t>
            </a:r>
          </a:p>
        </p:txBody>
      </p:sp>
      <p:sp>
        <p:nvSpPr>
          <p:cNvPr id="20" name="Rectangle 19"/>
          <p:cNvSpPr/>
          <p:nvPr/>
        </p:nvSpPr>
        <p:spPr>
          <a:xfrm>
            <a:off x="7132320" y="3291840"/>
            <a:ext cx="4114800" cy="38404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可能</a:t>
            </a:r>
          </a:p>
        </p:txBody>
      </p:sp>
      <p:sp>
        <p:nvSpPr>
          <p:cNvPr id="21" name="Rectangle 20"/>
          <p:cNvSpPr/>
          <p:nvPr/>
        </p:nvSpPr>
        <p:spPr>
          <a:xfrm>
            <a:off x="731520" y="3675888"/>
            <a:ext cx="27432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中堅企業</a:t>
            </a:r>
          </a:p>
        </p:txBody>
      </p:sp>
      <p:sp>
        <p:nvSpPr>
          <p:cNvPr id="22" name="Rectangle 21"/>
          <p:cNvSpPr/>
          <p:nvPr/>
        </p:nvSpPr>
        <p:spPr>
          <a:xfrm>
            <a:off x="3474720" y="3675888"/>
            <a:ext cx="36576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IT担当が1〜2人</a:t>
            </a:r>
          </a:p>
        </p:txBody>
      </p:sp>
      <p:sp>
        <p:nvSpPr>
          <p:cNvPr id="23" name="Rectangle 22"/>
          <p:cNvSpPr/>
          <p:nvPr/>
        </p:nvSpPr>
        <p:spPr>
          <a:xfrm>
            <a:off x="7132320" y="3675888"/>
            <a:ext cx="4114800" cy="384048"/>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厳しい</a:t>
            </a:r>
          </a:p>
        </p:txBody>
      </p:sp>
      <p:sp>
        <p:nvSpPr>
          <p:cNvPr id="24" name="Rectangle 23"/>
          <p:cNvSpPr/>
          <p:nvPr/>
        </p:nvSpPr>
        <p:spPr>
          <a:xfrm>
            <a:off x="731520" y="4059936"/>
            <a:ext cx="2743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中小企業</a:t>
            </a:r>
          </a:p>
        </p:txBody>
      </p:sp>
      <p:sp>
        <p:nvSpPr>
          <p:cNvPr id="25" name="Rectangle 24"/>
          <p:cNvSpPr/>
          <p:nvPr/>
        </p:nvSpPr>
        <p:spPr>
          <a:xfrm>
            <a:off x="3474720" y="4059936"/>
            <a:ext cx="36576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IT専任者なし</a:t>
            </a:r>
          </a:p>
        </p:txBody>
      </p:sp>
      <p:sp>
        <p:nvSpPr>
          <p:cNvPr id="26" name="Rectangle 25"/>
          <p:cNvSpPr/>
          <p:nvPr/>
        </p:nvSpPr>
        <p:spPr>
          <a:xfrm>
            <a:off x="7132320" y="4059936"/>
            <a:ext cx="411480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無理</a:t>
            </a:r>
          </a:p>
        </p:txBody>
      </p:sp>
      <p:sp>
        <p:nvSpPr>
          <p:cNvPr id="27" name="Rectangle 26"/>
          <p:cNvSpPr/>
          <p:nvPr/>
        </p:nvSpPr>
        <p:spPr>
          <a:xfrm>
            <a:off x="731520" y="4443984"/>
            <a:ext cx="27432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小規模事業者</a:t>
            </a:r>
          </a:p>
        </p:txBody>
      </p:sp>
      <p:sp>
        <p:nvSpPr>
          <p:cNvPr id="28" name="Rectangle 27"/>
          <p:cNvSpPr/>
          <p:nvPr/>
        </p:nvSpPr>
        <p:spPr>
          <a:xfrm>
            <a:off x="3474720" y="4443984"/>
            <a:ext cx="36576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社長がPC管理</a:t>
            </a:r>
          </a:p>
        </p:txBody>
      </p:sp>
      <p:sp>
        <p:nvSpPr>
          <p:cNvPr id="29" name="Rectangle 28"/>
          <p:cNvSpPr/>
          <p:nvPr/>
        </p:nvSpPr>
        <p:spPr>
          <a:xfrm>
            <a:off x="7132320" y="4443984"/>
            <a:ext cx="411480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論外</a:t>
            </a:r>
          </a:p>
        </p:txBody>
      </p:sp>
      <p:sp>
        <p:nvSpPr>
          <p:cNvPr id="30" name="Rectangle 29"/>
          <p:cNvSpPr/>
          <p:nvPr/>
        </p:nvSpPr>
        <p:spPr>
          <a:xfrm>
            <a:off x="731520" y="4937760"/>
            <a:ext cx="1362456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すべて同じ構図：「顧客にやってね」で丸投げ → 機能しない</a:t>
            </a:r>
          </a:p>
        </p:txBody>
      </p:sp>
      <p:sp>
        <p:nvSpPr>
          <p:cNvPr id="31" name="Rectangle 30"/>
          <p:cNvSpPr/>
          <p:nvPr/>
        </p:nvSpPr>
        <p:spPr>
          <a:xfrm>
            <a:off x="731520" y="5349240"/>
            <a:ext cx="6858000" cy="347472"/>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「メールのリンクをクリックしないで」</a:t>
            </a:r>
          </a:p>
        </p:txBody>
      </p:sp>
      <p:sp>
        <p:nvSpPr>
          <p:cNvPr id="32" name="Rectangle 31"/>
          <p:cNvSpPr/>
          <p:nvPr/>
        </p:nvSpPr>
        <p:spPr>
          <a:xfrm>
            <a:off x="7589520" y="5349240"/>
            <a:ext cx="6766560" cy="347472"/>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顧客任せ → 機能しない</a:t>
            </a:r>
          </a:p>
        </p:txBody>
      </p:sp>
      <p:sp>
        <p:nvSpPr>
          <p:cNvPr id="33" name="Rectangle 32"/>
          <p:cNvSpPr/>
          <p:nvPr/>
        </p:nvSpPr>
        <p:spPr>
          <a:xfrm>
            <a:off x="731520" y="5696712"/>
            <a:ext cx="6858000" cy="347472"/>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「ブックマークからアクセスして」</a:t>
            </a:r>
          </a:p>
        </p:txBody>
      </p:sp>
      <p:sp>
        <p:nvSpPr>
          <p:cNvPr id="34" name="Rectangle 33"/>
          <p:cNvSpPr/>
          <p:nvPr/>
        </p:nvSpPr>
        <p:spPr>
          <a:xfrm>
            <a:off x="7589520" y="5696712"/>
            <a:ext cx="6766560" cy="347472"/>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顧客任せ → 機能しない</a:t>
            </a:r>
          </a:p>
        </p:txBody>
      </p:sp>
      <p:sp>
        <p:nvSpPr>
          <p:cNvPr id="35" name="Rectangle 34"/>
          <p:cNvSpPr/>
          <p:nvPr/>
        </p:nvSpPr>
        <p:spPr>
          <a:xfrm>
            <a:off x="731520" y="6044184"/>
            <a:ext cx="6858000" cy="347472"/>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「不明な発行元に注意して」</a:t>
            </a:r>
          </a:p>
        </p:txBody>
      </p:sp>
      <p:sp>
        <p:nvSpPr>
          <p:cNvPr id="36" name="Rectangle 35"/>
          <p:cNvSpPr/>
          <p:nvPr/>
        </p:nvSpPr>
        <p:spPr>
          <a:xfrm>
            <a:off x="7589520" y="6044184"/>
            <a:ext cx="6766560" cy="347472"/>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顧客任せ → 機能しない</a:t>
            </a:r>
          </a:p>
        </p:txBody>
      </p:sp>
      <p:sp>
        <p:nvSpPr>
          <p:cNvPr id="37" name="Rectangle 36"/>
          <p:cNvSpPr/>
          <p:nvPr/>
        </p:nvSpPr>
        <p:spPr>
          <a:xfrm>
            <a:off x="731520" y="6391656"/>
            <a:ext cx="6858000" cy="347472"/>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「AppLockerを設定してください」</a:t>
            </a:r>
          </a:p>
        </p:txBody>
      </p:sp>
      <p:sp>
        <p:nvSpPr>
          <p:cNvPr id="38" name="Rectangle 37"/>
          <p:cNvSpPr/>
          <p:nvPr/>
        </p:nvSpPr>
        <p:spPr>
          <a:xfrm>
            <a:off x="7589520" y="6391656"/>
            <a:ext cx="6766560" cy="347472"/>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顧客任せ → 機能しない</a:t>
            </a:r>
          </a:p>
        </p:txBody>
      </p:sp>
      <p:sp>
        <p:nvSpPr>
          <p:cNvPr id="39" name="Rectangle 38"/>
          <p:cNvSpPr/>
          <p:nvPr/>
        </p:nvSpPr>
        <p:spPr>
          <a:xfrm>
            <a:off x="731520" y="6858000"/>
            <a:ext cx="1362456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銀行がやるべきこと</a:t>
            </a:r>
          </a:p>
        </p:txBody>
      </p:sp>
      <p:sp>
        <p:nvSpPr>
          <p:cNvPr id="40" name="Rectangle 39"/>
          <p:cNvSpPr/>
          <p:nvPr/>
        </p:nvSpPr>
        <p:spPr>
          <a:xfrm>
            <a:off x="731520" y="7223760"/>
            <a:ext cx="3200400" cy="3657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DMARC p=reject</a:t>
            </a:r>
          </a:p>
        </p:txBody>
      </p:sp>
      <p:sp>
        <p:nvSpPr>
          <p:cNvPr id="41" name="Rectangle 40"/>
          <p:cNvSpPr/>
          <p:nvPr/>
        </p:nvSpPr>
        <p:spPr>
          <a:xfrm>
            <a:off x="3931920" y="7223760"/>
            <a:ext cx="5029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銀行が自分で設定する</a:t>
            </a:r>
          </a:p>
        </p:txBody>
      </p:sp>
      <p:sp>
        <p:nvSpPr>
          <p:cNvPr id="42" name="Rectangle 41"/>
          <p:cNvSpPr/>
          <p:nvPr/>
        </p:nvSpPr>
        <p:spPr>
          <a:xfrm>
            <a:off x="8961120" y="7223760"/>
            <a:ext cx="5394960" cy="3657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7AE60"/>
                </a:solidFill>
                <a:latin typeface="Meiryo"/>
              </a:rPr>
              <a:t>顧客に求めること：なし</a:t>
            </a:r>
          </a:p>
        </p:txBody>
      </p:sp>
      <p:sp>
        <p:nvSpPr>
          <p:cNvPr id="43" name="Rectangle 42"/>
          <p:cNvSpPr/>
          <p:nvPr/>
        </p:nvSpPr>
        <p:spPr>
          <a:xfrm>
            <a:off x="731520" y="7589520"/>
            <a:ext cx="3200400" cy="36576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AppLocker/WDAC設定支援</a:t>
            </a:r>
          </a:p>
        </p:txBody>
      </p:sp>
      <p:sp>
        <p:nvSpPr>
          <p:cNvPr id="44" name="Rectangle 43"/>
          <p:cNvSpPr/>
          <p:nvPr/>
        </p:nvSpPr>
        <p:spPr>
          <a:xfrm>
            <a:off x="3931920" y="7589520"/>
            <a:ext cx="50292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BizSTATION契約時に設定を支援する</a:t>
            </a:r>
          </a:p>
        </p:txBody>
      </p:sp>
      <p:sp>
        <p:nvSpPr>
          <p:cNvPr id="45" name="Rectangle 44"/>
          <p:cNvSpPr/>
          <p:nvPr/>
        </p:nvSpPr>
        <p:spPr>
          <a:xfrm>
            <a:off x="8961120" y="7589520"/>
            <a:ext cx="5394960" cy="36576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7AE60"/>
                </a:solidFill>
                <a:latin typeface="Meiryo"/>
              </a:rPr>
              <a:t>顧客に求めること：なし</a:t>
            </a:r>
          </a:p>
        </p:txBody>
      </p:sp>
      <p:sp>
        <p:nvSpPr>
          <p:cNvPr id="46" name="Rectangle 45"/>
          <p:cNvSpPr/>
          <p:nvPr/>
        </p:nvSpPr>
        <p:spPr>
          <a:xfrm>
            <a:off x="731520" y="7955280"/>
            <a:ext cx="3200400" cy="3657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初期設定ツール提供</a:t>
            </a:r>
          </a:p>
        </p:txBody>
      </p:sp>
      <p:sp>
        <p:nvSpPr>
          <p:cNvPr id="47" name="Rectangle 46"/>
          <p:cNvSpPr/>
          <p:nvPr/>
        </p:nvSpPr>
        <p:spPr>
          <a:xfrm>
            <a:off x="3931920" y="7955280"/>
            <a:ext cx="5029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ワンクリックで設定完了するツール</a:t>
            </a:r>
          </a:p>
        </p:txBody>
      </p:sp>
      <p:sp>
        <p:nvSpPr>
          <p:cNvPr id="48" name="Rectangle 47"/>
          <p:cNvSpPr/>
          <p:nvPr/>
        </p:nvSpPr>
        <p:spPr>
          <a:xfrm>
            <a:off x="8961120" y="7955280"/>
            <a:ext cx="5394960" cy="3657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7AE60"/>
                </a:solidFill>
                <a:latin typeface="Meiryo"/>
              </a:rPr>
              <a:t>実行するだけ</a:t>
            </a:r>
          </a:p>
        </p:txBody>
      </p:sp>
      <p:sp>
        <p:nvSpPr>
          <p:cNvPr id="49" name="Rectangle 48"/>
          <p:cNvSpPr/>
          <p:nvPr/>
        </p:nvSpPr>
        <p:spPr>
          <a:xfrm>
            <a:off x="731520" y="8321040"/>
            <a:ext cx="3200400" cy="36576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BizSTATION利用条件に含める</a:t>
            </a:r>
          </a:p>
        </p:txBody>
      </p:sp>
      <p:sp>
        <p:nvSpPr>
          <p:cNvPr id="50" name="Rectangle 49"/>
          <p:cNvSpPr/>
          <p:nvPr/>
        </p:nvSpPr>
        <p:spPr>
          <a:xfrm>
            <a:off x="3931920" y="8321040"/>
            <a:ext cx="50292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アプリ制御を契約要件にする</a:t>
            </a:r>
          </a:p>
        </p:txBody>
      </p:sp>
      <p:sp>
        <p:nvSpPr>
          <p:cNvPr id="51" name="Rectangle 50"/>
          <p:cNvSpPr/>
          <p:nvPr/>
        </p:nvSpPr>
        <p:spPr>
          <a:xfrm>
            <a:off x="8961120" y="8321040"/>
            <a:ext cx="5394960" cy="36576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7AE60"/>
                </a:solidFill>
                <a:latin typeface="Meiryo"/>
              </a:rPr>
              <a:t>IT業者に設定を依頼</a:t>
            </a:r>
          </a:p>
        </p:txBody>
      </p:sp>
      <p:sp>
        <p:nvSpPr>
          <p:cNvPr id="52" name="TextBox 51"/>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責任の所在</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C0392B"/>
                </a:solidFill>
                <a:latin typeface="Meiryo"/>
              </a:rPr>
              <a:t>手順⑦ 赤い画面 — PCを封印し、犯人の操作を隠す</a:t>
            </a:r>
          </a:p>
        </p:txBody>
      </p:sp>
      <p:sp>
        <p:nvSpPr>
          <p:cNvPr id="3" name="Rectangle 2"/>
          <p:cNvSpPr/>
          <p:nvPr/>
        </p:nvSpPr>
        <p:spPr>
          <a:xfrm>
            <a:off x="731520" y="777240"/>
            <a:ext cx="13624560"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 name="TextBox 3"/>
          <p:cNvSpPr txBox="1"/>
          <p:nvPr/>
        </p:nvSpPr>
        <p:spPr>
          <a:xfrm>
            <a:off x="1188720" y="868680"/>
            <a:ext cx="12710160" cy="868680"/>
          </a:xfrm>
          <a:prstGeom prst="rect">
            <a:avLst/>
          </a:prstGeom>
          <a:noFill/>
        </p:spPr>
        <p:txBody>
          <a:bodyPr wrap="square" lIns="50800" rIns="50800" tIns="38100" bIns="38100"/>
          <a:lstStyle/>
          <a:p>
            <a:pPr algn="l"/>
            <a:r>
              <a:rPr sz="1100" b="1">
                <a:solidFill>
                  <a:srgbClr val="FFFFFF"/>
                </a:solidFill>
                <a:latin typeface="Meiryo"/>
              </a:rPr>
              <a:t>『Mバンく　現在セキュリティ保護強化に伴うシステム更新ならびに、お客さま情報の確認、更新処理を実施しております。処理完了までの間一時的に画面が遅延または停止する場合がありますが、正常な処理となりますのでそのままお待ちくださいますようお願い申し上げます。』</a:t>
            </a:r>
          </a:p>
        </p:txBody>
      </p:sp>
      <p:sp>
        <p:nvSpPr>
          <p:cNvPr id="5" name="Rectangle 4"/>
          <p:cNvSpPr/>
          <p:nvPr/>
        </p:nvSpPr>
        <p:spPr>
          <a:xfrm>
            <a:off x="731520" y="192024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赤い画面の3つの役割</a:t>
            </a:r>
          </a:p>
        </p:txBody>
      </p:sp>
      <p:sp>
        <p:nvSpPr>
          <p:cNvPr id="6" name="Rectangle 5"/>
          <p:cNvSpPr/>
          <p:nvPr/>
        </p:nvSpPr>
        <p:spPr>
          <a:xfrm>
            <a:off x="731520" y="2286000"/>
            <a:ext cx="36576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① PCを「封印」する</a:t>
            </a:r>
          </a:p>
        </p:txBody>
      </p:sp>
      <p:sp>
        <p:nvSpPr>
          <p:cNvPr id="7" name="Rectangle 6"/>
          <p:cNvSpPr/>
          <p:nvPr/>
        </p:nvSpPr>
        <p:spPr>
          <a:xfrm>
            <a:off x="4389120" y="2286000"/>
            <a:ext cx="9966960" cy="50292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被害者はPCを操作できない。BizSTATIONで自分で確認することも不可能。</a:t>
            </a:r>
          </a:p>
        </p:txBody>
      </p:sp>
      <p:sp>
        <p:nvSpPr>
          <p:cNvPr id="8" name="Rectangle 7"/>
          <p:cNvSpPr/>
          <p:nvPr/>
        </p:nvSpPr>
        <p:spPr>
          <a:xfrm>
            <a:off x="731520" y="2788920"/>
            <a:ext cx="36576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② 犯人の操作を隠す</a:t>
            </a:r>
          </a:p>
        </p:txBody>
      </p:sp>
      <p:sp>
        <p:nvSpPr>
          <p:cNvPr id="9" name="Rectangle 8"/>
          <p:cNvSpPr/>
          <p:nvPr/>
        </p:nvSpPr>
        <p:spPr>
          <a:xfrm>
            <a:off x="4389120" y="2788920"/>
            <a:ext cx="9966960" cy="502920"/>
          </a:xfrm>
          <a:prstGeom prst="rect">
            <a:avLst/>
          </a:prstGeom>
          <a:solidFill>
            <a:srgbClr val="FFFFFF"/>
          </a:solidFill>
          <a:ln w="25400">
            <a:solidFill>
              <a:srgbClr val="2222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赤い画面の裏でScreenConnect経由のPC操作が進行。被害者には見えない。</a:t>
            </a:r>
          </a:p>
        </p:txBody>
      </p:sp>
      <p:sp>
        <p:nvSpPr>
          <p:cNvPr id="10" name="Rectangle 9"/>
          <p:cNvSpPr/>
          <p:nvPr/>
        </p:nvSpPr>
        <p:spPr>
          <a:xfrm>
            <a:off x="731520" y="3291840"/>
            <a:ext cx="3657600" cy="5029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③ 被害者を「待機」させる</a:t>
            </a:r>
          </a:p>
        </p:txBody>
      </p:sp>
      <p:sp>
        <p:nvSpPr>
          <p:cNvPr id="11" name="Rectangle 10"/>
          <p:cNvSpPr/>
          <p:nvPr/>
        </p:nvSpPr>
        <p:spPr>
          <a:xfrm>
            <a:off x="4389120" y="3291840"/>
            <a:ext cx="9966960" cy="50292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「処理完了までお待ちください」→ 異常を見ても「正常」と信じて待つ。</a:t>
            </a:r>
          </a:p>
        </p:txBody>
      </p:sp>
      <p:sp>
        <p:nvSpPr>
          <p:cNvPr id="12" name="Rectangle 11"/>
          <p:cNvSpPr/>
          <p:nvPr/>
        </p:nvSpPr>
        <p:spPr>
          <a:xfrm>
            <a:off x="731520" y="3886200"/>
            <a:ext cx="1362456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 破綻ポイント：銀行のシステム更新で顧客PCの画面が赤くなることはありえない</a:t>
            </a:r>
          </a:p>
        </p:txBody>
      </p:sp>
      <p:sp>
        <p:nvSpPr>
          <p:cNvPr id="13" name="TextBox 12"/>
          <p:cNvSpPr txBox="1"/>
          <p:nvPr/>
        </p:nvSpPr>
        <p:spPr>
          <a:xfrm>
            <a:off x="731520" y="4325112"/>
            <a:ext cx="13624560" cy="274320"/>
          </a:xfrm>
          <a:prstGeom prst="rect">
            <a:avLst/>
          </a:prstGeom>
          <a:noFill/>
        </p:spPr>
        <p:txBody>
          <a:bodyPr wrap="square" lIns="50800" rIns="50800" tIns="38100" bIns="38100"/>
          <a:lstStyle/>
          <a:p>
            <a:pPr algn="l"/>
            <a:r>
              <a:rPr sz="900" b="0">
                <a:solidFill>
                  <a:srgbClr val="888888"/>
                </a:solidFill>
                <a:latin typeface="Meiryo"/>
              </a:rPr>
              <a:t>IBのシステム更新はサーバー側の処理。顧客PCの画面が止まるわけがない。→ 手順②からの信頼の蓄積で気づけない。</a:t>
            </a:r>
          </a:p>
        </p:txBody>
      </p:sp>
      <p:sp>
        <p:nvSpPr>
          <p:cNvPr id="14" name="Rectangle 13"/>
          <p:cNvSpPr/>
          <p:nvPr/>
        </p:nvSpPr>
        <p:spPr>
          <a:xfrm>
            <a:off x="731520" y="4709160"/>
            <a:ext cx="1362456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企業側で検知できるポイント</a:t>
            </a:r>
          </a:p>
        </p:txBody>
      </p:sp>
      <p:sp>
        <p:nvSpPr>
          <p:cNvPr id="15" name="Rectangle 14"/>
          <p:cNvSpPr/>
          <p:nvPr/>
        </p:nvSpPr>
        <p:spPr>
          <a:xfrm>
            <a:off x="731520" y="5074920"/>
            <a:ext cx="6858000" cy="347472"/>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ScreenConnectのプロセス検知</a:t>
            </a:r>
          </a:p>
        </p:txBody>
      </p:sp>
      <p:sp>
        <p:nvSpPr>
          <p:cNvPr id="16" name="Rectangle 15"/>
          <p:cNvSpPr/>
          <p:nvPr/>
        </p:nvSpPr>
        <p:spPr>
          <a:xfrm>
            <a:off x="7589520" y="5074920"/>
            <a:ext cx="6766560" cy="347472"/>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EDRで検知可能</a:t>
            </a:r>
          </a:p>
        </p:txBody>
      </p:sp>
      <p:sp>
        <p:nvSpPr>
          <p:cNvPr id="17" name="Rectangle 16"/>
          <p:cNvSpPr/>
          <p:nvPr/>
        </p:nvSpPr>
        <p:spPr>
          <a:xfrm>
            <a:off x="731520" y="5422392"/>
            <a:ext cx="6858000" cy="347472"/>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C2サーバへの不審な通信</a:t>
            </a:r>
          </a:p>
        </p:txBody>
      </p:sp>
      <p:sp>
        <p:nvSpPr>
          <p:cNvPr id="18" name="Rectangle 17"/>
          <p:cNvSpPr/>
          <p:nvPr/>
        </p:nvSpPr>
        <p:spPr>
          <a:xfrm>
            <a:off x="7589520" y="5422392"/>
            <a:ext cx="6766560" cy="347472"/>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NW監視/プロキシで検知可能</a:t>
            </a:r>
          </a:p>
        </p:txBody>
      </p:sp>
      <p:sp>
        <p:nvSpPr>
          <p:cNvPr id="19" name="Rectangle 18"/>
          <p:cNvSpPr/>
          <p:nvPr/>
        </p:nvSpPr>
        <p:spPr>
          <a:xfrm>
            <a:off x="731520" y="5769864"/>
            <a:ext cx="6858000" cy="347472"/>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リモートデスクトップ系の異常セッション</a:t>
            </a:r>
          </a:p>
        </p:txBody>
      </p:sp>
      <p:sp>
        <p:nvSpPr>
          <p:cNvPr id="20" name="Rectangle 19"/>
          <p:cNvSpPr/>
          <p:nvPr/>
        </p:nvSpPr>
        <p:spPr>
          <a:xfrm>
            <a:off x="7589520" y="5769864"/>
            <a:ext cx="6766560" cy="347472"/>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SIEMで検知可能</a:t>
            </a:r>
          </a:p>
        </p:txBody>
      </p:sp>
      <p:sp>
        <p:nvSpPr>
          <p:cNvPr id="21" name="Rectangle 20"/>
          <p:cNvSpPr/>
          <p:nvPr/>
        </p:nvSpPr>
        <p:spPr>
          <a:xfrm>
            <a:off x="731520" y="6172200"/>
            <a:ext cx="1362456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同じ構図：EDR/NW監視があれば検知可能 → しかし中小企業にはない → また「顧客の問題」になる</a:t>
            </a:r>
          </a:p>
        </p:txBody>
      </p:sp>
      <p:sp>
        <p:nvSpPr>
          <p:cNvPr id="22" name="TextBox 21"/>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手順⑦ 赤い画面</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000" b="1">
                <a:solidFill>
                  <a:srgbClr val="C0392B"/>
                </a:solidFill>
                <a:latin typeface="Meiryo"/>
              </a:rPr>
              <a:t>手順⑧ デュアルデバイス攻撃 — 会社PCを封じ、個人スマホで認証を奪う</a:t>
            </a:r>
          </a:p>
        </p:txBody>
      </p:sp>
      <p:sp>
        <p:nvSpPr>
          <p:cNvPr id="3" name="Rectangle 2"/>
          <p:cNvSpPr/>
          <p:nvPr/>
        </p:nvSpPr>
        <p:spPr>
          <a:xfrm>
            <a:off x="731520" y="777240"/>
            <a:ext cx="658368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会社PC（封印済み）</a:t>
            </a:r>
          </a:p>
        </p:txBody>
      </p:sp>
      <p:sp>
        <p:nvSpPr>
          <p:cNvPr id="4" name="Rectangle 3"/>
          <p:cNvSpPr/>
          <p:nvPr/>
        </p:nvSpPr>
        <p:spPr>
          <a:xfrm>
            <a:off x="731520" y="1143000"/>
            <a:ext cx="658368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赤い画面で封印 → 確認手段なし
犯人がScreenConnect経由で操作中
→ BizSTATIONにアクセスし送金準備</a:t>
            </a:r>
          </a:p>
        </p:txBody>
      </p:sp>
      <p:sp>
        <p:nvSpPr>
          <p:cNvPr id="5" name="Rectangle 4"/>
          <p:cNvSpPr/>
          <p:nvPr/>
        </p:nvSpPr>
        <p:spPr>
          <a:xfrm>
            <a:off x="7772400" y="777240"/>
            <a:ext cx="6400800" cy="3657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個人スマホ（標的）</a:t>
            </a:r>
          </a:p>
        </p:txBody>
      </p:sp>
      <p:sp>
        <p:nvSpPr>
          <p:cNvPr id="6" name="Rectangle 5"/>
          <p:cNvSpPr/>
          <p:nvPr/>
        </p:nvSpPr>
        <p:spPr>
          <a:xfrm>
            <a:off x="7772400" y="1143000"/>
            <a:ext cx="6400800" cy="640080"/>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SMS受信 → リンクをクリック
偽の認証画面が表示される
→ 認証情報5要素を入力させられる</a:t>
            </a:r>
          </a:p>
        </p:txBody>
      </p:sp>
      <p:sp>
        <p:nvSpPr>
          <p:cNvPr id="7" name="Rectangle 6"/>
          <p:cNvSpPr/>
          <p:nvPr/>
        </p:nvSpPr>
        <p:spPr>
          <a:xfrm>
            <a:off x="731520" y="196596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なぜ個人スマホに切り替えるのか</a:t>
            </a:r>
          </a:p>
        </p:txBody>
      </p:sp>
      <p:sp>
        <p:nvSpPr>
          <p:cNvPr id="8" name="Rectangle 7"/>
          <p:cNvSpPr/>
          <p:nvPr/>
        </p:nvSpPr>
        <p:spPr>
          <a:xfrm>
            <a:off x="731520" y="2331720"/>
            <a:ext cx="32004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会社PCが使えない</a:t>
            </a:r>
          </a:p>
        </p:txBody>
      </p:sp>
      <p:sp>
        <p:nvSpPr>
          <p:cNvPr id="9" name="Rectangle 8"/>
          <p:cNvSpPr/>
          <p:nvPr/>
        </p:nvSpPr>
        <p:spPr>
          <a:xfrm>
            <a:off x="3931920" y="2331720"/>
            <a:ext cx="1042416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赤い画面で封印済み。犯人が操作中。</a:t>
            </a:r>
          </a:p>
        </p:txBody>
      </p:sp>
      <p:sp>
        <p:nvSpPr>
          <p:cNvPr id="10" name="Rectangle 9"/>
          <p:cNvSpPr/>
          <p:nvPr/>
        </p:nvSpPr>
        <p:spPr>
          <a:xfrm>
            <a:off x="731520" y="2743200"/>
            <a:ext cx="3200400" cy="41148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企業セキュリティの回避</a:t>
            </a:r>
          </a:p>
        </p:txBody>
      </p:sp>
      <p:sp>
        <p:nvSpPr>
          <p:cNvPr id="11" name="Rectangle 10"/>
          <p:cNvSpPr/>
          <p:nvPr/>
        </p:nvSpPr>
        <p:spPr>
          <a:xfrm>
            <a:off x="3931920" y="2743200"/>
            <a:ext cx="1042416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会社PCのEDR/プロキシを回避。個人スマホにはない。</a:t>
            </a:r>
          </a:p>
        </p:txBody>
      </p:sp>
      <p:sp>
        <p:nvSpPr>
          <p:cNvPr id="12" name="Rectangle 11"/>
          <p:cNvSpPr/>
          <p:nvPr/>
        </p:nvSpPr>
        <p:spPr>
          <a:xfrm>
            <a:off x="731520" y="3154679"/>
            <a:ext cx="3200400" cy="41148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SMS認証は個人端末が前提</a:t>
            </a:r>
          </a:p>
        </p:txBody>
      </p:sp>
      <p:sp>
        <p:nvSpPr>
          <p:cNvPr id="13" name="Rectangle 12"/>
          <p:cNvSpPr/>
          <p:nvPr/>
        </p:nvSpPr>
        <p:spPr>
          <a:xfrm>
            <a:off x="3931920" y="3154679"/>
            <a:ext cx="1042416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「携帯にSMSが届く」は自然な流れ。</a:t>
            </a:r>
          </a:p>
        </p:txBody>
      </p:sp>
      <p:sp>
        <p:nvSpPr>
          <p:cNvPr id="14" name="Rectangle 13"/>
          <p:cNvSpPr/>
          <p:nvPr/>
        </p:nvSpPr>
        <p:spPr>
          <a:xfrm>
            <a:off x="731520" y="3566160"/>
            <a:ext cx="3200400" cy="41148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2デバイス同時制御</a:t>
            </a:r>
          </a:p>
        </p:txBody>
      </p:sp>
      <p:sp>
        <p:nvSpPr>
          <p:cNvPr id="15" name="Rectangle 14"/>
          <p:cNvSpPr/>
          <p:nvPr/>
        </p:nvSpPr>
        <p:spPr>
          <a:xfrm>
            <a:off x="3931920" y="3566160"/>
            <a:ext cx="1042416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PCは遠隔操作、スマホは電話で指示。両方が犯人の支配下。</a:t>
            </a:r>
          </a:p>
        </p:txBody>
      </p:sp>
      <p:sp>
        <p:nvSpPr>
          <p:cNvPr id="16" name="Rectangle 15"/>
          <p:cNvSpPr/>
          <p:nvPr/>
        </p:nvSpPr>
        <p:spPr>
          <a:xfrm>
            <a:off x="731520" y="4069079"/>
            <a:ext cx="136245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 破綻ポイント：5つの認証情報を一画面で入力させること自体がありえない</a:t>
            </a:r>
          </a:p>
        </p:txBody>
      </p:sp>
      <p:sp>
        <p:nvSpPr>
          <p:cNvPr id="17" name="Rectangle 16"/>
          <p:cNvSpPr/>
          <p:nvPr/>
        </p:nvSpPr>
        <p:spPr>
          <a:xfrm>
            <a:off x="731520" y="4480559"/>
            <a:ext cx="6583680" cy="3200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正規のBizSTATION</a:t>
            </a:r>
          </a:p>
        </p:txBody>
      </p:sp>
      <p:sp>
        <p:nvSpPr>
          <p:cNvPr id="18" name="Rectangle 17"/>
          <p:cNvSpPr/>
          <p:nvPr/>
        </p:nvSpPr>
        <p:spPr>
          <a:xfrm>
            <a:off x="731520" y="4800599"/>
            <a:ext cx="6583680" cy="6400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ステップ1：契約者番号 + 利用者ID → 入力
ステップ2：ログインPW → 入力
ステップ3：取引時にOTP → 入力（段階的）</a:t>
            </a:r>
          </a:p>
        </p:txBody>
      </p:sp>
      <p:sp>
        <p:nvSpPr>
          <p:cNvPr id="19" name="Rectangle 18"/>
          <p:cNvSpPr/>
          <p:nvPr/>
        </p:nvSpPr>
        <p:spPr>
          <a:xfrm>
            <a:off x="7772400" y="4480559"/>
            <a:ext cx="6400800" cy="3200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この攻撃</a:t>
            </a:r>
          </a:p>
        </p:txBody>
      </p:sp>
      <p:sp>
        <p:nvSpPr>
          <p:cNvPr id="20" name="Rectangle 19"/>
          <p:cNvSpPr/>
          <p:nvPr/>
        </p:nvSpPr>
        <p:spPr>
          <a:xfrm>
            <a:off x="7772400" y="4800599"/>
            <a:ext cx="640080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C0392B"/>
                </a:solidFill>
                <a:latin typeface="Meiryo"/>
              </a:rPr>
              <a:t>1画面で全部入力：
契約者番号 / 利用者ID / ログインPW / 取引実行PW / OTP
→ 5要素を一括。正規ではありえない。</a:t>
            </a:r>
          </a:p>
        </p:txBody>
      </p:sp>
      <p:sp>
        <p:nvSpPr>
          <p:cNvPr id="21" name="Rectangle 20"/>
          <p:cNvSpPr/>
          <p:nvPr/>
        </p:nvSpPr>
        <p:spPr>
          <a:xfrm>
            <a:off x="731520" y="557784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OTPの時間制限が犯人に有利に働く — リアルタイムだから成立する</a:t>
            </a:r>
          </a:p>
        </p:txBody>
      </p:sp>
      <p:sp>
        <p:nvSpPr>
          <p:cNvPr id="22" name="Rectangle 21"/>
          <p:cNvSpPr/>
          <p:nvPr/>
        </p:nvSpPr>
        <p:spPr>
          <a:xfrm>
            <a:off x="731520" y="5943600"/>
            <a:ext cx="13624560" cy="640080"/>
          </a:xfrm>
          <a:prstGeom prst="rect">
            <a:avLst/>
          </a:prstGeom>
          <a:solidFill>
            <a:srgbClr val="FFFFFF"/>
          </a:solidFill>
          <a:ln w="25400">
            <a:solidFill>
              <a:srgbClr val="2222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① 犯人：裏でBizSTATIONにアクセス → OTP入力画面まで進む
② 犯人：電話で「OTPを入力してください」→ 被害者がスマホに入力
③ 犯人：入力されたOTP（有効期限30〜60秒）を即座に使用 → 送金実行
→ 電話をつないだままだからリアルタイムにできる</a:t>
            </a:r>
          </a:p>
        </p:txBody>
      </p:sp>
      <p:sp>
        <p:nvSpPr>
          <p:cNvPr id="23" name="Rectangle 22"/>
          <p:cNvSpPr/>
          <p:nvPr/>
        </p:nvSpPr>
        <p:spPr>
          <a:xfrm>
            <a:off x="731520" y="6720840"/>
            <a:ext cx="1362456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同じ構図：個人スマホは企業セキュリティの管轄外 → 「顧客の問題」→ 対策されない</a:t>
            </a:r>
          </a:p>
        </p:txBody>
      </p:sp>
      <p:sp>
        <p:nvSpPr>
          <p:cNvPr id="24" name="TextBox 23"/>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手順⑧ デュアルデバイス攻撃</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000" b="1">
                <a:solidFill>
                  <a:srgbClr val="C0392B"/>
                </a:solidFill>
                <a:latin typeface="Meiryo"/>
              </a:rPr>
              <a:t>手順⑨ 不正送金 — 被害者のPCを経由しIPアドレスを偽装する</a:t>
            </a:r>
          </a:p>
        </p:txBody>
      </p:sp>
      <p:sp>
        <p:nvSpPr>
          <p:cNvPr id="3" name="Rectangle 2"/>
          <p:cNvSpPr/>
          <p:nvPr/>
        </p:nvSpPr>
        <p:spPr>
          <a:xfrm>
            <a:off x="731520" y="777240"/>
            <a:ext cx="658368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犯人のPCからアクセスした場合</a:t>
            </a:r>
          </a:p>
        </p:txBody>
      </p:sp>
      <p:sp>
        <p:nvSpPr>
          <p:cNvPr id="4" name="Rectangle 3"/>
          <p:cNvSpPr/>
          <p:nvPr/>
        </p:nvSpPr>
        <p:spPr>
          <a:xfrm>
            <a:off x="731520" y="1143000"/>
            <a:ext cx="6583680" cy="5029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IPアドレスが被害者企業と異なる
→ 銀行側で「いつもと違う場所」と検知される可能性</a:t>
            </a:r>
          </a:p>
        </p:txBody>
      </p:sp>
      <p:sp>
        <p:nvSpPr>
          <p:cNvPr id="5" name="Rectangle 4"/>
          <p:cNvSpPr/>
          <p:nvPr/>
        </p:nvSpPr>
        <p:spPr>
          <a:xfrm>
            <a:off x="7772400" y="777240"/>
            <a:ext cx="640080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被害者のPC経由でアクセスした場合</a:t>
            </a:r>
          </a:p>
        </p:txBody>
      </p:sp>
      <p:sp>
        <p:nvSpPr>
          <p:cNvPr id="6" name="Rectangle 5"/>
          <p:cNvSpPr/>
          <p:nvPr/>
        </p:nvSpPr>
        <p:spPr>
          <a:xfrm>
            <a:off x="7772400" y="1143000"/>
            <a:ext cx="6400800" cy="502920"/>
          </a:xfrm>
          <a:prstGeom prst="rect">
            <a:avLst/>
          </a:prstGeom>
          <a:solidFill>
            <a:srgbClr val="FFFFFF"/>
          </a:solidFill>
          <a:ln w="25400">
            <a:solidFill>
              <a:srgbClr val="2222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IPアドレスは被害者企業のもの
→ 銀行から見ると「いつもの場所からのアクセス」</a:t>
            </a:r>
          </a:p>
        </p:txBody>
      </p:sp>
      <p:sp>
        <p:nvSpPr>
          <p:cNvPr id="7" name="Rectangle 6"/>
          <p:cNvSpPr/>
          <p:nvPr/>
        </p:nvSpPr>
        <p:spPr>
          <a:xfrm>
            <a:off x="731520" y="1874519"/>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銀行側の振る舞い検知 — すり抜ける項目と検知できる項目</a:t>
            </a:r>
          </a:p>
        </p:txBody>
      </p:sp>
      <p:sp>
        <p:nvSpPr>
          <p:cNvPr id="8" name="Rectangle 7"/>
          <p:cNvSpPr/>
          <p:nvPr/>
        </p:nvSpPr>
        <p:spPr>
          <a:xfrm>
            <a:off x="731520" y="2240279"/>
            <a:ext cx="2286000" cy="347472"/>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検知項目</a:t>
            </a:r>
          </a:p>
        </p:txBody>
      </p:sp>
      <p:sp>
        <p:nvSpPr>
          <p:cNvPr id="9" name="Rectangle 8"/>
          <p:cNvSpPr/>
          <p:nvPr/>
        </p:nvSpPr>
        <p:spPr>
          <a:xfrm>
            <a:off x="3017520" y="2240279"/>
            <a:ext cx="2743200" cy="347472"/>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正常</a:t>
            </a:r>
          </a:p>
        </p:txBody>
      </p:sp>
      <p:sp>
        <p:nvSpPr>
          <p:cNvPr id="10" name="Rectangle 9"/>
          <p:cNvSpPr/>
          <p:nvPr/>
        </p:nvSpPr>
        <p:spPr>
          <a:xfrm>
            <a:off x="5760720" y="2240279"/>
            <a:ext cx="3200400" cy="347472"/>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この攻撃</a:t>
            </a:r>
          </a:p>
        </p:txBody>
      </p:sp>
      <p:sp>
        <p:nvSpPr>
          <p:cNvPr id="11" name="Rectangle 10"/>
          <p:cNvSpPr/>
          <p:nvPr/>
        </p:nvSpPr>
        <p:spPr>
          <a:xfrm>
            <a:off x="8961120" y="2240279"/>
            <a:ext cx="2743200" cy="347472"/>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結果</a:t>
            </a:r>
          </a:p>
        </p:txBody>
      </p:sp>
      <p:sp>
        <p:nvSpPr>
          <p:cNvPr id="12" name="Rectangle 11"/>
          <p:cNvSpPr/>
          <p:nvPr/>
        </p:nvSpPr>
        <p:spPr>
          <a:xfrm>
            <a:off x="11704320" y="2240279"/>
            <a:ext cx="2651760" cy="347472"/>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
            </a:r>
          </a:p>
        </p:txBody>
      </p:sp>
      <p:sp>
        <p:nvSpPr>
          <p:cNvPr id="13" name="Rectangle 12"/>
          <p:cNvSpPr/>
          <p:nvPr/>
        </p:nvSpPr>
        <p:spPr>
          <a:xfrm>
            <a:off x="731520" y="2587752"/>
            <a:ext cx="2286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IPアドレス</a:t>
            </a:r>
          </a:p>
        </p:txBody>
      </p:sp>
      <p:sp>
        <p:nvSpPr>
          <p:cNvPr id="14" name="Rectangle 13"/>
          <p:cNvSpPr/>
          <p:nvPr/>
        </p:nvSpPr>
        <p:spPr>
          <a:xfrm>
            <a:off x="3017520" y="2587752"/>
            <a:ext cx="2743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いつもの場所</a:t>
            </a:r>
          </a:p>
        </p:txBody>
      </p:sp>
      <p:sp>
        <p:nvSpPr>
          <p:cNvPr id="15" name="Rectangle 14"/>
          <p:cNvSpPr/>
          <p:nvPr/>
        </p:nvSpPr>
        <p:spPr>
          <a:xfrm>
            <a:off x="5760720" y="2587752"/>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いつもの場所（PC経由）</a:t>
            </a:r>
          </a:p>
        </p:txBody>
      </p:sp>
      <p:sp>
        <p:nvSpPr>
          <p:cNvPr id="16" name="Rectangle 15"/>
          <p:cNvSpPr/>
          <p:nvPr/>
        </p:nvSpPr>
        <p:spPr>
          <a:xfrm>
            <a:off x="8961120" y="2587752"/>
            <a:ext cx="539496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すり抜ける</a:t>
            </a:r>
          </a:p>
        </p:txBody>
      </p:sp>
      <p:sp>
        <p:nvSpPr>
          <p:cNvPr id="17" name="Rectangle 16"/>
          <p:cNvSpPr/>
          <p:nvPr/>
        </p:nvSpPr>
        <p:spPr>
          <a:xfrm>
            <a:off x="731520" y="2953512"/>
            <a:ext cx="22860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時間帯</a:t>
            </a:r>
          </a:p>
        </p:txBody>
      </p:sp>
      <p:sp>
        <p:nvSpPr>
          <p:cNvPr id="18" name="Rectangle 17"/>
          <p:cNvSpPr/>
          <p:nvPr/>
        </p:nvSpPr>
        <p:spPr>
          <a:xfrm>
            <a:off x="3017520" y="2953512"/>
            <a:ext cx="27432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業務時間内</a:t>
            </a:r>
          </a:p>
        </p:txBody>
      </p:sp>
      <p:sp>
        <p:nvSpPr>
          <p:cNvPr id="19" name="Rectangle 18"/>
          <p:cNvSpPr/>
          <p:nvPr/>
        </p:nvSpPr>
        <p:spPr>
          <a:xfrm>
            <a:off x="5760720" y="2953512"/>
            <a:ext cx="32004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業務時間内（電話中）</a:t>
            </a:r>
          </a:p>
        </p:txBody>
      </p:sp>
      <p:sp>
        <p:nvSpPr>
          <p:cNvPr id="20" name="Rectangle 19"/>
          <p:cNvSpPr/>
          <p:nvPr/>
        </p:nvSpPr>
        <p:spPr>
          <a:xfrm>
            <a:off x="8961120" y="2953512"/>
            <a:ext cx="539496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すり抜ける</a:t>
            </a:r>
          </a:p>
        </p:txBody>
      </p:sp>
      <p:sp>
        <p:nvSpPr>
          <p:cNvPr id="21" name="Rectangle 20"/>
          <p:cNvSpPr/>
          <p:nvPr/>
        </p:nvSpPr>
        <p:spPr>
          <a:xfrm>
            <a:off x="731520" y="3319272"/>
            <a:ext cx="2286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送金先口座</a:t>
            </a:r>
          </a:p>
        </p:txBody>
      </p:sp>
      <p:sp>
        <p:nvSpPr>
          <p:cNvPr id="22" name="Rectangle 21"/>
          <p:cNvSpPr/>
          <p:nvPr/>
        </p:nvSpPr>
        <p:spPr>
          <a:xfrm>
            <a:off x="3017520" y="3319272"/>
            <a:ext cx="2743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取引先</a:t>
            </a:r>
          </a:p>
        </p:txBody>
      </p:sp>
      <p:sp>
        <p:nvSpPr>
          <p:cNvPr id="23" name="Rectangle 22"/>
          <p:cNvSpPr/>
          <p:nvPr/>
        </p:nvSpPr>
        <p:spPr>
          <a:xfrm>
            <a:off x="5760720" y="3319272"/>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初めての口座</a:t>
            </a:r>
          </a:p>
        </p:txBody>
      </p:sp>
      <p:sp>
        <p:nvSpPr>
          <p:cNvPr id="24" name="Rectangle 23"/>
          <p:cNvSpPr/>
          <p:nvPr/>
        </p:nvSpPr>
        <p:spPr>
          <a:xfrm>
            <a:off x="8961120" y="3319272"/>
            <a:ext cx="539496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検知できる ★</a:t>
            </a:r>
          </a:p>
        </p:txBody>
      </p:sp>
      <p:sp>
        <p:nvSpPr>
          <p:cNvPr id="25" name="Rectangle 24"/>
          <p:cNvSpPr/>
          <p:nvPr/>
        </p:nvSpPr>
        <p:spPr>
          <a:xfrm>
            <a:off x="731520" y="3685032"/>
            <a:ext cx="22860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送金金額</a:t>
            </a:r>
          </a:p>
        </p:txBody>
      </p:sp>
      <p:sp>
        <p:nvSpPr>
          <p:cNvPr id="26" name="Rectangle 25"/>
          <p:cNvSpPr/>
          <p:nvPr/>
        </p:nvSpPr>
        <p:spPr>
          <a:xfrm>
            <a:off x="3017520" y="3685032"/>
            <a:ext cx="27432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通常範囲</a:t>
            </a:r>
          </a:p>
        </p:txBody>
      </p:sp>
      <p:sp>
        <p:nvSpPr>
          <p:cNvPr id="27" name="Rectangle 26"/>
          <p:cNvSpPr/>
          <p:nvPr/>
        </p:nvSpPr>
        <p:spPr>
          <a:xfrm>
            <a:off x="5760720" y="3685032"/>
            <a:ext cx="32004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通常より大きい可能性</a:t>
            </a:r>
          </a:p>
        </p:txBody>
      </p:sp>
      <p:sp>
        <p:nvSpPr>
          <p:cNvPr id="28" name="Rectangle 27"/>
          <p:cNvSpPr/>
          <p:nvPr/>
        </p:nvSpPr>
        <p:spPr>
          <a:xfrm>
            <a:off x="8961120" y="3685032"/>
            <a:ext cx="539496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検知できる ★</a:t>
            </a:r>
          </a:p>
        </p:txBody>
      </p:sp>
      <p:sp>
        <p:nvSpPr>
          <p:cNvPr id="29" name="Rectangle 28"/>
          <p:cNvSpPr/>
          <p:nvPr/>
        </p:nvSpPr>
        <p:spPr>
          <a:xfrm>
            <a:off x="731520" y="4050791"/>
            <a:ext cx="2286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操作速度</a:t>
            </a:r>
          </a:p>
        </p:txBody>
      </p:sp>
      <p:sp>
        <p:nvSpPr>
          <p:cNvPr id="30" name="Rectangle 29"/>
          <p:cNvSpPr/>
          <p:nvPr/>
        </p:nvSpPr>
        <p:spPr>
          <a:xfrm>
            <a:off x="3017520" y="4050791"/>
            <a:ext cx="2743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人間の速度</a:t>
            </a:r>
          </a:p>
        </p:txBody>
      </p:sp>
      <p:sp>
        <p:nvSpPr>
          <p:cNvPr id="31" name="Rectangle 30"/>
          <p:cNvSpPr/>
          <p:nvPr/>
        </p:nvSpPr>
        <p:spPr>
          <a:xfrm>
            <a:off x="5760720" y="4050791"/>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異常に速い可能性</a:t>
            </a:r>
          </a:p>
        </p:txBody>
      </p:sp>
      <p:sp>
        <p:nvSpPr>
          <p:cNvPr id="32" name="Rectangle 31"/>
          <p:cNvSpPr/>
          <p:nvPr/>
        </p:nvSpPr>
        <p:spPr>
          <a:xfrm>
            <a:off x="8961120" y="4050791"/>
            <a:ext cx="539496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検知できる ★</a:t>
            </a:r>
          </a:p>
        </p:txBody>
      </p:sp>
      <p:sp>
        <p:nvSpPr>
          <p:cNvPr id="33" name="Rectangle 32"/>
          <p:cNvSpPr/>
          <p:nvPr/>
        </p:nvSpPr>
        <p:spPr>
          <a:xfrm>
            <a:off x="731520" y="4526279"/>
            <a:ext cx="1362456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銀行の追加認証（電話確認）すら機能しない</a:t>
            </a:r>
          </a:p>
        </p:txBody>
      </p:sp>
      <p:sp>
        <p:nvSpPr>
          <p:cNvPr id="34" name="Rectangle 33"/>
          <p:cNvSpPr/>
          <p:nvPr/>
        </p:nvSpPr>
        <p:spPr>
          <a:xfrm>
            <a:off x="731520" y="4892040"/>
            <a:ext cx="13624560" cy="64008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銀行「送金確認のためお電話しました」→ 被害者は犯人との電話がつながったまま → 出られない
仮に出たとしても → 「はい、自分で送金しました」と答える（自分が攻撃されていることに気づいていない）</a:t>
            </a:r>
          </a:p>
        </p:txBody>
      </p:sp>
      <p:sp>
        <p:nvSpPr>
          <p:cNvPr id="35" name="TextBox 34"/>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手順⑨ 不正送金</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37160"/>
            <a:ext cx="15124176" cy="457200"/>
          </a:xfrm>
          <a:prstGeom prst="rect">
            <a:avLst/>
          </a:prstGeom>
          <a:noFill/>
        </p:spPr>
        <p:txBody>
          <a:bodyPr wrap="square" lIns="50800" rIns="50800" tIns="38100" bIns="38100"/>
          <a:lstStyle/>
          <a:p>
            <a:pPr algn="ctr"/>
            <a:r>
              <a:rPr sz="2400" b="1">
                <a:solidFill>
                  <a:srgbClr val="C0392B"/>
                </a:solidFill>
                <a:latin typeface="Meiryo"/>
              </a:rPr>
              <a:t>総括：正規の銀行体験を99%再現した攻撃</a:t>
            </a:r>
          </a:p>
        </p:txBody>
      </p:sp>
      <p:sp>
        <p:nvSpPr>
          <p:cNvPr id="3" name="Rectangle 2"/>
          <p:cNvSpPr/>
          <p:nvPr/>
        </p:nvSpPr>
        <p:spPr>
          <a:xfrm>
            <a:off x="731520" y="640080"/>
            <a:ext cx="658368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正規と同じもの（10個）</a:t>
            </a:r>
          </a:p>
        </p:txBody>
      </p:sp>
      <p:sp>
        <p:nvSpPr>
          <p:cNvPr id="4" name="Rectangle 3"/>
          <p:cNvSpPr/>
          <p:nvPr/>
        </p:nvSpPr>
        <p:spPr>
          <a:xfrm>
            <a:off x="731520" y="100584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自動音声の振り分け</a:t>
            </a:r>
          </a:p>
        </p:txBody>
      </p:sp>
      <p:sp>
        <p:nvSpPr>
          <p:cNvPr id="5" name="Rectangle 4"/>
          <p:cNvSpPr/>
          <p:nvPr/>
        </p:nvSpPr>
        <p:spPr>
          <a:xfrm>
            <a:off x="731520" y="128016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担当者との電話対応</a:t>
            </a:r>
          </a:p>
        </p:txBody>
      </p:sp>
      <p:sp>
        <p:nvSpPr>
          <p:cNvPr id="6" name="Rectangle 5"/>
          <p:cNvSpPr/>
          <p:nvPr/>
        </p:nvSpPr>
        <p:spPr>
          <a:xfrm>
            <a:off x="731520" y="155448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「郵送した」「口座制限」のセリフ</a:t>
            </a:r>
          </a:p>
        </p:txBody>
      </p:sp>
      <p:sp>
        <p:nvSpPr>
          <p:cNvPr id="7" name="Rectangle 6"/>
          <p:cNvSpPr/>
          <p:nvPr/>
        </p:nvSpPr>
        <p:spPr>
          <a:xfrm>
            <a:off x="731520" y="182880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メールのデザイン（Bizデザイン）</a:t>
            </a:r>
          </a:p>
        </p:txBody>
      </p:sp>
      <p:sp>
        <p:nvSpPr>
          <p:cNvPr id="8" name="Rectangle 7"/>
          <p:cNvSpPr/>
          <p:nvPr/>
        </p:nvSpPr>
        <p:spPr>
          <a:xfrm>
            <a:off x="731520" y="210312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メールの件名（実在する案内と同じ）</a:t>
            </a:r>
          </a:p>
        </p:txBody>
      </p:sp>
      <p:sp>
        <p:nvSpPr>
          <p:cNvPr id="9" name="Rectangle 8"/>
          <p:cNvSpPr/>
          <p:nvPr/>
        </p:nvSpPr>
        <p:spPr>
          <a:xfrm>
            <a:off x="731520" y="237744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Webページのデザイン</a:t>
            </a:r>
          </a:p>
        </p:txBody>
      </p:sp>
      <p:sp>
        <p:nvSpPr>
          <p:cNvPr id="10" name="Rectangle 9"/>
          <p:cNvSpPr/>
          <p:nvPr/>
        </p:nvSpPr>
        <p:spPr>
          <a:xfrm>
            <a:off x="731520" y="265176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赤い画面の色（ブランドカラー）</a:t>
            </a:r>
          </a:p>
        </p:txBody>
      </p:sp>
      <p:sp>
        <p:nvSpPr>
          <p:cNvPr id="11" name="Rectangle 10"/>
          <p:cNvSpPr/>
          <p:nvPr/>
        </p:nvSpPr>
        <p:spPr>
          <a:xfrm>
            <a:off x="731520" y="292608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赤い画面の文言（銀行の丁寧語）</a:t>
            </a:r>
          </a:p>
        </p:txBody>
      </p:sp>
      <p:sp>
        <p:nvSpPr>
          <p:cNvPr id="12" name="Rectangle 11"/>
          <p:cNvSpPr/>
          <p:nvPr/>
        </p:nvSpPr>
        <p:spPr>
          <a:xfrm>
            <a:off x="731520" y="320040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SMS認証の流れ</a:t>
            </a:r>
          </a:p>
        </p:txBody>
      </p:sp>
      <p:sp>
        <p:nvSpPr>
          <p:cNvPr id="13" name="Rectangle 12"/>
          <p:cNvSpPr/>
          <p:nvPr/>
        </p:nvSpPr>
        <p:spPr>
          <a:xfrm>
            <a:off x="731520" y="347472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セキュリティソフト推奨（Rapportは実在）</a:t>
            </a:r>
          </a:p>
        </p:txBody>
      </p:sp>
      <p:sp>
        <p:nvSpPr>
          <p:cNvPr id="14" name="Rectangle 13"/>
          <p:cNvSpPr/>
          <p:nvPr/>
        </p:nvSpPr>
        <p:spPr>
          <a:xfrm>
            <a:off x="7772400" y="640080"/>
            <a:ext cx="64008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正規と違うもの（6個）</a:t>
            </a:r>
          </a:p>
        </p:txBody>
      </p:sp>
      <p:sp>
        <p:nvSpPr>
          <p:cNvPr id="15" name="Rectangle 14"/>
          <p:cNvSpPr/>
          <p:nvPr/>
        </p:nvSpPr>
        <p:spPr>
          <a:xfrm>
            <a:off x="7772400" y="1005840"/>
            <a:ext cx="2926080" cy="45720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C0392B"/>
                </a:solidFill>
                <a:latin typeface="Meiryo"/>
              </a:rPr>
              <a:t>❌ メアドを聞く</a:t>
            </a:r>
          </a:p>
        </p:txBody>
      </p:sp>
      <p:sp>
        <p:nvSpPr>
          <p:cNvPr id="16" name="Rectangle 15"/>
          <p:cNvSpPr/>
          <p:nvPr/>
        </p:nvSpPr>
        <p:spPr>
          <a:xfrm>
            <a:off x="10698480" y="1005840"/>
            <a:ext cx="347472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888888"/>
                </a:solidFill>
                <a:latin typeface="Meiryo"/>
              </a:rPr>
              <a:t>登録済みなので聞かない</a:t>
            </a:r>
          </a:p>
        </p:txBody>
      </p:sp>
      <p:sp>
        <p:nvSpPr>
          <p:cNvPr id="17" name="Rectangle 16"/>
          <p:cNvSpPr/>
          <p:nvPr/>
        </p:nvSpPr>
        <p:spPr>
          <a:xfrm>
            <a:off x="7772400" y="1463040"/>
            <a:ext cx="2926080" cy="45720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C0392B"/>
                </a:solidFill>
                <a:latin typeface="Meiryo"/>
              </a:rPr>
              <a:t>❌ 迷惑フォルダを見て</a:t>
            </a:r>
          </a:p>
        </p:txBody>
      </p:sp>
      <p:sp>
        <p:nvSpPr>
          <p:cNvPr id="18" name="Rectangle 17"/>
          <p:cNvSpPr/>
          <p:nvPr/>
        </p:nvSpPr>
        <p:spPr>
          <a:xfrm>
            <a:off x="10698480" y="1463040"/>
            <a:ext cx="347472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888888"/>
                </a:solidFill>
                <a:latin typeface="Meiryo"/>
              </a:rPr>
              <a:t>正規メールは入らない</a:t>
            </a:r>
          </a:p>
        </p:txBody>
      </p:sp>
      <p:sp>
        <p:nvSpPr>
          <p:cNvPr id="19" name="Rectangle 18"/>
          <p:cNvSpPr/>
          <p:nvPr/>
        </p:nvSpPr>
        <p:spPr>
          <a:xfrm>
            <a:off x="7772400" y="1920240"/>
            <a:ext cx="2926080" cy="45720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C0392B"/>
                </a:solidFill>
                <a:latin typeface="Meiryo"/>
              </a:rPr>
              <a:t>❌ メールにURL</a:t>
            </a:r>
          </a:p>
        </p:txBody>
      </p:sp>
      <p:sp>
        <p:nvSpPr>
          <p:cNvPr id="20" name="Rectangle 19"/>
          <p:cNvSpPr/>
          <p:nvPr/>
        </p:nvSpPr>
        <p:spPr>
          <a:xfrm>
            <a:off x="10698480" y="1920240"/>
            <a:ext cx="347472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888888"/>
                </a:solidFill>
                <a:latin typeface="Meiryo"/>
              </a:rPr>
              <a:t>金融庁が禁止</a:t>
            </a:r>
          </a:p>
        </p:txBody>
      </p:sp>
      <p:sp>
        <p:nvSpPr>
          <p:cNvPr id="21" name="Rectangle 20"/>
          <p:cNvSpPr/>
          <p:nvPr/>
        </p:nvSpPr>
        <p:spPr>
          <a:xfrm>
            <a:off x="7772400" y="2377440"/>
            <a:ext cx="2926080" cy="45720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C0392B"/>
                </a:solidFill>
                <a:latin typeface="Meiryo"/>
              </a:rPr>
              <a:t>❌ 不明な発行元でも実行して</a:t>
            </a:r>
          </a:p>
        </p:txBody>
      </p:sp>
      <p:sp>
        <p:nvSpPr>
          <p:cNvPr id="22" name="Rectangle 21"/>
          <p:cNvSpPr/>
          <p:nvPr/>
        </p:nvSpPr>
        <p:spPr>
          <a:xfrm>
            <a:off x="10698480" y="2377440"/>
            <a:ext cx="347472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888888"/>
                </a:solidFill>
                <a:latin typeface="Meiryo"/>
              </a:rPr>
              <a:t>正規ソフトは署名済み</a:t>
            </a:r>
          </a:p>
        </p:txBody>
      </p:sp>
      <p:sp>
        <p:nvSpPr>
          <p:cNvPr id="23" name="Rectangle 22"/>
          <p:cNvSpPr/>
          <p:nvPr/>
        </p:nvSpPr>
        <p:spPr>
          <a:xfrm>
            <a:off x="7772400" y="2834640"/>
            <a:ext cx="2926080" cy="45720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C0392B"/>
                </a:solidFill>
                <a:latin typeface="Meiryo"/>
              </a:rPr>
              <a:t>❌ 携帯番号を聞く</a:t>
            </a:r>
          </a:p>
        </p:txBody>
      </p:sp>
      <p:sp>
        <p:nvSpPr>
          <p:cNvPr id="24" name="Rectangle 23"/>
          <p:cNvSpPr/>
          <p:nvPr/>
        </p:nvSpPr>
        <p:spPr>
          <a:xfrm>
            <a:off x="10698480" y="2834640"/>
            <a:ext cx="347472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888888"/>
                </a:solidFill>
                <a:latin typeface="Meiryo"/>
              </a:rPr>
              <a:t>登録済みなので聞かない</a:t>
            </a:r>
          </a:p>
        </p:txBody>
      </p:sp>
      <p:sp>
        <p:nvSpPr>
          <p:cNvPr id="25" name="Rectangle 24"/>
          <p:cNvSpPr/>
          <p:nvPr/>
        </p:nvSpPr>
        <p:spPr>
          <a:xfrm>
            <a:off x="7772400" y="3291840"/>
            <a:ext cx="2926080" cy="45720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C0392B"/>
                </a:solidFill>
                <a:latin typeface="Meiryo"/>
              </a:rPr>
              <a:t>❌ 5要素一括入力</a:t>
            </a:r>
          </a:p>
        </p:txBody>
      </p:sp>
      <p:sp>
        <p:nvSpPr>
          <p:cNvPr id="26" name="Rectangle 25"/>
          <p:cNvSpPr/>
          <p:nvPr/>
        </p:nvSpPr>
        <p:spPr>
          <a:xfrm>
            <a:off x="10698480" y="3291840"/>
            <a:ext cx="347472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888888"/>
                </a:solidFill>
                <a:latin typeface="Meiryo"/>
              </a:rPr>
              <a:t>段階的に認証する</a:t>
            </a:r>
          </a:p>
        </p:txBody>
      </p:sp>
      <p:sp>
        <p:nvSpPr>
          <p:cNvPr id="27" name="TextBox 26"/>
          <p:cNvSpPr txBox="1"/>
          <p:nvPr/>
        </p:nvSpPr>
        <p:spPr>
          <a:xfrm>
            <a:off x="7772400" y="3840480"/>
            <a:ext cx="6400800" cy="457200"/>
          </a:xfrm>
          <a:prstGeom prst="rect">
            <a:avLst/>
          </a:prstGeom>
          <a:noFill/>
        </p:spPr>
        <p:txBody>
          <a:bodyPr wrap="square" lIns="50800" rIns="50800" tIns="38100" bIns="38100"/>
          <a:lstStyle/>
          <a:p>
            <a:pPr algn="l"/>
            <a:r>
              <a:rPr sz="900" b="0">
                <a:solidFill>
                  <a:srgbClr val="888888"/>
                </a:solidFill>
                <a:latin typeface="Meiryo"/>
              </a:rPr>
              <a:t>6個全て専門知識がないと気づけない。
唯一「不明な発行元」だけがOSの警告で
気づけるが、犯人のレベルアップで消える。</a:t>
            </a:r>
          </a:p>
        </p:txBody>
      </p:sp>
      <p:sp>
        <p:nvSpPr>
          <p:cNvPr id="28" name="Rectangle 27"/>
          <p:cNvSpPr/>
          <p:nvPr/>
        </p:nvSpPr>
        <p:spPr>
          <a:xfrm>
            <a:off x="731520" y="4480560"/>
            <a:ext cx="136245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犯人が言う「銀行が絶対に言わないセリフ」5つ → 全て手順②の恐怖で無効化される</a:t>
            </a:r>
          </a:p>
        </p:txBody>
      </p:sp>
      <p:sp>
        <p:nvSpPr>
          <p:cNvPr id="29" name="Rectangle 28"/>
          <p:cNvSpPr/>
          <p:nvPr/>
        </p:nvSpPr>
        <p:spPr>
          <a:xfrm>
            <a:off x="731520" y="4937760"/>
            <a:ext cx="1362456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技術的にKill Chainを切れるポイント3つ → 全て既存ツール・追加コストゼロ・顧客に依存しない</a:t>
            </a:r>
          </a:p>
        </p:txBody>
      </p:sp>
      <p:sp>
        <p:nvSpPr>
          <p:cNvPr id="30" name="Rectangle 29"/>
          <p:cNvSpPr/>
          <p:nvPr/>
        </p:nvSpPr>
        <p:spPr>
          <a:xfrm>
            <a:off x="731520" y="5303520"/>
            <a:ext cx="365760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④ DMARC p=reject</a:t>
            </a:r>
          </a:p>
        </p:txBody>
      </p:sp>
      <p:sp>
        <p:nvSpPr>
          <p:cNvPr id="31" name="Rectangle 30"/>
          <p:cNvSpPr/>
          <p:nvPr/>
        </p:nvSpPr>
        <p:spPr>
          <a:xfrm>
            <a:off x="4389120" y="5303520"/>
            <a:ext cx="9966960" cy="320040"/>
          </a:xfrm>
          <a:prstGeom prst="rect">
            <a:avLst/>
          </a:prstGeom>
          <a:solidFill>
            <a:srgbClr val="EAFAF1"/>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メール遮断（銀行側で完結）</a:t>
            </a:r>
          </a:p>
        </p:txBody>
      </p:sp>
      <p:sp>
        <p:nvSpPr>
          <p:cNvPr id="32" name="Rectangle 31"/>
          <p:cNvSpPr/>
          <p:nvPr/>
        </p:nvSpPr>
        <p:spPr>
          <a:xfrm>
            <a:off x="731520" y="5623560"/>
            <a:ext cx="365760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⑥ AppLocker/WDAC</a:t>
            </a:r>
          </a:p>
        </p:txBody>
      </p:sp>
      <p:sp>
        <p:nvSpPr>
          <p:cNvPr id="33" name="Rectangle 32"/>
          <p:cNvSpPr/>
          <p:nvPr/>
        </p:nvSpPr>
        <p:spPr>
          <a:xfrm>
            <a:off x="4389120" y="5623560"/>
            <a:ext cx="9966960" cy="320040"/>
          </a:xfrm>
          <a:prstGeom prst="rect">
            <a:avLst/>
          </a:prstGeom>
          <a:solidFill>
            <a:srgbClr val="EAFAF1"/>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msi実行阻止（Windows標準搭載）</a:t>
            </a:r>
          </a:p>
        </p:txBody>
      </p:sp>
      <p:sp>
        <p:nvSpPr>
          <p:cNvPr id="34" name="Rectangle 33"/>
          <p:cNvSpPr/>
          <p:nvPr/>
        </p:nvSpPr>
        <p:spPr>
          <a:xfrm>
            <a:off x="731520" y="5943600"/>
            <a:ext cx="365760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⑦⑨ EDR/振る舞い検知</a:t>
            </a:r>
          </a:p>
        </p:txBody>
      </p:sp>
      <p:sp>
        <p:nvSpPr>
          <p:cNvPr id="35" name="Rectangle 34"/>
          <p:cNvSpPr/>
          <p:nvPr/>
        </p:nvSpPr>
        <p:spPr>
          <a:xfrm>
            <a:off x="4389120" y="5943600"/>
            <a:ext cx="9966960" cy="320040"/>
          </a:xfrm>
          <a:prstGeom prst="rect">
            <a:avLst/>
          </a:prstGeom>
          <a:solidFill>
            <a:srgbClr val="EAFAF1"/>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ScreenConnect通信＋異常送金検知</a:t>
            </a:r>
          </a:p>
        </p:txBody>
      </p:sp>
      <p:sp>
        <p:nvSpPr>
          <p:cNvPr id="36" name="Rectangle 35"/>
          <p:cNvSpPr/>
          <p:nvPr/>
        </p:nvSpPr>
        <p:spPr>
          <a:xfrm>
            <a:off x="731520" y="6355080"/>
            <a:ext cx="1362456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全ての対策が「顧客にやってね」で丸投げされ、機能していない</a:t>
            </a:r>
          </a:p>
        </p:txBody>
      </p:sp>
      <p:sp>
        <p:nvSpPr>
          <p:cNvPr id="37" name="Rectangle 36"/>
          <p:cNvSpPr/>
          <p:nvPr/>
        </p:nvSpPr>
        <p:spPr>
          <a:xfrm>
            <a:off x="731520" y="6812280"/>
            <a:ext cx="13624560" cy="5486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8" name="TextBox 37"/>
          <p:cNvSpPr txBox="1"/>
          <p:nvPr/>
        </p:nvSpPr>
        <p:spPr>
          <a:xfrm>
            <a:off x="1005840" y="6839712"/>
            <a:ext cx="13075920" cy="502920"/>
          </a:xfrm>
          <a:prstGeom prst="rect">
            <a:avLst/>
          </a:prstGeom>
          <a:noFill/>
        </p:spPr>
        <p:txBody>
          <a:bodyPr wrap="square" lIns="50800" rIns="50800" tIns="38100" bIns="38100"/>
          <a:lstStyle/>
          <a:p>
            <a:pPr algn="ctr"/>
            <a:r>
              <a:rPr sz="1300" b="1">
                <a:solidFill>
                  <a:srgbClr val="FFFFFF"/>
                </a:solidFill>
                <a:latin typeface="Meiryo"/>
              </a:rPr>
              <a:t>最終結論：この攻撃が成立している根本原因は、犯人の巧みさではなく
「既にある対策を設定していない」「全てを顧客の問題にしている」こと。
銀行側が技術的対策を実装すれば、この攻撃は成立しなくなる。</a:t>
            </a:r>
          </a:p>
        </p:txBody>
      </p:sp>
      <p:sp>
        <p:nvSpPr>
          <p:cNvPr id="39" name="TextBox 38"/>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総括</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真のターゲット：ワンオペの零細企業</a:t>
            </a:r>
          </a:p>
        </p:txBody>
      </p:sp>
      <p:sp>
        <p:nvSpPr>
          <p:cNvPr id="3" name="TextBox 2"/>
          <p:cNvSpPr txBox="1"/>
          <p:nvPr/>
        </p:nvSpPr>
        <p:spPr>
          <a:xfrm>
            <a:off x="0" y="640080"/>
            <a:ext cx="15124176" cy="365760"/>
          </a:xfrm>
          <a:prstGeom prst="rect">
            <a:avLst/>
          </a:prstGeom>
          <a:noFill/>
        </p:spPr>
        <p:txBody>
          <a:bodyPr wrap="square" lIns="50800" rIns="50800" tIns="38100" bIns="38100"/>
          <a:lstStyle/>
          <a:p>
            <a:pPr algn="ctr"/>
            <a:r>
              <a:rPr sz="1100" b="0">
                <a:solidFill>
                  <a:srgbClr val="888888"/>
                </a:solidFill>
                <a:latin typeface="Meiryo"/>
              </a:rPr>
              <a:t>「承認実行権限を持っている方は1を」— 犯人は最初からワンオペの社長を狙い撃ちしている。</a:t>
            </a:r>
          </a:p>
        </p:txBody>
      </p:sp>
      <p:sp>
        <p:nvSpPr>
          <p:cNvPr id="4" name="Rectangle 3"/>
          <p:cNvSpPr/>
          <p:nvPr/>
        </p:nvSpPr>
        <p:spPr>
          <a:xfrm>
            <a:off x="731520" y="105156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企業規模別の送金フロー — チェック機能の有無</a:t>
            </a:r>
          </a:p>
        </p:txBody>
      </p:sp>
      <p:sp>
        <p:nvSpPr>
          <p:cNvPr id="5" name="Rectangle 4"/>
          <p:cNvSpPr/>
          <p:nvPr/>
        </p:nvSpPr>
        <p:spPr>
          <a:xfrm>
            <a:off x="731520" y="1417319"/>
            <a:ext cx="1828800" cy="45720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大企業</a:t>
            </a:r>
          </a:p>
        </p:txBody>
      </p:sp>
      <p:sp>
        <p:nvSpPr>
          <p:cNvPr id="6" name="Rectangle 5"/>
          <p:cNvSpPr/>
          <p:nvPr/>
        </p:nvSpPr>
        <p:spPr>
          <a:xfrm>
            <a:off x="2560320" y="1417319"/>
            <a:ext cx="50292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担当者が作成 → 上長が承認 → 別の承認者が実行</a:t>
            </a:r>
          </a:p>
        </p:txBody>
      </p:sp>
      <p:sp>
        <p:nvSpPr>
          <p:cNvPr id="7" name="Rectangle 6"/>
          <p:cNvSpPr/>
          <p:nvPr/>
        </p:nvSpPr>
        <p:spPr>
          <a:xfrm>
            <a:off x="7589520" y="1417319"/>
            <a:ext cx="22860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3人が関与</a:t>
            </a:r>
          </a:p>
        </p:txBody>
      </p:sp>
      <p:sp>
        <p:nvSpPr>
          <p:cNvPr id="8" name="Rectangle 7"/>
          <p:cNvSpPr/>
          <p:nvPr/>
        </p:nvSpPr>
        <p:spPr>
          <a:xfrm>
            <a:off x="9875520" y="1417319"/>
            <a:ext cx="448056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1人が騙されても止まる</a:t>
            </a:r>
          </a:p>
        </p:txBody>
      </p:sp>
      <p:sp>
        <p:nvSpPr>
          <p:cNvPr id="9" name="Rectangle 8"/>
          <p:cNvSpPr/>
          <p:nvPr/>
        </p:nvSpPr>
        <p:spPr>
          <a:xfrm>
            <a:off x="731520" y="1874519"/>
            <a:ext cx="182880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中小企業</a:t>
            </a:r>
          </a:p>
        </p:txBody>
      </p:sp>
      <p:sp>
        <p:nvSpPr>
          <p:cNvPr id="10" name="Rectangle 9"/>
          <p:cNvSpPr/>
          <p:nvPr/>
        </p:nvSpPr>
        <p:spPr>
          <a:xfrm>
            <a:off x="2560320" y="1874519"/>
            <a:ext cx="50292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担当者が作成 → 上長が承認</a:t>
            </a:r>
          </a:p>
        </p:txBody>
      </p:sp>
      <p:sp>
        <p:nvSpPr>
          <p:cNvPr id="11" name="Rectangle 10"/>
          <p:cNvSpPr/>
          <p:nvPr/>
        </p:nvSpPr>
        <p:spPr>
          <a:xfrm>
            <a:off x="7589520" y="1874519"/>
            <a:ext cx="22860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2人が関与</a:t>
            </a:r>
          </a:p>
        </p:txBody>
      </p:sp>
      <p:sp>
        <p:nvSpPr>
          <p:cNvPr id="12" name="Rectangle 11"/>
          <p:cNvSpPr/>
          <p:nvPr/>
        </p:nvSpPr>
        <p:spPr>
          <a:xfrm>
            <a:off x="9875520" y="1874519"/>
            <a:ext cx="448056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まだチェック機能がある</a:t>
            </a:r>
          </a:p>
        </p:txBody>
      </p:sp>
      <p:sp>
        <p:nvSpPr>
          <p:cNvPr id="13" name="Rectangle 12"/>
          <p:cNvSpPr/>
          <p:nvPr/>
        </p:nvSpPr>
        <p:spPr>
          <a:xfrm>
            <a:off x="731520" y="2331720"/>
            <a:ext cx="1828800" cy="45720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零細企業</a:t>
            </a:r>
          </a:p>
        </p:txBody>
      </p:sp>
      <p:sp>
        <p:nvSpPr>
          <p:cNvPr id="14" name="Rectangle 13"/>
          <p:cNvSpPr/>
          <p:nvPr/>
        </p:nvSpPr>
        <p:spPr>
          <a:xfrm>
            <a:off x="2560320" y="2331720"/>
            <a:ext cx="50292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社長が作成 → 社長が承認 → 社長が実行</a:t>
            </a:r>
          </a:p>
        </p:txBody>
      </p:sp>
      <p:sp>
        <p:nvSpPr>
          <p:cNvPr id="15" name="Rectangle 14"/>
          <p:cNvSpPr/>
          <p:nvPr/>
        </p:nvSpPr>
        <p:spPr>
          <a:xfrm>
            <a:off x="7589520" y="2331720"/>
            <a:ext cx="22860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1人（ワンオペ）</a:t>
            </a:r>
          </a:p>
        </p:txBody>
      </p:sp>
      <p:sp>
        <p:nvSpPr>
          <p:cNvPr id="16" name="Rectangle 15"/>
          <p:cNvSpPr/>
          <p:nvPr/>
        </p:nvSpPr>
        <p:spPr>
          <a:xfrm>
            <a:off x="9875520" y="2331720"/>
            <a:ext cx="448056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チェック機能ゼロ</a:t>
            </a:r>
          </a:p>
        </p:txBody>
      </p:sp>
      <p:sp>
        <p:nvSpPr>
          <p:cNvPr id="17" name="Rectangle 16"/>
          <p:cNvSpPr/>
          <p:nvPr/>
        </p:nvSpPr>
        <p:spPr>
          <a:xfrm>
            <a:off x="731520" y="2880360"/>
            <a:ext cx="136245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ワンオペだと全ての防御ポイントが消滅する</a:t>
            </a:r>
          </a:p>
        </p:txBody>
      </p:sp>
      <p:sp>
        <p:nvSpPr>
          <p:cNvPr id="18" name="Rectangle 17"/>
          <p:cNvSpPr/>
          <p:nvPr/>
        </p:nvSpPr>
        <p:spPr>
          <a:xfrm>
            <a:off x="731520" y="3246120"/>
            <a:ext cx="3200400" cy="347472"/>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防御ポイント</a:t>
            </a:r>
          </a:p>
        </p:txBody>
      </p:sp>
      <p:sp>
        <p:nvSpPr>
          <p:cNvPr id="19" name="Rectangle 18"/>
          <p:cNvSpPr/>
          <p:nvPr/>
        </p:nvSpPr>
        <p:spPr>
          <a:xfrm>
            <a:off x="3931920" y="3246120"/>
            <a:ext cx="4754880" cy="347472"/>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複数人体制</a:t>
            </a:r>
          </a:p>
        </p:txBody>
      </p:sp>
      <p:sp>
        <p:nvSpPr>
          <p:cNvPr id="20" name="Rectangle 19"/>
          <p:cNvSpPr/>
          <p:nvPr/>
        </p:nvSpPr>
        <p:spPr>
          <a:xfrm>
            <a:off x="8686800" y="3246120"/>
            <a:ext cx="5669280" cy="347472"/>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ワンオペ</a:t>
            </a:r>
          </a:p>
        </p:txBody>
      </p:sp>
      <p:sp>
        <p:nvSpPr>
          <p:cNvPr id="21" name="Rectangle 20"/>
          <p:cNvSpPr/>
          <p:nvPr/>
        </p:nvSpPr>
        <p:spPr>
          <a:xfrm>
            <a:off x="731520" y="3593591"/>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「メアド教えて」に違和感</a:t>
            </a:r>
          </a:p>
        </p:txBody>
      </p:sp>
      <p:sp>
        <p:nvSpPr>
          <p:cNvPr id="22" name="Rectangle 21"/>
          <p:cNvSpPr/>
          <p:nvPr/>
        </p:nvSpPr>
        <p:spPr>
          <a:xfrm>
            <a:off x="3931920" y="3593591"/>
            <a:ext cx="4754880" cy="3657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同僚に相談できる</a:t>
            </a:r>
          </a:p>
        </p:txBody>
      </p:sp>
      <p:sp>
        <p:nvSpPr>
          <p:cNvPr id="23" name="Rectangle 22"/>
          <p:cNvSpPr/>
          <p:nvPr/>
        </p:nvSpPr>
        <p:spPr>
          <a:xfrm>
            <a:off x="8686800" y="3593591"/>
            <a:ext cx="566928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相談相手がいない</a:t>
            </a:r>
          </a:p>
        </p:txBody>
      </p:sp>
      <p:sp>
        <p:nvSpPr>
          <p:cNvPr id="24" name="Rectangle 23"/>
          <p:cNvSpPr/>
          <p:nvPr/>
        </p:nvSpPr>
        <p:spPr>
          <a:xfrm>
            <a:off x="731520" y="3959352"/>
            <a:ext cx="32004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不明な発行元の警告</a:t>
            </a:r>
          </a:p>
        </p:txBody>
      </p:sp>
      <p:sp>
        <p:nvSpPr>
          <p:cNvPr id="25" name="Rectangle 24"/>
          <p:cNvSpPr/>
          <p:nvPr/>
        </p:nvSpPr>
        <p:spPr>
          <a:xfrm>
            <a:off x="3931920" y="3959352"/>
            <a:ext cx="4754880" cy="36576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IT担当に確認できる</a:t>
            </a:r>
          </a:p>
        </p:txBody>
      </p:sp>
      <p:sp>
        <p:nvSpPr>
          <p:cNvPr id="26" name="Rectangle 25"/>
          <p:cNvSpPr/>
          <p:nvPr/>
        </p:nvSpPr>
        <p:spPr>
          <a:xfrm>
            <a:off x="8686800" y="3959352"/>
            <a:ext cx="566928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IT担当がいない</a:t>
            </a:r>
          </a:p>
        </p:txBody>
      </p:sp>
      <p:sp>
        <p:nvSpPr>
          <p:cNvPr id="27" name="Rectangle 26"/>
          <p:cNvSpPr/>
          <p:nvPr/>
        </p:nvSpPr>
        <p:spPr>
          <a:xfrm>
            <a:off x="731520" y="4325112"/>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送金の承認</a:t>
            </a:r>
          </a:p>
        </p:txBody>
      </p:sp>
      <p:sp>
        <p:nvSpPr>
          <p:cNvPr id="28" name="Rectangle 27"/>
          <p:cNvSpPr/>
          <p:nvPr/>
        </p:nvSpPr>
        <p:spPr>
          <a:xfrm>
            <a:off x="3931920" y="4325112"/>
            <a:ext cx="4754880" cy="3657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別の承認者が止める</a:t>
            </a:r>
          </a:p>
        </p:txBody>
      </p:sp>
      <p:sp>
        <p:nvSpPr>
          <p:cNvPr id="29" name="Rectangle 28"/>
          <p:cNvSpPr/>
          <p:nvPr/>
        </p:nvSpPr>
        <p:spPr>
          <a:xfrm>
            <a:off x="8686800" y="4325112"/>
            <a:ext cx="566928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自分で承認してしまう</a:t>
            </a:r>
          </a:p>
        </p:txBody>
      </p:sp>
      <p:sp>
        <p:nvSpPr>
          <p:cNvPr id="30" name="Rectangle 29"/>
          <p:cNvSpPr/>
          <p:nvPr/>
        </p:nvSpPr>
        <p:spPr>
          <a:xfrm>
            <a:off x="731520" y="4690872"/>
            <a:ext cx="32004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電話中に確認</a:t>
            </a:r>
          </a:p>
        </p:txBody>
      </p:sp>
      <p:sp>
        <p:nvSpPr>
          <p:cNvPr id="31" name="Rectangle 30"/>
          <p:cNvSpPr/>
          <p:nvPr/>
        </p:nvSpPr>
        <p:spPr>
          <a:xfrm>
            <a:off x="3931920" y="4690872"/>
            <a:ext cx="4754880" cy="36576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他の人が銀行に電話できる</a:t>
            </a:r>
          </a:p>
        </p:txBody>
      </p:sp>
      <p:sp>
        <p:nvSpPr>
          <p:cNvPr id="32" name="Rectangle 31"/>
          <p:cNvSpPr/>
          <p:nvPr/>
        </p:nvSpPr>
        <p:spPr>
          <a:xfrm>
            <a:off x="8686800" y="4690872"/>
            <a:ext cx="566928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自分しかいない</a:t>
            </a:r>
          </a:p>
        </p:txBody>
      </p:sp>
      <p:sp>
        <p:nvSpPr>
          <p:cNvPr id="33" name="Rectangle 32"/>
          <p:cNvSpPr/>
          <p:nvPr/>
        </p:nvSpPr>
        <p:spPr>
          <a:xfrm>
            <a:off x="731520" y="5056631"/>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事後の発覚</a:t>
            </a:r>
          </a:p>
        </p:txBody>
      </p:sp>
      <p:sp>
        <p:nvSpPr>
          <p:cNvPr id="34" name="Rectangle 33"/>
          <p:cNvSpPr/>
          <p:nvPr/>
        </p:nvSpPr>
        <p:spPr>
          <a:xfrm>
            <a:off x="3931920" y="5056631"/>
            <a:ext cx="4754880" cy="3657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経理が不審な送金に気づく</a:t>
            </a:r>
          </a:p>
        </p:txBody>
      </p:sp>
      <p:sp>
        <p:nvSpPr>
          <p:cNvPr id="35" name="Rectangle 34"/>
          <p:cNvSpPr/>
          <p:nvPr/>
        </p:nvSpPr>
        <p:spPr>
          <a:xfrm>
            <a:off x="8686800" y="5056631"/>
            <a:ext cx="566928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自分が経理</a:t>
            </a:r>
          </a:p>
        </p:txBody>
      </p:sp>
      <p:sp>
        <p:nvSpPr>
          <p:cNvPr id="36" name="Rectangle 35"/>
          <p:cNvSpPr/>
          <p:nvPr/>
        </p:nvSpPr>
        <p:spPr>
          <a:xfrm>
            <a:off x="731520" y="553212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犯人の攻撃設計は最初からワンオペ零細企業を想定している</a:t>
            </a:r>
          </a:p>
        </p:txBody>
      </p:sp>
      <p:sp>
        <p:nvSpPr>
          <p:cNvPr id="37" name="Rectangle 36"/>
          <p:cNvSpPr/>
          <p:nvPr/>
        </p:nvSpPr>
        <p:spPr>
          <a:xfrm>
            <a:off x="731520" y="5897880"/>
            <a:ext cx="4572000" cy="347472"/>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「承認実行権限を持っている方」</a:t>
            </a:r>
          </a:p>
        </p:txBody>
      </p:sp>
      <p:sp>
        <p:nvSpPr>
          <p:cNvPr id="38" name="Rectangle 37"/>
          <p:cNvSpPr/>
          <p:nvPr/>
        </p:nvSpPr>
        <p:spPr>
          <a:xfrm>
            <a:off x="5303520" y="5897880"/>
            <a:ext cx="9052560" cy="347472"/>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ワンオペの社長を自動選別</a:t>
            </a:r>
          </a:p>
        </p:txBody>
      </p:sp>
      <p:sp>
        <p:nvSpPr>
          <p:cNvPr id="39" name="Rectangle 38"/>
          <p:cNvSpPr/>
          <p:nvPr/>
        </p:nvSpPr>
        <p:spPr>
          <a:xfrm>
            <a:off x="731520" y="6245352"/>
            <a:ext cx="4572000" cy="347472"/>
          </a:xfrm>
          <a:prstGeom prst="rect">
            <a:avLst/>
          </a:prstGeom>
          <a:solidFill>
            <a:srgbClr val="F9F9F9"/>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電話をつないだまま</a:t>
            </a:r>
          </a:p>
        </p:txBody>
      </p:sp>
      <p:sp>
        <p:nvSpPr>
          <p:cNvPr id="40" name="Rectangle 39"/>
          <p:cNvSpPr/>
          <p:nvPr/>
        </p:nvSpPr>
        <p:spPr>
          <a:xfrm>
            <a:off x="5303520" y="6245352"/>
            <a:ext cx="9052560" cy="347472"/>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相談相手がいない状況を利用</a:t>
            </a:r>
          </a:p>
        </p:txBody>
      </p:sp>
      <p:sp>
        <p:nvSpPr>
          <p:cNvPr id="41" name="Rectangle 40"/>
          <p:cNvSpPr/>
          <p:nvPr/>
        </p:nvSpPr>
        <p:spPr>
          <a:xfrm>
            <a:off x="731520" y="6592824"/>
            <a:ext cx="4572000" cy="347472"/>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幅広に架電</a:t>
            </a:r>
          </a:p>
        </p:txBody>
      </p:sp>
      <p:sp>
        <p:nvSpPr>
          <p:cNvPr id="42" name="Rectangle 41"/>
          <p:cNvSpPr/>
          <p:nvPr/>
        </p:nvSpPr>
        <p:spPr>
          <a:xfrm>
            <a:off x="5303520" y="6592824"/>
            <a:ext cx="9052560" cy="347472"/>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零細企業の数は圧倒的に多い</a:t>
            </a:r>
          </a:p>
        </p:txBody>
      </p:sp>
      <p:sp>
        <p:nvSpPr>
          <p:cNvPr id="43" name="Rectangle 42"/>
          <p:cNvSpPr/>
          <p:nvPr/>
        </p:nvSpPr>
        <p:spPr>
          <a:xfrm>
            <a:off x="731520" y="6940296"/>
            <a:ext cx="4572000" cy="347472"/>
          </a:xfrm>
          <a:prstGeom prst="rect">
            <a:avLst/>
          </a:prstGeom>
          <a:solidFill>
            <a:srgbClr val="F9F9F9"/>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1件数百万〜数千万円</a:t>
            </a:r>
          </a:p>
        </p:txBody>
      </p:sp>
      <p:sp>
        <p:nvSpPr>
          <p:cNvPr id="44" name="Rectangle 43"/>
          <p:cNvSpPr/>
          <p:nvPr/>
        </p:nvSpPr>
        <p:spPr>
          <a:xfrm>
            <a:off x="5303520" y="6940296"/>
            <a:ext cx="9052560" cy="347472"/>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零細でも十分なリターン</a:t>
            </a:r>
          </a:p>
        </p:txBody>
      </p:sp>
      <p:sp>
        <p:nvSpPr>
          <p:cNvPr id="45" name="Rectangle 44"/>
          <p:cNvSpPr/>
          <p:nvPr/>
        </p:nvSpPr>
        <p:spPr>
          <a:xfrm>
            <a:off x="731520" y="7315200"/>
            <a:ext cx="1362456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零細企業は「セキュリティ体制なし＋ワンオペ＋相談相手なし＋承認チェックなし」
— 犯人にとって最も効率の良いターゲット。銀行側の技術的対策なしでは守れない。</a:t>
            </a:r>
          </a:p>
        </p:txBody>
      </p:sp>
      <p:sp>
        <p:nvSpPr>
          <p:cNvPr id="46" name="TextBox 4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零細企業ワンオペの脆弱性</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C0392B"/>
                </a:solidFill>
                <a:latin typeface="Meiryo"/>
              </a:rPr>
              <a:t>週次でシナリオ更新 — 注意喚起は構造的に追いつけない</a:t>
            </a:r>
          </a:p>
        </p:txBody>
      </p:sp>
      <p:sp>
        <p:nvSpPr>
          <p:cNvPr id="3" name="Rectangle 2"/>
          <p:cNvSpPr/>
          <p:nvPr/>
        </p:nvSpPr>
        <p:spPr>
          <a:xfrm>
            <a:off x="731520" y="77724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犯人は組織的にPDCAを回している</a:t>
            </a:r>
          </a:p>
        </p:txBody>
      </p:sp>
      <p:sp>
        <p:nvSpPr>
          <p:cNvPr id="4" name="Rectangle 3"/>
          <p:cNvSpPr/>
          <p:nvPr/>
        </p:nvSpPr>
        <p:spPr>
          <a:xfrm>
            <a:off x="731520" y="1143000"/>
            <a:ext cx="1828800" cy="45720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Plan</a:t>
            </a:r>
          </a:p>
        </p:txBody>
      </p:sp>
      <p:sp>
        <p:nvSpPr>
          <p:cNvPr id="5" name="Rectangle 4"/>
          <p:cNvSpPr/>
          <p:nvPr/>
        </p:nvSpPr>
        <p:spPr>
          <a:xfrm>
            <a:off x="2560320" y="1143000"/>
            <a:ext cx="5486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新しいシナリオを設計</a:t>
            </a:r>
          </a:p>
        </p:txBody>
      </p:sp>
      <p:sp>
        <p:nvSpPr>
          <p:cNvPr id="6" name="Rectangle 5"/>
          <p:cNvSpPr/>
          <p:nvPr/>
        </p:nvSpPr>
        <p:spPr>
          <a:xfrm>
            <a:off x="8046720" y="1143000"/>
            <a:ext cx="630936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888888"/>
                </a:solidFill>
                <a:latin typeface="Meiryo"/>
              </a:rPr>
              <a:t>先週の失敗を改善</a:t>
            </a:r>
          </a:p>
        </p:txBody>
      </p:sp>
      <p:sp>
        <p:nvSpPr>
          <p:cNvPr id="7" name="Rectangle 6"/>
          <p:cNvSpPr/>
          <p:nvPr/>
        </p:nvSpPr>
        <p:spPr>
          <a:xfrm>
            <a:off x="731520" y="1600200"/>
            <a:ext cx="182880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Do</a:t>
            </a:r>
          </a:p>
        </p:txBody>
      </p:sp>
      <p:sp>
        <p:nvSpPr>
          <p:cNvPr id="8" name="Rectangle 7"/>
          <p:cNvSpPr/>
          <p:nvPr/>
        </p:nvSpPr>
        <p:spPr>
          <a:xfrm>
            <a:off x="2560320" y="1600200"/>
            <a:ext cx="5486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大量架電で実行</a:t>
            </a:r>
          </a:p>
        </p:txBody>
      </p:sp>
      <p:sp>
        <p:nvSpPr>
          <p:cNvPr id="9" name="Rectangle 8"/>
          <p:cNvSpPr/>
          <p:nvPr/>
        </p:nvSpPr>
        <p:spPr>
          <a:xfrm>
            <a:off x="8046720" y="1600200"/>
            <a:ext cx="630936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888888"/>
                </a:solidFill>
                <a:latin typeface="Meiryo"/>
              </a:rPr>
              <a:t>零細企業を含め幅広に</a:t>
            </a:r>
          </a:p>
        </p:txBody>
      </p:sp>
      <p:sp>
        <p:nvSpPr>
          <p:cNvPr id="10" name="Rectangle 9"/>
          <p:cNvSpPr/>
          <p:nvPr/>
        </p:nvSpPr>
        <p:spPr>
          <a:xfrm>
            <a:off x="731520" y="2057400"/>
            <a:ext cx="182880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Check</a:t>
            </a:r>
          </a:p>
        </p:txBody>
      </p:sp>
      <p:sp>
        <p:nvSpPr>
          <p:cNvPr id="11" name="Rectangle 10"/>
          <p:cNvSpPr/>
          <p:nvPr/>
        </p:nvSpPr>
        <p:spPr>
          <a:xfrm>
            <a:off x="2560320" y="2057400"/>
            <a:ext cx="5486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成功率・失敗ポイントを分析</a:t>
            </a:r>
          </a:p>
        </p:txBody>
      </p:sp>
      <p:sp>
        <p:nvSpPr>
          <p:cNvPr id="12" name="Rectangle 11"/>
          <p:cNvSpPr/>
          <p:nvPr/>
        </p:nvSpPr>
        <p:spPr>
          <a:xfrm>
            <a:off x="8046720" y="2057400"/>
            <a:ext cx="630936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888888"/>
                </a:solidFill>
                <a:latin typeface="Meiryo"/>
              </a:rPr>
              <a:t>どの手順で止まったか</a:t>
            </a:r>
          </a:p>
        </p:txBody>
      </p:sp>
      <p:sp>
        <p:nvSpPr>
          <p:cNvPr id="13" name="Rectangle 12"/>
          <p:cNvSpPr/>
          <p:nvPr/>
        </p:nvSpPr>
        <p:spPr>
          <a:xfrm>
            <a:off x="731520" y="2514600"/>
            <a:ext cx="18288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Act</a:t>
            </a:r>
          </a:p>
        </p:txBody>
      </p:sp>
      <p:sp>
        <p:nvSpPr>
          <p:cNvPr id="14" name="Rectangle 13"/>
          <p:cNvSpPr/>
          <p:nvPr/>
        </p:nvSpPr>
        <p:spPr>
          <a:xfrm>
            <a:off x="2560320" y="2514600"/>
            <a:ext cx="5486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翌週シナリオを改善</a:t>
            </a:r>
          </a:p>
        </p:txBody>
      </p:sp>
      <p:sp>
        <p:nvSpPr>
          <p:cNvPr id="15" name="Rectangle 14"/>
          <p:cNvSpPr/>
          <p:nvPr/>
        </p:nvSpPr>
        <p:spPr>
          <a:xfrm>
            <a:off x="8046720" y="2514600"/>
            <a:ext cx="630936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888888"/>
                </a:solidFill>
                <a:latin typeface="Meiryo"/>
              </a:rPr>
              <a:t>破綻ポイントを潰す</a:t>
            </a:r>
          </a:p>
        </p:txBody>
      </p:sp>
      <p:sp>
        <p:nvSpPr>
          <p:cNvPr id="16" name="Rectangle 15"/>
          <p:cNvSpPr/>
          <p:nvPr/>
        </p:nvSpPr>
        <p:spPr>
          <a:xfrm>
            <a:off x="731520" y="3063240"/>
            <a:ext cx="1362456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シナリオ改善の例 — 破綻ポイントを毎週潰していく</a:t>
            </a:r>
          </a:p>
        </p:txBody>
      </p:sp>
      <p:sp>
        <p:nvSpPr>
          <p:cNvPr id="17" name="Rectangle 16"/>
          <p:cNvSpPr/>
          <p:nvPr/>
        </p:nvSpPr>
        <p:spPr>
          <a:xfrm>
            <a:off x="731520" y="3429000"/>
            <a:ext cx="5029200" cy="36576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「メアドを聞いたら怪しまれた」</a:t>
            </a:r>
          </a:p>
        </p:txBody>
      </p:sp>
      <p:sp>
        <p:nvSpPr>
          <p:cNvPr id="18" name="Rectangle 17"/>
          <p:cNvSpPr/>
          <p:nvPr/>
        </p:nvSpPr>
        <p:spPr>
          <a:xfrm>
            <a:off x="5760720" y="3429000"/>
            <a:ext cx="859536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翌週は別の聞き方にする / 入手済みルートを優先</a:t>
            </a:r>
          </a:p>
        </p:txBody>
      </p:sp>
      <p:sp>
        <p:nvSpPr>
          <p:cNvPr id="19" name="Rectangle 18"/>
          <p:cNvSpPr/>
          <p:nvPr/>
        </p:nvSpPr>
        <p:spPr>
          <a:xfrm>
            <a:off x="731520" y="3794760"/>
            <a:ext cx="5029200" cy="365760"/>
          </a:xfrm>
          <a:prstGeom prst="rect">
            <a:avLst/>
          </a:prstGeom>
          <a:solidFill>
            <a:srgbClr val="F9F9F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「不明な発行元で止まった」</a:t>
            </a:r>
          </a:p>
        </p:txBody>
      </p:sp>
      <p:sp>
        <p:nvSpPr>
          <p:cNvPr id="20" name="Rectangle 19"/>
          <p:cNvSpPr/>
          <p:nvPr/>
        </p:nvSpPr>
        <p:spPr>
          <a:xfrm>
            <a:off x="5760720" y="3794760"/>
            <a:ext cx="859536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翌週は証明書を用意する</a:t>
            </a:r>
          </a:p>
        </p:txBody>
      </p:sp>
      <p:sp>
        <p:nvSpPr>
          <p:cNvPr id="21" name="Rectangle 20"/>
          <p:cNvSpPr/>
          <p:nvPr/>
        </p:nvSpPr>
        <p:spPr>
          <a:xfrm>
            <a:off x="731520" y="4160520"/>
            <a:ext cx="5029200" cy="36576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「迷惑フォルダで止まった」</a:t>
            </a:r>
          </a:p>
        </p:txBody>
      </p:sp>
      <p:sp>
        <p:nvSpPr>
          <p:cNvPr id="22" name="Rectangle 21"/>
          <p:cNvSpPr/>
          <p:nvPr/>
        </p:nvSpPr>
        <p:spPr>
          <a:xfrm>
            <a:off x="5760720" y="4160520"/>
            <a:ext cx="859536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翌週はトーク改善する</a:t>
            </a:r>
          </a:p>
        </p:txBody>
      </p:sp>
      <p:sp>
        <p:nvSpPr>
          <p:cNvPr id="23" name="Rectangle 22"/>
          <p:cNvSpPr/>
          <p:nvPr/>
        </p:nvSpPr>
        <p:spPr>
          <a:xfrm>
            <a:off x="731520" y="4526280"/>
            <a:ext cx="5029200" cy="365760"/>
          </a:xfrm>
          <a:prstGeom prst="rect">
            <a:avLst/>
          </a:prstGeom>
          <a:solidFill>
            <a:srgbClr val="F9F9F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「赤い画面で不審がられた」</a:t>
            </a:r>
          </a:p>
        </p:txBody>
      </p:sp>
      <p:sp>
        <p:nvSpPr>
          <p:cNvPr id="24" name="Rectangle 23"/>
          <p:cNvSpPr/>
          <p:nvPr/>
        </p:nvSpPr>
        <p:spPr>
          <a:xfrm>
            <a:off x="5760720" y="4526280"/>
            <a:ext cx="859536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翌週は画面デザインを変える</a:t>
            </a:r>
          </a:p>
        </p:txBody>
      </p:sp>
      <p:sp>
        <p:nvSpPr>
          <p:cNvPr id="25" name="Rectangle 24"/>
          <p:cNvSpPr/>
          <p:nvPr/>
        </p:nvSpPr>
        <p:spPr>
          <a:xfrm>
            <a:off x="731520" y="502920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注意喚起 vs シナリオ更新のスピード — 非対称性</a:t>
            </a:r>
          </a:p>
        </p:txBody>
      </p:sp>
      <p:sp>
        <p:nvSpPr>
          <p:cNvPr id="26" name="Rectangle 25"/>
          <p:cNvSpPr/>
          <p:nvPr/>
        </p:nvSpPr>
        <p:spPr>
          <a:xfrm>
            <a:off x="731520" y="5440680"/>
            <a:ext cx="6583680" cy="32004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222222"/>
                </a:solidFill>
                <a:latin typeface="Meiryo"/>
              </a:rPr>
              <a:t>銀行側の注意喚起</a:t>
            </a:r>
          </a:p>
        </p:txBody>
      </p:sp>
      <p:sp>
        <p:nvSpPr>
          <p:cNvPr id="27" name="Rectangle 26"/>
          <p:cNvSpPr/>
          <p:nvPr/>
        </p:nvSpPr>
        <p:spPr>
          <a:xfrm>
            <a:off x="731520" y="5760720"/>
            <a:ext cx="6583680" cy="54864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作成 → 社内審査 → 顧客に配信
→ 数週間〜数ヶ月</a:t>
            </a:r>
          </a:p>
        </p:txBody>
      </p:sp>
      <p:sp>
        <p:nvSpPr>
          <p:cNvPr id="28" name="Rectangle 27"/>
          <p:cNvSpPr/>
          <p:nvPr/>
        </p:nvSpPr>
        <p:spPr>
          <a:xfrm>
            <a:off x="7772400" y="5440680"/>
            <a:ext cx="6400800" cy="3200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犯人のシナリオ更新</a:t>
            </a:r>
          </a:p>
        </p:txBody>
      </p:sp>
      <p:sp>
        <p:nvSpPr>
          <p:cNvPr id="29" name="Rectangle 28"/>
          <p:cNvSpPr/>
          <p:nvPr/>
        </p:nvSpPr>
        <p:spPr>
          <a:xfrm>
            <a:off x="7772400" y="5760720"/>
            <a:ext cx="6400800" cy="54864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先週の結果を分析 → シナリオ修正 → 翌週実行
→ 1週間</a:t>
            </a:r>
          </a:p>
        </p:txBody>
      </p:sp>
      <p:sp>
        <p:nvSpPr>
          <p:cNvPr id="30" name="Rectangle 29"/>
          <p:cNvSpPr/>
          <p:nvPr/>
        </p:nvSpPr>
        <p:spPr>
          <a:xfrm>
            <a:off x="731520" y="6400800"/>
            <a:ext cx="136245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銀行が1つのパターンに対応する間に、犯人は4〜8回シナリオを更新している</a:t>
            </a:r>
          </a:p>
        </p:txBody>
      </p:sp>
      <p:sp>
        <p:nvSpPr>
          <p:cNvPr id="31" name="Rectangle 30"/>
          <p:cNvSpPr/>
          <p:nvPr/>
        </p:nvSpPr>
        <p:spPr>
          <a:xfrm>
            <a:off x="731520" y="6949440"/>
            <a:ext cx="6583680" cy="3200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シナリオに依存する防御 = 追いつけない</a:t>
            </a:r>
          </a:p>
        </p:txBody>
      </p:sp>
      <p:sp>
        <p:nvSpPr>
          <p:cNvPr id="32" name="Rectangle 31"/>
          <p:cNvSpPr/>
          <p:nvPr/>
        </p:nvSpPr>
        <p:spPr>
          <a:xfrm>
            <a:off x="7772400" y="6949440"/>
            <a:ext cx="6400800" cy="3200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シナリオに依存しない防御 = 常に有効</a:t>
            </a:r>
          </a:p>
        </p:txBody>
      </p:sp>
      <p:sp>
        <p:nvSpPr>
          <p:cNvPr id="33" name="Rectangle 32"/>
          <p:cNvSpPr/>
          <p:nvPr/>
        </p:nvSpPr>
        <p:spPr>
          <a:xfrm>
            <a:off x="731520" y="7269480"/>
            <a:ext cx="6583680" cy="59436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C0392B"/>
                </a:solidFill>
                <a:latin typeface="Meiryo"/>
              </a:rPr>
              <a:t>❌ 注意喚起
❌ パターンマッチ
❌ セキュリティ教育</a:t>
            </a:r>
          </a:p>
        </p:txBody>
      </p:sp>
      <p:sp>
        <p:nvSpPr>
          <p:cNvPr id="34" name="Rectangle 33"/>
          <p:cNvSpPr/>
          <p:nvPr/>
        </p:nvSpPr>
        <p:spPr>
          <a:xfrm>
            <a:off x="7772400" y="7269480"/>
            <a:ext cx="6400800" cy="5943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7AE60"/>
                </a:solidFill>
                <a:latin typeface="Meiryo"/>
              </a:rPr>
              <a:t>✅ DMARC p=reject → シナリオが何であれ偽メールは届かない
✅ AppLocker → シナリオが何であれ未許可アプリは実行できない
✅ 技術的対策だけが「シナリオに依存しない防御」</a:t>
            </a:r>
          </a:p>
        </p:txBody>
      </p:sp>
      <p:sp>
        <p:nvSpPr>
          <p:cNvPr id="35" name="TextBox 34"/>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週次シナリオ更新と防御の非対称性</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振込を即時に止められない理由</a:t>
            </a:r>
          </a:p>
        </p:txBody>
      </p:sp>
      <p:sp>
        <p:nvSpPr>
          <p:cNvPr id="3" name="TextBox 2"/>
          <p:cNvSpPr txBox="1"/>
          <p:nvPr/>
        </p:nvSpPr>
        <p:spPr>
          <a:xfrm>
            <a:off x="0" y="640080"/>
            <a:ext cx="15124176" cy="365760"/>
          </a:xfrm>
          <a:prstGeom prst="rect">
            <a:avLst/>
          </a:prstGeom>
          <a:noFill/>
        </p:spPr>
        <p:txBody>
          <a:bodyPr wrap="square" lIns="50800" rIns="50800" tIns="38100" bIns="38100"/>
          <a:lstStyle/>
          <a:p>
            <a:pPr algn="ctr"/>
            <a:r>
              <a:rPr sz="1100" b="0">
                <a:solidFill>
                  <a:srgbClr val="888888"/>
                </a:solidFill>
                <a:latin typeface="Meiryo"/>
              </a:rPr>
              <a:t>「速い・高額・自動・即着金」という法人IBの利便性が、そのまま攻撃の通り道になっている。</a:t>
            </a:r>
          </a:p>
        </p:txBody>
      </p:sp>
      <p:sp>
        <p:nvSpPr>
          <p:cNvPr id="4" name="Rectangle 3"/>
          <p:cNvSpPr/>
          <p:nvPr/>
        </p:nvSpPr>
        <p:spPr>
          <a:xfrm>
            <a:off x="731520" y="109728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理由1：振込時点では「正規の取引」と判別不能</a:t>
            </a:r>
          </a:p>
        </p:txBody>
      </p:sp>
      <p:sp>
        <p:nvSpPr>
          <p:cNvPr id="5" name="Rectangle 4"/>
          <p:cNvSpPr/>
          <p:nvPr/>
        </p:nvSpPr>
        <p:spPr>
          <a:xfrm>
            <a:off x="731520" y="1463040"/>
            <a:ext cx="1362456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正しい認証情報・OTP・本人のアカウント・いつものIP（PC経由）→「本人による正規の振込」としか見えず、止める根拠がない</a:t>
            </a:r>
          </a:p>
        </p:txBody>
      </p:sp>
      <p:sp>
        <p:nvSpPr>
          <p:cNvPr id="6" name="Rectangle 5"/>
          <p:cNvSpPr/>
          <p:nvPr/>
        </p:nvSpPr>
        <p:spPr>
          <a:xfrm>
            <a:off x="731520" y="1874519"/>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理由2：振込限度額の範囲内なら自動で通る</a:t>
            </a:r>
          </a:p>
        </p:txBody>
      </p:sp>
      <p:sp>
        <p:nvSpPr>
          <p:cNvPr id="7" name="Rectangle 6"/>
          <p:cNvSpPr/>
          <p:nvPr/>
        </p:nvSpPr>
        <p:spPr>
          <a:xfrm>
            <a:off x="731520" y="2240279"/>
            <a:ext cx="1362456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法人IBの限度額は高額。範囲内ならシステムが自動承認し、人間のチェックが入らず数秒で送金完了</a:t>
            </a:r>
          </a:p>
        </p:txBody>
      </p:sp>
      <p:sp>
        <p:nvSpPr>
          <p:cNvPr id="8" name="Rectangle 7"/>
          <p:cNvSpPr/>
          <p:nvPr/>
        </p:nvSpPr>
        <p:spPr>
          <a:xfrm>
            <a:off x="731520" y="265176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理由3：全銀システムは「即時送金」が前提</a:t>
            </a:r>
          </a:p>
        </p:txBody>
      </p:sp>
      <p:sp>
        <p:nvSpPr>
          <p:cNvPr id="9" name="Rectangle 8"/>
          <p:cNvSpPr/>
          <p:nvPr/>
        </p:nvSpPr>
        <p:spPr>
          <a:xfrm>
            <a:off x="731520" y="3017520"/>
            <a:ext cx="1362456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モアタイムシステムで24時間即時着金。「ちょっと待った」ができず、着金した瞬間に引き出し可能</a:t>
            </a:r>
          </a:p>
        </p:txBody>
      </p:sp>
      <p:sp>
        <p:nvSpPr>
          <p:cNvPr id="10" name="Rectangle 9"/>
          <p:cNvSpPr/>
          <p:nvPr/>
        </p:nvSpPr>
        <p:spPr>
          <a:xfrm>
            <a:off x="731520" y="342900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理由4：着金後すぐ資金が分散される（マネロン）</a:t>
            </a:r>
          </a:p>
        </p:txBody>
      </p:sp>
      <p:sp>
        <p:nvSpPr>
          <p:cNvPr id="11" name="Rectangle 10"/>
          <p:cNvSpPr/>
          <p:nvPr/>
        </p:nvSpPr>
        <p:spPr>
          <a:xfrm>
            <a:off x="731520" y="3794760"/>
            <a:ext cx="1362456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出し子の口座へ着金 → 即ATM出金/別口座/暗号資産へ → 数分で資金が消え、組戻しが間に合わない</a:t>
            </a:r>
          </a:p>
        </p:txBody>
      </p:sp>
      <p:sp>
        <p:nvSpPr>
          <p:cNvPr id="12" name="Rectangle 11"/>
          <p:cNvSpPr/>
          <p:nvPr/>
        </p:nvSpPr>
        <p:spPr>
          <a:xfrm>
            <a:off x="731520" y="420624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理由5：被害者が攻撃に気づくのが遅い</a:t>
            </a:r>
          </a:p>
        </p:txBody>
      </p:sp>
      <p:sp>
        <p:nvSpPr>
          <p:cNvPr id="13" name="Rectangle 12"/>
          <p:cNvSpPr/>
          <p:nvPr/>
        </p:nvSpPr>
        <p:spPr>
          <a:xfrm>
            <a:off x="731520" y="4572000"/>
            <a:ext cx="1362456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「銀行の手続きをした」と思っており、通報が数時間〜数日遅れる。その間に資金は完全に消える</a:t>
            </a:r>
          </a:p>
        </p:txBody>
      </p:sp>
      <p:sp>
        <p:nvSpPr>
          <p:cNvPr id="14" name="Rectangle 13"/>
          <p:cNvSpPr/>
          <p:nvPr/>
        </p:nvSpPr>
        <p:spPr>
          <a:xfrm>
            <a:off x="731520" y="5074920"/>
            <a:ext cx="1362456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送金の瞬間：正規と区別できない → 送金直後：資金が即分散 → 被害認識：本人が気づかない</a:t>
            </a:r>
          </a:p>
        </p:txBody>
      </p:sp>
      <p:sp>
        <p:nvSpPr>
          <p:cNvPr id="15" name="Rectangle 14"/>
          <p:cNvSpPr/>
          <p:nvPr/>
        </p:nvSpPr>
        <p:spPr>
          <a:xfrm>
            <a:off x="731520" y="5532120"/>
            <a:ext cx="1362456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事後に止めるのは不可能。振込の手前（手順④⑥）で止めるか、「初回送金先は着金保留」の仕組みが必要。</a:t>
            </a:r>
          </a:p>
        </p:txBody>
      </p:sp>
      <p:sp>
        <p:nvSpPr>
          <p:cNvPr id="16" name="TextBox 1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振込を即時に止められない理由</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BEC（ビジネスメール詐欺）との違い</a:t>
            </a:r>
          </a:p>
        </p:txBody>
      </p:sp>
      <p:sp>
        <p:nvSpPr>
          <p:cNvPr id="3" name="TextBox 2"/>
          <p:cNvSpPr txBox="1"/>
          <p:nvPr/>
        </p:nvSpPr>
        <p:spPr>
          <a:xfrm>
            <a:off x="0" y="640080"/>
            <a:ext cx="15124176" cy="365760"/>
          </a:xfrm>
          <a:prstGeom prst="rect">
            <a:avLst/>
          </a:prstGeom>
          <a:noFill/>
        </p:spPr>
        <p:txBody>
          <a:bodyPr wrap="square" lIns="50800" rIns="50800" tIns="38100" bIns="38100"/>
          <a:lstStyle/>
          <a:p>
            <a:pPr algn="ctr"/>
            <a:r>
              <a:rPr sz="1100" b="0">
                <a:solidFill>
                  <a:srgbClr val="888888"/>
                </a:solidFill>
                <a:latin typeface="Meiryo"/>
              </a:rPr>
              <a:t>今回のKill Chainは典型的なBECではなく、別系統の攻撃。BEC＝メール侵害が起点。</a:t>
            </a:r>
          </a:p>
        </p:txBody>
      </p:sp>
      <p:sp>
        <p:nvSpPr>
          <p:cNvPr id="4" name="Rectangle 3"/>
          <p:cNvSpPr/>
          <p:nvPr/>
        </p:nvSpPr>
        <p:spPr>
          <a:xfrm>
            <a:off x="731520" y="109728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BEC vs 今回のKill Chain</a:t>
            </a:r>
          </a:p>
        </p:txBody>
      </p:sp>
      <p:sp>
        <p:nvSpPr>
          <p:cNvPr id="5" name="Rectangle 4"/>
          <p:cNvSpPr/>
          <p:nvPr/>
        </p:nvSpPr>
        <p:spPr>
          <a:xfrm>
            <a:off x="731520" y="1463040"/>
            <a:ext cx="32004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判定軸</a:t>
            </a:r>
          </a:p>
        </p:txBody>
      </p:sp>
      <p:sp>
        <p:nvSpPr>
          <p:cNvPr id="6" name="Rectangle 5"/>
          <p:cNvSpPr/>
          <p:nvPr/>
        </p:nvSpPr>
        <p:spPr>
          <a:xfrm>
            <a:off x="3931920" y="1463040"/>
            <a:ext cx="521208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BEC（従来）</a:t>
            </a:r>
          </a:p>
        </p:txBody>
      </p:sp>
      <p:sp>
        <p:nvSpPr>
          <p:cNvPr id="7" name="Rectangle 6"/>
          <p:cNvSpPr/>
          <p:nvPr/>
        </p:nvSpPr>
        <p:spPr>
          <a:xfrm>
            <a:off x="9144000" y="1463040"/>
            <a:ext cx="521208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今回のKill Chain</a:t>
            </a:r>
          </a:p>
        </p:txBody>
      </p:sp>
      <p:sp>
        <p:nvSpPr>
          <p:cNvPr id="8" name="Rectangle 7"/>
          <p:cNvSpPr/>
          <p:nvPr/>
        </p:nvSpPr>
        <p:spPr>
          <a:xfrm>
            <a:off x="731520" y="1828800"/>
            <a:ext cx="32004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起点</a:t>
            </a:r>
          </a:p>
        </p:txBody>
      </p:sp>
      <p:sp>
        <p:nvSpPr>
          <p:cNvPr id="9" name="Rectangle 8"/>
          <p:cNvSpPr/>
          <p:nvPr/>
        </p:nvSpPr>
        <p:spPr>
          <a:xfrm>
            <a:off x="3931920" y="1828800"/>
            <a:ext cx="52120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メールの侵害・なりすまし（必須）</a:t>
            </a:r>
          </a:p>
        </p:txBody>
      </p:sp>
      <p:sp>
        <p:nvSpPr>
          <p:cNvPr id="10" name="Rectangle 9"/>
          <p:cNvSpPr/>
          <p:nvPr/>
        </p:nvSpPr>
        <p:spPr>
          <a:xfrm>
            <a:off x="9144000" y="1828800"/>
            <a:ext cx="521208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C0392B"/>
                </a:solidFill>
                <a:latin typeface="Meiryo"/>
              </a:rPr>
              <a:t>電話（自動音声の架電）</a:t>
            </a:r>
          </a:p>
        </p:txBody>
      </p:sp>
      <p:sp>
        <p:nvSpPr>
          <p:cNvPr id="11" name="Rectangle 10"/>
          <p:cNvSpPr/>
          <p:nvPr/>
        </p:nvSpPr>
        <p:spPr>
          <a:xfrm>
            <a:off x="731520" y="2240280"/>
            <a:ext cx="32004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主な手段</a:t>
            </a:r>
          </a:p>
        </p:txBody>
      </p:sp>
      <p:sp>
        <p:nvSpPr>
          <p:cNvPr id="12" name="Rectangle 11"/>
          <p:cNvSpPr/>
          <p:nvPr/>
        </p:nvSpPr>
        <p:spPr>
          <a:xfrm>
            <a:off x="3931920" y="2240280"/>
            <a:ext cx="521208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偽の送金指示メール</a:t>
            </a:r>
          </a:p>
        </p:txBody>
      </p:sp>
      <p:sp>
        <p:nvSpPr>
          <p:cNvPr id="13" name="Rectangle 12"/>
          <p:cNvSpPr/>
          <p:nvPr/>
        </p:nvSpPr>
        <p:spPr>
          <a:xfrm>
            <a:off x="9144000" y="2240280"/>
            <a:ext cx="5212080" cy="411480"/>
          </a:xfrm>
          <a:prstGeom prst="rect">
            <a:avLst/>
          </a:prstGeom>
          <a:solidFill>
            <a:srgbClr val="F9F9F9"/>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C0392B"/>
                </a:solidFill>
                <a:latin typeface="Meiryo"/>
              </a:rPr>
              <a:t>偽サイト＋リモート操作（ScreenConnect）</a:t>
            </a:r>
          </a:p>
        </p:txBody>
      </p:sp>
      <p:sp>
        <p:nvSpPr>
          <p:cNvPr id="14" name="Rectangle 13"/>
          <p:cNvSpPr/>
          <p:nvPr/>
        </p:nvSpPr>
        <p:spPr>
          <a:xfrm>
            <a:off x="731520" y="2651760"/>
            <a:ext cx="32004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誰が送金するか</a:t>
            </a:r>
          </a:p>
        </p:txBody>
      </p:sp>
      <p:sp>
        <p:nvSpPr>
          <p:cNvPr id="15" name="Rectangle 14"/>
          <p:cNvSpPr/>
          <p:nvPr/>
        </p:nvSpPr>
        <p:spPr>
          <a:xfrm>
            <a:off x="3931920" y="2651760"/>
            <a:ext cx="52120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被害者自身が騙されて送金</a:t>
            </a:r>
          </a:p>
        </p:txBody>
      </p:sp>
      <p:sp>
        <p:nvSpPr>
          <p:cNvPr id="16" name="Rectangle 15"/>
          <p:cNvSpPr/>
          <p:nvPr/>
        </p:nvSpPr>
        <p:spPr>
          <a:xfrm>
            <a:off x="9144000" y="2651760"/>
            <a:ext cx="521208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C0392B"/>
                </a:solidFill>
                <a:latin typeface="Meiryo"/>
              </a:rPr>
              <a:t>犯人が遠隔操作で送金</a:t>
            </a:r>
          </a:p>
        </p:txBody>
      </p:sp>
      <p:sp>
        <p:nvSpPr>
          <p:cNvPr id="17" name="Rectangle 16"/>
          <p:cNvSpPr/>
          <p:nvPr/>
        </p:nvSpPr>
        <p:spPr>
          <a:xfrm>
            <a:off x="731520" y="3063240"/>
            <a:ext cx="32004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認証情報</a:t>
            </a:r>
          </a:p>
        </p:txBody>
      </p:sp>
      <p:sp>
        <p:nvSpPr>
          <p:cNvPr id="18" name="Rectangle 17"/>
          <p:cNvSpPr/>
          <p:nvPr/>
        </p:nvSpPr>
        <p:spPr>
          <a:xfrm>
            <a:off x="3931920" y="3063240"/>
            <a:ext cx="521208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盗まない（送金を指示するだけ）</a:t>
            </a:r>
          </a:p>
        </p:txBody>
      </p:sp>
      <p:sp>
        <p:nvSpPr>
          <p:cNvPr id="19" name="Rectangle 18"/>
          <p:cNvSpPr/>
          <p:nvPr/>
        </p:nvSpPr>
        <p:spPr>
          <a:xfrm>
            <a:off x="9144000" y="3063240"/>
            <a:ext cx="5212080" cy="411480"/>
          </a:xfrm>
          <a:prstGeom prst="rect">
            <a:avLst/>
          </a:prstGeom>
          <a:solidFill>
            <a:srgbClr val="F9F9F9"/>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C0392B"/>
                </a:solidFill>
                <a:latin typeface="Meiryo"/>
              </a:rPr>
              <a:t>全認証情報を窃取</a:t>
            </a:r>
          </a:p>
        </p:txBody>
      </p:sp>
      <p:sp>
        <p:nvSpPr>
          <p:cNvPr id="20" name="Rectangle 19"/>
          <p:cNvSpPr/>
          <p:nvPr/>
        </p:nvSpPr>
        <p:spPr>
          <a:xfrm>
            <a:off x="731520" y="3474720"/>
            <a:ext cx="32004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なりすまし対象</a:t>
            </a:r>
          </a:p>
        </p:txBody>
      </p:sp>
      <p:sp>
        <p:nvSpPr>
          <p:cNvPr id="21" name="Rectangle 20"/>
          <p:cNvSpPr/>
          <p:nvPr/>
        </p:nvSpPr>
        <p:spPr>
          <a:xfrm>
            <a:off x="3931920" y="3474720"/>
            <a:ext cx="52120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経営者・取引先</a:t>
            </a:r>
          </a:p>
        </p:txBody>
      </p:sp>
      <p:sp>
        <p:nvSpPr>
          <p:cNvPr id="22" name="Rectangle 21"/>
          <p:cNvSpPr/>
          <p:nvPr/>
        </p:nvSpPr>
        <p:spPr>
          <a:xfrm>
            <a:off x="9144000" y="3474720"/>
            <a:ext cx="521208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C0392B"/>
                </a:solidFill>
                <a:latin typeface="Meiryo"/>
              </a:rPr>
              <a:t>銀行</a:t>
            </a:r>
          </a:p>
        </p:txBody>
      </p:sp>
      <p:sp>
        <p:nvSpPr>
          <p:cNvPr id="23" name="Rectangle 22"/>
          <p:cNvSpPr/>
          <p:nvPr/>
        </p:nvSpPr>
        <p:spPr>
          <a:xfrm>
            <a:off x="731520" y="402336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今回の攻撃の正しい分類</a:t>
            </a:r>
          </a:p>
        </p:txBody>
      </p:sp>
      <p:sp>
        <p:nvSpPr>
          <p:cNvPr id="24" name="Rectangle 23"/>
          <p:cNvSpPr/>
          <p:nvPr/>
        </p:nvSpPr>
        <p:spPr>
          <a:xfrm>
            <a:off x="731520" y="4434840"/>
            <a:ext cx="13624560" cy="54864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「Vishing（ボイスフィッシング）」＋「RAT（リモートアクセスツール）悪用」＋「リアルタイムフィッシング（認証情報窃取）」の複合攻撃
近い概念：Tech Support Scam（テクサポ詐欺）/ Bank Helpdesk Fraud / ATO（口座乗っ取り）</a:t>
            </a:r>
          </a:p>
        </p:txBody>
      </p:sp>
      <p:sp>
        <p:nvSpPr>
          <p:cNvPr id="25" name="Rectangle 24"/>
          <p:cNvSpPr/>
          <p:nvPr/>
        </p:nvSpPr>
        <p:spPr>
          <a:xfrm>
            <a:off x="731520" y="5074920"/>
            <a:ext cx="1362456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最も正確な分類：「Vishing起点のATO（口座乗っ取り）型不正送金」</a:t>
            </a:r>
          </a:p>
        </p:txBody>
      </p:sp>
      <p:sp>
        <p:nvSpPr>
          <p:cNvPr id="26" name="Rectangle 25"/>
          <p:cNvSpPr/>
          <p:nvPr/>
        </p:nvSpPr>
        <p:spPr>
          <a:xfrm>
            <a:off x="731520" y="5715000"/>
            <a:ext cx="1362456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今回の攻撃がBECより厄介な点</a:t>
            </a:r>
          </a:p>
        </p:txBody>
      </p:sp>
      <p:sp>
        <p:nvSpPr>
          <p:cNvPr id="27" name="Rectangle 26"/>
          <p:cNvSpPr/>
          <p:nvPr/>
        </p:nvSpPr>
        <p:spPr>
          <a:xfrm>
            <a:off x="731520" y="6126480"/>
            <a:ext cx="13624560" cy="77724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BECは「送金指示を疑う」教育で一定防げる（「口座変更は電話で確認」等）
• 今回は被害者が銀行の手続きだと信じているので、疑うきっかけがない
• BECは人が送金するが、今回は犯人が直接送金するので止められない</a:t>
            </a:r>
          </a:p>
        </p:txBody>
      </p:sp>
      <p:sp>
        <p:nvSpPr>
          <p:cNvPr id="28" name="TextBox 27"/>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BECとの違いと攻撃分類</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