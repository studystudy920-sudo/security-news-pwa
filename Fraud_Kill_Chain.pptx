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606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9161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81930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5156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Rectangle 59"/>
          <p:cNvSpPr/>
          <p:nvPr/>
        </p:nvSpPr>
        <p:spPr>
          <a:xfrm>
            <a:off x="3959352" y="4206240"/>
            <a:ext cx="2423160" cy="201168"/>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1">
                <a:solidFill>
                  <a:srgbClr val="FFFFFF"/>
                </a:solidFill>
                <a:latin typeface="Meiryo"/>
              </a:rPr>
              <a:t>🔑 攻撃の鍵：「口座制限」で恐怖→以降の判断力を奪う</a:t>
            </a:r>
          </a:p>
        </p:txBody>
      </p:sp>
      <p:sp>
        <p:nvSpPr>
          <p:cNvPr id="61" name="Diamond 60"/>
          <p:cNvSpPr/>
          <p:nvPr/>
        </p:nvSpPr>
        <p:spPr>
          <a:xfrm>
            <a:off x="4507992" y="444398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2" name="Rectangle 61"/>
          <p:cNvSpPr/>
          <p:nvPr/>
        </p:nvSpPr>
        <p:spPr>
          <a:xfrm>
            <a:off x="3959352" y="493776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3" name="Rectangle 62"/>
          <p:cNvSpPr/>
          <p:nvPr/>
        </p:nvSpPr>
        <p:spPr>
          <a:xfrm>
            <a:off x="3959352" y="532180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 破綻ポイント：BizSTATION契約時にメアド登録済み。銀行が聞く必要はない→手順②の恐怖で気づけない</a:t>
            </a:r>
          </a:p>
        </p:txBody>
      </p:sp>
      <p:sp>
        <p:nvSpPr>
          <p:cNvPr id="64" name="Rectangle 63"/>
          <p:cNvSpPr/>
          <p:nvPr/>
        </p:nvSpPr>
        <p:spPr>
          <a:xfrm>
            <a:off x="3959352" y="56144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5" name="Rectangle 64"/>
          <p:cNvSpPr/>
          <p:nvPr/>
        </p:nvSpPr>
        <p:spPr>
          <a:xfrm>
            <a:off x="3959352" y="58338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6" name="Rectangle 65"/>
          <p:cNvSpPr/>
          <p:nvPr/>
        </p:nvSpPr>
        <p:spPr>
          <a:xfrm>
            <a:off x="3959352" y="59893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7" name="Rectangle 66"/>
          <p:cNvSpPr/>
          <p:nvPr/>
        </p:nvSpPr>
        <p:spPr>
          <a:xfrm>
            <a:off x="6601968" y="493776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8" name="Rectangle 67"/>
          <p:cNvSpPr/>
          <p:nvPr/>
        </p:nvSpPr>
        <p:spPr>
          <a:xfrm>
            <a:off x="9244584" y="5614416"/>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9" name="Rectangle 68"/>
          <p:cNvSpPr/>
          <p:nvPr/>
        </p:nvSpPr>
        <p:spPr>
          <a:xfrm>
            <a:off x="3959352" y="59618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70" name="Rectangle 69"/>
          <p:cNvSpPr/>
          <p:nvPr/>
        </p:nvSpPr>
        <p:spPr>
          <a:xfrm>
            <a:off x="3959352" y="64648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71" name="Rectangle 70"/>
          <p:cNvSpPr/>
          <p:nvPr/>
        </p:nvSpPr>
        <p:spPr>
          <a:xfrm>
            <a:off x="3959352" y="67848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2" name="Rectangle 71"/>
          <p:cNvSpPr/>
          <p:nvPr/>
        </p:nvSpPr>
        <p:spPr>
          <a:xfrm>
            <a:off x="9244584" y="59618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3" name="Rectangle 72"/>
          <p:cNvSpPr/>
          <p:nvPr/>
        </p:nvSpPr>
        <p:spPr>
          <a:xfrm>
            <a:off x="9244584" y="63276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4" name="Rectangle 73"/>
          <p:cNvSpPr/>
          <p:nvPr/>
        </p:nvSpPr>
        <p:spPr>
          <a:xfrm>
            <a:off x="9244584" y="66934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5" name="Rectangle 74"/>
          <p:cNvSpPr/>
          <p:nvPr/>
        </p:nvSpPr>
        <p:spPr>
          <a:xfrm>
            <a:off x="9244584" y="71048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6" name="Rectangle 75"/>
          <p:cNvSpPr/>
          <p:nvPr/>
        </p:nvSpPr>
        <p:spPr>
          <a:xfrm>
            <a:off x="9244584" y="74249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7" name="Rectangle 76"/>
          <p:cNvSpPr/>
          <p:nvPr/>
        </p:nvSpPr>
        <p:spPr>
          <a:xfrm>
            <a:off x="3959352" y="82387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8" name="Rectangle 77"/>
          <p:cNvSpPr/>
          <p:nvPr/>
        </p:nvSpPr>
        <p:spPr>
          <a:xfrm>
            <a:off x="3959352" y="86502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9" name="Rectangle 78"/>
          <p:cNvSpPr/>
          <p:nvPr/>
        </p:nvSpPr>
        <p:spPr>
          <a:xfrm>
            <a:off x="3959352" y="89062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80" name="Rectangle 79"/>
          <p:cNvSpPr/>
          <p:nvPr/>
        </p:nvSpPr>
        <p:spPr>
          <a:xfrm>
            <a:off x="3959352" y="92262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81" name="Rectangle 80"/>
          <p:cNvSpPr/>
          <p:nvPr/>
        </p:nvSpPr>
        <p:spPr>
          <a:xfrm>
            <a:off x="3959352" y="97017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2" name="Rectangle 81"/>
          <p:cNvSpPr/>
          <p:nvPr/>
        </p:nvSpPr>
        <p:spPr>
          <a:xfrm>
            <a:off x="6601968" y="82387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3" name="Rectangle 82"/>
          <p:cNvSpPr/>
          <p:nvPr/>
        </p:nvSpPr>
        <p:spPr>
          <a:xfrm>
            <a:off x="11887200" y="86502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4" name="Rectangle 83"/>
          <p:cNvSpPr/>
          <p:nvPr/>
        </p:nvSpPr>
        <p:spPr>
          <a:xfrm>
            <a:off x="11887200" y="89976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5" name="Rectangle 84"/>
          <p:cNvSpPr/>
          <p:nvPr/>
        </p:nvSpPr>
        <p:spPr>
          <a:xfrm>
            <a:off x="3959352" y="105887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6" name="TextBox 8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1本の電話 — つないだまま全手順を完了させる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この攻撃は「9つの手順」ではなく、1本の電話の中で起きる1つの連続した攻撃である。</a:t>
            </a:r>
          </a:p>
        </p:txBody>
      </p:sp>
      <p:sp>
        <p:nvSpPr>
          <p:cNvPr id="4" name="Rectangle 3"/>
          <p:cNvSpPr/>
          <p:nvPr/>
        </p:nvSpPr>
        <p:spPr>
          <a:xfrm>
            <a:off x="914400" y="11887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自動音声で架電</a:t>
            </a:r>
          </a:p>
        </p:txBody>
      </p:sp>
      <p:sp>
        <p:nvSpPr>
          <p:cNvPr id="5" name="Rectangle 4"/>
          <p:cNvSpPr/>
          <p:nvPr/>
        </p:nvSpPr>
        <p:spPr>
          <a:xfrm>
            <a:off x="914400" y="16002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②  心理操作（口座制限中）</a:t>
            </a:r>
          </a:p>
        </p:txBody>
      </p:sp>
      <p:sp>
        <p:nvSpPr>
          <p:cNvPr id="6" name="Rectangle 5"/>
          <p:cNvSpPr/>
          <p:nvPr/>
        </p:nvSpPr>
        <p:spPr>
          <a:xfrm>
            <a:off x="914400" y="201168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③  メアド聞き出し＋メール送付</a:t>
            </a:r>
          </a:p>
        </p:txBody>
      </p:sp>
      <p:sp>
        <p:nvSpPr>
          <p:cNvPr id="7" name="Rectangle 6"/>
          <p:cNvSpPr/>
          <p:nvPr/>
        </p:nvSpPr>
        <p:spPr>
          <a:xfrm>
            <a:off x="914400" y="242316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④  「メールを開いてください」</a:t>
            </a:r>
          </a:p>
        </p:txBody>
      </p:sp>
      <p:sp>
        <p:nvSpPr>
          <p:cNvPr id="8" name="Rectangle 7"/>
          <p:cNvSpPr/>
          <p:nvPr/>
        </p:nvSpPr>
        <p:spPr>
          <a:xfrm>
            <a:off x="914400" y="283463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⑤  「インストールしてください」</a:t>
            </a:r>
          </a:p>
        </p:txBody>
      </p:sp>
      <p:sp>
        <p:nvSpPr>
          <p:cNvPr id="9" name="Rectangle 8"/>
          <p:cNvSpPr/>
          <p:nvPr/>
        </p:nvSpPr>
        <p:spPr>
          <a:xfrm>
            <a:off x="914400" y="32461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⑥  「実行してください」</a:t>
            </a:r>
          </a:p>
        </p:txBody>
      </p:sp>
      <p:sp>
        <p:nvSpPr>
          <p:cNvPr id="10" name="Rectangle 9"/>
          <p:cNvSpPr/>
          <p:nvPr/>
        </p:nvSpPr>
        <p:spPr>
          <a:xfrm>
            <a:off x="914400" y="36576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⑦  赤い画面表示</a:t>
            </a:r>
          </a:p>
        </p:txBody>
      </p:sp>
      <p:sp>
        <p:nvSpPr>
          <p:cNvPr id="11" name="Rectangle 10"/>
          <p:cNvSpPr/>
          <p:nvPr/>
        </p:nvSpPr>
        <p:spPr>
          <a:xfrm>
            <a:off x="914400" y="406907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⑧  「携帯番号を教えて」</a:t>
            </a:r>
          </a:p>
        </p:txBody>
      </p:sp>
      <p:sp>
        <p:nvSpPr>
          <p:cNvPr id="12" name="Rectangle 11"/>
          <p:cNvSpPr/>
          <p:nvPr/>
        </p:nvSpPr>
        <p:spPr>
          <a:xfrm>
            <a:off x="914400" y="448055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⑨  「認証情報を入力して」</a:t>
            </a:r>
          </a:p>
        </p:txBody>
      </p:sp>
      <p:sp>
        <p:nvSpPr>
          <p:cNvPr id="13" name="Rectangle 12"/>
          <p:cNvSpPr/>
          <p:nvPr/>
        </p:nvSpPr>
        <p:spPr>
          <a:xfrm>
            <a:off x="914400" y="4892040"/>
            <a:ext cx="50292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100" b="1">
                <a:solidFill>
                  <a:srgbClr val="FFFFFF"/>
                </a:solidFill>
                <a:latin typeface="Meiryo"/>
              </a:rPr>
              <a:t>  不正送金</a:t>
            </a:r>
          </a:p>
        </p:txBody>
      </p:sp>
      <p:sp>
        <p:nvSpPr>
          <p:cNvPr id="14" name="Rectangle 13"/>
          <p:cNvSpPr/>
          <p:nvPr/>
        </p:nvSpPr>
        <p:spPr>
          <a:xfrm>
            <a:off x="6126480" y="1188720"/>
            <a:ext cx="457200" cy="408736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5" name="TextBox 14"/>
          <p:cNvSpPr txBox="1"/>
          <p:nvPr/>
        </p:nvSpPr>
        <p:spPr>
          <a:xfrm>
            <a:off x="6035040" y="1280160"/>
            <a:ext cx="640080" cy="274320"/>
          </a:xfrm>
          <a:prstGeom prst="rect">
            <a:avLst/>
          </a:prstGeom>
          <a:noFill/>
        </p:spPr>
        <p:txBody>
          <a:bodyPr wrap="square" lIns="50800" rIns="50800" tIns="38100" bIns="38100"/>
          <a:lstStyle/>
          <a:p>
            <a:pPr algn="ctr"/>
            <a:r>
              <a:rPr sz="800" b="1">
                <a:solidFill>
                  <a:srgbClr val="FFFFFF"/>
                </a:solidFill>
                <a:latin typeface="Meiryo"/>
              </a:rPr>
              <a:t>電話接続</a:t>
            </a:r>
          </a:p>
        </p:txBody>
      </p:sp>
      <p:sp>
        <p:nvSpPr>
          <p:cNvPr id="16" name="TextBox 15"/>
          <p:cNvSpPr txBox="1"/>
          <p:nvPr/>
        </p:nvSpPr>
        <p:spPr>
          <a:xfrm>
            <a:off x="5852160" y="2823667"/>
            <a:ext cx="1005840" cy="457200"/>
          </a:xfrm>
          <a:prstGeom prst="rect">
            <a:avLst/>
          </a:prstGeom>
          <a:noFill/>
        </p:spPr>
        <p:txBody>
          <a:bodyPr wrap="square" lIns="50800" rIns="50800" tIns="38100" bIns="38100"/>
          <a:lstStyle/>
          <a:p>
            <a:pPr algn="ctr"/>
            <a:r>
              <a:rPr sz="900" b="1">
                <a:solidFill>
                  <a:srgbClr val="FFFFFF"/>
                </a:solidFill>
                <a:latin typeface="Meiryo"/>
              </a:rPr>
              <a:t>ずっと
電話が
つながっている</a:t>
            </a:r>
          </a:p>
        </p:txBody>
      </p:sp>
      <p:sp>
        <p:nvSpPr>
          <p:cNvPr id="17" name="Rectangle 16"/>
          <p:cNvSpPr/>
          <p:nvPr/>
        </p:nvSpPr>
        <p:spPr>
          <a:xfrm>
            <a:off x="7315200" y="1188720"/>
            <a:ext cx="68580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電話をつないだままにする5つの効果</a:t>
            </a:r>
          </a:p>
        </p:txBody>
      </p:sp>
      <p:sp>
        <p:nvSpPr>
          <p:cNvPr id="18" name="Rectangle 17"/>
          <p:cNvSpPr/>
          <p:nvPr/>
        </p:nvSpPr>
        <p:spPr>
          <a:xfrm>
            <a:off x="7315200" y="1691640"/>
            <a:ext cx="22860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考える隙を与えない</a:t>
            </a:r>
          </a:p>
        </p:txBody>
      </p:sp>
      <p:sp>
        <p:nvSpPr>
          <p:cNvPr id="19" name="Rectangle 18"/>
          <p:cNvSpPr/>
          <p:nvPr/>
        </p:nvSpPr>
        <p:spPr>
          <a:xfrm>
            <a:off x="9601200" y="169164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電話を切ったら冷静になる。切らせない</a:t>
            </a:r>
          </a:p>
        </p:txBody>
      </p:sp>
      <p:sp>
        <p:nvSpPr>
          <p:cNvPr id="20" name="Rectangle 19"/>
          <p:cNvSpPr/>
          <p:nvPr/>
        </p:nvSpPr>
        <p:spPr>
          <a:xfrm>
            <a:off x="7315200" y="2194560"/>
            <a:ext cx="22860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リアルタイム制御</a:t>
            </a:r>
          </a:p>
        </p:txBody>
      </p:sp>
      <p:sp>
        <p:nvSpPr>
          <p:cNvPr id="21" name="Rectangle 20"/>
          <p:cNvSpPr/>
          <p:nvPr/>
        </p:nvSpPr>
        <p:spPr>
          <a:xfrm>
            <a:off x="9601200" y="219456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被害者の画面状況に合わせて次の指示を出せる</a:t>
            </a:r>
          </a:p>
        </p:txBody>
      </p:sp>
      <p:sp>
        <p:nvSpPr>
          <p:cNvPr id="22" name="Rectangle 21"/>
          <p:cNvSpPr/>
          <p:nvPr/>
        </p:nvSpPr>
        <p:spPr>
          <a:xfrm>
            <a:off x="7315200" y="2697480"/>
            <a:ext cx="2286000" cy="5029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離脱防止</a:t>
            </a:r>
          </a:p>
        </p:txBody>
      </p:sp>
      <p:sp>
        <p:nvSpPr>
          <p:cNvPr id="23" name="Rectangle 22"/>
          <p:cNvSpPr/>
          <p:nvPr/>
        </p:nvSpPr>
        <p:spPr>
          <a:xfrm>
            <a:off x="9601200" y="269748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「このままお待ちください」で引き留められる</a:t>
            </a:r>
          </a:p>
        </p:txBody>
      </p:sp>
      <p:sp>
        <p:nvSpPr>
          <p:cNvPr id="24" name="Rectangle 23"/>
          <p:cNvSpPr/>
          <p:nvPr/>
        </p:nvSpPr>
        <p:spPr>
          <a:xfrm>
            <a:off x="7315200" y="32004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第三者への相談を防ぐ</a:t>
            </a:r>
          </a:p>
        </p:txBody>
      </p:sp>
      <p:sp>
        <p:nvSpPr>
          <p:cNvPr id="25" name="Rectangle 24"/>
          <p:cNvSpPr/>
          <p:nvPr/>
        </p:nvSpPr>
        <p:spPr>
          <a:xfrm>
            <a:off x="9601200" y="320040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電話中なので同僚や家族に相談できない</a:t>
            </a:r>
          </a:p>
        </p:txBody>
      </p:sp>
      <p:sp>
        <p:nvSpPr>
          <p:cNvPr id="26" name="Rectangle 25"/>
          <p:cNvSpPr/>
          <p:nvPr/>
        </p:nvSpPr>
        <p:spPr>
          <a:xfrm>
            <a:off x="7315200" y="3703320"/>
            <a:ext cx="228600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信頼の維持</a:t>
            </a:r>
          </a:p>
        </p:txBody>
      </p:sp>
      <p:sp>
        <p:nvSpPr>
          <p:cNvPr id="27" name="Rectangle 26"/>
          <p:cNvSpPr/>
          <p:nvPr/>
        </p:nvSpPr>
        <p:spPr>
          <a:xfrm>
            <a:off x="9601200" y="370332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銀行員が丁寧に付き添ってくれている感覚</a:t>
            </a:r>
          </a:p>
        </p:txBody>
      </p:sp>
      <p:sp>
        <p:nvSpPr>
          <p:cNvPr id="28" name="Rectangle 27"/>
          <p:cNvSpPr/>
          <p:nvPr/>
        </p:nvSpPr>
        <p:spPr>
          <a:xfrm>
            <a:off x="7315200" y="4434840"/>
            <a:ext cx="685800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もし電話が切れたら（攻撃失敗）</a:t>
            </a:r>
          </a:p>
        </p:txBody>
      </p:sp>
      <p:sp>
        <p:nvSpPr>
          <p:cNvPr id="29" name="Rectangle 28"/>
          <p:cNvSpPr/>
          <p:nvPr/>
        </p:nvSpPr>
        <p:spPr>
          <a:xfrm>
            <a:off x="7315200" y="4800600"/>
            <a:ext cx="6858000" cy="8229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「本当に銀行からの電話だったのか？」と疑問に思う
→ 銀行の公式番号にかけ直す
→ 同僚や上司に相談する
→ ネットで調べる</a:t>
            </a:r>
          </a:p>
        </p:txBody>
      </p:sp>
      <p:sp>
        <p:nvSpPr>
          <p:cNvPr id="30" name="Rectangle 29"/>
          <p:cNvSpPr/>
          <p:nvPr/>
        </p:nvSpPr>
        <p:spPr>
          <a:xfrm>
            <a:off x="914400" y="580644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被害者の体験：「銀行の担当者に電話で付き添ってもらいながら手続きをした」— それが攻撃だったとは気づかない</a:t>
            </a:r>
          </a:p>
        </p:txBody>
      </p:sp>
      <p:sp>
        <p:nvSpPr>
          <p:cNvPr id="31" name="TextBox 3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1本の電話の構造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手順④ フィッシングメール — セキュリティ対策も電話1本で無力化</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電話で予告してからメールを送る。通常のフィッシングとは根本的に異なる構造。</a:t>
            </a:r>
          </a:p>
        </p:txBody>
      </p:sp>
      <p:sp>
        <p:nvSpPr>
          <p:cNvPr id="4" name="Rectangle 3"/>
          <p:cNvSpPr/>
          <p:nvPr/>
        </p:nvSpPr>
        <p:spPr>
          <a:xfrm>
            <a:off x="914400" y="1188720"/>
            <a:ext cx="6400800" cy="41148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通常のフィッシング</a:t>
            </a:r>
          </a:p>
        </p:txBody>
      </p:sp>
      <p:sp>
        <p:nvSpPr>
          <p:cNvPr id="5" name="Rectangle 4"/>
          <p:cNvSpPr/>
          <p:nvPr/>
        </p:nvSpPr>
        <p:spPr>
          <a:xfrm>
            <a:off x="914400" y="164592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メールが突然届く</a:t>
            </a:r>
          </a:p>
        </p:txBody>
      </p:sp>
      <p:sp>
        <p:nvSpPr>
          <p:cNvPr id="6" name="Rectangle 5"/>
          <p:cNvSpPr/>
          <p:nvPr/>
        </p:nvSpPr>
        <p:spPr>
          <a:xfrm>
            <a:off x="2286000" y="210312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7" name="Rectangle 6"/>
          <p:cNvSpPr/>
          <p:nvPr/>
        </p:nvSpPr>
        <p:spPr>
          <a:xfrm>
            <a:off x="914400" y="251460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「怪しいかも？」と思う余地あり</a:t>
            </a:r>
          </a:p>
        </p:txBody>
      </p:sp>
      <p:sp>
        <p:nvSpPr>
          <p:cNvPr id="8" name="Rectangle 7"/>
          <p:cNvSpPr/>
          <p:nvPr/>
        </p:nvSpPr>
        <p:spPr>
          <a:xfrm>
            <a:off x="2286000" y="297180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9" name="Rectangle 8"/>
          <p:cNvSpPr/>
          <p:nvPr/>
        </p:nvSpPr>
        <p:spPr>
          <a:xfrm>
            <a:off x="914400" y="338328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迷惑メールフィルタが防いでくれる可能性あり</a:t>
            </a:r>
          </a:p>
        </p:txBody>
      </p:sp>
      <p:sp>
        <p:nvSpPr>
          <p:cNvPr id="10" name="Rectangle 9"/>
          <p:cNvSpPr/>
          <p:nvPr/>
        </p:nvSpPr>
        <p:spPr>
          <a:xfrm>
            <a:off x="7772400" y="118872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この攻撃</a:t>
            </a:r>
          </a:p>
        </p:txBody>
      </p:sp>
      <p:sp>
        <p:nvSpPr>
          <p:cNvPr id="11" name="Rectangle 10"/>
          <p:cNvSpPr/>
          <p:nvPr/>
        </p:nvSpPr>
        <p:spPr>
          <a:xfrm>
            <a:off x="7772400" y="164592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電話で「今からメール送ります」と予告</a:t>
            </a:r>
          </a:p>
        </p:txBody>
      </p:sp>
      <p:sp>
        <p:nvSpPr>
          <p:cNvPr id="12" name="Rectangle 11"/>
          <p:cNvSpPr/>
          <p:nvPr/>
        </p:nvSpPr>
        <p:spPr>
          <a:xfrm>
            <a:off x="9144000" y="210312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3" name="Rectangle 12"/>
          <p:cNvSpPr/>
          <p:nvPr/>
        </p:nvSpPr>
        <p:spPr>
          <a:xfrm>
            <a:off x="7772400" y="251460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メール到着 →「本物だ」と確信（予告通り来たから）</a:t>
            </a:r>
          </a:p>
        </p:txBody>
      </p:sp>
      <p:sp>
        <p:nvSpPr>
          <p:cNvPr id="14" name="Rectangle 13"/>
          <p:cNvSpPr/>
          <p:nvPr/>
        </p:nvSpPr>
        <p:spPr>
          <a:xfrm>
            <a:off x="9144000" y="297180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5" name="Rectangle 14"/>
          <p:cNvSpPr/>
          <p:nvPr/>
        </p:nvSpPr>
        <p:spPr>
          <a:xfrm>
            <a:off x="7772400" y="338328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電話 × メールの二重チャネルが相互に信頼性を補強</a:t>
            </a:r>
          </a:p>
        </p:txBody>
      </p:sp>
      <p:sp>
        <p:nvSpPr>
          <p:cNvPr id="16" name="Rectangle 15"/>
          <p:cNvSpPr/>
          <p:nvPr/>
        </p:nvSpPr>
        <p:spPr>
          <a:xfrm>
            <a:off x="914400" y="411480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偽メールは正規フォルダに入らない（SPF/DKIM/DMARC不通過）→ ほぼ確実に迷惑フォルダ行き</a:t>
            </a:r>
          </a:p>
        </p:txBody>
      </p:sp>
      <p:sp>
        <p:nvSpPr>
          <p:cNvPr id="17" name="Rectangle 16"/>
          <p:cNvSpPr/>
          <p:nvPr/>
        </p:nvSpPr>
        <p:spPr>
          <a:xfrm>
            <a:off x="91440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メールが迷惑フォルダへ</a:t>
            </a:r>
          </a:p>
        </p:txBody>
      </p:sp>
      <p:sp>
        <p:nvSpPr>
          <p:cNvPr id="18" name="TextBox 17"/>
          <p:cNvSpPr txBox="1"/>
          <p:nvPr/>
        </p:nvSpPr>
        <p:spPr>
          <a:xfrm>
            <a:off x="3977639"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19" name="Rectangle 18"/>
          <p:cNvSpPr/>
          <p:nvPr/>
        </p:nvSpPr>
        <p:spPr>
          <a:xfrm>
            <a:off x="438912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被害者「メール来てません」</a:t>
            </a:r>
          </a:p>
        </p:txBody>
      </p:sp>
      <p:sp>
        <p:nvSpPr>
          <p:cNvPr id="20" name="TextBox 19"/>
          <p:cNvSpPr txBox="1"/>
          <p:nvPr/>
        </p:nvSpPr>
        <p:spPr>
          <a:xfrm>
            <a:off x="74523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1" name="Rectangle 20"/>
          <p:cNvSpPr/>
          <p:nvPr/>
        </p:nvSpPr>
        <p:spPr>
          <a:xfrm>
            <a:off x="7863840" y="4663440"/>
            <a:ext cx="3200400" cy="5029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犯人「迷惑メールフォルダを
確認してください」</a:t>
            </a:r>
          </a:p>
        </p:txBody>
      </p:sp>
      <p:sp>
        <p:nvSpPr>
          <p:cNvPr id="22" name="TextBox 21"/>
          <p:cNvSpPr txBox="1"/>
          <p:nvPr/>
        </p:nvSpPr>
        <p:spPr>
          <a:xfrm>
            <a:off x="111099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3" name="Rectangle 22"/>
          <p:cNvSpPr/>
          <p:nvPr/>
        </p:nvSpPr>
        <p:spPr>
          <a:xfrm>
            <a:off x="11521440" y="4663440"/>
            <a:ext cx="265176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被害者が自ら発見
→ 攻撃続行</a:t>
            </a:r>
          </a:p>
        </p:txBody>
      </p:sp>
      <p:sp>
        <p:nvSpPr>
          <p:cNvPr id="24" name="Rectangle 23"/>
          <p:cNvSpPr/>
          <p:nvPr/>
        </p:nvSpPr>
        <p:spPr>
          <a:xfrm>
            <a:off x="914400" y="5303520"/>
            <a:ext cx="132588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 破綻ポイント：「迷惑フォルダを確認して」＝ 銀行が絶対に言わないセリフ ＝ 100%詐欺</a:t>
            </a:r>
          </a:p>
        </p:txBody>
      </p:sp>
      <p:sp>
        <p:nvSpPr>
          <p:cNvPr id="25" name="Rectangle 24"/>
          <p:cNvSpPr/>
          <p:nvPr/>
        </p:nvSpPr>
        <p:spPr>
          <a:xfrm>
            <a:off x="914400" y="5852160"/>
            <a:ext cx="13258800" cy="6400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222222"/>
                </a:solidFill>
                <a:latin typeface="Meiryo"/>
              </a:rPr>
              <a:t/>
            </a:r>
          </a:p>
        </p:txBody>
      </p:sp>
      <p:sp>
        <p:nvSpPr>
          <p:cNvPr id="26" name="TextBox 25"/>
          <p:cNvSpPr txBox="1"/>
          <p:nvPr/>
        </p:nvSpPr>
        <p:spPr>
          <a:xfrm>
            <a:off x="1097280" y="5879592"/>
            <a:ext cx="12801600" cy="594360"/>
          </a:xfrm>
          <a:prstGeom prst="rect">
            <a:avLst/>
          </a:prstGeom>
          <a:noFill/>
        </p:spPr>
        <p:txBody>
          <a:bodyPr wrap="square" lIns="50800" rIns="50800" tIns="38100" bIns="38100"/>
          <a:lstStyle/>
          <a:p>
            <a:pPr algn="l"/>
            <a:r>
              <a:rPr sz="1100" b="0">
                <a:solidFill>
                  <a:srgbClr val="222222"/>
                </a:solidFill>
                <a:latin typeface="Meiryo"/>
              </a:rPr>
              <a:t>しかし気づけない。さらに悪いことに、迷惑フォルダに入っていたことが手順②の話を補強してしまう
「重要なメールがフィルタに引っかかっていた → だから口座更新の案内に気づけなかったんだ」
→ 被害者はますます犯人の話を信じる</a:t>
            </a:r>
          </a:p>
        </p:txBody>
      </p:sp>
      <p:sp>
        <p:nvSpPr>
          <p:cNvPr id="27" name="Rectangle 26"/>
          <p:cNvSpPr/>
          <p:nvPr/>
        </p:nvSpPr>
        <p:spPr>
          <a:xfrm>
            <a:off x="914400" y="667512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手順②の恐怖が全ての破綻ポイント（③メアド、④迷惑フォルダ）を無効化している</a:t>
            </a:r>
          </a:p>
        </p:txBody>
      </p:sp>
      <p:sp>
        <p:nvSpPr>
          <p:cNvPr id="28" name="TextBox 27"/>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手順④ フィッシングメールと迷惑メールフィルタ回避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27AE60"/>
                </a:solidFill>
                <a:latin typeface="Meiryo"/>
              </a:rPr>
              <a:t>技術的対策：DMARC＋DNSで手順④を確実に遮断できる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顧客の注意力に一切依存せず、銀行側の設定だけでKill Chainを切れる。技術的にはもう解決できる話。</a:t>
            </a:r>
          </a:p>
        </p:txBody>
      </p:sp>
      <p:sp>
        <p:nvSpPr>
          <p:cNvPr id="4" name="Rectangle 3"/>
          <p:cNvSpPr/>
          <p:nvPr/>
        </p:nvSpPr>
        <p:spPr>
          <a:xfrm>
            <a:off x="731520" y="118872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DMARCポリシーの違い — p=reject で正規ドメイン詐称を完全遮断</a:t>
            </a:r>
          </a:p>
        </p:txBody>
      </p:sp>
      <p:sp>
        <p:nvSpPr>
          <p:cNvPr id="5" name="Rectangle 4"/>
          <p:cNvSpPr/>
          <p:nvPr/>
        </p:nvSpPr>
        <p:spPr>
          <a:xfrm>
            <a:off x="731520" y="16002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p=none（監視のみ）</a:t>
            </a:r>
          </a:p>
        </p:txBody>
      </p:sp>
      <p:sp>
        <p:nvSpPr>
          <p:cNvPr id="6" name="Rectangle 5"/>
          <p:cNvSpPr/>
          <p:nvPr/>
        </p:nvSpPr>
        <p:spPr>
          <a:xfrm>
            <a:off x="3931920" y="16002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偽メールが普通に届く</a:t>
            </a:r>
          </a:p>
        </p:txBody>
      </p:sp>
      <p:sp>
        <p:nvSpPr>
          <p:cNvPr id="7" name="Rectangle 6"/>
          <p:cNvSpPr/>
          <p:nvPr/>
        </p:nvSpPr>
        <p:spPr>
          <a:xfrm>
            <a:off x="8961120" y="1600200"/>
            <a:ext cx="3200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攻撃成立</a:t>
            </a:r>
          </a:p>
        </p:txBody>
      </p:sp>
      <p:sp>
        <p:nvSpPr>
          <p:cNvPr id="8" name="Rectangle 7"/>
          <p:cNvSpPr/>
          <p:nvPr/>
        </p:nvSpPr>
        <p:spPr>
          <a:xfrm>
            <a:off x="731520" y="2057400"/>
            <a:ext cx="3200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p=quarantine（隔離）</a:t>
            </a:r>
          </a:p>
        </p:txBody>
      </p:sp>
      <p:sp>
        <p:nvSpPr>
          <p:cNvPr id="9" name="Rectangle 8"/>
          <p:cNvSpPr/>
          <p:nvPr/>
        </p:nvSpPr>
        <p:spPr>
          <a:xfrm>
            <a:off x="3931920" y="2057400"/>
            <a:ext cx="50292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迷惑フォルダに入る</a:t>
            </a:r>
          </a:p>
        </p:txBody>
      </p:sp>
      <p:sp>
        <p:nvSpPr>
          <p:cNvPr id="10" name="Rectangle 9"/>
          <p:cNvSpPr/>
          <p:nvPr/>
        </p:nvSpPr>
        <p:spPr>
          <a:xfrm>
            <a:off x="8961120" y="2057400"/>
            <a:ext cx="320040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電話で突破される</a:t>
            </a:r>
          </a:p>
        </p:txBody>
      </p:sp>
      <p:sp>
        <p:nvSpPr>
          <p:cNvPr id="11" name="Rectangle 10"/>
          <p:cNvSpPr/>
          <p:nvPr/>
        </p:nvSpPr>
        <p:spPr>
          <a:xfrm>
            <a:off x="731520" y="25146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p=reject（拒否）★</a:t>
            </a:r>
          </a:p>
        </p:txBody>
      </p:sp>
      <p:sp>
        <p:nvSpPr>
          <p:cNvPr id="12" name="Rectangle 11"/>
          <p:cNvSpPr/>
          <p:nvPr/>
        </p:nvSpPr>
        <p:spPr>
          <a:xfrm>
            <a:off x="3931920" y="25146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メールサーバが受信拒否。配信されない。</a:t>
            </a:r>
          </a:p>
        </p:txBody>
      </p:sp>
      <p:sp>
        <p:nvSpPr>
          <p:cNvPr id="13" name="Rectangle 12"/>
          <p:cNvSpPr/>
          <p:nvPr/>
        </p:nvSpPr>
        <p:spPr>
          <a:xfrm>
            <a:off x="8961120" y="2514600"/>
            <a:ext cx="320040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攻撃が止まる</a:t>
            </a:r>
          </a:p>
        </p:txBody>
      </p:sp>
      <p:sp>
        <p:nvSpPr>
          <p:cNvPr id="14" name="Rectangle 13"/>
          <p:cNvSpPr/>
          <p:nvPr/>
        </p:nvSpPr>
        <p:spPr>
          <a:xfrm>
            <a:off x="731520" y="310896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類似ドメインも含めた包括的DNS対策</a:t>
            </a:r>
          </a:p>
        </p:txBody>
      </p:sp>
      <p:sp>
        <p:nvSpPr>
          <p:cNvPr id="15" name="Rectangle 14"/>
          <p:cNvSpPr/>
          <p:nvPr/>
        </p:nvSpPr>
        <p:spPr>
          <a:xfrm>
            <a:off x="731520" y="356616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対策</a:t>
            </a:r>
          </a:p>
        </p:txBody>
      </p:sp>
      <p:sp>
        <p:nvSpPr>
          <p:cNvPr id="16" name="Rectangle 15"/>
          <p:cNvSpPr/>
          <p:nvPr/>
        </p:nvSpPr>
        <p:spPr>
          <a:xfrm>
            <a:off x="4389120" y="3566160"/>
            <a:ext cx="5943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17" name="Rectangle 16"/>
          <p:cNvSpPr/>
          <p:nvPr/>
        </p:nvSpPr>
        <p:spPr>
          <a:xfrm>
            <a:off x="10332720" y="3566160"/>
            <a:ext cx="402336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効果</a:t>
            </a:r>
          </a:p>
        </p:txBody>
      </p:sp>
      <p:sp>
        <p:nvSpPr>
          <p:cNvPr id="18" name="Rectangle 17"/>
          <p:cNvSpPr/>
          <p:nvPr/>
        </p:nvSpPr>
        <p:spPr>
          <a:xfrm>
            <a:off x="731520" y="39319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類似ドメインの防御的登録</a:t>
            </a:r>
          </a:p>
        </p:txBody>
      </p:sp>
      <p:sp>
        <p:nvSpPr>
          <p:cNvPr id="19" name="Rectangle 18"/>
          <p:cNvSpPr/>
          <p:nvPr/>
        </p:nvSpPr>
        <p:spPr>
          <a:xfrm>
            <a:off x="4389120" y="39319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mufg-security.com, bizstation-update.jp 等を銀行が先に取得</a:t>
            </a:r>
          </a:p>
        </p:txBody>
      </p:sp>
      <p:sp>
        <p:nvSpPr>
          <p:cNvPr id="20" name="Rectangle 19"/>
          <p:cNvSpPr/>
          <p:nvPr/>
        </p:nvSpPr>
        <p:spPr>
          <a:xfrm>
            <a:off x="10332720" y="39319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犯人が使えるドメインを潰す</a:t>
            </a:r>
          </a:p>
        </p:txBody>
      </p:sp>
      <p:sp>
        <p:nvSpPr>
          <p:cNvPr id="21" name="Rectangle 20"/>
          <p:cNvSpPr/>
          <p:nvPr/>
        </p:nvSpPr>
        <p:spPr>
          <a:xfrm>
            <a:off x="731520" y="43891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新規登録ドメイン（NRD）ブロック</a:t>
            </a:r>
          </a:p>
        </p:txBody>
      </p:sp>
      <p:sp>
        <p:nvSpPr>
          <p:cNvPr id="22" name="Rectangle 21"/>
          <p:cNvSpPr/>
          <p:nvPr/>
        </p:nvSpPr>
        <p:spPr>
          <a:xfrm>
            <a:off x="4389120" y="43891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登録から日が浅いドメインを受信側で高リスク判定・ブロック</a:t>
            </a:r>
          </a:p>
        </p:txBody>
      </p:sp>
      <p:sp>
        <p:nvSpPr>
          <p:cNvPr id="23" name="Rectangle 22"/>
          <p:cNvSpPr/>
          <p:nvPr/>
        </p:nvSpPr>
        <p:spPr>
          <a:xfrm>
            <a:off x="10332720" y="43891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犯人が新ドメインを取得しても即座に使えない</a:t>
            </a:r>
          </a:p>
        </p:txBody>
      </p:sp>
      <p:sp>
        <p:nvSpPr>
          <p:cNvPr id="24" name="Rectangle 23"/>
          <p:cNvSpPr/>
          <p:nvPr/>
        </p:nvSpPr>
        <p:spPr>
          <a:xfrm>
            <a:off x="731520" y="48463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正規送信ドメインの公開＋GW制御</a:t>
            </a:r>
          </a:p>
        </p:txBody>
      </p:sp>
      <p:sp>
        <p:nvSpPr>
          <p:cNvPr id="25" name="Rectangle 24"/>
          <p:cNvSpPr/>
          <p:nvPr/>
        </p:nvSpPr>
        <p:spPr>
          <a:xfrm>
            <a:off x="4389120" y="48463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銀行が「当行のメールは @mufg.jp, @bk.mufg.co.jp のみ」と宣言</a:t>
            </a:r>
          </a:p>
        </p:txBody>
      </p:sp>
      <p:sp>
        <p:nvSpPr>
          <p:cNvPr id="26" name="Rectangle 25"/>
          <p:cNvSpPr/>
          <p:nvPr/>
        </p:nvSpPr>
        <p:spPr>
          <a:xfrm>
            <a:off x="10332720" y="48463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企業のメールGWで上記以外を自動ブロック</a:t>
            </a:r>
          </a:p>
        </p:txBody>
      </p:sp>
      <p:sp>
        <p:nvSpPr>
          <p:cNvPr id="27" name="Rectangle 26"/>
          <p:cNvSpPr/>
          <p:nvPr/>
        </p:nvSpPr>
        <p:spPr>
          <a:xfrm>
            <a:off x="731520" y="53035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SPF/DKIM未設定ドメインの拒否</a:t>
            </a:r>
          </a:p>
        </p:txBody>
      </p:sp>
      <p:sp>
        <p:nvSpPr>
          <p:cNvPr id="28" name="Rectangle 27"/>
          <p:cNvSpPr/>
          <p:nvPr/>
        </p:nvSpPr>
        <p:spPr>
          <a:xfrm>
            <a:off x="4389120" y="53035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受信側で認証未設定のドメインからのメールを拒否</a:t>
            </a:r>
          </a:p>
        </p:txBody>
      </p:sp>
      <p:sp>
        <p:nvSpPr>
          <p:cNvPr id="29" name="Rectangle 28"/>
          <p:cNvSpPr/>
          <p:nvPr/>
        </p:nvSpPr>
        <p:spPr>
          <a:xfrm>
            <a:off x="10332720" y="53035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犯人の急造ドメインは認証が通らない</a:t>
            </a:r>
          </a:p>
        </p:txBody>
      </p:sp>
      <p:sp>
        <p:nvSpPr>
          <p:cNvPr id="30" name="Rectangle 29"/>
          <p:cNvSpPr/>
          <p:nvPr/>
        </p:nvSpPr>
        <p:spPr>
          <a:xfrm>
            <a:off x="731520" y="594360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対策カバレッジ</a:t>
            </a:r>
          </a:p>
        </p:txBody>
      </p:sp>
      <p:sp>
        <p:nvSpPr>
          <p:cNvPr id="31" name="Rectangle 30"/>
          <p:cNvSpPr/>
          <p:nvPr/>
        </p:nvSpPr>
        <p:spPr>
          <a:xfrm>
            <a:off x="731520" y="6309360"/>
            <a:ext cx="45720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32" name="Rectangle 31"/>
          <p:cNvSpPr/>
          <p:nvPr/>
        </p:nvSpPr>
        <p:spPr>
          <a:xfrm>
            <a:off x="530352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正規ドメイン詐称</a:t>
            </a:r>
          </a:p>
        </p:txBody>
      </p:sp>
      <p:sp>
        <p:nvSpPr>
          <p:cNvPr id="33" name="Rectangle 32"/>
          <p:cNvSpPr/>
          <p:nvPr/>
        </p:nvSpPr>
        <p:spPr>
          <a:xfrm>
            <a:off x="832104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類似ドメイン</a:t>
            </a:r>
          </a:p>
        </p:txBody>
      </p:sp>
      <p:sp>
        <p:nvSpPr>
          <p:cNvPr id="34" name="Rectangle 33"/>
          <p:cNvSpPr/>
          <p:nvPr/>
        </p:nvSpPr>
        <p:spPr>
          <a:xfrm>
            <a:off x="11338559"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新規ドメイン</a:t>
            </a:r>
          </a:p>
        </p:txBody>
      </p:sp>
      <p:sp>
        <p:nvSpPr>
          <p:cNvPr id="35" name="Rectangle 34"/>
          <p:cNvSpPr/>
          <p:nvPr/>
        </p:nvSpPr>
        <p:spPr>
          <a:xfrm>
            <a:off x="731520" y="667512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DMARC p=reject のみ</a:t>
            </a:r>
          </a:p>
        </p:txBody>
      </p:sp>
      <p:sp>
        <p:nvSpPr>
          <p:cNvPr id="36" name="Rectangle 35"/>
          <p:cNvSpPr/>
          <p:nvPr/>
        </p:nvSpPr>
        <p:spPr>
          <a:xfrm>
            <a:off x="5303520" y="667512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37" name="Rectangle 36"/>
          <p:cNvSpPr/>
          <p:nvPr/>
        </p:nvSpPr>
        <p:spPr>
          <a:xfrm>
            <a:off x="8321040"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8" name="Rectangle 37"/>
          <p:cNvSpPr/>
          <p:nvPr/>
        </p:nvSpPr>
        <p:spPr>
          <a:xfrm>
            <a:off x="11338559"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9" name="Rectangle 38"/>
          <p:cNvSpPr/>
          <p:nvPr/>
        </p:nvSpPr>
        <p:spPr>
          <a:xfrm>
            <a:off x="731520" y="704088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類似ドメイン防御的登録</a:t>
            </a:r>
          </a:p>
        </p:txBody>
      </p:sp>
      <p:sp>
        <p:nvSpPr>
          <p:cNvPr id="40" name="Rectangle 39"/>
          <p:cNvSpPr/>
          <p:nvPr/>
        </p:nvSpPr>
        <p:spPr>
          <a:xfrm>
            <a:off x="530352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1" name="Rectangle 40"/>
          <p:cNvSpPr/>
          <p:nvPr/>
        </p:nvSpPr>
        <p:spPr>
          <a:xfrm>
            <a:off x="832104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2" name="Rectangle 41"/>
          <p:cNvSpPr/>
          <p:nvPr/>
        </p:nvSpPr>
        <p:spPr>
          <a:xfrm>
            <a:off x="11338559" y="704088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43" name="Rectangle 42"/>
          <p:cNvSpPr/>
          <p:nvPr/>
        </p:nvSpPr>
        <p:spPr>
          <a:xfrm>
            <a:off x="731520" y="740664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NRDブロック＋SPF/DKIM必須化</a:t>
            </a:r>
          </a:p>
        </p:txBody>
      </p:sp>
      <p:sp>
        <p:nvSpPr>
          <p:cNvPr id="44" name="Rectangle 43"/>
          <p:cNvSpPr/>
          <p:nvPr/>
        </p:nvSpPr>
        <p:spPr>
          <a:xfrm>
            <a:off x="530352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5" name="Rectangle 44"/>
          <p:cNvSpPr/>
          <p:nvPr/>
        </p:nvSpPr>
        <p:spPr>
          <a:xfrm>
            <a:off x="832104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6" name="Rectangle 45"/>
          <p:cNvSpPr/>
          <p:nvPr/>
        </p:nvSpPr>
        <p:spPr>
          <a:xfrm>
            <a:off x="11338559"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7" name="Rectangle 46"/>
          <p:cNvSpPr/>
          <p:nvPr/>
        </p:nvSpPr>
        <p:spPr>
          <a:xfrm>
            <a:off x="731520" y="777240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正規ドメイン公開＋GW制御（全部）</a:t>
            </a:r>
          </a:p>
        </p:txBody>
      </p:sp>
      <p:sp>
        <p:nvSpPr>
          <p:cNvPr id="48" name="Rectangle 47"/>
          <p:cNvSpPr/>
          <p:nvPr/>
        </p:nvSpPr>
        <p:spPr>
          <a:xfrm>
            <a:off x="530352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9" name="Rectangle 48"/>
          <p:cNvSpPr/>
          <p:nvPr/>
        </p:nvSpPr>
        <p:spPr>
          <a:xfrm>
            <a:off x="832104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0" name="Rectangle 49"/>
          <p:cNvSpPr/>
          <p:nvPr/>
        </p:nvSpPr>
        <p:spPr>
          <a:xfrm>
            <a:off x="11338559"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1" name="Rectangle 50"/>
          <p:cNvSpPr/>
          <p:nvPr/>
        </p:nvSpPr>
        <p:spPr>
          <a:xfrm>
            <a:off x="731520" y="8229600"/>
            <a:ext cx="1362456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全部やれば手順④のメールは顧客に届かない。Kill Chainはここで切れる。顧客の注意力に一切依存しない。</a:t>
            </a:r>
          </a:p>
        </p:txBody>
      </p:sp>
      <p:sp>
        <p:nvSpPr>
          <p:cNvPr id="52" name="Rectangle 51"/>
          <p:cNvSpPr/>
          <p:nvPr/>
        </p:nvSpPr>
        <p:spPr>
          <a:xfrm>
            <a:off x="731520" y="877824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技術的にはもう解決できる話。やるかやらないかだけ。</a:t>
            </a:r>
          </a:p>
        </p:txBody>
      </p:sp>
      <p:sp>
        <p:nvSpPr>
          <p:cNvPr id="53" name="TextBox 5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DMARC＋DNSによる技術的遮断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8E44AD"/>
                </a:solidFill>
                <a:latin typeface="Meiryo"/>
              </a:rPr>
              <a:t>手順⑤「メールのボタンをクリックして」— 最大の破綻ポイント</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銀行の方針・金融庁の要請・顧客への周知、すべてに反する行為。それでも突破される。</a:t>
            </a:r>
          </a:p>
        </p:txBody>
      </p:sp>
      <p:sp>
        <p:nvSpPr>
          <p:cNvPr id="4" name="Rectangle 3"/>
          <p:cNvSpPr/>
          <p:nvPr/>
        </p:nvSpPr>
        <p:spPr>
          <a:xfrm>
            <a:off x="731520" y="1097280"/>
            <a:ext cx="1362456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金融庁の要請：金融機関が顧客に送信するメールにURLリンクを記載しないこと</a:t>
            </a:r>
          </a:p>
        </p:txBody>
      </p:sp>
      <p:sp>
        <p:nvSpPr>
          <p:cNvPr id="5" name="TextBox 4"/>
          <p:cNvSpPr txBox="1"/>
          <p:nvPr/>
        </p:nvSpPr>
        <p:spPr>
          <a:xfrm>
            <a:off x="731520" y="1627631"/>
            <a:ext cx="13624560" cy="274320"/>
          </a:xfrm>
          <a:prstGeom prst="rect">
            <a:avLst/>
          </a:prstGeom>
          <a:noFill/>
        </p:spPr>
        <p:txBody>
          <a:bodyPr wrap="square" lIns="50800" rIns="50800" tIns="38100" bIns="38100"/>
          <a:lstStyle/>
          <a:p>
            <a:pPr algn="l"/>
            <a:r>
              <a:rPr sz="900" b="0">
                <a:solidFill>
                  <a:srgbClr val="888888"/>
                </a:solidFill>
                <a:latin typeface="Meiryo"/>
              </a:rPr>
              <a:t>→ 多くの銀行が「メール内のリンクはクリックしないでください」と顧客に周知済み</a:t>
            </a:r>
          </a:p>
        </p:txBody>
      </p:sp>
      <p:sp>
        <p:nvSpPr>
          <p:cNvPr id="6" name="Rectangle 5"/>
          <p:cNvSpPr/>
          <p:nvPr/>
        </p:nvSpPr>
        <p:spPr>
          <a:xfrm>
            <a:off x="731520" y="2011680"/>
            <a:ext cx="22860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a:r>
          </a:p>
        </p:txBody>
      </p:sp>
      <p:sp>
        <p:nvSpPr>
          <p:cNvPr id="7" name="Rectangle 6"/>
          <p:cNvSpPr/>
          <p:nvPr/>
        </p:nvSpPr>
        <p:spPr>
          <a:xfrm>
            <a:off x="3017520" y="2011680"/>
            <a:ext cx="54864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銀行の正規誘導</a:t>
            </a:r>
          </a:p>
        </p:txBody>
      </p:sp>
      <p:sp>
        <p:nvSpPr>
          <p:cNvPr id="8" name="Rectangle 7"/>
          <p:cNvSpPr/>
          <p:nvPr/>
        </p:nvSpPr>
        <p:spPr>
          <a:xfrm>
            <a:off x="8503920" y="2011680"/>
            <a:ext cx="58521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この攻撃</a:t>
            </a:r>
          </a:p>
        </p:txBody>
      </p:sp>
      <p:sp>
        <p:nvSpPr>
          <p:cNvPr id="9" name="Rectangle 8"/>
          <p:cNvSpPr/>
          <p:nvPr/>
        </p:nvSpPr>
        <p:spPr>
          <a:xfrm>
            <a:off x="731520" y="24231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方法</a:t>
            </a:r>
          </a:p>
        </p:txBody>
      </p:sp>
      <p:sp>
        <p:nvSpPr>
          <p:cNvPr id="10" name="Rectangle 9"/>
          <p:cNvSpPr/>
          <p:nvPr/>
        </p:nvSpPr>
        <p:spPr>
          <a:xfrm>
            <a:off x="3017520" y="24231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ブックマーク・URL直接入力・公式アプリ</a:t>
            </a:r>
          </a:p>
        </p:txBody>
      </p:sp>
      <p:sp>
        <p:nvSpPr>
          <p:cNvPr id="11" name="Rectangle 10"/>
          <p:cNvSpPr/>
          <p:nvPr/>
        </p:nvSpPr>
        <p:spPr>
          <a:xfrm>
            <a:off x="8503920" y="24231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メールのボタンをクリック</a:t>
            </a:r>
          </a:p>
        </p:txBody>
      </p:sp>
      <p:sp>
        <p:nvSpPr>
          <p:cNvPr id="12" name="Rectangle 11"/>
          <p:cNvSpPr/>
          <p:nvPr/>
        </p:nvSpPr>
        <p:spPr>
          <a:xfrm>
            <a:off x="731520" y="28803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URLの出所</a:t>
            </a:r>
          </a:p>
        </p:txBody>
      </p:sp>
      <p:sp>
        <p:nvSpPr>
          <p:cNvPr id="13" name="Rectangle 12"/>
          <p:cNvSpPr/>
          <p:nvPr/>
        </p:nvSpPr>
        <p:spPr>
          <a:xfrm>
            <a:off x="3017520" y="28803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顧客が自分で持っている</a:t>
            </a:r>
          </a:p>
        </p:txBody>
      </p:sp>
      <p:sp>
        <p:nvSpPr>
          <p:cNvPr id="14" name="Rectangle 13"/>
          <p:cNvSpPr/>
          <p:nvPr/>
        </p:nvSpPr>
        <p:spPr>
          <a:xfrm>
            <a:off x="8503920" y="28803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犯人が送りつけた</a:t>
            </a:r>
          </a:p>
        </p:txBody>
      </p:sp>
      <p:sp>
        <p:nvSpPr>
          <p:cNvPr id="15" name="Rectangle 14"/>
          <p:cNvSpPr/>
          <p:nvPr/>
        </p:nvSpPr>
        <p:spPr>
          <a:xfrm>
            <a:off x="731520" y="33375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顧客の行動</a:t>
            </a:r>
          </a:p>
        </p:txBody>
      </p:sp>
      <p:sp>
        <p:nvSpPr>
          <p:cNvPr id="16" name="Rectangle 15"/>
          <p:cNvSpPr/>
          <p:nvPr/>
        </p:nvSpPr>
        <p:spPr>
          <a:xfrm>
            <a:off x="3017520" y="33375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能動的（自分でアクセス）</a:t>
            </a:r>
          </a:p>
        </p:txBody>
      </p:sp>
      <p:sp>
        <p:nvSpPr>
          <p:cNvPr id="17" name="Rectangle 16"/>
          <p:cNvSpPr/>
          <p:nvPr/>
        </p:nvSpPr>
        <p:spPr>
          <a:xfrm>
            <a:off x="8503920" y="33375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受動的（指示されてクリック）</a:t>
            </a:r>
          </a:p>
        </p:txBody>
      </p:sp>
      <p:sp>
        <p:nvSpPr>
          <p:cNvPr id="18" name="Rectangle 17"/>
          <p:cNvSpPr/>
          <p:nvPr/>
        </p:nvSpPr>
        <p:spPr>
          <a:xfrm>
            <a:off x="731520" y="37947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利便性</a:t>
            </a:r>
          </a:p>
        </p:txBody>
      </p:sp>
      <p:sp>
        <p:nvSpPr>
          <p:cNvPr id="19" name="Rectangle 18"/>
          <p:cNvSpPr/>
          <p:nvPr/>
        </p:nvSpPr>
        <p:spPr>
          <a:xfrm>
            <a:off x="3017520" y="37947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面倒（ブックマーク探す、URL入力）</a:t>
            </a:r>
          </a:p>
        </p:txBody>
      </p:sp>
      <p:sp>
        <p:nvSpPr>
          <p:cNvPr id="20" name="Rectangle 19"/>
          <p:cNvSpPr/>
          <p:nvPr/>
        </p:nvSpPr>
        <p:spPr>
          <a:xfrm>
            <a:off x="8503920" y="37947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楽（ボタン1つ押すだけ）</a:t>
            </a:r>
          </a:p>
        </p:txBody>
      </p:sp>
      <p:sp>
        <p:nvSpPr>
          <p:cNvPr id="21" name="Rectangle 20"/>
          <p:cNvSpPr/>
          <p:nvPr/>
        </p:nvSpPr>
        <p:spPr>
          <a:xfrm>
            <a:off x="731520" y="4343400"/>
            <a:ext cx="13624560" cy="8229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TextBox 21"/>
          <p:cNvSpPr txBox="1"/>
          <p:nvPr/>
        </p:nvSpPr>
        <p:spPr>
          <a:xfrm>
            <a:off x="1005840" y="4389120"/>
            <a:ext cx="13075920" cy="777240"/>
          </a:xfrm>
          <a:prstGeom prst="rect">
            <a:avLst/>
          </a:prstGeom>
          <a:noFill/>
        </p:spPr>
        <p:txBody>
          <a:bodyPr wrap="square" lIns="50800" rIns="50800" tIns="38100" bIns="38100"/>
          <a:lstStyle/>
          <a:p>
            <a:pPr algn="l"/>
            <a:r>
              <a:rPr sz="1100" b="1">
                <a:solidFill>
                  <a:srgbClr val="FFFFFF"/>
                </a:solidFill>
                <a:latin typeface="Meiryo"/>
              </a:rPr>
              <a:t>皮肉：犯人のほうが「ユーザー体験が良い」
正規の銀行：「ブックマークからアクセスしてください」（面倒）
犯人：「ボタンをクリックするだけです」（簡単）
→ 焦っている被害者がどちらに従いたくなるかは明白</a:t>
            </a:r>
          </a:p>
        </p:txBody>
      </p:sp>
      <p:sp>
        <p:nvSpPr>
          <p:cNvPr id="23" name="Rectangle 22"/>
          <p:cNvSpPr/>
          <p:nvPr/>
        </p:nvSpPr>
        <p:spPr>
          <a:xfrm>
            <a:off x="731520" y="5349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手順⑤の破綻ポイントまとめ</a:t>
            </a:r>
          </a:p>
        </p:txBody>
      </p:sp>
      <p:sp>
        <p:nvSpPr>
          <p:cNvPr id="24" name="Rectangle 23"/>
          <p:cNvSpPr/>
          <p:nvPr/>
        </p:nvSpPr>
        <p:spPr>
          <a:xfrm>
            <a:off x="731520" y="571500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銀行の方針</a:t>
            </a:r>
          </a:p>
        </p:txBody>
      </p:sp>
      <p:sp>
        <p:nvSpPr>
          <p:cNvPr id="25" name="Rectangle 24"/>
          <p:cNvSpPr/>
          <p:nvPr/>
        </p:nvSpPr>
        <p:spPr>
          <a:xfrm>
            <a:off x="4389120" y="571500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メールにURLリンクを載せない</a:t>
            </a:r>
          </a:p>
        </p:txBody>
      </p:sp>
      <p:sp>
        <p:nvSpPr>
          <p:cNvPr id="26" name="Rectangle 25"/>
          <p:cNvSpPr/>
          <p:nvPr/>
        </p:nvSpPr>
        <p:spPr>
          <a:xfrm>
            <a:off x="731520" y="6080760"/>
            <a:ext cx="36576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金融庁の要請</a:t>
            </a:r>
          </a:p>
        </p:txBody>
      </p:sp>
      <p:sp>
        <p:nvSpPr>
          <p:cNvPr id="27" name="Rectangle 26"/>
          <p:cNvSpPr/>
          <p:nvPr/>
        </p:nvSpPr>
        <p:spPr>
          <a:xfrm>
            <a:off x="4389120" y="6080760"/>
            <a:ext cx="996696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金融機関のメールにURL記載禁止</a:t>
            </a:r>
          </a:p>
        </p:txBody>
      </p:sp>
      <p:sp>
        <p:nvSpPr>
          <p:cNvPr id="28" name="Rectangle 27"/>
          <p:cNvSpPr/>
          <p:nvPr/>
        </p:nvSpPr>
        <p:spPr>
          <a:xfrm>
            <a:off x="731520" y="644652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顧客への周知</a:t>
            </a:r>
          </a:p>
        </p:txBody>
      </p:sp>
      <p:sp>
        <p:nvSpPr>
          <p:cNvPr id="29" name="Rectangle 28"/>
          <p:cNvSpPr/>
          <p:nvPr/>
        </p:nvSpPr>
        <p:spPr>
          <a:xfrm>
            <a:off x="4389120" y="644652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「メールのリンクをクリックしないで」と案内済み</a:t>
            </a:r>
          </a:p>
        </p:txBody>
      </p:sp>
      <p:sp>
        <p:nvSpPr>
          <p:cNvPr id="30" name="Rectangle 29"/>
          <p:cNvSpPr/>
          <p:nvPr/>
        </p:nvSpPr>
        <p:spPr>
          <a:xfrm>
            <a:off x="731520" y="6812280"/>
            <a:ext cx="36576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それでも突破される理由</a:t>
            </a:r>
          </a:p>
        </p:txBody>
      </p:sp>
      <p:sp>
        <p:nvSpPr>
          <p:cNvPr id="31" name="Rectangle 30"/>
          <p:cNvSpPr/>
          <p:nvPr/>
        </p:nvSpPr>
        <p:spPr>
          <a:xfrm>
            <a:off x="4389120" y="6812280"/>
            <a:ext cx="99669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手順②の恐怖 ＋ 電話でのリアルタイム指示 ＋ 犯人のほうがUXが良い</a:t>
            </a:r>
          </a:p>
        </p:txBody>
      </p:sp>
      <p:sp>
        <p:nvSpPr>
          <p:cNvPr id="32" name="Rectangle 31"/>
          <p:cNvSpPr/>
          <p:nvPr/>
        </p:nvSpPr>
        <p:spPr>
          <a:xfrm>
            <a:off x="731520" y="7223759"/>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注意喚起・ガイドライン・金融庁の要請 — すべてが「冷静な時の判断力」を前提にしている。この攻撃は、その前提自体を手順②で破壊している。</a:t>
            </a:r>
          </a:p>
        </p:txBody>
      </p:sp>
      <p:sp>
        <p:nvSpPr>
          <p:cNvPr id="33" name="TextBox 3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手順⑤ メールURLと金融庁要請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E67E22"/>
                </a:solidFill>
                <a:latin typeface="Meiryo"/>
              </a:rPr>
              <a:t>「ブックマークからアクセスして」は機能しない</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ブックマーク登録を顧客に任せている時点で、対策として成立していない。</a:t>
            </a:r>
          </a:p>
        </p:txBody>
      </p:sp>
      <p:sp>
        <p:nvSpPr>
          <p:cNvPr id="4" name="Rectangle 3"/>
          <p:cNvSpPr/>
          <p:nvPr/>
        </p:nvSpPr>
        <p:spPr>
          <a:xfrm>
            <a:off x="731520" y="1188720"/>
            <a:ext cx="658368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銀行のURL伝達方法（法人IB）</a:t>
            </a:r>
          </a:p>
        </p:txBody>
      </p:sp>
      <p:sp>
        <p:nvSpPr>
          <p:cNvPr id="5" name="Rectangle 4"/>
          <p:cNvSpPr/>
          <p:nvPr/>
        </p:nvSpPr>
        <p:spPr>
          <a:xfrm>
            <a:off x="731520" y="160020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① 契約時の書面</a:t>
            </a:r>
          </a:p>
        </p:txBody>
      </p:sp>
      <p:sp>
        <p:nvSpPr>
          <p:cNvPr id="6" name="Rectangle 5"/>
          <p:cNvSpPr/>
          <p:nvPr/>
        </p:nvSpPr>
        <p:spPr>
          <a:xfrm>
            <a:off x="3017520" y="160020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紙にURLが記載されている</a:t>
            </a:r>
          </a:p>
        </p:txBody>
      </p:sp>
      <p:sp>
        <p:nvSpPr>
          <p:cNvPr id="7" name="Rectangle 6"/>
          <p:cNvSpPr/>
          <p:nvPr/>
        </p:nvSpPr>
        <p:spPr>
          <a:xfrm>
            <a:off x="731520" y="2011680"/>
            <a:ext cx="22860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② 銀行の窓口</a:t>
            </a:r>
          </a:p>
        </p:txBody>
      </p:sp>
      <p:sp>
        <p:nvSpPr>
          <p:cNvPr id="8" name="Rectangle 7"/>
          <p:cNvSpPr/>
          <p:nvPr/>
        </p:nvSpPr>
        <p:spPr>
          <a:xfrm>
            <a:off x="3017520" y="2011680"/>
            <a:ext cx="429768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担当者から口頭で案内</a:t>
            </a:r>
          </a:p>
        </p:txBody>
      </p:sp>
      <p:sp>
        <p:nvSpPr>
          <p:cNvPr id="9" name="Rectangle 8"/>
          <p:cNvSpPr/>
          <p:nvPr/>
        </p:nvSpPr>
        <p:spPr>
          <a:xfrm>
            <a:off x="731520" y="242316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③ 銀行の公式HP</a:t>
            </a:r>
          </a:p>
        </p:txBody>
      </p:sp>
      <p:sp>
        <p:nvSpPr>
          <p:cNvPr id="10" name="Rectangle 9"/>
          <p:cNvSpPr/>
          <p:nvPr/>
        </p:nvSpPr>
        <p:spPr>
          <a:xfrm>
            <a:off x="3017520" y="242316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検索 → HP → IBログインページ</a:t>
            </a:r>
          </a:p>
        </p:txBody>
      </p:sp>
      <p:sp>
        <p:nvSpPr>
          <p:cNvPr id="11" name="TextBox 10"/>
          <p:cNvSpPr txBox="1"/>
          <p:nvPr/>
        </p:nvSpPr>
        <p:spPr>
          <a:xfrm>
            <a:off x="731520" y="2880360"/>
            <a:ext cx="6583680" cy="274320"/>
          </a:xfrm>
          <a:prstGeom prst="rect">
            <a:avLst/>
          </a:prstGeom>
          <a:noFill/>
        </p:spPr>
        <p:txBody>
          <a:bodyPr wrap="square" lIns="50800" rIns="50800" tIns="38100" bIns="38100"/>
          <a:lstStyle/>
          <a:p>
            <a:pPr algn="l"/>
            <a:r>
              <a:rPr sz="1000" b="1">
                <a:solidFill>
                  <a:srgbClr val="C0392B"/>
                </a:solidFill>
                <a:latin typeface="Meiryo"/>
              </a:rPr>
              <a:t>→ 顧客が自分でブックマーク登録する必要がある</a:t>
            </a:r>
          </a:p>
        </p:txBody>
      </p:sp>
      <p:sp>
        <p:nvSpPr>
          <p:cNvPr id="12" name="Rectangle 11"/>
          <p:cNvSpPr/>
          <p:nvPr/>
        </p:nvSpPr>
        <p:spPr>
          <a:xfrm>
            <a:off x="7772400" y="1188720"/>
            <a:ext cx="64008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銀行の想定 vs 現実</a:t>
            </a:r>
          </a:p>
        </p:txBody>
      </p:sp>
      <p:sp>
        <p:nvSpPr>
          <p:cNvPr id="13" name="Rectangle 12"/>
          <p:cNvSpPr/>
          <p:nvPr/>
        </p:nvSpPr>
        <p:spPr>
          <a:xfrm>
            <a:off x="7772400" y="160020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契約時の書面を保管</a:t>
            </a:r>
          </a:p>
        </p:txBody>
      </p:sp>
      <p:sp>
        <p:nvSpPr>
          <p:cNvPr id="14" name="Rectangle 13"/>
          <p:cNvSpPr/>
          <p:nvPr/>
        </p:nvSpPr>
        <p:spPr>
          <a:xfrm>
            <a:off x="10698480" y="160020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どこにしまったかわからない</a:t>
            </a:r>
          </a:p>
        </p:txBody>
      </p:sp>
      <p:sp>
        <p:nvSpPr>
          <p:cNvPr id="15" name="Rectangle 14"/>
          <p:cNvSpPr/>
          <p:nvPr/>
        </p:nvSpPr>
        <p:spPr>
          <a:xfrm>
            <a:off x="7772400" y="201168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ブックマークに登録済み</a:t>
            </a:r>
          </a:p>
        </p:txBody>
      </p:sp>
      <p:sp>
        <p:nvSpPr>
          <p:cNvPr id="16" name="Rectangle 15"/>
          <p:cNvSpPr/>
          <p:nvPr/>
        </p:nvSpPr>
        <p:spPr>
          <a:xfrm>
            <a:off x="10698480" y="201168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登録していない人が多い</a:t>
            </a:r>
          </a:p>
        </p:txBody>
      </p:sp>
      <p:sp>
        <p:nvSpPr>
          <p:cNvPr id="17" name="Rectangle 16"/>
          <p:cNvSpPr/>
          <p:nvPr/>
        </p:nvSpPr>
        <p:spPr>
          <a:xfrm>
            <a:off x="7772400" y="242316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毎回ブックマークからアクセス</a:t>
            </a:r>
          </a:p>
        </p:txBody>
      </p:sp>
      <p:sp>
        <p:nvSpPr>
          <p:cNvPr id="18" name="Rectangle 17"/>
          <p:cNvSpPr/>
          <p:nvPr/>
        </p:nvSpPr>
        <p:spPr>
          <a:xfrm>
            <a:off x="10698480" y="242316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毎回「BizSTATION」で検索している</a:t>
            </a:r>
          </a:p>
        </p:txBody>
      </p:sp>
      <p:sp>
        <p:nvSpPr>
          <p:cNvPr id="19" name="Rectangle 18"/>
          <p:cNvSpPr/>
          <p:nvPr/>
        </p:nvSpPr>
        <p:spPr>
          <a:xfrm>
            <a:off x="731520" y="338328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ブックマーク登録の有無が攻撃成功率を左右する</a:t>
            </a:r>
          </a:p>
        </p:txBody>
      </p:sp>
      <p:sp>
        <p:nvSpPr>
          <p:cNvPr id="20" name="Rectangle 19"/>
          <p:cNvSpPr/>
          <p:nvPr/>
        </p:nvSpPr>
        <p:spPr>
          <a:xfrm>
            <a:off x="731520" y="3840480"/>
            <a:ext cx="658368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ブックマーク登録済みの人（少数）</a:t>
            </a:r>
          </a:p>
        </p:txBody>
      </p:sp>
      <p:sp>
        <p:nvSpPr>
          <p:cNvPr id="21" name="Rectangle 20"/>
          <p:cNvSpPr/>
          <p:nvPr/>
        </p:nvSpPr>
        <p:spPr>
          <a:xfrm>
            <a:off x="731520" y="4206240"/>
            <a:ext cx="6583680" cy="6400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「自分のブックマークと違うURLだ」と気づける可能性がある
→ でも電話中なので確認しない</a:t>
            </a:r>
          </a:p>
        </p:txBody>
      </p:sp>
      <p:sp>
        <p:nvSpPr>
          <p:cNvPr id="22" name="Rectangle 21"/>
          <p:cNvSpPr/>
          <p:nvPr/>
        </p:nvSpPr>
        <p:spPr>
          <a:xfrm>
            <a:off x="7772400" y="3840480"/>
            <a:ext cx="6400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ブックマーク未登録の人（多数）</a:t>
            </a:r>
          </a:p>
        </p:txBody>
      </p:sp>
      <p:sp>
        <p:nvSpPr>
          <p:cNvPr id="23" name="Rectangle 22"/>
          <p:cNvSpPr/>
          <p:nvPr/>
        </p:nvSpPr>
        <p:spPr>
          <a:xfrm>
            <a:off x="7772400" y="4206240"/>
            <a:ext cx="6400800" cy="6400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普段から検索やメールリンクでアクセスしている
→ メールのボタンをクリックすることに抵抗がない
→ 攻撃にそのまま乗ってしまう</a:t>
            </a:r>
          </a:p>
        </p:txBody>
      </p:sp>
      <p:sp>
        <p:nvSpPr>
          <p:cNvPr id="24" name="Rectangle 23"/>
          <p:cNvSpPr/>
          <p:nvPr/>
        </p:nvSpPr>
        <p:spPr>
          <a:xfrm>
            <a:off x="731520" y="5074920"/>
            <a:ext cx="1362456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銀行がやるべきだったこと</a:t>
            </a:r>
          </a:p>
        </p:txBody>
      </p:sp>
      <p:sp>
        <p:nvSpPr>
          <p:cNvPr id="25" name="Rectangle 24"/>
          <p:cNvSpPr/>
          <p:nvPr/>
        </p:nvSpPr>
        <p:spPr>
          <a:xfrm>
            <a:off x="731520" y="548640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契約時にブックマークを設定してあげる</a:t>
            </a:r>
          </a:p>
        </p:txBody>
      </p:sp>
      <p:sp>
        <p:nvSpPr>
          <p:cNvPr id="26" name="Rectangle 25"/>
          <p:cNvSpPr/>
          <p:nvPr/>
        </p:nvSpPr>
        <p:spPr>
          <a:xfrm>
            <a:off x="5760720" y="548640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窓口対応 or 初期設定ツールで銀行側が登録</a:t>
            </a:r>
          </a:p>
        </p:txBody>
      </p:sp>
      <p:sp>
        <p:nvSpPr>
          <p:cNvPr id="27" name="Rectangle 26"/>
          <p:cNvSpPr/>
          <p:nvPr/>
        </p:nvSpPr>
        <p:spPr>
          <a:xfrm>
            <a:off x="731520" y="5897880"/>
            <a:ext cx="5029200" cy="41148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公式アプリでしかアクセスできない仕組み</a:t>
            </a:r>
          </a:p>
        </p:txBody>
      </p:sp>
      <p:sp>
        <p:nvSpPr>
          <p:cNvPr id="28" name="Rectangle 27"/>
          <p:cNvSpPr/>
          <p:nvPr/>
        </p:nvSpPr>
        <p:spPr>
          <a:xfrm>
            <a:off x="5760720" y="5897880"/>
            <a:ext cx="859536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ブラウザ経由のアクセスを廃止</a:t>
            </a:r>
          </a:p>
        </p:txBody>
      </p:sp>
      <p:sp>
        <p:nvSpPr>
          <p:cNvPr id="29" name="Rectangle 28"/>
          <p:cNvSpPr/>
          <p:nvPr/>
        </p:nvSpPr>
        <p:spPr>
          <a:xfrm>
            <a:off x="731520" y="630936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専用クライアントに統一</a:t>
            </a:r>
          </a:p>
        </p:txBody>
      </p:sp>
      <p:sp>
        <p:nvSpPr>
          <p:cNvPr id="30" name="Rectangle 29"/>
          <p:cNvSpPr/>
          <p:nvPr/>
        </p:nvSpPr>
        <p:spPr>
          <a:xfrm>
            <a:off x="5760720" y="630936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ブラウザを使わせないことでフィッシング自体を不可能にする</a:t>
            </a:r>
          </a:p>
        </p:txBody>
      </p:sp>
      <p:sp>
        <p:nvSpPr>
          <p:cNvPr id="31" name="Rectangle 30"/>
          <p:cNvSpPr/>
          <p:nvPr/>
        </p:nvSpPr>
        <p:spPr>
          <a:xfrm>
            <a:off x="731520" y="676656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「自分でブックマーク登録してね」では対策にならない — 銀行側がアクセス経路を制御すべき</a:t>
            </a:r>
          </a:p>
        </p:txBody>
      </p:sp>
      <p:sp>
        <p:nvSpPr>
          <p:cNvPr id="32" name="TextBox 3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ブックマーク対策の限界</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