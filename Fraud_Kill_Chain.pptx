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5124176" cy="10689336"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5F5F5"/>
        </a:solidFill>
        <a:effectLst/>
      </p:bgPr>
    </p:bg>
    <p:spTree>
      <p:nvGrpSpPr>
        <p:cNvPr id="1" name=""/>
        <p:cNvGrpSpPr/>
        <p:nvPr/>
      </p:nvGrpSpPr>
      <p:grpSpPr/>
      <p:sp>
        <p:nvSpPr>
          <p:cNvPr id="2" name="TextBox 1"/>
          <p:cNvSpPr txBox="1"/>
          <p:nvPr/>
        </p:nvSpPr>
        <p:spPr>
          <a:xfrm>
            <a:off x="0" y="91440"/>
            <a:ext cx="15124176" cy="457200"/>
          </a:xfrm>
          <a:prstGeom prst="rect">
            <a:avLst/>
          </a:prstGeom>
          <a:noFill/>
        </p:spPr>
        <p:txBody>
          <a:bodyPr wrap="square" lIns="50800" rIns="50800" tIns="38100" bIns="38100"/>
          <a:lstStyle/>
          <a:p>
            <a:pPr algn="ctr"/>
            <a:r>
              <a:rPr sz="2000" b="1">
                <a:solidFill>
                  <a:srgbClr val="222222"/>
                </a:solidFill>
                <a:latin typeface="Meiryo"/>
              </a:rPr>
              <a:t>Fraud Kill Chain（不正送金キルチェーン）</a:t>
            </a:r>
          </a:p>
        </p:txBody>
      </p:sp>
      <p:sp>
        <p:nvSpPr>
          <p:cNvPr id="3" name="TextBox 2"/>
          <p:cNvSpPr txBox="1"/>
          <p:nvPr/>
        </p:nvSpPr>
        <p:spPr>
          <a:xfrm>
            <a:off x="0" y="502920"/>
            <a:ext cx="15124176" cy="274320"/>
          </a:xfrm>
          <a:prstGeom prst="rect">
            <a:avLst/>
          </a:prstGeom>
          <a:noFill/>
        </p:spPr>
        <p:txBody>
          <a:bodyPr wrap="square" lIns="50800" rIns="50800" tIns="38100" bIns="38100"/>
          <a:lstStyle/>
          <a:p>
            <a:pPr algn="ctr"/>
            <a:r>
              <a:rPr sz="1000" b="0">
                <a:solidFill>
                  <a:srgbClr val="888888"/>
                </a:solidFill>
                <a:latin typeface="Meiryo"/>
              </a:rPr>
              <a:t>シート名「不審な電話手口」 ― 犯人サイド × 被害企業サイド スイムレーン図</a:t>
            </a:r>
          </a:p>
        </p:txBody>
      </p:sp>
      <p:sp>
        <p:nvSpPr>
          <p:cNvPr id="4" name="Rectangle 3"/>
          <p:cNvSpPr/>
          <p:nvPr/>
        </p:nvSpPr>
        <p:spPr>
          <a:xfrm>
            <a:off x="1225296" y="822960"/>
            <a:ext cx="5248656" cy="320040"/>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犯人サイド</a:t>
            </a:r>
          </a:p>
        </p:txBody>
      </p:sp>
      <p:sp>
        <p:nvSpPr>
          <p:cNvPr id="5" name="Rectangle 4"/>
          <p:cNvSpPr/>
          <p:nvPr/>
        </p:nvSpPr>
        <p:spPr>
          <a:xfrm>
            <a:off x="6510528" y="822960"/>
            <a:ext cx="7891272" cy="32004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100" b="1">
                <a:solidFill>
                  <a:srgbClr val="FFFFFF"/>
                </a:solidFill>
                <a:latin typeface="Meiryo"/>
              </a:rPr>
              <a:t>被害企業サイド</a:t>
            </a:r>
          </a:p>
        </p:txBody>
      </p:sp>
      <p:sp>
        <p:nvSpPr>
          <p:cNvPr id="6" name="Rectangle 5"/>
          <p:cNvSpPr/>
          <p:nvPr/>
        </p:nvSpPr>
        <p:spPr>
          <a:xfrm>
            <a:off x="182880" y="1179576"/>
            <a:ext cx="10058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フェーズ</a:t>
            </a:r>
          </a:p>
        </p:txBody>
      </p:sp>
      <p:sp>
        <p:nvSpPr>
          <p:cNvPr id="7" name="Rectangle 6"/>
          <p:cNvSpPr/>
          <p:nvPr/>
        </p:nvSpPr>
        <p:spPr>
          <a:xfrm>
            <a:off x="1225296" y="117957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情報・インフラ</a:t>
            </a:r>
          </a:p>
        </p:txBody>
      </p:sp>
      <p:sp>
        <p:nvSpPr>
          <p:cNvPr id="8" name="Rectangle 7"/>
          <p:cNvSpPr/>
          <p:nvPr/>
        </p:nvSpPr>
        <p:spPr>
          <a:xfrm>
            <a:off x="3867912" y="117957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架電</a:t>
            </a:r>
          </a:p>
        </p:txBody>
      </p:sp>
      <p:sp>
        <p:nvSpPr>
          <p:cNvPr id="9" name="Rectangle 8"/>
          <p:cNvSpPr/>
          <p:nvPr/>
        </p:nvSpPr>
        <p:spPr>
          <a:xfrm>
            <a:off x="6510528" y="117957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受電</a:t>
            </a:r>
          </a:p>
        </p:txBody>
      </p:sp>
      <p:sp>
        <p:nvSpPr>
          <p:cNvPr id="10" name="Rectangle 9"/>
          <p:cNvSpPr/>
          <p:nvPr/>
        </p:nvSpPr>
        <p:spPr>
          <a:xfrm>
            <a:off x="9153144" y="117957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会社のPC</a:t>
            </a:r>
          </a:p>
        </p:txBody>
      </p:sp>
      <p:sp>
        <p:nvSpPr>
          <p:cNvPr id="11" name="Rectangle 10"/>
          <p:cNvSpPr/>
          <p:nvPr/>
        </p:nvSpPr>
        <p:spPr>
          <a:xfrm>
            <a:off x="11795760" y="1179576"/>
            <a:ext cx="2606040" cy="274320"/>
          </a:xfrm>
          <a:prstGeom prst="rect">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900" b="1">
                <a:solidFill>
                  <a:srgbClr val="222222"/>
                </a:solidFill>
                <a:latin typeface="Meiryo"/>
              </a:rPr>
              <a:t>個人スマホ</a:t>
            </a:r>
          </a:p>
        </p:txBody>
      </p:sp>
      <p:sp>
        <p:nvSpPr>
          <p:cNvPr id="12" name="Rectangle 11"/>
          <p:cNvSpPr/>
          <p:nvPr/>
        </p:nvSpPr>
        <p:spPr>
          <a:xfrm>
            <a:off x="182880" y="1051560"/>
            <a:ext cx="1005840" cy="9601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① 犯行準備
（偵察など）</a:t>
            </a:r>
          </a:p>
        </p:txBody>
      </p:sp>
      <p:sp>
        <p:nvSpPr>
          <p:cNvPr id="13" name="Rectangle 12"/>
          <p:cNvSpPr/>
          <p:nvPr/>
        </p:nvSpPr>
        <p:spPr>
          <a:xfrm>
            <a:off x="182880" y="2048256"/>
            <a:ext cx="1005840" cy="10515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② 被害者への
接触</a:t>
            </a:r>
          </a:p>
        </p:txBody>
      </p:sp>
      <p:sp>
        <p:nvSpPr>
          <p:cNvPr id="14" name="Rectangle 13"/>
          <p:cNvSpPr/>
          <p:nvPr/>
        </p:nvSpPr>
        <p:spPr>
          <a:xfrm>
            <a:off x="182880" y="3136392"/>
            <a:ext cx="1005840" cy="23317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③ 心理的操作</a:t>
            </a:r>
          </a:p>
        </p:txBody>
      </p:sp>
      <p:sp>
        <p:nvSpPr>
          <p:cNvPr id="15" name="Rectangle 14"/>
          <p:cNvSpPr/>
          <p:nvPr/>
        </p:nvSpPr>
        <p:spPr>
          <a:xfrm>
            <a:off x="182880" y="5504688"/>
            <a:ext cx="1005840" cy="237744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④ システムや
機能の侵害</a:t>
            </a:r>
          </a:p>
        </p:txBody>
      </p:sp>
      <p:sp>
        <p:nvSpPr>
          <p:cNvPr id="16" name="Rectangle 15"/>
          <p:cNvSpPr/>
          <p:nvPr/>
        </p:nvSpPr>
        <p:spPr>
          <a:xfrm>
            <a:off x="182880" y="7918704"/>
            <a:ext cx="1005840" cy="24231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⑤ 侵害に使用
する認証情報</a:t>
            </a:r>
          </a:p>
        </p:txBody>
      </p:sp>
      <p:sp>
        <p:nvSpPr>
          <p:cNvPr id="17" name="Rectangle 16"/>
          <p:cNvSpPr/>
          <p:nvPr/>
        </p:nvSpPr>
        <p:spPr>
          <a:xfrm>
            <a:off x="182880" y="10378440"/>
            <a:ext cx="1005840" cy="59436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0" b="1">
                <a:solidFill>
                  <a:srgbClr val="FFFFFF"/>
                </a:solidFill>
                <a:latin typeface="Meiryo"/>
              </a:rPr>
              <a:t>⑥ 収益化
／マネロン</a:t>
            </a:r>
          </a:p>
        </p:txBody>
      </p:sp>
      <p:sp>
        <p:nvSpPr>
          <p:cNvPr id="18" name="Rectangle 17"/>
          <p:cNvSpPr/>
          <p:nvPr/>
        </p:nvSpPr>
        <p:spPr>
          <a:xfrm>
            <a:off x="1225296" y="1051560"/>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19" name="Rectangle 18"/>
          <p:cNvSpPr/>
          <p:nvPr/>
        </p:nvSpPr>
        <p:spPr>
          <a:xfrm>
            <a:off x="3867912" y="1051560"/>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0" name="Rectangle 19"/>
          <p:cNvSpPr/>
          <p:nvPr/>
        </p:nvSpPr>
        <p:spPr>
          <a:xfrm>
            <a:off x="6510528" y="1051560"/>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1" name="Rectangle 20"/>
          <p:cNvSpPr/>
          <p:nvPr/>
        </p:nvSpPr>
        <p:spPr>
          <a:xfrm>
            <a:off x="9153144" y="1051560"/>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2" name="Rectangle 21"/>
          <p:cNvSpPr/>
          <p:nvPr/>
        </p:nvSpPr>
        <p:spPr>
          <a:xfrm>
            <a:off x="11795760" y="1051560"/>
            <a:ext cx="2606040" cy="9601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3" name="Rectangle 22"/>
          <p:cNvSpPr/>
          <p:nvPr/>
        </p:nvSpPr>
        <p:spPr>
          <a:xfrm>
            <a:off x="1225296" y="2048256"/>
            <a:ext cx="2606040" cy="1051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4" name="Rectangle 23"/>
          <p:cNvSpPr/>
          <p:nvPr/>
        </p:nvSpPr>
        <p:spPr>
          <a:xfrm>
            <a:off x="3867912" y="2048256"/>
            <a:ext cx="2606040" cy="1051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5" name="Rectangle 24"/>
          <p:cNvSpPr/>
          <p:nvPr/>
        </p:nvSpPr>
        <p:spPr>
          <a:xfrm>
            <a:off x="6510528" y="2048256"/>
            <a:ext cx="2606040" cy="1051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6" name="Rectangle 25"/>
          <p:cNvSpPr/>
          <p:nvPr/>
        </p:nvSpPr>
        <p:spPr>
          <a:xfrm>
            <a:off x="9153144" y="2048256"/>
            <a:ext cx="2606040" cy="1051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7" name="Rectangle 26"/>
          <p:cNvSpPr/>
          <p:nvPr/>
        </p:nvSpPr>
        <p:spPr>
          <a:xfrm>
            <a:off x="11795760" y="2048256"/>
            <a:ext cx="2606040" cy="10515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8" name="Rectangle 27"/>
          <p:cNvSpPr/>
          <p:nvPr/>
        </p:nvSpPr>
        <p:spPr>
          <a:xfrm>
            <a:off x="1225296" y="3136392"/>
            <a:ext cx="2606040" cy="2331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29" name="Rectangle 28"/>
          <p:cNvSpPr/>
          <p:nvPr/>
        </p:nvSpPr>
        <p:spPr>
          <a:xfrm>
            <a:off x="3867912" y="3136392"/>
            <a:ext cx="2606040" cy="2331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0" name="Rectangle 29"/>
          <p:cNvSpPr/>
          <p:nvPr/>
        </p:nvSpPr>
        <p:spPr>
          <a:xfrm>
            <a:off x="6510528" y="3136392"/>
            <a:ext cx="2606040" cy="2331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1" name="Rectangle 30"/>
          <p:cNvSpPr/>
          <p:nvPr/>
        </p:nvSpPr>
        <p:spPr>
          <a:xfrm>
            <a:off x="9153144" y="3136392"/>
            <a:ext cx="2606040" cy="2331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2" name="Rectangle 31"/>
          <p:cNvSpPr/>
          <p:nvPr/>
        </p:nvSpPr>
        <p:spPr>
          <a:xfrm>
            <a:off x="11795760" y="3136392"/>
            <a:ext cx="2606040" cy="233172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3" name="Rectangle 32"/>
          <p:cNvSpPr/>
          <p:nvPr/>
        </p:nvSpPr>
        <p:spPr>
          <a:xfrm>
            <a:off x="1225296" y="5504688"/>
            <a:ext cx="2606040" cy="2377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4" name="Rectangle 33"/>
          <p:cNvSpPr/>
          <p:nvPr/>
        </p:nvSpPr>
        <p:spPr>
          <a:xfrm>
            <a:off x="3867912" y="5504688"/>
            <a:ext cx="2606040" cy="2377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5" name="Rectangle 34"/>
          <p:cNvSpPr/>
          <p:nvPr/>
        </p:nvSpPr>
        <p:spPr>
          <a:xfrm>
            <a:off x="6510528" y="5504688"/>
            <a:ext cx="2606040" cy="2377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6" name="Rectangle 35"/>
          <p:cNvSpPr/>
          <p:nvPr/>
        </p:nvSpPr>
        <p:spPr>
          <a:xfrm>
            <a:off x="9153144" y="5504688"/>
            <a:ext cx="2606040" cy="2377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7" name="Rectangle 36"/>
          <p:cNvSpPr/>
          <p:nvPr/>
        </p:nvSpPr>
        <p:spPr>
          <a:xfrm>
            <a:off x="11795760" y="5504688"/>
            <a:ext cx="2606040" cy="23774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8" name="Rectangle 37"/>
          <p:cNvSpPr/>
          <p:nvPr/>
        </p:nvSpPr>
        <p:spPr>
          <a:xfrm>
            <a:off x="1225296" y="7918704"/>
            <a:ext cx="2606040" cy="2423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39" name="Rectangle 38"/>
          <p:cNvSpPr/>
          <p:nvPr/>
        </p:nvSpPr>
        <p:spPr>
          <a:xfrm>
            <a:off x="3867912" y="7918704"/>
            <a:ext cx="2606040" cy="2423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0" name="Rectangle 39"/>
          <p:cNvSpPr/>
          <p:nvPr/>
        </p:nvSpPr>
        <p:spPr>
          <a:xfrm>
            <a:off x="6510528" y="7918704"/>
            <a:ext cx="2606040" cy="2423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1" name="Rectangle 40"/>
          <p:cNvSpPr/>
          <p:nvPr/>
        </p:nvSpPr>
        <p:spPr>
          <a:xfrm>
            <a:off x="9153144" y="7918704"/>
            <a:ext cx="2606040" cy="2423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2" name="Rectangle 41"/>
          <p:cNvSpPr/>
          <p:nvPr/>
        </p:nvSpPr>
        <p:spPr>
          <a:xfrm>
            <a:off x="11795760" y="7918704"/>
            <a:ext cx="2606040" cy="24231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3" name="Rectangle 42"/>
          <p:cNvSpPr/>
          <p:nvPr/>
        </p:nvSpPr>
        <p:spPr>
          <a:xfrm>
            <a:off x="1225296" y="10378440"/>
            <a:ext cx="260604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4" name="Rectangle 43"/>
          <p:cNvSpPr/>
          <p:nvPr/>
        </p:nvSpPr>
        <p:spPr>
          <a:xfrm>
            <a:off x="3867912" y="10378440"/>
            <a:ext cx="260604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5" name="Rectangle 44"/>
          <p:cNvSpPr/>
          <p:nvPr/>
        </p:nvSpPr>
        <p:spPr>
          <a:xfrm>
            <a:off x="6510528" y="10378440"/>
            <a:ext cx="260604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6" name="Rectangle 45"/>
          <p:cNvSpPr/>
          <p:nvPr/>
        </p:nvSpPr>
        <p:spPr>
          <a:xfrm>
            <a:off x="9153144" y="10378440"/>
            <a:ext cx="260604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7" name="Rectangle 46"/>
          <p:cNvSpPr/>
          <p:nvPr/>
        </p:nvSpPr>
        <p:spPr>
          <a:xfrm>
            <a:off x="11795760" y="10378440"/>
            <a:ext cx="2606040" cy="59436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50800" rIns="50800" tIns="25400" bIns="25400"/>
          <a:lstStyle/>
          <a:p>
            <a:pPr algn="ctr"/>
            <a:r>
              <a:rPr sz="100" b="1">
                <a:solidFill>
                  <a:srgbClr val="FFFFFF"/>
                </a:solidFill>
                <a:latin typeface="Meiryo"/>
              </a:rPr>
              <a:t/>
            </a:r>
          </a:p>
        </p:txBody>
      </p:sp>
      <p:sp>
        <p:nvSpPr>
          <p:cNvPr id="48" name="Rectangle 47"/>
          <p:cNvSpPr/>
          <p:nvPr/>
        </p:nvSpPr>
        <p:spPr>
          <a:xfrm>
            <a:off x="1316736" y="1188719"/>
            <a:ext cx="2423160" cy="5029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電話番号・メールアドレスを取得</a:t>
            </a:r>
          </a:p>
        </p:txBody>
      </p:sp>
      <p:sp>
        <p:nvSpPr>
          <p:cNvPr id="49" name="Rectangle 48"/>
          <p:cNvSpPr/>
          <p:nvPr/>
        </p:nvSpPr>
        <p:spPr>
          <a:xfrm>
            <a:off x="3959352" y="1188719"/>
            <a:ext cx="2423160" cy="32004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事前調査</a:t>
            </a:r>
          </a:p>
        </p:txBody>
      </p:sp>
      <p:sp>
        <p:nvSpPr>
          <p:cNvPr id="50" name="TextBox 49"/>
          <p:cNvSpPr txBox="1"/>
          <p:nvPr/>
        </p:nvSpPr>
        <p:spPr>
          <a:xfrm>
            <a:off x="3959352" y="1554480"/>
            <a:ext cx="2423160" cy="274320"/>
          </a:xfrm>
          <a:prstGeom prst="rect">
            <a:avLst/>
          </a:prstGeom>
          <a:noFill/>
        </p:spPr>
        <p:txBody>
          <a:bodyPr wrap="square" lIns="50800" rIns="50800" tIns="38100" bIns="38100"/>
          <a:lstStyle/>
          <a:p>
            <a:pPr algn="l"/>
            <a:r>
              <a:rPr sz="700" b="0">
                <a:solidFill>
                  <a:srgbClr val="888888"/>
                </a:solidFill>
                <a:latin typeface="Meiryo"/>
              </a:rPr>
              <a:t>※幅広に架電している印象</a:t>
            </a:r>
          </a:p>
        </p:txBody>
      </p:sp>
      <p:sp>
        <p:nvSpPr>
          <p:cNvPr id="51" name="Rectangle 50"/>
          <p:cNvSpPr/>
          <p:nvPr/>
        </p:nvSpPr>
        <p:spPr>
          <a:xfrm>
            <a:off x="3959352" y="2121408"/>
            <a:ext cx="2423160" cy="777240"/>
          </a:xfrm>
          <a:prstGeom prst="rect">
            <a:avLst/>
          </a:prstGeom>
          <a:solidFill>
            <a:srgbClr val="EAF2FF"/>
          </a:solidFill>
          <a:ln w="25400">
            <a:solidFill>
              <a:srgbClr val="2980B9"/>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【自動音声】
「こちらはMバンく BizSTATION法人窓口です。BizSTATIONを利用している方は1を押してください。承認実行権限を持っている方は1を押してください」</a:t>
            </a:r>
          </a:p>
        </p:txBody>
      </p:sp>
      <p:sp>
        <p:nvSpPr>
          <p:cNvPr id="52" name="Rectangle 51"/>
          <p:cNvSpPr/>
          <p:nvPr/>
        </p:nvSpPr>
        <p:spPr>
          <a:xfrm>
            <a:off x="6601968" y="2121408"/>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900" b="1">
                <a:solidFill>
                  <a:srgbClr val="222222"/>
                </a:solidFill>
                <a:latin typeface="Meiryo"/>
              </a:rPr>
              <a:t>「1」押下</a:t>
            </a:r>
          </a:p>
        </p:txBody>
      </p:sp>
      <p:sp>
        <p:nvSpPr>
          <p:cNvPr id="53" name="TextBox 52"/>
          <p:cNvSpPr txBox="1"/>
          <p:nvPr/>
        </p:nvSpPr>
        <p:spPr>
          <a:xfrm>
            <a:off x="6601968" y="2505456"/>
            <a:ext cx="2423160" cy="502920"/>
          </a:xfrm>
          <a:prstGeom prst="rect">
            <a:avLst/>
          </a:prstGeom>
          <a:noFill/>
        </p:spPr>
        <p:txBody>
          <a:bodyPr wrap="square" lIns="50800" rIns="50800" tIns="38100" bIns="38100"/>
          <a:lstStyle/>
          <a:p>
            <a:pPr algn="l"/>
            <a:r>
              <a:rPr sz="600" b="0">
                <a:solidFill>
                  <a:srgbClr val="888888"/>
                </a:solidFill>
                <a:latin typeface="Meiryo"/>
              </a:rPr>
              <a:t>※「1」以外を押下した人は、法人ダイレクトオフィス（コールセンター）の電話番号を案内される</a:t>
            </a:r>
          </a:p>
        </p:txBody>
      </p:sp>
      <p:sp>
        <p:nvSpPr>
          <p:cNvPr id="54" name="Rectangle 53"/>
          <p:cNvSpPr/>
          <p:nvPr/>
        </p:nvSpPr>
        <p:spPr>
          <a:xfrm>
            <a:off x="3959352" y="3182112"/>
            <a:ext cx="2423160" cy="6400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「パソコン環境の更新が必要。現在口座の利用制限をしています。手続きを郵送していますが、届いてますか。更新されていないので電話しました」</a:t>
            </a:r>
          </a:p>
        </p:txBody>
      </p:sp>
      <p:sp>
        <p:nvSpPr>
          <p:cNvPr id="55" name="TextBox 54"/>
          <p:cNvSpPr txBox="1"/>
          <p:nvPr/>
        </p:nvSpPr>
        <p:spPr>
          <a:xfrm>
            <a:off x="3959352" y="3849624"/>
            <a:ext cx="2423160" cy="182880"/>
          </a:xfrm>
          <a:prstGeom prst="rect">
            <a:avLst/>
          </a:prstGeom>
          <a:noFill/>
        </p:spPr>
        <p:txBody>
          <a:bodyPr wrap="square" lIns="50800" rIns="50800" tIns="38100" bIns="38100"/>
          <a:lstStyle/>
          <a:p>
            <a:pPr algn="l"/>
            <a:r>
              <a:rPr sz="600" b="0">
                <a:solidFill>
                  <a:srgbClr val="888888"/>
                </a:solidFill>
                <a:latin typeface="Meiryo"/>
              </a:rPr>
              <a:t>※複数の誘導方法あり</a:t>
            </a:r>
          </a:p>
        </p:txBody>
      </p:sp>
      <p:sp>
        <p:nvSpPr>
          <p:cNvPr id="56" name="TextBox 55"/>
          <p:cNvSpPr txBox="1"/>
          <p:nvPr/>
        </p:nvSpPr>
        <p:spPr>
          <a:xfrm>
            <a:off x="3959352" y="3959352"/>
            <a:ext cx="2423160" cy="182880"/>
          </a:xfrm>
          <a:prstGeom prst="rect">
            <a:avLst/>
          </a:prstGeom>
          <a:noFill/>
        </p:spPr>
        <p:txBody>
          <a:bodyPr wrap="square" lIns="50800" rIns="50800" tIns="38100" bIns="38100"/>
          <a:lstStyle/>
          <a:p>
            <a:pPr algn="l"/>
            <a:r>
              <a:rPr sz="600" b="1">
                <a:solidFill>
                  <a:srgbClr val="C0392B"/>
                </a:solidFill>
                <a:latin typeface="Meiryo"/>
              </a:rPr>
              <a:t>※AI音声の可能性あり</a:t>
            </a:r>
          </a:p>
        </p:txBody>
      </p:sp>
      <p:sp>
        <p:nvSpPr>
          <p:cNvPr id="57" name="Diamond 56"/>
          <p:cNvSpPr/>
          <p:nvPr/>
        </p:nvSpPr>
        <p:spPr>
          <a:xfrm>
            <a:off x="4507992" y="4032504"/>
            <a:ext cx="1280160" cy="457200"/>
          </a:xfrm>
          <a:prstGeom prst="diamond">
            <a:avLst/>
          </a:prstGeom>
          <a:solidFill>
            <a:srgbClr val="FFF3CD"/>
          </a:solidFill>
          <a:ln w="1905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25400" rIns="25400" tIns="25400" bIns="25400"/>
          <a:lstStyle/>
          <a:p>
            <a:pPr algn="ctr"/>
            <a:r>
              <a:rPr sz="700" b="1">
                <a:latin typeface="Meiryo"/>
              </a:rPr>
              <a:t>メアド
入手済／未済？</a:t>
            </a:r>
          </a:p>
        </p:txBody>
      </p:sp>
      <p:sp>
        <p:nvSpPr>
          <p:cNvPr id="58" name="Rectangle 57"/>
          <p:cNvSpPr/>
          <p:nvPr/>
        </p:nvSpPr>
        <p:spPr>
          <a:xfrm>
            <a:off x="3959352" y="4526280"/>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【未済の場合】
「手続きをメールで案内するので、メールアドレスを教えてください」</a:t>
            </a:r>
          </a:p>
        </p:txBody>
      </p:sp>
      <p:sp>
        <p:nvSpPr>
          <p:cNvPr id="59" name="Rectangle 58"/>
          <p:cNvSpPr/>
          <p:nvPr/>
        </p:nvSpPr>
        <p:spPr>
          <a:xfrm>
            <a:off x="3959352" y="4928616"/>
            <a:ext cx="2423160" cy="201168"/>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 メール送付</a:t>
            </a:r>
          </a:p>
        </p:txBody>
      </p:sp>
      <p:sp>
        <p:nvSpPr>
          <p:cNvPr id="60" name="Rectangle 59"/>
          <p:cNvSpPr/>
          <p:nvPr/>
        </p:nvSpPr>
        <p:spPr>
          <a:xfrm>
            <a:off x="3959352" y="5148072"/>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件名①「【重要】BizSTATIONお客さま情報更新のお知らせ」</a:t>
            </a:r>
          </a:p>
        </p:txBody>
      </p:sp>
      <p:sp>
        <p:nvSpPr>
          <p:cNvPr id="61" name="Rectangle 60"/>
          <p:cNvSpPr/>
          <p:nvPr/>
        </p:nvSpPr>
        <p:spPr>
          <a:xfrm>
            <a:off x="3959352" y="5303520"/>
            <a:ext cx="2423160" cy="137160"/>
          </a:xfrm>
          <a:prstGeom prst="rect">
            <a:avLst/>
          </a:prstGeom>
          <a:solidFill>
            <a:srgbClr val="FAFAFA"/>
          </a:solidFill>
          <a:ln w="25400">
            <a:solidFill>
              <a:srgbClr val="888888"/>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600" b="0">
                <a:solidFill>
                  <a:srgbClr val="222222"/>
                </a:solidFill>
                <a:latin typeface="Meiryo"/>
              </a:rPr>
              <a:t>件名②「【Mバンく】IB安全利用案内（Rapport推奨）」</a:t>
            </a:r>
          </a:p>
        </p:txBody>
      </p:sp>
      <p:sp>
        <p:nvSpPr>
          <p:cNvPr id="62" name="Rectangle 61"/>
          <p:cNvSpPr/>
          <p:nvPr/>
        </p:nvSpPr>
        <p:spPr>
          <a:xfrm>
            <a:off x="6601968" y="4526280"/>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メールアドレスを伝える</a:t>
            </a:r>
          </a:p>
        </p:txBody>
      </p:sp>
      <p:sp>
        <p:nvSpPr>
          <p:cNvPr id="63" name="Rectangle 62"/>
          <p:cNvSpPr/>
          <p:nvPr/>
        </p:nvSpPr>
        <p:spPr>
          <a:xfrm>
            <a:off x="9244584" y="5010912"/>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メール受信
（Bizデザインのメール）</a:t>
            </a:r>
          </a:p>
        </p:txBody>
      </p:sp>
      <p:sp>
        <p:nvSpPr>
          <p:cNvPr id="64" name="Rectangle 63"/>
          <p:cNvSpPr/>
          <p:nvPr/>
        </p:nvSpPr>
        <p:spPr>
          <a:xfrm>
            <a:off x="3959352" y="5550407"/>
            <a:ext cx="2423160" cy="45720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【有人対応】
「セキュリティ強化のためソフトインストールが必要です。メールのボタンをクリックしてください」</a:t>
            </a:r>
          </a:p>
        </p:txBody>
      </p:sp>
      <p:sp>
        <p:nvSpPr>
          <p:cNvPr id="65" name="Rectangle 64"/>
          <p:cNvSpPr/>
          <p:nvPr/>
        </p:nvSpPr>
        <p:spPr>
          <a:xfrm>
            <a:off x="3959352" y="6053327"/>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「セットアップをクリックしてください」</a:t>
            </a:r>
          </a:p>
        </p:txBody>
      </p:sp>
      <p:sp>
        <p:nvSpPr>
          <p:cNvPr id="66" name="Rectangle 65"/>
          <p:cNvSpPr/>
          <p:nvPr/>
        </p:nvSpPr>
        <p:spPr>
          <a:xfrm>
            <a:off x="3959352" y="6373368"/>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「実行するをクリックしてください」</a:t>
            </a:r>
          </a:p>
        </p:txBody>
      </p:sp>
      <p:sp>
        <p:nvSpPr>
          <p:cNvPr id="67" name="Rectangle 66"/>
          <p:cNvSpPr/>
          <p:nvPr/>
        </p:nvSpPr>
        <p:spPr>
          <a:xfrm>
            <a:off x="9244584" y="5550407"/>
            <a:ext cx="2423160" cy="32004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クリック → ブラウザ表示
（Bizデザイン重要なお知らせ画面）</a:t>
            </a:r>
          </a:p>
        </p:txBody>
      </p:sp>
      <p:sp>
        <p:nvSpPr>
          <p:cNvPr id="68" name="Rectangle 67"/>
          <p:cNvSpPr/>
          <p:nvPr/>
        </p:nvSpPr>
        <p:spPr>
          <a:xfrm>
            <a:off x="9244584" y="5916168"/>
            <a:ext cx="2423160" cy="32004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【DL】リモートツールのセットアップファイル setup.msi がダウンロードされる</a:t>
            </a:r>
          </a:p>
        </p:txBody>
      </p:sp>
      <p:sp>
        <p:nvSpPr>
          <p:cNvPr id="69" name="Rectangle 68"/>
          <p:cNvSpPr/>
          <p:nvPr/>
        </p:nvSpPr>
        <p:spPr>
          <a:xfrm>
            <a:off x="9244584" y="6281927"/>
            <a:ext cx="2423160" cy="36576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【実行】msiファイル実行 → ポップアップ「実行する/実行しない」
※「不明な発行元」と表示</a:t>
            </a:r>
          </a:p>
        </p:txBody>
      </p:sp>
      <p:sp>
        <p:nvSpPr>
          <p:cNvPr id="70" name="Rectangle 69"/>
          <p:cNvSpPr/>
          <p:nvPr/>
        </p:nvSpPr>
        <p:spPr>
          <a:xfrm>
            <a:off x="9244584" y="6693407"/>
            <a:ext cx="2423160" cy="27432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【インストール】ScreenConnect（リモートツール）がインストールされる</a:t>
            </a:r>
          </a:p>
        </p:txBody>
      </p:sp>
      <p:sp>
        <p:nvSpPr>
          <p:cNvPr id="71" name="Rectangle 70"/>
          <p:cNvSpPr/>
          <p:nvPr/>
        </p:nvSpPr>
        <p:spPr>
          <a:xfrm>
            <a:off x="9244584" y="7013448"/>
            <a:ext cx="2423160" cy="77724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FFFFFF"/>
                </a:solidFill>
                <a:latin typeface="Meiryo"/>
              </a:rPr>
              <a:t>『Mバンく　現在セキュリティ保護強化に伴うシステム更新ならびに、お客さま情報の確認、更新処理を実施しております。処理完了までの間一時的に画面が遅延または停止する場合がありますが、正常な処理となりますのでそのままお待ちくださいますようお願い申し上げます。』</a:t>
            </a:r>
          </a:p>
        </p:txBody>
      </p:sp>
      <p:sp>
        <p:nvSpPr>
          <p:cNvPr id="72" name="Rectangle 71"/>
          <p:cNvSpPr/>
          <p:nvPr/>
        </p:nvSpPr>
        <p:spPr>
          <a:xfrm>
            <a:off x="3959352" y="7964424"/>
            <a:ext cx="2423160" cy="36576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「手続きを進めるにはSMS認証が必要なため、お客さまの携帯電話の番号を教えてください」</a:t>
            </a:r>
          </a:p>
        </p:txBody>
      </p:sp>
      <p:sp>
        <p:nvSpPr>
          <p:cNvPr id="73" name="Rectangle 72"/>
          <p:cNvSpPr/>
          <p:nvPr/>
        </p:nvSpPr>
        <p:spPr>
          <a:xfrm>
            <a:off x="3959352" y="8375904"/>
            <a:ext cx="2423160" cy="201168"/>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1">
                <a:solidFill>
                  <a:srgbClr val="222222"/>
                </a:solidFill>
                <a:latin typeface="Meiryo"/>
              </a:rPr>
              <a:t>【SMS送付】</a:t>
            </a:r>
          </a:p>
        </p:txBody>
      </p:sp>
      <p:sp>
        <p:nvSpPr>
          <p:cNvPr id="74" name="Rectangle 73"/>
          <p:cNvSpPr/>
          <p:nvPr/>
        </p:nvSpPr>
        <p:spPr>
          <a:xfrm>
            <a:off x="3959352" y="8631936"/>
            <a:ext cx="2423160" cy="27432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「認証画面を表示するためリンクをクリックしてください」</a:t>
            </a:r>
          </a:p>
        </p:txBody>
      </p:sp>
      <p:sp>
        <p:nvSpPr>
          <p:cNvPr id="75" name="Rectangle 74"/>
          <p:cNvSpPr/>
          <p:nvPr/>
        </p:nvSpPr>
        <p:spPr>
          <a:xfrm>
            <a:off x="3959352" y="8951976"/>
            <a:ext cx="2423160" cy="411480"/>
          </a:xfrm>
          <a:prstGeom prst="rect">
            <a:avLst/>
          </a:prstGeom>
          <a:solidFill>
            <a:srgbClr val="FDF2E9"/>
          </a:solidFill>
          <a:ln w="2540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「認証のため契約者番号、利用者ID、ログインPW、取引実行PW、OTPを入力してください」</a:t>
            </a:r>
          </a:p>
        </p:txBody>
      </p:sp>
      <p:sp>
        <p:nvSpPr>
          <p:cNvPr id="76" name="Rectangle 75"/>
          <p:cNvSpPr/>
          <p:nvPr/>
        </p:nvSpPr>
        <p:spPr>
          <a:xfrm>
            <a:off x="3959352" y="9427464"/>
            <a:ext cx="2423160" cy="4114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1">
                <a:solidFill>
                  <a:srgbClr val="222222"/>
                </a:solidFill>
                <a:latin typeface="Meiryo"/>
              </a:rPr>
              <a:t>【犯人ブラウザ】赤い画面の裏でBizにアクセス、窃取したOTPを入力</a:t>
            </a:r>
          </a:p>
        </p:txBody>
      </p:sp>
      <p:sp>
        <p:nvSpPr>
          <p:cNvPr id="77" name="Rectangle 76"/>
          <p:cNvSpPr/>
          <p:nvPr/>
        </p:nvSpPr>
        <p:spPr>
          <a:xfrm>
            <a:off x="6601968" y="7964424"/>
            <a:ext cx="2423160" cy="274320"/>
          </a:xfrm>
          <a:prstGeom prst="rect">
            <a:avLst/>
          </a:prstGeom>
          <a:solidFill>
            <a:srgbClr val="EAFAF1"/>
          </a:solidFill>
          <a:ln w="25400">
            <a:solidFill>
              <a:srgbClr val="27AE60"/>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電話番号を伝える</a:t>
            </a:r>
          </a:p>
        </p:txBody>
      </p:sp>
      <p:sp>
        <p:nvSpPr>
          <p:cNvPr id="78" name="Rectangle 77"/>
          <p:cNvSpPr/>
          <p:nvPr/>
        </p:nvSpPr>
        <p:spPr>
          <a:xfrm>
            <a:off x="11887200" y="8375904"/>
            <a:ext cx="2423160" cy="274320"/>
          </a:xfrm>
          <a:prstGeom prst="rect">
            <a:avLst/>
          </a:prstGeom>
          <a:solidFill>
            <a:srgbClr val="F4ECF7"/>
          </a:solidFill>
          <a:ln w="25400">
            <a:solidFill>
              <a:srgbClr val="8E44AD"/>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800" b="0">
                <a:solidFill>
                  <a:srgbClr val="222222"/>
                </a:solidFill>
                <a:latin typeface="Meiryo"/>
              </a:rPr>
              <a:t>SMS受信 → リンクをクリック</a:t>
            </a:r>
          </a:p>
        </p:txBody>
      </p:sp>
      <p:sp>
        <p:nvSpPr>
          <p:cNvPr id="79" name="Rectangle 78"/>
          <p:cNvSpPr/>
          <p:nvPr/>
        </p:nvSpPr>
        <p:spPr>
          <a:xfrm>
            <a:off x="11887200" y="8723376"/>
            <a:ext cx="2423160" cy="640080"/>
          </a:xfrm>
          <a:prstGeom prst="rect">
            <a:avLst/>
          </a:prstGeom>
          <a:solidFill>
            <a:srgbClr val="FDEDEC"/>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l"/>
            <a:r>
              <a:rPr sz="700" b="0">
                <a:solidFill>
                  <a:srgbClr val="222222"/>
                </a:solidFill>
                <a:latin typeface="Meiryo"/>
              </a:rPr>
              <a:t>開いた画面に認証情報を入力
・契約者番号
・利用者ID
・ログインPW
・取引実行PW
・OTP</a:t>
            </a:r>
          </a:p>
        </p:txBody>
      </p:sp>
      <p:sp>
        <p:nvSpPr>
          <p:cNvPr id="80" name="Rectangle 79"/>
          <p:cNvSpPr/>
          <p:nvPr/>
        </p:nvSpPr>
        <p:spPr>
          <a:xfrm>
            <a:off x="3959352" y="10451592"/>
            <a:ext cx="2423160" cy="411480"/>
          </a:xfrm>
          <a:prstGeom prst="rect">
            <a:avLst/>
          </a:prstGeom>
          <a:solidFill>
            <a:srgbClr val="C0392B"/>
          </a:solidFill>
          <a:ln w="2540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wrap="square" lIns="63500" rIns="50800" tIns="38100" bIns="38100"/>
          <a:lstStyle/>
          <a:p>
            <a:pPr algn="ctr"/>
            <a:r>
              <a:rPr sz="1400" b="1">
                <a:solidFill>
                  <a:srgbClr val="FFFFFF"/>
                </a:solidFill>
                <a:latin typeface="Meiryo"/>
              </a:rPr>
              <a:t>不正送金</a:t>
            </a:r>
          </a:p>
        </p:txBody>
      </p:sp>
      <p:sp>
        <p:nvSpPr>
          <p:cNvPr id="81" name="TextBox 80"/>
          <p:cNvSpPr txBox="1"/>
          <p:nvPr/>
        </p:nvSpPr>
        <p:spPr>
          <a:xfrm>
            <a:off x="9144000" y="10378440"/>
            <a:ext cx="5943600" cy="228600"/>
          </a:xfrm>
          <a:prstGeom prst="rect">
            <a:avLst/>
          </a:prstGeom>
          <a:noFill/>
        </p:spPr>
        <p:txBody>
          <a:bodyPr wrap="square" lIns="50800" rIns="50800" tIns="38100" bIns="38100"/>
          <a:lstStyle/>
          <a:p>
            <a:pPr algn="r"/>
            <a:r>
              <a:rPr sz="700" b="0">
                <a:solidFill>
                  <a:srgbClr val="888888"/>
                </a:solidFill>
                <a:latin typeface="Meiryo"/>
              </a:rPr>
              <a:t>Fraud Kill Chain — 不審な電話手口 ｜ A3横印刷対応</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